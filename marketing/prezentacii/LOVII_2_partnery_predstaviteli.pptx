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 и добрый день! Рад вас видеть. Меня зовут — представьтесь — и сегодня поговорим о партнёрской программе LOVII. Сначала два слова о нас. LOVII — платформа локальной экономики: мы соединяем жителей, локальные точки, представителей, амбассадоров и инвесторов в одной экосистеме. Суть оффера умещается в одну фразу: вы подключаете точки своего района и получаете сорок процентов от пула платформы с каждой подключённой точки — ежемесячно. Всё остальное делает платформа: витрина, касса, платежи, программа лояльности и поддержка. От вас — знание района и отношения с точками. Сегодня разберём четыре блока: роль представителя и её функции, источники и размер дохода, условия входа и первые шаги к запуску. Если будут вопросы — записывайте, вернёмся к ним в конце. Начнём!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Начнём с боли, которая знакома каждому локальному предпринимателю. Федеральные агрегаторы забирают у точек от двадцати до сорока пяти процентов оборота. Это деньги, заработанные районом, — и они уходят из района. LOVII меняет направление потока: наша нагрузка на точку — около десяти процентов, в два-четыре раза ниже, и это принципиальная позиция платформы, а не временная акция. Курс лояльности честный: один балл равен одному рублю, и баллы не сгорают. Отсюда главный тезис: район должен зарабатывать вместе, а не платить агрегаторам. Ценность остаётся у жителей, точек и партнёров экосистемы. И важное для вашей работы: вам не нужно ничего продавать со слов — экономика видна в цифрах, цифры говорят сами за себя. Теперь посмотрим, как устроена платформа, которая это обеспечивает.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Итак, что такое LOVII. Это агентская платформа лояльности для локальной экономики. Она соединяет в одной экосистеме жителей, точки малого и среднего бизнеса, представителей, амбассадоров и инвесторов. Важный момент о деньгах: все платежи проходят через банк-партнёр — платформа выступает агентом и не владеет товаром; при этом в маркетинговых материалах имя банка не называется, это правило коммуникации. Доход распределяется открыто по схеме сорок — сорок — двадцать. Четыре принципа платформы. Первый — честная лояльность: один балл равен одному рублю, баллы не сгорают и тратятся у всех точек района. Второй — агрегируем локальное: свои точки, свои акции, свои баллы. Третий — мы не владеем товаром: только SaaS и агентская модель. Четвёртый — приватность: заявки через форму, данные не хранятся на серверах сайта. Локальные точки — сердце этой экосистемы.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карта ролей — кто есть кто в экосистеме. Клиенты — жители района: единая карта лояльности на все точки рядом, баллы один к одному не сгорают. Бизнес — точки МСП: получают инфраструктуру под ключ, включая кассу по пятьдесят четвёртому федеральному закону. Партнёры — представители, мэры и губернаторы — это вы: подключаете точки и получаете сорок процентов от пула платформы с каждой активной. Амбассадоры — лидеры локаций: они собирают сеть представителей и получают двадцать процентов от пула сети плюс долю кэшбэк-комиссии — это следующий уровень карьеры, к нему мы ещё вернёмся. Инвесторы — фонды и частные инвесторы: им интересны модель платформы и юнит-экономика. Деньги движутся по цепочке от компании к жителям, а доход возвращается всем участникам — открыто и зафиксировано. Перейдём к вашей роли подробно — это первый раздел.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раздел — роль представителя. За ближайшие слайды разберём пять вещей. Первое — функции роли: что именно вы делаете и почему ничего не нужно продавать руками. Второе — источник дохода: откуда берутся ваши сорок процентов от пула платформы и плюс десять процентов от кэшбэка точек. Третье — математика: калькулятор дохода для одной, десяти и тридцати точек, чтобы вы видели деньги, а не абстракцию. Четвёртое — лестница статусов: от цифрового представителя до мэра и губернатора. И пятое, очень важное: почему эта модель — не сетевой маркетинг и как она защищена архитектурно. Если по ходу возникнут вопросы — фиксируйте их, вернёмся в блоке вопросов и ответов. Поехали.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Кто такой представитель? Определение простое: любой участник платформы, который приглашает торговые точки своего района в LOVII. Ключевое здесь — это роль с реальной экономикой: ваш доход привязан к обороту подключённых вами точек, а не к вступительным взносам. Обратите внимание: вы ничего не продаёте руками. Витрину, кассу, платежи и лояльность даёт платформа — ваша задача строить отношения с точками и помогать им запускаться. Функций четыре. Первая: подключаете точки по QR — пять минут на точку. Вторая: видите оборот своих точек в личном кабинете — прозрачность в реальном времени. Третья: получаете сорок процентов пула платформы ежемесячно. Четвёртая: помогаете точкам с акциями — они продают больше, а растёт их оборот, растёт и ваш доход. Дальше — откуда именно приходят деньги.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Откуда приходят деньги — источников два. Первый, базовый: сорок процентов от пула платформы. Комиссия платформы с активных точек делится открыто: сорок процентов — компании, сорок процентов — представителю, двадцать — амбассадору. Это базовый сплит, он действует каждый месяц, пока ваши точки работают и продают. Второй источник — десять процентов от кэшбэка ваших точек: когда точки начисляют баллы покупателям, вы получаете десять процентов от суммы начисленного кэшбэка. Простой пример: кэшбэк покупателю — шестьсот рублей, значит вам — шестьдесят рублей. Подчеркну: комиссия платформы — двадцать пять процентов с оборота точки через банк-партнёр, и распределение открыто и зафиксировано. Ключевое слово здесь — ежемесячность: доход повторяется, пока точки живы и продают. Дальше посчитаем, сколько это в конкретных деньгах.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переведём проценты в деньги — вся математика на одном слайде. Одна активная точка при канонической юнит-экономике — это примерно три тысячи девятьсот семьдесят рублей в месяц. Десять точек — около тридцати девяти тысяч семисот рублей: это первые сети и квартальные цели. Тридцать точек — примерно сто девятнадцать тысяч рублей в месяц — порог статуса «Мэр»: те же сорок процентов плюс привилегии. Откуда цифра? Смотрим формулу по шагам: средний чек — тысяча двести рублей, умножаем на четыре заказа в день — получаем GMV сто сорок четыре тысячи рублей в месяц. Пул платформы с такой точки — около девяти тысяч девятисот двадцати четырёх рублей, а ваша доля в сорок процентов — это те самые три тысячи девятьсот семьдесят рублей. И обязательная оговорка: расчёт — ориентир, он не является гарантией доходности: реальный оборот зависит от локации и работы точки. Дальше — о карьерной лестнице внутри платформы.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 только что видели порог в тридцать точек — теперь о том, что он открывает. В платформе три ступени. Первая — Цифровой Представитель: базовый статус до тридцати точек. Вы получаете сорок процентов со своих точек, личный кабинет с оборотом и выплатами. Вторая — Цифровой Мэр: статус от тридцати точек. Это те же сорок процентов, плюс бейдж и привилегии: заметность на витрине, приоритетная поддержка, статус в сообществе. Третья, высшая ступень — Цифровой Губернатор: сеть из трёх и более городов, в каждом от тридцати точек, с выручкой сети от пятнадцати миллионов рублей в месяц. Губернатор получает сорок процентов и все привилегии платформы. Принципиальный момент: статусы — это цифровые роли. Они дают бейджи, привилегии и признание, но не проценты с чужих сетей. Именно поэтому следующая тема — почему это не МЛМ.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 лестницы статусов скептичный собеседник часто спрашивает: «Это же МЛМ?» Отвечаем честно. Чего в LOVII нет: нет каскада уровней ниже амбассадора, нет процентов с чужих сетей участников, нет стартовых пакетов и обязательных закупок, нет обещаний пассивного дохода без точек. Что есть на самом деле: схема сознательно ограничена двумя уровнями — Представитель и Амбассадор. Статусы Мэр и Губернатор дают бейджи и привилегии, но не проценты. Единственный источник дохода — реальный оборот ваших точек: зарабатывает тот, кто реально подключил точки и помогает им продавать. Распределение дохода — два уровня без каскада: компания, представитель, амбассадор. Платформа принципиально защищена от пирамидальных схем. Используйте этот слайд как готовый ответ на главное возражение. Дальше — второй раздел: почему бизнес скажет «да».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 ко второму разделу — он о вашем главном инструменте: аргументах для владельца точки. Представитель продаёт не обещания, а честную экономику — и сейчас я дам вам эту экономику в цифрах. Сначала сравним LOVII с федеральными агрегаторами: вы увидите, почему нагрузка на точку в два–четыре раза ниже — это принципиальная позиция платформы. Затем разберём, что именно точка получает под ключ: витрину, кассу, эквайринг и программу лояльности. Пройдём по тарифам — включая нулевой старт для первых точек. И в финале раздела покажем онбординг: подключение точки за пять минут по QR-коду. После этого блока вы сможете провести первую встречу с владельцем магазина, кофейни или салона — спокойно, с цифрами в руках.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 к главному аргументу в разговоре с владельцем точки. Слева — федеральные агрегаторы. Они забирают от двадцати до сорока пяти процентов оборота — плюс комиссия и скрытые списания. Баллы там сгорают и привязаны к одному сервису. Акции — федеральные, на условиях агрегатора. И точка — один из тысяч. Справа — LOVII. Нагрузка около десяти процентов — в два–четыре раза ниже, и это принципиальная позиция платформы. Один балл равен одному рублю, баллы не сгорают и тратятся у всех точек района. Акции — свои, районные: свои баллы, свои клиенты. И важно: платформа — SaaS и агент, деньги проходят через банк-партнёра. Запомните формулу беседы: десять процентов против двадцати–сорока пяти, баллы не сгорают, точка остаётся заметной в своём районе. Принцип платформы: снижаем нагрузку для лидеров, не поднимаем для всех. Дальше — что именно точка получает под ключ.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о том, что именно точка получает в день подключения — инфраструктуру под ключ. Первое: витрина точки в экосистеме района. Второе: касса пятьдесят четыре ФЗ и эквайринг — уже подключены. Третье: программа лояльности — один балл равен одному рублю, баллы не сгорают. Четвёртое: поддержка платформы — онбординг и запуск. Владельцу остаётся тем, что он умеет, — продавать. И тарифы, их всего три. СТАРТ — ноль процентов: первые точки стартуют без риска. БАЗОВЫЙ — десять процентов: стандартная работа платформы. PRO — от четырёх до семи процентов плюс две тысячи девятьсот девяносто рублей в месяц: для лидеров платформа снижает нагрузку, а не поднимает. Это готовый сценарий первой встречи: покажите четыре пункта оффера и три тарифа — экономика говорит сама за себя. А сколько времени занимает подключение? Об этом — следующий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самое приятное для владельца — скорость. Подключение точки занимает пять минут по QR-коду: от знакомства до первой продажи через платформу. Что происходит за эти пять минут? Шаг первый: владелец точки сканирует ваш QR-код со смартфона. Шаг второй: заполняет профиль — и точка автоматически получает витрину, кассу пятьдесят четыре ФЗ и эквайринг. Шаг третий: точка сразу продаёт с лояльностью — баллы начисляются покупателям, а вы видите оборот в личном кабинете. Обратите внимание: вам не нужно ничего придумывать. Скрипты разговоров, презентации и печатные материалы выдаёт платформа. Ваша задача — познакомиться, показать QR и помочь владельцу сделать первые шаги. Всё остальное — технологии, платежи, лояльность, поддержка — берёт на себя LOVII. На этом второй раздел закончен; дальше — условия и старт.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разобрали роль и аргументы для бизнеса — теперь переходим к практике. В третьем разделе поговорим об условиях и старте. Во-первых, вход в программу: это подписка, и я покажу её стоимость и то, что в неё входит. Во-вторых, план действий: всего четыре шага отделяют вас от первого дохода, и каждый мы пройдём по порядку. В-третьих, честно расскажем текущий статус запуска: что уже готово на платформе прямо сейчас — без обещаний дат. И в-четвёртых, правила честной коммуникации: стоп-лист платформы, который защищает и вас, и нас. Подписка, шаги, статус запуска и стоп-лист — эти четыре темы закрывают все практические вопросы. Если что-то нужно уточнить по ходу — останавливайте меня: это как раз тот раздел, где детали важнее всего.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Итак, вход в программу — это подписка 599 рублей в месяц, и никаких скрытых платежей за ней нет. На время акции действует специальная цена — 199 рублей в месяц по промокоду, так что стартовать сейчас выгоднее всего. Что входит в подписку? Три вещи. Первое — личный кабинет, где вы видите оборот и выплаты по всем своим точкам. Второе — материалы, скрипты и поддержка платформы при подключении точек: вам не нужно ничего придумывать самостоятельно. Третье — закрепление района за вами, без конкуренции внутри платформы. Обратите внимание: никаких „стартовых пакетов“ и обязательных закупок нет — вы платите только за членство в системе. И важный момент: доход платформы от подписок направляется на инфраструктуру, то есть ваши деньги работают на продукт, которым вы сами пользуетесь каждый день.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начать? Четыре шага. Шаг первый — оставьте заявку: заполните форму на lovii.ru, и мы обсудим ваш район и план на первые точки. Шаг второй — оформите подписку: 599 рублей в месяц или 199 по акции, списание с баланса или карты. Шаг третий — подключите первые точки: онбординг одной точки занимает пять минут по QR, а материалы и скрипты дадим мы. Шаг четвёртый — получайте доход: 40% от пула ваших точек и 10% от их кэшбэка, ежемесячно. Обратите внимание на скорость: средний путь от заявки до первой подключённой точки — это дни, а не месяцы. И вот почему не стоит откладывать: район закрепляется за первыми. Кто заходит раньше, тот и работает на своей территории без внутренней конкуренции — это наш главный аргумент срочности.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о том, что происходит прямо сейчас. Текущий этап звучит так: подключаем первые точки. Три факта готовности платформы. Первое — демо открыто: витрину и личный кабинет можно посмотреть уже сегодня. Второе — договор с банком подписан: платежи проходят через банк-партнёр. Третье — эквайринг подключён: точки уже принимают оплату в нашей системе. Параллельно идёт набор представителей в первые районы — и локации закрепляются за первыми, без конкуренции внутри платформы. Это значит, что выбор района — вопрос времени, а не только желания. И принципиальный момент: мы не обещаем ни дат, ни доходов. Этот статус отражает только факты готовности платформы — ровно то, что уже работает. Такой подход — часть культуры честной коммуникации, к которой мы сейчас перейдём подробнее.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правила честной коммуникации — и они защищают в первую очередь вас. Первое: никаких гарантий дохода. Прогнозные показатели мы всегда сопровождаем оговоркой „не является гарантией доходности“ — так написано и на сайте. Второе: канон-цифры не редактируются. Тарифы — СТАРТ 0%, БАЗОВЫЙ 10%, PRO 4–7% плюс 2 990 рублей в месяц, сплит 40/40/20, пулы 6,84% и 9,3% — мы их сверяем, а не выдумываем. Третье: вывод баллов — от 3 000 рублей. Нельзя обещать вывод меньше порога, а расчёты идут только через номинальный счёт по статье 860.1. Четвёртое: имя банка — не в маркетинге. Банк-партнёр не называется в презентациях и постах, упоминание допустимо только в юридической строке сайта. Эти правила взяты из стоп-листа платформы, и их соблюдение обязательно для всех партнёров без исключений.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Отвечу на четыре самых частых вопроса. Нужны ли вложения? Только подписка — 599 рублей в месяц, по акции 199. Стартовых пакетов и обязательных закупок нет. Сколько можно заработать? Доход зависит от числа и оборота ваших точек: одна активная точка — ориентир около 3 970 рублей в месяц доли представителя. Расчёт всегда прозрачен — и обязательная оговорка: не является гарантией доходности. Откуда берётся мой доход? Из комиссии платформы с активных точек — по сплиту 40/40/20 — плюс 10% от начисленного кэшбэка ваших точек. И последний вопрос: почему это не МЛМ? Потому что схема ограничена двумя уровнями без каскада — представитель и амбассадор. Статусы Мэра и Губернатора дают бейджи и привилегии, но не проценты с чужих сетей. Если остались другие вопросы — задавайте сейчас или пишите нам после встречи.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— и призыв к действию. Мы ищем людей, которые знают локальный бизнес и умеют строить отношения. Что вы получаете: закрепление района — без конкуренции внутри платформы, карьеру до статуса Губернатора с привилегиями платформы и сообщество партнёров в Telegram. Что нужно сделать прямо сейчас? Заполните форму на lovii.ru или напишите нам на почту hello@lovii.ru — расскажите о себе, и мы предложим район и план запуска. Напомню и официальную сторону: оператор платформы — ООО «АКСИОМА», а все прогнозные показатели не являются гарантией доходности — мы честны с вами с первого и до последнего слайда. Районы закрепляются за первыми, поэтому лучший момент начать — сегодня. Спасибо за внимание — давайте обсудим ваш район!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071562" y="3143250"/>
            <a:ext cx="3357563" cy="3357563"/>
          </a:xfrm>
          <a:prstGeom prst="roundRect">
            <a:avLst>
              <a:gd name="adj" fmla="val 283404"/>
            </a:avLst>
          </a:prstGeom>
          <a:solidFill>
            <a:srgbClr val="F64A8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8296883272-gxbiy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43575" y="4789884"/>
            <a:ext cx="3143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Представитель — человек, который знает свой район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57200" y="1097682"/>
            <a:ext cx="2387017" cy="189309"/>
          </a:xfrm>
          <a:prstGeom prst="roundRect">
            <a:avLst>
              <a:gd name="adj" fmla="val 5026425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7200" y="1097682"/>
            <a:ext cx="2387017" cy="264345"/>
          </a:xfrm>
          <a:prstGeom prst="rect">
            <a:avLst/>
          </a:prstGeom>
          <a:noFill/>
          <a:ln/>
        </p:spPr>
        <p:txBody>
          <a:bodyPr wrap="square" lIns="100013" tIns="35719" rIns="100013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ПАРТНЁРСКАЯ ПРОГРАММА · ПРЕДСТАВИТЕЛЯМ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1472729"/>
            <a:ext cx="4572000" cy="899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1"/>
              </a:lnSpc>
              <a:buNone/>
            </a:pPr>
            <a:r>
              <a:rPr lang="en-US" sz="3038" b="1" spc="-6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Зарабатывай на </a:t>
            </a:r>
            <a:pPr algn="l" indent="0" marL="0">
              <a:lnSpc>
                <a:spcPts val="3281"/>
              </a:lnSpc>
              <a:buNone/>
            </a:pPr>
            <a:r>
              <a:rPr lang="en-US" sz="3038" b="1" spc="-61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своём районе</a:t>
            </a:r>
            <a:pPr algn="l" indent="0" marL="0">
              <a:lnSpc>
                <a:spcPts val="3281"/>
              </a:lnSpc>
              <a:buNone/>
            </a:pPr>
            <a:r>
              <a:rPr lang="en-US" sz="3038" b="1" spc="-6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вместе с LOVII</a:t>
            </a:r>
            <a:endParaRPr lang="en-US" sz="3038" dirty="0"/>
          </a:p>
        </p:txBody>
      </p:sp>
      <p:sp>
        <p:nvSpPr>
          <p:cNvPr id="9" name="Text 5"/>
          <p:cNvSpPr/>
          <p:nvPr/>
        </p:nvSpPr>
        <p:spPr>
          <a:xfrm>
            <a:off x="457200" y="2463031"/>
            <a:ext cx="4429125" cy="681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40% от пула платформы — с каждой подключённой вами точки. Платформа делает всё остальное: витрина, касса, платежи, лояльность и поддержка.</a:t>
            </a:r>
            <a:endParaRPr lang="en-US" sz="1069" dirty="0"/>
          </a:p>
        </p:txBody>
      </p:sp>
      <p:sp>
        <p:nvSpPr>
          <p:cNvPr id="10" name="Text 6"/>
          <p:cNvSpPr/>
          <p:nvPr/>
        </p:nvSpPr>
        <p:spPr>
          <a:xfrm>
            <a:off x="457200" y="3236788"/>
            <a:ext cx="50303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Платформа локальной экономики · lovii.ru · 2026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60772" y="3593976"/>
            <a:ext cx="1488244" cy="448270"/>
          </a:xfrm>
          <a:prstGeom prst="roundRect">
            <a:avLst>
              <a:gd name="adj" fmla="val 25498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78644" y="374667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⌧</a:t>
            </a:r>
            <a:endParaRPr lang="en-US" sz="1406" dirty="0"/>
          </a:p>
        </p:txBody>
      </p:sp>
      <p:sp>
        <p:nvSpPr>
          <p:cNvPr id="13" name="Text 9"/>
          <p:cNvSpPr/>
          <p:nvPr/>
        </p:nvSpPr>
        <p:spPr>
          <a:xfrm>
            <a:off x="792956" y="3757836"/>
            <a:ext cx="1038188" cy="14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 — 599 ₽/мес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2041885" y="3593976"/>
            <a:ext cx="1488356" cy="448270"/>
          </a:xfrm>
          <a:prstGeom prst="roundRect">
            <a:avLst>
              <a:gd name="adj" fmla="val 25498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159757" y="374667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16" name="Text 12"/>
          <p:cNvSpPr/>
          <p:nvPr/>
        </p:nvSpPr>
        <p:spPr>
          <a:xfrm>
            <a:off x="2374069" y="3697560"/>
            <a:ext cx="103829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Онбординг точки — 5 минут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623109" y="3593976"/>
            <a:ext cx="1488244" cy="448270"/>
          </a:xfrm>
          <a:prstGeom prst="roundRect">
            <a:avLst>
              <a:gd name="adj" fmla="val 25498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740981" y="374667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406" dirty="0"/>
          </a:p>
        </p:txBody>
      </p:sp>
      <p:sp>
        <p:nvSpPr>
          <p:cNvPr id="19" name="Text 15"/>
          <p:cNvSpPr/>
          <p:nvPr/>
        </p:nvSpPr>
        <p:spPr>
          <a:xfrm>
            <a:off x="3955293" y="3697560"/>
            <a:ext cx="1038188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Закрепление района за первыми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80417"/>
            <a:ext cx="185738" cy="14288"/>
          </a:xfrm>
          <a:prstGeom prst="rect">
            <a:avLst/>
          </a:prstGeom>
          <a:solidFill>
            <a:srgbClr val="F64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428625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ПРОБЛЕМА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8625" y="632222"/>
            <a:ext cx="8636000" cy="68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2138" b="1" spc="-32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Район платит агрегаторам —</a:t>
            </a:r>
            <a:endParaRPr lang="en-US" sz="2138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2138" b="1" spc="-32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вместо того чтобы зарабатывать вместе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428625" y="1376288"/>
            <a:ext cx="7215188" cy="38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Федеральные агрегаторы забирают у локальных точек </a:t>
            </a:r>
            <a:pPr algn="l" indent="0" marL="0">
              <a:lnSpc>
                <a:spcPts val="1395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20 до 45% оборота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Деньги, заработанные районом, уходят из района. </a:t>
            </a:r>
            <a:pPr algn="l" indent="0" marL="0">
              <a:lnSpc>
                <a:spcPts val="1395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 меняет направление потока: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ценность остаётся у жителей, точек и партнёров экосистемы.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28625" y="1902023"/>
            <a:ext cx="2666963" cy="2155627"/>
          </a:xfrm>
          <a:prstGeom prst="roundRect">
            <a:avLst>
              <a:gd name="adj" fmla="val 5302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8650" y="2087761"/>
            <a:ext cx="300038" cy="300038"/>
          </a:xfrm>
          <a:prstGeom prst="roundRect">
            <a:avLst>
              <a:gd name="adj" fmla="val 3171423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4726" y="212383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547" dirty="0"/>
          </a:p>
        </p:txBody>
      </p:sp>
      <p:sp>
        <p:nvSpPr>
          <p:cNvPr id="9" name="Text 7"/>
          <p:cNvSpPr/>
          <p:nvPr/>
        </p:nvSpPr>
        <p:spPr>
          <a:xfrm>
            <a:off x="628650" y="2502098"/>
            <a:ext cx="2266913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spc="-61" kern="0" dirty="0">
                <a:solidFill>
                  <a:srgbClr val="F64A8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20–45%</a:t>
            </a:r>
            <a:endParaRPr lang="en-US" sz="3038" dirty="0"/>
          </a:p>
        </p:txBody>
      </p:sp>
      <p:sp>
        <p:nvSpPr>
          <p:cNvPr id="10" name="Text 8"/>
          <p:cNvSpPr/>
          <p:nvPr/>
        </p:nvSpPr>
        <p:spPr>
          <a:xfrm>
            <a:off x="628650" y="2959298"/>
            <a:ext cx="23766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оборота забирают федеральные агрегаторы с точки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38463" y="1902023"/>
            <a:ext cx="2666963" cy="2155627"/>
          </a:xfrm>
          <a:prstGeom prst="roundRect">
            <a:avLst>
              <a:gd name="adj" fmla="val 5302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38488" y="2087761"/>
            <a:ext cx="300038" cy="300038"/>
          </a:xfrm>
          <a:prstGeom prst="roundRect">
            <a:avLst>
              <a:gd name="adj" fmla="val 3171423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74564" y="212383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3438488" y="2502098"/>
            <a:ext cx="2266913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spc="-61" kern="0" dirty="0">
                <a:solidFill>
                  <a:srgbClr val="07807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~10%</a:t>
            </a:r>
            <a:endParaRPr lang="en-US" sz="3038" dirty="0"/>
          </a:p>
        </p:txBody>
      </p:sp>
      <p:sp>
        <p:nvSpPr>
          <p:cNvPr id="15" name="Text 13"/>
          <p:cNvSpPr/>
          <p:nvPr/>
        </p:nvSpPr>
        <p:spPr>
          <a:xfrm>
            <a:off x="3438488" y="2959298"/>
            <a:ext cx="22669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нагрузка на точку в LOVII — в 2–4 раза ниже, принципиально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48301" y="1902023"/>
            <a:ext cx="2667074" cy="2155627"/>
          </a:xfrm>
          <a:prstGeom prst="roundRect">
            <a:avLst>
              <a:gd name="adj" fmla="val 5302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48326" y="2087761"/>
            <a:ext cx="300038" cy="300038"/>
          </a:xfrm>
          <a:prstGeom prst="roundRect">
            <a:avLst>
              <a:gd name="adj" fmla="val 3171423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84402" y="212383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6248326" y="2502098"/>
            <a:ext cx="2267024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spc="-61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₽</a:t>
            </a:r>
            <a:endParaRPr lang="en-US" sz="3038" dirty="0"/>
          </a:p>
        </p:txBody>
      </p:sp>
      <p:sp>
        <p:nvSpPr>
          <p:cNvPr id="20" name="Text 18"/>
          <p:cNvSpPr/>
          <p:nvPr/>
        </p:nvSpPr>
        <p:spPr>
          <a:xfrm>
            <a:off x="6248326" y="2959298"/>
            <a:ext cx="2267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курс балла платформы: 1 балл = 1 ₽, баллы не сгорают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8625" y="4200525"/>
            <a:ext cx="8286750" cy="514350"/>
          </a:xfrm>
          <a:prstGeom prst="roundRect">
            <a:avLst>
              <a:gd name="adj" fmla="val 22222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0075" y="4314825"/>
            <a:ext cx="285750" cy="285750"/>
          </a:xfrm>
          <a:prstGeom prst="roundRect">
            <a:avLst>
              <a:gd name="adj" fmla="val 3330000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9007" y="434375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1000125" y="4374654"/>
            <a:ext cx="7543354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Задача представителя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донести эту выгоду до точек своего района. Для этого не нужно ничего продавать со слов: экономика видна в цифрах.</a:t>
            </a:r>
            <a:endParaRPr lang="en-US" sz="87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80417"/>
            <a:ext cx="185738" cy="14288"/>
          </a:xfrm>
          <a:prstGeom prst="rect">
            <a:avLst/>
          </a:prstGeom>
          <a:solidFill>
            <a:srgbClr val="F64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428625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ПЛАТФОРМА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8625" y="632222"/>
            <a:ext cx="7543800" cy="680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2138" b="1" spc="-32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</a:t>
            </a:r>
            <a:pPr algn="l" indent="0" marL="0">
              <a:lnSpc>
                <a:spcPts val="2480"/>
              </a:lnSpc>
              <a:buNone/>
            </a:pPr>
            <a:r>
              <a:rPr lang="en-US" sz="2138" b="1" spc="-32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агентская платформа лояльности для локальной экономики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428625" y="1419151"/>
            <a:ext cx="4429125" cy="581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2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Платформа соединяет жителей, точки МСП, представителей, амбассадоров и инвесторов в одной экосистеме: платежи проходят через </a:t>
            </a:r>
            <a:pPr algn="l" indent="0" marL="0">
              <a:lnSpc>
                <a:spcPts val="1412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банк-партнёр</a:t>
            </a:r>
            <a:pPr algn="l" indent="0" marL="0">
              <a:lnSpc>
                <a:spcPts val="1412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работает общая программа лояльности и прозрачное распределение дохода </a:t>
            </a:r>
            <a:pPr algn="l" indent="0" marL="0">
              <a:lnSpc>
                <a:spcPts val="1412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40/40/20</a:t>
            </a:r>
            <a:pPr algn="l" indent="0" marL="0">
              <a:lnSpc>
                <a:spcPts val="1412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28625" y="2085863"/>
            <a:ext cx="2164556" cy="1264444"/>
          </a:xfrm>
          <a:prstGeom prst="roundRect">
            <a:avLst>
              <a:gd name="adj" fmla="val 9040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2429656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2574" y="245073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266" dirty="0"/>
          </a:p>
        </p:txBody>
      </p:sp>
      <p:sp>
        <p:nvSpPr>
          <p:cNvPr id="9" name="Text 7"/>
          <p:cNvSpPr/>
          <p:nvPr/>
        </p:nvSpPr>
        <p:spPr>
          <a:xfrm>
            <a:off x="871538" y="2474305"/>
            <a:ext cx="15787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Честная лояльность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71500" y="2729694"/>
            <a:ext cx="187880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балл = 1 ₽, баллы не сгорают и тратятся у всех точек района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93194" y="2085863"/>
            <a:ext cx="2164556" cy="1264444"/>
          </a:xfrm>
          <a:prstGeom prst="roundRect">
            <a:avLst>
              <a:gd name="adj" fmla="val 9040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36069" y="2429656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57143" y="245073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266" dirty="0"/>
          </a:p>
        </p:txBody>
      </p:sp>
      <p:sp>
        <p:nvSpPr>
          <p:cNvPr id="14" name="Text 12"/>
          <p:cNvSpPr/>
          <p:nvPr/>
        </p:nvSpPr>
        <p:spPr>
          <a:xfrm>
            <a:off x="3136106" y="2474305"/>
            <a:ext cx="15787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Агрегируем локальное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36069" y="2729694"/>
            <a:ext cx="187880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свои точки, свои акции, свои баллы — вместо конкуренции с федералами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8625" y="3450320"/>
            <a:ext cx="2164556" cy="1264555"/>
          </a:xfrm>
          <a:prstGeom prst="roundRect">
            <a:avLst>
              <a:gd name="adj" fmla="val 9039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1500" y="3724908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2574" y="374598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871538" y="3769556"/>
            <a:ext cx="15787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владеем товаром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1500" y="4024945"/>
            <a:ext cx="1878806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платформа — SaaS и агент: деньги проходят через банк-партнёр, а не кассу платформы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93194" y="3450320"/>
            <a:ext cx="2164556" cy="1264555"/>
          </a:xfrm>
          <a:prstGeom prst="roundRect">
            <a:avLst>
              <a:gd name="adj" fmla="val 9039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836069" y="3794113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857143" y="381518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3136106" y="3838761"/>
            <a:ext cx="15787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Приватность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36069" y="4094150"/>
            <a:ext cx="187880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заявки через форму: данные не хранятся на серверах сайта</a:t>
            </a:r>
            <a:endParaRPr lang="en-US" sz="800" dirty="0"/>
          </a:p>
        </p:txBody>
      </p:sp>
      <p:pic>
        <p:nvPicPr>
          <p:cNvPr id="26" name="Image 0" descr="/tmp/h2p-fit-1788296883067-bt404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7775" y="1419151"/>
            <a:ext cx="3657600" cy="310641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057775" y="4597003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Локальные точки — сердце экосистемы LOVII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508992"/>
            <a:ext cx="185738" cy="14288"/>
          </a:xfrm>
          <a:prstGeom prst="rect">
            <a:avLst/>
          </a:prstGeom>
          <a:solidFill>
            <a:srgbClr val="F64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45720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ЭКОСИСТЕМА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00050" y="646509"/>
            <a:ext cx="8636000" cy="340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2138" b="1" spc="-32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Пять ролей — одна цепочка ценности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400050" y="1175705"/>
            <a:ext cx="1588703" cy="3299854"/>
          </a:xfrm>
          <a:prstGeom prst="roundRect">
            <a:avLst>
              <a:gd name="adj" fmla="val 7195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8638" y="2216014"/>
            <a:ext cx="314325" cy="314325"/>
          </a:xfrm>
          <a:prstGeom prst="roundRect">
            <a:avLst>
              <a:gd name="adj" fmla="val 3027273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857" y="225923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547" dirty="0"/>
          </a:p>
        </p:txBody>
      </p:sp>
      <p:sp>
        <p:nvSpPr>
          <p:cNvPr id="8" name="Text 6"/>
          <p:cNvSpPr/>
          <p:nvPr/>
        </p:nvSpPr>
        <p:spPr>
          <a:xfrm>
            <a:off x="528638" y="2644639"/>
            <a:ext cx="1331528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52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КЛИЕНТАМ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28638" y="2817875"/>
            <a:ext cx="133152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Жители района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8638" y="3032187"/>
            <a:ext cx="1411420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единая карта лояльности на все точки рядом, баллы 1:1 не сгорают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28638" y="4257675"/>
            <a:ext cx="175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88766" y="1175705"/>
            <a:ext cx="1588815" cy="3299854"/>
          </a:xfrm>
          <a:prstGeom prst="roundRect">
            <a:avLst>
              <a:gd name="adj" fmla="val 7194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17353" y="2216014"/>
            <a:ext cx="314325" cy="314325"/>
          </a:xfrm>
          <a:prstGeom prst="roundRect">
            <a:avLst>
              <a:gd name="adj" fmla="val 3027273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60573" y="225923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547" dirty="0"/>
          </a:p>
        </p:txBody>
      </p:sp>
      <p:sp>
        <p:nvSpPr>
          <p:cNvPr id="15" name="Text 13"/>
          <p:cNvSpPr/>
          <p:nvPr/>
        </p:nvSpPr>
        <p:spPr>
          <a:xfrm>
            <a:off x="2217353" y="2644639"/>
            <a:ext cx="1331640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52" kern="0" dirty="0">
                <a:solidFill>
                  <a:srgbClr val="07807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БИЗНЕСУ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17353" y="2817875"/>
            <a:ext cx="133164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Точки МСП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17353" y="3032187"/>
            <a:ext cx="1411538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инфраструктура под ключ: витрина, касса 54-ФЗ, эквайринг и лояльность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17353" y="4257675"/>
            <a:ext cx="175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84736" y="1182849"/>
            <a:ext cx="1574416" cy="3285567"/>
          </a:xfrm>
          <a:prstGeom prst="roundRect">
            <a:avLst>
              <a:gd name="adj" fmla="val 7260"/>
            </a:avLst>
          </a:prstGeom>
          <a:solidFill>
            <a:srgbClr val="D4A854">
              <a:alpha val="6000"/>
            </a:srgbClr>
          </a:solidFill>
          <a:ln w="14288">
            <a:solidFill>
              <a:srgbClr val="D4A854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66524" y="1087265"/>
            <a:ext cx="504143" cy="184023"/>
          </a:xfrm>
          <a:prstGeom prst="roundRect">
            <a:avLst>
              <a:gd name="adj" fmla="val 5170807"/>
            </a:avLst>
          </a:prstGeom>
          <a:solidFill>
            <a:srgbClr val="8A6A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56621" y="1097124"/>
            <a:ext cx="46679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ЭТО ВЫ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20468" y="2072580"/>
            <a:ext cx="314325" cy="314325"/>
          </a:xfrm>
          <a:prstGeom prst="roundRect">
            <a:avLst>
              <a:gd name="adj" fmla="val 3027273"/>
            </a:avLst>
          </a:prstGeom>
          <a:solidFill>
            <a:srgbClr val="D4A854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63687" y="211580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3920468" y="2501205"/>
            <a:ext cx="1302953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52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ПАРТНЁРАМ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920468" y="2674441"/>
            <a:ext cx="1302953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Представители, Мэры, Губернаторы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20468" y="3031629"/>
            <a:ext cx="1381130" cy="67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6B62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подключайте точки и получайте 40% от пула платформы с каждой активной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20468" y="4243388"/>
            <a:ext cx="175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8A6A2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66308" y="1175705"/>
            <a:ext cx="1588815" cy="3299854"/>
          </a:xfrm>
          <a:prstGeom prst="roundRect">
            <a:avLst>
              <a:gd name="adj" fmla="val 7194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594896" y="2216014"/>
            <a:ext cx="314325" cy="314325"/>
          </a:xfrm>
          <a:prstGeom prst="roundRect">
            <a:avLst>
              <a:gd name="adj" fmla="val 3027273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38115" y="225923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547" dirty="0"/>
          </a:p>
        </p:txBody>
      </p:sp>
      <p:sp>
        <p:nvSpPr>
          <p:cNvPr id="31" name="Text 29"/>
          <p:cNvSpPr/>
          <p:nvPr/>
        </p:nvSpPr>
        <p:spPr>
          <a:xfrm>
            <a:off x="5594896" y="2644639"/>
            <a:ext cx="1331640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52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АМБАССАДОРАМ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94896" y="2817875"/>
            <a:ext cx="133164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Лидеры локаций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94896" y="3032187"/>
            <a:ext cx="1411538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соберите сеть представителей и получайте 20% от пула сети + долю кэшбэк-комиссии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94896" y="4257675"/>
            <a:ext cx="175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155135" y="1175705"/>
            <a:ext cx="1588703" cy="3299854"/>
          </a:xfrm>
          <a:prstGeom prst="roundRect">
            <a:avLst>
              <a:gd name="adj" fmla="val 7195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283723" y="2144576"/>
            <a:ext cx="314325" cy="314325"/>
          </a:xfrm>
          <a:prstGeom prst="roundRect">
            <a:avLst>
              <a:gd name="adj" fmla="val 3027273"/>
            </a:avLst>
          </a:prstGeom>
          <a:solidFill>
            <a:srgbClr val="1A1A1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26943" y="218779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547" dirty="0"/>
          </a:p>
        </p:txBody>
      </p:sp>
      <p:sp>
        <p:nvSpPr>
          <p:cNvPr id="38" name="Text 36"/>
          <p:cNvSpPr/>
          <p:nvPr/>
        </p:nvSpPr>
        <p:spPr>
          <a:xfrm>
            <a:off x="7283723" y="2573201"/>
            <a:ext cx="1331528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52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ИНВЕСТОРАМ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283723" y="2746437"/>
            <a:ext cx="133152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Фонды и частные инвесторы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83723" y="3103625"/>
            <a:ext cx="1411420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модель платформы, каноническая юнит-экономика, прогноз на 5 лет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283723" y="4257675"/>
            <a:ext cx="175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0050" y="4632722"/>
            <a:ext cx="8343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Деньги движутся по цепочке от компании к жителям, а доход возвращается всем участникам — открыто и зафиксировано.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796" y="1000125"/>
            <a:ext cx="3367792" cy="200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25"/>
              </a:lnSpc>
              <a:buNone/>
            </a:pPr>
            <a:r>
              <a:rPr lang="en-US" sz="14625" b="1" spc="-585" kern="0" dirty="0">
                <a:solidFill>
                  <a:srgbClr val="D4A854">
                    <a:alpha val="1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4625" dirty="0"/>
          </a:p>
        </p:txBody>
      </p:sp>
      <p:sp>
        <p:nvSpPr>
          <p:cNvPr id="3" name="Text 1"/>
          <p:cNvSpPr/>
          <p:nvPr/>
        </p:nvSpPr>
        <p:spPr>
          <a:xfrm>
            <a:off x="6357938" y="2643188"/>
            <a:ext cx="3857625" cy="3857625"/>
          </a:xfrm>
          <a:prstGeom prst="roundRect">
            <a:avLst>
              <a:gd name="adj" fmla="val 246667"/>
            </a:avLst>
          </a:prstGeom>
          <a:solidFill>
            <a:srgbClr val="D4A85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4340" y="1865215"/>
            <a:ext cx="911007" cy="212027"/>
          </a:xfrm>
          <a:prstGeom prst="roundRect">
            <a:avLst>
              <a:gd name="adj" fmla="val 4487860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876574"/>
            <a:ext cx="8652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01 / 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2280196"/>
            <a:ext cx="8636000" cy="441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3038" b="1" spc="-6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Роль представителя</a:t>
            </a:r>
            <a:endParaRPr lang="en-US" sz="3038" dirty="0"/>
          </a:p>
        </p:txBody>
      </p:sp>
      <p:sp>
        <p:nvSpPr>
          <p:cNvPr id="7" name="Text 5"/>
          <p:cNvSpPr/>
          <p:nvPr/>
        </p:nvSpPr>
        <p:spPr>
          <a:xfrm>
            <a:off x="457200" y="2846226"/>
            <a:ext cx="5143500" cy="45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вы делаете, за что получаете доход и почему это работа с реальной экономикой — а не вступительные взносы.</a:t>
            </a:r>
            <a:endParaRPr lang="en-US" sz="1069" dirty="0"/>
          </a:p>
        </p:txBody>
      </p:sp>
      <p:sp>
        <p:nvSpPr>
          <p:cNvPr id="8" name="Text 6"/>
          <p:cNvSpPr/>
          <p:nvPr/>
        </p:nvSpPr>
        <p:spPr>
          <a:xfrm>
            <a:off x="457200" y="4700588"/>
            <a:ext cx="2003822" cy="42863"/>
          </a:xfrm>
          <a:prstGeom prst="roundRect">
            <a:avLst>
              <a:gd name="adj" fmla="val 22199741"/>
            </a:avLst>
          </a:prstGeom>
          <a:solidFill>
            <a:srgbClr val="D4A8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32459" y="4700588"/>
            <a:ext cx="2003822" cy="42863"/>
          </a:xfrm>
          <a:prstGeom prst="roundRect">
            <a:avLst>
              <a:gd name="adj" fmla="val 22199741"/>
            </a:avLst>
          </a:prstGeom>
          <a:solidFill>
            <a:srgbClr val="1A1A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07719" y="4700588"/>
            <a:ext cx="2003822" cy="42863"/>
          </a:xfrm>
          <a:prstGeom prst="roundRect">
            <a:avLst>
              <a:gd name="adj" fmla="val 22199741"/>
            </a:avLst>
          </a:prstGeom>
          <a:solidFill>
            <a:srgbClr val="1A1A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82978" y="4700588"/>
            <a:ext cx="2003822" cy="42863"/>
          </a:xfrm>
          <a:prstGeom prst="roundRect">
            <a:avLst>
              <a:gd name="adj" fmla="val 22199741"/>
            </a:avLst>
          </a:prstGeom>
          <a:solidFill>
            <a:srgbClr val="1A1A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80417"/>
            <a:ext cx="185738" cy="14288"/>
          </a:xfrm>
          <a:prstGeom prst="rect">
            <a:avLst/>
          </a:prstGeom>
          <a:solidFill>
            <a:srgbClr val="F64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428625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РОЛЬ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8625" y="632222"/>
            <a:ext cx="8636000" cy="340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2138" b="1" spc="-32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 находите точки — платформа работает на вас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428625" y="1132842"/>
            <a:ext cx="3143250" cy="2885517"/>
          </a:xfrm>
          <a:prstGeom prst="roundRect">
            <a:avLst>
              <a:gd name="adj" fmla="val 3961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2938" y="1883606"/>
            <a:ext cx="314325" cy="314325"/>
          </a:xfrm>
          <a:prstGeom prst="roundRect">
            <a:avLst>
              <a:gd name="adj" fmla="val 3027273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6157" y="192682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547" dirty="0"/>
          </a:p>
        </p:txBody>
      </p:sp>
      <p:sp>
        <p:nvSpPr>
          <p:cNvPr id="8" name="Text 6"/>
          <p:cNvSpPr/>
          <p:nvPr/>
        </p:nvSpPr>
        <p:spPr>
          <a:xfrm>
            <a:off x="642938" y="2326518"/>
            <a:ext cx="2714625" cy="1016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Представитель</a:t>
            </a:r>
            <a:pPr algn="l" indent="0" marL="0">
              <a:lnSpc>
                <a:spcPts val="1482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любой участник, приглашающий торговые точки района на платформу LOVII. Это роль с реальной экономикой: доход привязан к </a:t>
            </a:r>
            <a:pPr algn="l" indent="0" marL="0">
              <a:lnSpc>
                <a:spcPts val="1482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обороту подключённых вами точек</a:t>
            </a:r>
            <a:pPr algn="l" indent="0" marL="0">
              <a:lnSpc>
                <a:spcPts val="1482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а не к „вступительным взносам“.</a:t>
            </a:r>
            <a:endParaRPr lang="en-US" sz="872" dirty="0"/>
          </a:p>
        </p:txBody>
      </p:sp>
      <p:sp>
        <p:nvSpPr>
          <p:cNvPr id="9" name="Text 7"/>
          <p:cNvSpPr/>
          <p:nvPr/>
        </p:nvSpPr>
        <p:spPr>
          <a:xfrm>
            <a:off x="432197" y="4136231"/>
            <a:ext cx="3136106" cy="575072"/>
          </a:xfrm>
          <a:prstGeom prst="roundRect">
            <a:avLst>
              <a:gd name="adj" fmla="val 1987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2931" y="4280892"/>
            <a:ext cx="285750" cy="285750"/>
          </a:xfrm>
          <a:prstGeom prst="roundRect">
            <a:avLst>
              <a:gd name="adj" fmla="val 3330000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7043" y="4315004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477" dirty="0"/>
          </a:p>
        </p:txBody>
      </p:sp>
      <p:sp>
        <p:nvSpPr>
          <p:cNvPr id="12" name="Text 10"/>
          <p:cNvSpPr/>
          <p:nvPr/>
        </p:nvSpPr>
        <p:spPr>
          <a:xfrm>
            <a:off x="978694" y="4268391"/>
            <a:ext cx="24288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Ваша задача — строить отношения с точками и помогать им запускаться.</a:t>
            </a:r>
            <a:endParaRPr lang="en-US" sz="816" dirty="0"/>
          </a:p>
        </p:txBody>
      </p:sp>
      <p:sp>
        <p:nvSpPr>
          <p:cNvPr id="13" name="Text 11"/>
          <p:cNvSpPr/>
          <p:nvPr/>
        </p:nvSpPr>
        <p:spPr>
          <a:xfrm>
            <a:off x="3746897" y="1136414"/>
            <a:ext cx="4964906" cy="813271"/>
          </a:xfrm>
          <a:prstGeom prst="roundRect">
            <a:avLst>
              <a:gd name="adj" fmla="val 14054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36206" y="1378744"/>
            <a:ext cx="328613" cy="328613"/>
          </a:xfrm>
          <a:prstGeom prst="roundRect">
            <a:avLst>
              <a:gd name="adj" fmla="val 2895648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81390" y="1423928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17" dirty="0"/>
          </a:p>
        </p:txBody>
      </p:sp>
      <p:sp>
        <p:nvSpPr>
          <p:cNvPr id="16" name="Text 14"/>
          <p:cNvSpPr/>
          <p:nvPr/>
        </p:nvSpPr>
        <p:spPr>
          <a:xfrm>
            <a:off x="4393406" y="1460004"/>
            <a:ext cx="4136231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Подключаете точки по QR — за 5 минут на точку</a:t>
            </a:r>
            <a:endParaRPr lang="en-US" sz="872" dirty="0"/>
          </a:p>
        </p:txBody>
      </p:sp>
      <p:sp>
        <p:nvSpPr>
          <p:cNvPr id="17" name="Text 15"/>
          <p:cNvSpPr/>
          <p:nvPr/>
        </p:nvSpPr>
        <p:spPr>
          <a:xfrm>
            <a:off x="3746897" y="2056842"/>
            <a:ext cx="4964906" cy="813383"/>
          </a:xfrm>
          <a:prstGeom prst="roundRect">
            <a:avLst>
              <a:gd name="adj" fmla="val 14052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36206" y="2299171"/>
            <a:ext cx="328613" cy="328613"/>
          </a:xfrm>
          <a:prstGeom prst="roundRect">
            <a:avLst>
              <a:gd name="adj" fmla="val 2895648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81390" y="2344356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17" dirty="0"/>
          </a:p>
        </p:txBody>
      </p:sp>
      <p:sp>
        <p:nvSpPr>
          <p:cNvPr id="20" name="Text 18"/>
          <p:cNvSpPr/>
          <p:nvPr/>
        </p:nvSpPr>
        <p:spPr>
          <a:xfrm>
            <a:off x="4393406" y="2380431"/>
            <a:ext cx="4136231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Видите оборот своих точек в личном кабинете</a:t>
            </a:r>
            <a:endParaRPr lang="en-US" sz="872" dirty="0"/>
          </a:p>
        </p:txBody>
      </p:sp>
      <p:sp>
        <p:nvSpPr>
          <p:cNvPr id="21" name="Text 19"/>
          <p:cNvSpPr/>
          <p:nvPr/>
        </p:nvSpPr>
        <p:spPr>
          <a:xfrm>
            <a:off x="3746897" y="2977381"/>
            <a:ext cx="4964906" cy="813383"/>
          </a:xfrm>
          <a:prstGeom prst="roundRect">
            <a:avLst>
              <a:gd name="adj" fmla="val 14052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936206" y="3219710"/>
            <a:ext cx="328613" cy="328613"/>
          </a:xfrm>
          <a:prstGeom prst="roundRect">
            <a:avLst>
              <a:gd name="adj" fmla="val 2895648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81390" y="3264895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617" dirty="0"/>
          </a:p>
        </p:txBody>
      </p:sp>
      <p:sp>
        <p:nvSpPr>
          <p:cNvPr id="24" name="Text 22"/>
          <p:cNvSpPr/>
          <p:nvPr/>
        </p:nvSpPr>
        <p:spPr>
          <a:xfrm>
            <a:off x="4393406" y="3300971"/>
            <a:ext cx="4136231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Получаете 40% пула платформы ежемесячно</a:t>
            </a:r>
            <a:endParaRPr lang="en-US" sz="872" dirty="0"/>
          </a:p>
        </p:txBody>
      </p:sp>
      <p:sp>
        <p:nvSpPr>
          <p:cNvPr id="25" name="Text 23"/>
          <p:cNvSpPr/>
          <p:nvPr/>
        </p:nvSpPr>
        <p:spPr>
          <a:xfrm>
            <a:off x="3746897" y="3897920"/>
            <a:ext cx="4964906" cy="813383"/>
          </a:xfrm>
          <a:prstGeom prst="roundRect">
            <a:avLst>
              <a:gd name="adj" fmla="val 14052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936206" y="4140250"/>
            <a:ext cx="328613" cy="328613"/>
          </a:xfrm>
          <a:prstGeom prst="roundRect">
            <a:avLst>
              <a:gd name="adj" fmla="val 2895648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81390" y="4185434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617" dirty="0"/>
          </a:p>
        </p:txBody>
      </p:sp>
      <p:sp>
        <p:nvSpPr>
          <p:cNvPr id="28" name="Text 26"/>
          <p:cNvSpPr/>
          <p:nvPr/>
        </p:nvSpPr>
        <p:spPr>
          <a:xfrm>
            <a:off x="4393406" y="4221510"/>
            <a:ext cx="4136231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Помогаете точкам с акциями — они продают больше</a:t>
            </a:r>
            <a:endParaRPr lang="en-US" sz="87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80417"/>
            <a:ext cx="185738" cy="14288"/>
          </a:xfrm>
          <a:prstGeom prst="rect">
            <a:avLst/>
          </a:prstGeom>
          <a:solidFill>
            <a:srgbClr val="F64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428625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ДОХОД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8625" y="632222"/>
            <a:ext cx="8636000" cy="340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2138" b="1" spc="-32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Откуда приходят деньги: два источника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428625" y="1118555"/>
            <a:ext cx="4057650" cy="3328429"/>
          </a:xfrm>
          <a:prstGeom prst="roundRect">
            <a:avLst>
              <a:gd name="adj" fmla="val 3434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8625" y="1118555"/>
            <a:ext cx="4057650" cy="42863"/>
          </a:xfrm>
          <a:prstGeom prst="rect">
            <a:avLst/>
          </a:prstGeom>
          <a:solidFill>
            <a:srgbClr val="D4A8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2938" y="1416360"/>
            <a:ext cx="314325" cy="314325"/>
          </a:xfrm>
          <a:prstGeom prst="roundRect">
            <a:avLst>
              <a:gd name="adj" fmla="val 3027273"/>
            </a:avLst>
          </a:prstGeom>
          <a:solidFill>
            <a:srgbClr val="D4A854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6157" y="145958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547" dirty="0"/>
          </a:p>
        </p:txBody>
      </p:sp>
      <p:sp>
        <p:nvSpPr>
          <p:cNvPr id="9" name="Text 7"/>
          <p:cNvSpPr/>
          <p:nvPr/>
        </p:nvSpPr>
        <p:spPr>
          <a:xfrm>
            <a:off x="1057275" y="1390017"/>
            <a:ext cx="2338066" cy="2218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463" b="1" spc="-15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40% от пула платформы</a:t>
            </a:r>
            <a:endParaRPr lang="en-US" sz="1463" dirty="0"/>
          </a:p>
        </p:txBody>
      </p:sp>
      <p:sp>
        <p:nvSpPr>
          <p:cNvPr id="10" name="Text 8"/>
          <p:cNvSpPr/>
          <p:nvPr/>
        </p:nvSpPr>
        <p:spPr>
          <a:xfrm>
            <a:off x="1057275" y="1639267"/>
            <a:ext cx="24452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БАЗОВЫЙ СПЛИТ КАЖДЫЙ МЕСЯЦ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2938" y="1885727"/>
            <a:ext cx="3629025" cy="581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2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Комиссия платформы с активных точек делится открыто: </a:t>
            </a:r>
            <a:pPr algn="l" indent="0" marL="0">
              <a:lnSpc>
                <a:spcPts val="1412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40% Компания / 40% Представитель / 20% Амбассадор</a:t>
            </a:r>
            <a:pPr algn="l" indent="0" marL="0">
              <a:lnSpc>
                <a:spcPts val="1412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Ваши 40% приходят ежемесячно, пока точки работают и продают.</a:t>
            </a:r>
            <a:endParaRPr lang="en-US" sz="872" dirty="0"/>
          </a:p>
        </p:txBody>
      </p:sp>
      <p:sp>
        <p:nvSpPr>
          <p:cNvPr id="12" name="Text 10"/>
          <p:cNvSpPr/>
          <p:nvPr/>
        </p:nvSpPr>
        <p:spPr>
          <a:xfrm>
            <a:off x="642938" y="3629918"/>
            <a:ext cx="12871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Компания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14488" y="3618309"/>
            <a:ext cx="2271713" cy="157163"/>
          </a:xfrm>
          <a:prstGeom prst="roundRect">
            <a:avLst>
              <a:gd name="adj" fmla="val 6054526"/>
            </a:avLst>
          </a:prstGeom>
          <a:solidFill>
            <a:srgbClr val="1A1A1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14488" y="3618309"/>
            <a:ext cx="908596" cy="157163"/>
          </a:xfrm>
          <a:prstGeom prst="roundRect">
            <a:avLst>
              <a:gd name="adj" fmla="val 6054526"/>
            </a:avLst>
          </a:prstGeom>
          <a:solidFill>
            <a:srgbClr val="D4A854">
              <a:alpha val="3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69043" y="3629918"/>
            <a:ext cx="5029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2938" y="3865662"/>
            <a:ext cx="11251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Представитель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14488" y="3854053"/>
            <a:ext cx="2271713" cy="157163"/>
          </a:xfrm>
          <a:prstGeom prst="roundRect">
            <a:avLst>
              <a:gd name="adj" fmla="val 6054526"/>
            </a:avLst>
          </a:prstGeom>
          <a:solidFill>
            <a:srgbClr val="1A1A1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14488" y="3854053"/>
            <a:ext cx="908596" cy="157163"/>
          </a:xfrm>
          <a:prstGeom prst="roundRect">
            <a:avLst>
              <a:gd name="adj" fmla="val 6054526"/>
            </a:avLst>
          </a:prstGeom>
          <a:solidFill>
            <a:srgbClr val="D4A8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69043" y="3865662"/>
            <a:ext cx="5029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8A6A2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2938" y="4101405"/>
            <a:ext cx="1125141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Амбассадор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14488" y="4089797"/>
            <a:ext cx="2271713" cy="157163"/>
          </a:xfrm>
          <a:prstGeom prst="roundRect">
            <a:avLst>
              <a:gd name="adj" fmla="val 6054526"/>
            </a:avLst>
          </a:prstGeom>
          <a:solidFill>
            <a:srgbClr val="1A1A1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14488" y="4089797"/>
            <a:ext cx="454298" cy="157163"/>
          </a:xfrm>
          <a:prstGeom prst="roundRect">
            <a:avLst>
              <a:gd name="adj" fmla="val 6054526"/>
            </a:avLst>
          </a:prstGeom>
          <a:solidFill>
            <a:srgbClr val="D4A854">
              <a:alpha val="3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769043" y="4101405"/>
            <a:ext cx="502920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57725" y="1118555"/>
            <a:ext cx="4057650" cy="3328429"/>
          </a:xfrm>
          <a:prstGeom prst="roundRect">
            <a:avLst>
              <a:gd name="adj" fmla="val 3434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57725" y="1118555"/>
            <a:ext cx="4057650" cy="42863"/>
          </a:xfrm>
          <a:prstGeom prst="rect">
            <a:avLst/>
          </a:prstGeom>
          <a:solidFill>
            <a:srgbClr val="0ABA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72038" y="1416360"/>
            <a:ext cx="314325" cy="314325"/>
          </a:xfrm>
          <a:prstGeom prst="roundRect">
            <a:avLst>
              <a:gd name="adj" fmla="val 3027273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15257" y="145958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547" dirty="0"/>
          </a:p>
        </p:txBody>
      </p:sp>
      <p:sp>
        <p:nvSpPr>
          <p:cNvPr id="28" name="Text 26"/>
          <p:cNvSpPr/>
          <p:nvPr/>
        </p:nvSpPr>
        <p:spPr>
          <a:xfrm>
            <a:off x="5286375" y="1390017"/>
            <a:ext cx="2706315" cy="2218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463" b="1" spc="-15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10% от кэшбэка ваших точек</a:t>
            </a:r>
            <a:endParaRPr lang="en-US" sz="1463" dirty="0"/>
          </a:p>
        </p:txBody>
      </p:sp>
      <p:sp>
        <p:nvSpPr>
          <p:cNvPr id="29" name="Text 27"/>
          <p:cNvSpPr/>
          <p:nvPr/>
        </p:nvSpPr>
        <p:spPr>
          <a:xfrm>
            <a:off x="5286375" y="1639267"/>
            <a:ext cx="32146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ПЛЮС КЭШБЭК-ДОХОД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72038" y="1885727"/>
            <a:ext cx="3629025" cy="38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2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Когда ваши точки начисляют баллы покупателям, вы получаете </a:t>
            </a:r>
            <a:pPr algn="l" indent="0" marL="0">
              <a:lnSpc>
                <a:spcPts val="1412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10% от суммы начисленного кэшбэка</a:t>
            </a:r>
            <a:pPr algn="l" indent="0" marL="0">
              <a:lnSpc>
                <a:spcPts val="1412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72" dirty="0"/>
          </a:p>
        </p:txBody>
      </p:sp>
      <p:sp>
        <p:nvSpPr>
          <p:cNvPr id="31" name="Text 29"/>
          <p:cNvSpPr/>
          <p:nvPr/>
        </p:nvSpPr>
        <p:spPr>
          <a:xfrm>
            <a:off x="4875609" y="3471863"/>
            <a:ext cx="3621881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22056" y="3604022"/>
            <a:ext cx="33289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2056" y="3779044"/>
            <a:ext cx="3438715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Кэшбэк покупателю 600 ₽ → </a:t>
            </a:r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0780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вам 60 ₽</a:t>
            </a:r>
            <a:endParaRPr lang="en-US" sz="816" dirty="0"/>
          </a:p>
        </p:txBody>
      </p:sp>
      <p:sp>
        <p:nvSpPr>
          <p:cNvPr id="34" name="Text 32"/>
          <p:cNvSpPr/>
          <p:nvPr/>
        </p:nvSpPr>
        <p:spPr>
          <a:xfrm>
            <a:off x="5022056" y="3977283"/>
            <a:ext cx="332898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 × 600 ₽ = 60 ₽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28625" y="458807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600075" y="457557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Комиссия платформы — 25% с оборота точки через банк-партнёр; распределение открыто и зафиксировано.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750" y="-1214437"/>
            <a:ext cx="3071813" cy="3071813"/>
          </a:xfrm>
          <a:prstGeom prst="ellipse">
            <a:avLst/>
          </a:prstGeom>
          <a:solidFill>
            <a:srgbClr val="D4A854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МАТЕМАТИКА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89359"/>
            <a:ext cx="863600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Сколько это в деньгах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457200" y="1546957"/>
            <a:ext cx="2628900" cy="1614488"/>
          </a:xfrm>
          <a:prstGeom prst="roundRect">
            <a:avLst>
              <a:gd name="adj" fmla="val 7080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7225" y="1746982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3301" y="178305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547" dirty="0"/>
          </a:p>
        </p:txBody>
      </p:sp>
      <p:sp>
        <p:nvSpPr>
          <p:cNvPr id="8" name="Text 6"/>
          <p:cNvSpPr/>
          <p:nvPr/>
        </p:nvSpPr>
        <p:spPr>
          <a:xfrm>
            <a:off x="1042988" y="1795202"/>
            <a:ext cx="184308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точка</a:t>
            </a:r>
            <a:endParaRPr lang="en-US" sz="1069" dirty="0"/>
          </a:p>
        </p:txBody>
      </p:sp>
      <p:sp>
        <p:nvSpPr>
          <p:cNvPr id="9" name="Text 7"/>
          <p:cNvSpPr/>
          <p:nvPr/>
        </p:nvSpPr>
        <p:spPr>
          <a:xfrm>
            <a:off x="657225" y="2218469"/>
            <a:ext cx="2228850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spc="-61" kern="0" dirty="0">
                <a:solidFill>
                  <a:srgbClr val="D4A8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 3 970 ₽</a:t>
            </a:r>
            <a:endParaRPr lang="en-US" sz="3038" dirty="0"/>
          </a:p>
        </p:txBody>
      </p:sp>
      <p:sp>
        <p:nvSpPr>
          <p:cNvPr id="10" name="Text 8"/>
          <p:cNvSpPr/>
          <p:nvPr/>
        </p:nvSpPr>
        <p:spPr>
          <a:xfrm>
            <a:off x="657225" y="2689957"/>
            <a:ext cx="2228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месяц при канонической юнит-экономике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57550" y="1546957"/>
            <a:ext cx="2628900" cy="1614488"/>
          </a:xfrm>
          <a:prstGeom prst="roundRect">
            <a:avLst>
              <a:gd name="adj" fmla="val 7080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57575" y="1746982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93651" y="178305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3843338" y="1795202"/>
            <a:ext cx="184308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 точек</a:t>
            </a:r>
            <a:endParaRPr lang="en-US" sz="1069" dirty="0"/>
          </a:p>
        </p:txBody>
      </p:sp>
      <p:sp>
        <p:nvSpPr>
          <p:cNvPr id="15" name="Text 13"/>
          <p:cNvSpPr/>
          <p:nvPr/>
        </p:nvSpPr>
        <p:spPr>
          <a:xfrm>
            <a:off x="3402908" y="2218469"/>
            <a:ext cx="2338184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spc="-61" kern="0" dirty="0">
                <a:solidFill>
                  <a:srgbClr val="D4A8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 39 700 ₽</a:t>
            </a:r>
            <a:endParaRPr lang="en-US" sz="3038" dirty="0"/>
          </a:p>
        </p:txBody>
      </p:sp>
      <p:sp>
        <p:nvSpPr>
          <p:cNvPr id="16" name="Text 14"/>
          <p:cNvSpPr/>
          <p:nvPr/>
        </p:nvSpPr>
        <p:spPr>
          <a:xfrm>
            <a:off x="3457575" y="2689957"/>
            <a:ext cx="2228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первые сети и квартальные цели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57900" y="1546957"/>
            <a:ext cx="2628900" cy="1614488"/>
          </a:xfrm>
          <a:prstGeom prst="roundRect">
            <a:avLst>
              <a:gd name="adj" fmla="val 7080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57925" y="1746982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94001" y="178305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547" dirty="0"/>
          </a:p>
        </p:txBody>
      </p:sp>
      <p:sp>
        <p:nvSpPr>
          <p:cNvPr id="20" name="Text 18"/>
          <p:cNvSpPr/>
          <p:nvPr/>
        </p:nvSpPr>
        <p:spPr>
          <a:xfrm>
            <a:off x="6643688" y="1795202"/>
            <a:ext cx="184308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 точек</a:t>
            </a:r>
            <a:endParaRPr lang="en-US" sz="1069" dirty="0"/>
          </a:p>
        </p:txBody>
      </p:sp>
      <p:sp>
        <p:nvSpPr>
          <p:cNvPr id="21" name="Text 19"/>
          <p:cNvSpPr/>
          <p:nvPr/>
        </p:nvSpPr>
        <p:spPr>
          <a:xfrm>
            <a:off x="6062146" y="2218469"/>
            <a:ext cx="2620408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spc="-61" kern="0" dirty="0">
                <a:solidFill>
                  <a:srgbClr val="D4A8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 119 000 ₽</a:t>
            </a:r>
            <a:endParaRPr lang="en-US" sz="3038" dirty="0"/>
          </a:p>
        </p:txBody>
      </p:sp>
      <p:sp>
        <p:nvSpPr>
          <p:cNvPr id="22" name="Text 20"/>
          <p:cNvSpPr/>
          <p:nvPr/>
        </p:nvSpPr>
        <p:spPr>
          <a:xfrm>
            <a:off x="6257925" y="2689957"/>
            <a:ext cx="2228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порог статуса „Мэр“ — 40% + привилегии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361469"/>
            <a:ext cx="8229600" cy="621060"/>
          </a:xfrm>
          <a:prstGeom prst="roundRect">
            <a:avLst>
              <a:gd name="adj" fmla="val 18404"/>
            </a:avLst>
          </a:prstGeom>
          <a:solidFill>
            <a:srgbClr val="D4A854">
              <a:alpha val="6000"/>
            </a:srgbClr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7225" y="3504344"/>
            <a:ext cx="7939278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КАНОНИЧЕСКАЯ ЮНИТ-ЭКОНОМИКА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7225" y="3686510"/>
            <a:ext cx="782955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чек 1 200 ₽ × 4 заказа/день </a:t>
            </a:r>
            <a:pPr algn="l" indent="0" marL="0">
              <a:lnSpc>
                <a:spcPts val="1207"/>
              </a:lnSpc>
              <a:buNone/>
            </a:pPr>
            <a:r>
              <a:rPr lang="en-US" sz="800" b="1" dirty="0">
                <a:solidFill>
                  <a:srgbClr val="D4A8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GMV 144 000 ₽/мес </a:t>
            </a:r>
            <a:pPr algn="l" indent="0" marL="0">
              <a:lnSpc>
                <a:spcPts val="1207"/>
              </a:lnSpc>
              <a:buNone/>
            </a:pPr>
            <a:r>
              <a:rPr lang="en-US" sz="800" b="1" dirty="0">
                <a:solidFill>
                  <a:srgbClr val="D4A8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пул платформы ≈ 9 924 ₽ </a:t>
            </a:r>
            <a:pPr algn="l" indent="0" marL="0">
              <a:lnSpc>
                <a:spcPts val="1207"/>
              </a:lnSpc>
              <a:buNone/>
            </a:pPr>
            <a:r>
              <a:rPr lang="en-US" sz="800" b="1" dirty="0">
                <a:solidFill>
                  <a:srgbClr val="D4A8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20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доля представителя 40% ≈ 3 970 ₽/мес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469958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195" dirty="0"/>
          </a:p>
        </p:txBody>
      </p:sp>
      <p:sp>
        <p:nvSpPr>
          <p:cNvPr id="27" name="Text 25"/>
          <p:cNvSpPr/>
          <p:nvPr/>
        </p:nvSpPr>
        <p:spPr>
          <a:xfrm>
            <a:off x="642938" y="4685295"/>
            <a:ext cx="8043863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— ориентир. </a:t>
            </a:r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является гарантией доходности: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оборот точки зависит от её локации и работы. Пулы в фонд кэшбэка: 6,84% / 9,3% ≈ 9 924 ₽/мес с точки.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0875" y="3286125"/>
            <a:ext cx="3286125" cy="3286125"/>
          </a:xfrm>
          <a:prstGeom prst="ellipse">
            <a:avLst/>
          </a:prstGeom>
          <a:solidFill>
            <a:srgbClr val="D4A854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КАРЬЕРА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89359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Лестница роста: Представитель → Мэр → Губернатор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457200" y="987177"/>
            <a:ext cx="671512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Статусы — цифровые роли внутри платформы. Они дают бейджи, привилегии и признание — но не проценты с чужих сетей.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2800350"/>
            <a:ext cx="2619301" cy="2000250"/>
          </a:xfrm>
          <a:prstGeom prst="roundRect">
            <a:avLst>
              <a:gd name="adj" fmla="val 5714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0078" y="2974729"/>
            <a:ext cx="825840" cy="212027"/>
          </a:xfrm>
          <a:prstGeom prst="roundRect">
            <a:avLst>
              <a:gd name="adj" fmla="val 4487860"/>
            </a:avLst>
          </a:prstGeom>
          <a:solidFill>
            <a:srgbClr val="1A1A1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2938" y="2986088"/>
            <a:ext cx="78012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30 ТОЧЕК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19313" y="299501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642938" y="3643089"/>
            <a:ext cx="2247826" cy="60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spc="-15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Цифровой Представитель</a:t>
            </a:r>
            <a:endParaRPr lang="en-US" sz="1463" dirty="0"/>
          </a:p>
        </p:txBody>
      </p:sp>
      <p:sp>
        <p:nvSpPr>
          <p:cNvPr id="11" name="Text 9"/>
          <p:cNvSpPr/>
          <p:nvPr/>
        </p:nvSpPr>
        <p:spPr>
          <a:xfrm>
            <a:off x="642938" y="4271739"/>
            <a:ext cx="2247826" cy="343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1A1A1A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Базовый статус: </a:t>
            </a:r>
            <a:pPr algn="l" indent="0" marL="0">
              <a:lnSpc>
                <a:spcPts val="1351"/>
              </a:lnSpc>
              <a:buNone/>
            </a:pPr>
            <a:r>
              <a:rPr lang="en-US" sz="872" b="1" dirty="0">
                <a:solidFill>
                  <a:srgbClr val="1A1A1A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40% со своих точек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1A1A1A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личный кабинет с оборотом и выплатами.</a:t>
            </a:r>
            <a:endParaRPr lang="en-US" sz="872" dirty="0"/>
          </a:p>
        </p:txBody>
      </p:sp>
      <p:sp>
        <p:nvSpPr>
          <p:cNvPr id="12" name="Text 10"/>
          <p:cNvSpPr/>
          <p:nvPr/>
        </p:nvSpPr>
        <p:spPr>
          <a:xfrm>
            <a:off x="3255094" y="2407444"/>
            <a:ext cx="2633700" cy="2386013"/>
          </a:xfrm>
          <a:prstGeom prst="roundRect">
            <a:avLst>
              <a:gd name="adj" fmla="val 4790"/>
            </a:avLst>
          </a:prstGeom>
          <a:solidFill>
            <a:srgbClr val="D4A854">
              <a:alpha val="6000"/>
            </a:srgbClr>
          </a:solidFill>
          <a:ln w="14288">
            <a:solidFill>
              <a:srgbClr val="D4A854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5116" y="2588966"/>
            <a:ext cx="817915" cy="212027"/>
          </a:xfrm>
          <a:prstGeom prst="roundRect">
            <a:avLst>
              <a:gd name="adj" fmla="val 4487860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47976" y="2600325"/>
            <a:ext cx="77219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30 ТОЧЕК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10175" y="2602111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828" dirty="0"/>
          </a:p>
        </p:txBody>
      </p:sp>
      <p:sp>
        <p:nvSpPr>
          <p:cNvPr id="16" name="Text 14"/>
          <p:cNvSpPr/>
          <p:nvPr/>
        </p:nvSpPr>
        <p:spPr>
          <a:xfrm>
            <a:off x="3447976" y="3735846"/>
            <a:ext cx="2247937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spc="-15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Цифровой Мэр</a:t>
            </a:r>
            <a:endParaRPr lang="en-US" sz="1463" dirty="0"/>
          </a:p>
        </p:txBody>
      </p:sp>
      <p:sp>
        <p:nvSpPr>
          <p:cNvPr id="17" name="Text 15"/>
          <p:cNvSpPr/>
          <p:nvPr/>
        </p:nvSpPr>
        <p:spPr>
          <a:xfrm>
            <a:off x="3447976" y="4085890"/>
            <a:ext cx="2247937" cy="514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b="1" dirty="0">
                <a:solidFill>
                  <a:srgbClr val="1A1A1A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40% + бейдж + привилегии: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1A1A1A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заметность на витрине, приоритетная поддержка, статус в сообществе.</a:t>
            </a:r>
            <a:endParaRPr lang="en-US" sz="872" dirty="0"/>
          </a:p>
        </p:txBody>
      </p:sp>
      <p:sp>
        <p:nvSpPr>
          <p:cNvPr id="18" name="Text 16"/>
          <p:cNvSpPr/>
          <p:nvPr/>
        </p:nvSpPr>
        <p:spPr>
          <a:xfrm>
            <a:off x="6067388" y="2000250"/>
            <a:ext cx="2619412" cy="2800350"/>
          </a:xfrm>
          <a:prstGeom prst="roundRect">
            <a:avLst>
              <a:gd name="adj" fmla="val 436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30265" y="2179987"/>
            <a:ext cx="1325456" cy="212027"/>
          </a:xfrm>
          <a:prstGeom prst="roundRect">
            <a:avLst>
              <a:gd name="adj" fmla="val 4487860"/>
            </a:avLst>
          </a:prstGeom>
          <a:solidFill>
            <a:srgbClr val="FFFF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53125" y="2191345"/>
            <a:ext cx="127973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3+ ГОРОДА × 30+ ТОЧЕК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301038" y="218598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D4A85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969" dirty="0"/>
          </a:p>
        </p:txBody>
      </p:sp>
      <p:sp>
        <p:nvSpPr>
          <p:cNvPr id="22" name="Text 20"/>
          <p:cNvSpPr/>
          <p:nvPr/>
        </p:nvSpPr>
        <p:spPr>
          <a:xfrm>
            <a:off x="6253125" y="3800252"/>
            <a:ext cx="314325" cy="21431"/>
          </a:xfrm>
          <a:prstGeom prst="roundRect">
            <a:avLst>
              <a:gd name="adj" fmla="val 88890"/>
            </a:avLst>
          </a:prstGeom>
          <a:solidFill>
            <a:srgbClr val="D4A8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53125" y="3921696"/>
            <a:ext cx="2247937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spc="-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Цифровой Губернатор</a:t>
            </a:r>
            <a:endParaRPr lang="en-US" sz="1463" dirty="0"/>
          </a:p>
        </p:txBody>
      </p:sp>
      <p:sp>
        <p:nvSpPr>
          <p:cNvPr id="24" name="Text 22"/>
          <p:cNvSpPr/>
          <p:nvPr/>
        </p:nvSpPr>
        <p:spPr>
          <a:xfrm>
            <a:off x="6253125" y="4271739"/>
            <a:ext cx="2247937" cy="343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Сеть с выручкой </a:t>
            </a:r>
            <a:pPr algn="l" indent="0" marL="0">
              <a:lnSpc>
                <a:spcPts val="1351"/>
              </a:lnSpc>
              <a:buNone/>
            </a:pPr>
            <a:r>
              <a:rPr lang="en-US" sz="872" b="1" dirty="0">
                <a:solidFill>
                  <a:srgbClr val="D4A854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≥ 15 млн ₽/мес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40% + все привилегии платформы.</a:t>
            </a:r>
            <a:endParaRPr lang="en-US" sz="87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ЧЕСТНО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89359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Это не МЛМ — и это принципиально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60772" y="1105049"/>
            <a:ext cx="4021931" cy="2974032"/>
          </a:xfrm>
          <a:prstGeom prst="roundRect">
            <a:avLst>
              <a:gd name="adj" fmla="val 3843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4369" y="1294358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0445" y="133043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547" dirty="0"/>
          </a:p>
        </p:txBody>
      </p:sp>
      <p:sp>
        <p:nvSpPr>
          <p:cNvPr id="7" name="Text 5"/>
          <p:cNvSpPr/>
          <p:nvPr/>
        </p:nvSpPr>
        <p:spPr>
          <a:xfrm>
            <a:off x="1064419" y="1342579"/>
            <a:ext cx="321468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Чего в LOVII нет</a:t>
            </a:r>
            <a:endParaRPr lang="en-US" sz="1069" dirty="0"/>
          </a:p>
        </p:txBody>
      </p:sp>
      <p:sp>
        <p:nvSpPr>
          <p:cNvPr id="8" name="Text 6"/>
          <p:cNvSpPr/>
          <p:nvPr/>
        </p:nvSpPr>
        <p:spPr>
          <a:xfrm>
            <a:off x="664369" y="2309887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95" dirty="0"/>
          </a:p>
        </p:txBody>
      </p:sp>
      <p:sp>
        <p:nvSpPr>
          <p:cNvPr id="9" name="Text 7"/>
          <p:cNvSpPr/>
          <p:nvPr/>
        </p:nvSpPr>
        <p:spPr>
          <a:xfrm>
            <a:off x="864394" y="2288456"/>
            <a:ext cx="341471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каскада уровней ниже амбассадора</a:t>
            </a:r>
            <a:endParaRPr lang="en-US" sz="872" dirty="0"/>
          </a:p>
        </p:txBody>
      </p:sp>
      <p:sp>
        <p:nvSpPr>
          <p:cNvPr id="10" name="Text 8"/>
          <p:cNvSpPr/>
          <p:nvPr/>
        </p:nvSpPr>
        <p:spPr>
          <a:xfrm>
            <a:off x="664369" y="2590279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95" dirty="0"/>
          </a:p>
        </p:txBody>
      </p:sp>
      <p:sp>
        <p:nvSpPr>
          <p:cNvPr id="11" name="Text 9"/>
          <p:cNvSpPr/>
          <p:nvPr/>
        </p:nvSpPr>
        <p:spPr>
          <a:xfrm>
            <a:off x="864394" y="2568848"/>
            <a:ext cx="341471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процентов с чужих сетей участников</a:t>
            </a:r>
            <a:endParaRPr lang="en-US" sz="872" dirty="0"/>
          </a:p>
        </p:txBody>
      </p:sp>
      <p:sp>
        <p:nvSpPr>
          <p:cNvPr id="12" name="Text 10"/>
          <p:cNvSpPr/>
          <p:nvPr/>
        </p:nvSpPr>
        <p:spPr>
          <a:xfrm>
            <a:off x="664369" y="2870671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95" dirty="0"/>
          </a:p>
        </p:txBody>
      </p:sp>
      <p:sp>
        <p:nvSpPr>
          <p:cNvPr id="13" name="Text 11"/>
          <p:cNvSpPr/>
          <p:nvPr/>
        </p:nvSpPr>
        <p:spPr>
          <a:xfrm>
            <a:off x="864394" y="2849240"/>
            <a:ext cx="341471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стартовых пакетов и обязательных закупок</a:t>
            </a:r>
            <a:endParaRPr lang="en-US" sz="872" dirty="0"/>
          </a:p>
        </p:txBody>
      </p:sp>
      <p:sp>
        <p:nvSpPr>
          <p:cNvPr id="14" name="Text 12"/>
          <p:cNvSpPr/>
          <p:nvPr/>
        </p:nvSpPr>
        <p:spPr>
          <a:xfrm>
            <a:off x="664369" y="315106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95" dirty="0"/>
          </a:p>
        </p:txBody>
      </p:sp>
      <p:sp>
        <p:nvSpPr>
          <p:cNvPr id="15" name="Text 13"/>
          <p:cNvSpPr/>
          <p:nvPr/>
        </p:nvSpPr>
        <p:spPr>
          <a:xfrm>
            <a:off x="864394" y="3129632"/>
            <a:ext cx="341471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обещаний пассивного дохода без точек</a:t>
            </a:r>
            <a:endParaRPr lang="en-US" sz="872" dirty="0"/>
          </a:p>
        </p:txBody>
      </p:sp>
      <p:sp>
        <p:nvSpPr>
          <p:cNvPr id="16" name="Text 14"/>
          <p:cNvSpPr/>
          <p:nvPr/>
        </p:nvSpPr>
        <p:spPr>
          <a:xfrm>
            <a:off x="4657725" y="1101477"/>
            <a:ext cx="4029075" cy="2981176"/>
          </a:xfrm>
          <a:prstGeom prst="roundRect">
            <a:avLst>
              <a:gd name="adj" fmla="val 3834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57750" y="1287214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93826" y="132329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5257800" y="1335435"/>
            <a:ext cx="3228975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есть на самом деле</a:t>
            </a:r>
            <a:endParaRPr lang="en-US" sz="1069" dirty="0"/>
          </a:p>
        </p:txBody>
      </p:sp>
      <p:sp>
        <p:nvSpPr>
          <p:cNvPr id="20" name="Text 18"/>
          <p:cNvSpPr/>
          <p:nvPr/>
        </p:nvSpPr>
        <p:spPr>
          <a:xfrm>
            <a:off x="4857750" y="2143795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21" name="Text 19"/>
          <p:cNvSpPr/>
          <p:nvPr/>
        </p:nvSpPr>
        <p:spPr>
          <a:xfrm>
            <a:off x="5057775" y="2122363"/>
            <a:ext cx="342900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схема сознательно ограничена двумя уровнями: </a:t>
            </a:r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Представитель → Амбассадор</a:t>
            </a:r>
            <a:endParaRPr lang="en-US" sz="872" dirty="0"/>
          </a:p>
        </p:txBody>
      </p:sp>
      <p:sp>
        <p:nvSpPr>
          <p:cNvPr id="22" name="Text 20"/>
          <p:cNvSpPr/>
          <p:nvPr/>
        </p:nvSpPr>
        <p:spPr>
          <a:xfrm>
            <a:off x="4857750" y="2590279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23" name="Text 21"/>
          <p:cNvSpPr/>
          <p:nvPr/>
        </p:nvSpPr>
        <p:spPr>
          <a:xfrm>
            <a:off x="5057775" y="2568848"/>
            <a:ext cx="342900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статусы Мэр и Губернатор дают бейджи и привилегии, не проценты</a:t>
            </a:r>
            <a:endParaRPr lang="en-US" sz="872" dirty="0"/>
          </a:p>
        </p:txBody>
      </p:sp>
      <p:sp>
        <p:nvSpPr>
          <p:cNvPr id="24" name="Text 22"/>
          <p:cNvSpPr/>
          <p:nvPr/>
        </p:nvSpPr>
        <p:spPr>
          <a:xfrm>
            <a:off x="4857750" y="303676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25" name="Text 23"/>
          <p:cNvSpPr/>
          <p:nvPr/>
        </p:nvSpPr>
        <p:spPr>
          <a:xfrm>
            <a:off x="5057775" y="3015332"/>
            <a:ext cx="3429000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доход только из реального оборота ваших точек</a:t>
            </a:r>
            <a:endParaRPr lang="en-US" sz="872" dirty="0"/>
          </a:p>
        </p:txBody>
      </p:sp>
      <p:sp>
        <p:nvSpPr>
          <p:cNvPr id="26" name="Text 24"/>
          <p:cNvSpPr/>
          <p:nvPr/>
        </p:nvSpPr>
        <p:spPr>
          <a:xfrm>
            <a:off x="4857750" y="3317156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27" name="Text 25"/>
          <p:cNvSpPr/>
          <p:nvPr/>
        </p:nvSpPr>
        <p:spPr>
          <a:xfrm>
            <a:off x="5057775" y="3295724"/>
            <a:ext cx="3429000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принципиальная защита от пирамидальных схем</a:t>
            </a:r>
            <a:endParaRPr lang="en-US" sz="872" dirty="0"/>
          </a:p>
        </p:txBody>
      </p:sp>
      <p:sp>
        <p:nvSpPr>
          <p:cNvPr id="28" name="Text 26"/>
          <p:cNvSpPr/>
          <p:nvPr/>
        </p:nvSpPr>
        <p:spPr>
          <a:xfrm>
            <a:off x="457200" y="4239816"/>
            <a:ext cx="8229600" cy="589359"/>
          </a:xfrm>
          <a:prstGeom prst="roundRect">
            <a:avLst>
              <a:gd name="adj" fmla="val 19394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42938" y="444877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688" dirty="0"/>
          </a:p>
        </p:txBody>
      </p:sp>
      <p:sp>
        <p:nvSpPr>
          <p:cNvPr id="30" name="Text 28"/>
          <p:cNvSpPr/>
          <p:nvPr/>
        </p:nvSpPr>
        <p:spPr>
          <a:xfrm>
            <a:off x="914400" y="4368403"/>
            <a:ext cx="7586663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Распределение дохода — </a:t>
            </a:r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два уровня без каскада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(Компания / Представитель / Амбассадор). Платформа принципиально защищена от пирамидальных схем.</a:t>
            </a:r>
            <a:endParaRPr lang="en-US" sz="87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85875" y="2571750"/>
            <a:ext cx="4429125" cy="4429125"/>
          </a:xfrm>
          <a:prstGeom prst="ellipse">
            <a:avLst/>
          </a:prstGeom>
          <a:solidFill>
            <a:srgbClr val="0ABAB5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7322" y="2861072"/>
            <a:ext cx="1207294" cy="1207294"/>
          </a:xfrm>
          <a:prstGeom prst="ellipse">
            <a:avLst/>
          </a:prstGeom>
          <a:noFill/>
          <a:ln w="7144">
            <a:solidFill>
              <a:srgbClr val="0ABAB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84559" y="428625"/>
            <a:ext cx="3885914" cy="2083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8"/>
              </a:lnSpc>
              <a:buNone/>
            </a:pPr>
            <a:r>
              <a:rPr lang="en-US" sz="16875" b="1" spc="-675" kern="0" dirty="0">
                <a:solidFill>
                  <a:srgbClr val="0ABAB5">
                    <a:alpha val="1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6875" dirty="0"/>
          </a:p>
        </p:txBody>
      </p:sp>
      <p:sp>
        <p:nvSpPr>
          <p:cNvPr id="5" name="Text 3"/>
          <p:cNvSpPr/>
          <p:nvPr/>
        </p:nvSpPr>
        <p:spPr>
          <a:xfrm>
            <a:off x="434340" y="1743213"/>
            <a:ext cx="911007" cy="212027"/>
          </a:xfrm>
          <a:prstGeom prst="roundRect">
            <a:avLst>
              <a:gd name="adj" fmla="val 4487860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754572"/>
            <a:ext cx="8652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7807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02 / 04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2143906"/>
            <a:ext cx="6900863" cy="45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41"/>
              </a:lnSpc>
              <a:buNone/>
            </a:pPr>
            <a:r>
              <a:rPr lang="en-US" sz="3038" b="1" spc="-6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Почему бизнес скажет „да“</a:t>
            </a:r>
            <a:endParaRPr lang="en-US" sz="3038" dirty="0"/>
          </a:p>
        </p:txBody>
      </p:sp>
      <p:sp>
        <p:nvSpPr>
          <p:cNvPr id="8" name="Text 6"/>
          <p:cNvSpPr/>
          <p:nvPr/>
        </p:nvSpPr>
        <p:spPr>
          <a:xfrm>
            <a:off x="457200" y="2725341"/>
            <a:ext cx="5143500" cy="45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Ваш главный аргумент в разговоре с точкой — честная экономика: нагрузка в 2–4 раза ниже, инфраструктура под ключ и подключение за 5 минут.</a:t>
            </a:r>
            <a:endParaRPr lang="en-US" sz="1069" dirty="0"/>
          </a:p>
        </p:txBody>
      </p:sp>
      <p:sp>
        <p:nvSpPr>
          <p:cNvPr id="9" name="Text 7"/>
          <p:cNvSpPr/>
          <p:nvPr/>
        </p:nvSpPr>
        <p:spPr>
          <a:xfrm>
            <a:off x="457200" y="4643438"/>
            <a:ext cx="2003822" cy="42863"/>
          </a:xfrm>
          <a:prstGeom prst="roundRect">
            <a:avLst>
              <a:gd name="adj" fmla="val 22199741"/>
            </a:avLst>
          </a:prstGeom>
          <a:solidFill>
            <a:srgbClr val="1A1A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32459" y="4643438"/>
            <a:ext cx="2003822" cy="42863"/>
          </a:xfrm>
          <a:prstGeom prst="roundRect">
            <a:avLst>
              <a:gd name="adj" fmla="val 22199741"/>
            </a:avLst>
          </a:prstGeom>
          <a:solidFill>
            <a:srgbClr val="0ABA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07719" y="4643438"/>
            <a:ext cx="2003822" cy="42863"/>
          </a:xfrm>
          <a:prstGeom prst="roundRect">
            <a:avLst>
              <a:gd name="adj" fmla="val 22199741"/>
            </a:avLst>
          </a:prstGeom>
          <a:solidFill>
            <a:srgbClr val="1A1A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82978" y="4643438"/>
            <a:ext cx="2003822" cy="42863"/>
          </a:xfrm>
          <a:prstGeom prst="roundRect">
            <a:avLst>
              <a:gd name="adj" fmla="val 22199741"/>
            </a:avLst>
          </a:prstGeom>
          <a:solidFill>
            <a:srgbClr val="1A1A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1513" y="1676549"/>
            <a:ext cx="35718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1513" y="2355763"/>
            <a:ext cx="35718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513" y="3034978"/>
            <a:ext cx="35718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1513" y="3714192"/>
            <a:ext cx="35718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14900" y="1690836"/>
            <a:ext cx="354330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14900" y="2362907"/>
            <a:ext cx="354330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14900" y="3034978"/>
            <a:ext cx="354330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14900" y="3707048"/>
            <a:ext cx="354330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005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589359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 против федеральных агрегаторов</a:t>
            </a:r>
            <a:endParaRPr lang="en-US" sz="2138" dirty="0"/>
          </a:p>
        </p:txBody>
      </p:sp>
      <p:sp>
        <p:nvSpPr>
          <p:cNvPr id="12" name="Text 10"/>
          <p:cNvSpPr/>
          <p:nvPr/>
        </p:nvSpPr>
        <p:spPr>
          <a:xfrm>
            <a:off x="457200" y="1087189"/>
            <a:ext cx="4000500" cy="3474095"/>
          </a:xfrm>
          <a:prstGeom prst="roundRect">
            <a:avLst>
              <a:gd name="adj" fmla="val 329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513" y="1258639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7588" y="129471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5" name="Text 13"/>
          <p:cNvSpPr/>
          <p:nvPr/>
        </p:nvSpPr>
        <p:spPr>
          <a:xfrm>
            <a:off x="1057275" y="1306860"/>
            <a:ext cx="3186113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Федеральные агрегаторы</a:t>
            </a:r>
            <a:endParaRPr lang="en-US" sz="1069" dirty="0"/>
          </a:p>
        </p:txBody>
      </p:sp>
      <p:sp>
        <p:nvSpPr>
          <p:cNvPr id="16" name="Text 14"/>
          <p:cNvSpPr/>
          <p:nvPr/>
        </p:nvSpPr>
        <p:spPr>
          <a:xfrm>
            <a:off x="671513" y="19518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885825" y="1933054"/>
            <a:ext cx="335756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20–45% оборота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комиссия и скрытые списания</a:t>
            </a:r>
            <a:endParaRPr lang="en-US" sz="872" dirty="0"/>
          </a:p>
        </p:txBody>
      </p:sp>
      <p:sp>
        <p:nvSpPr>
          <p:cNvPr id="18" name="Text 16"/>
          <p:cNvSpPr/>
          <p:nvPr/>
        </p:nvSpPr>
        <p:spPr>
          <a:xfrm>
            <a:off x="671513" y="263102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885825" y="2612268"/>
            <a:ext cx="335756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баллы сгорают и привязаны к одному сервису</a:t>
            </a:r>
            <a:endParaRPr lang="en-US" sz="872" dirty="0"/>
          </a:p>
        </p:txBody>
      </p:sp>
      <p:sp>
        <p:nvSpPr>
          <p:cNvPr id="20" name="Text 18"/>
          <p:cNvSpPr/>
          <p:nvPr/>
        </p:nvSpPr>
        <p:spPr>
          <a:xfrm>
            <a:off x="671513" y="33102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885825" y="3291483"/>
            <a:ext cx="335756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федеральные акции на условиях агрегатора</a:t>
            </a:r>
            <a:endParaRPr lang="en-US" sz="872" dirty="0"/>
          </a:p>
        </p:txBody>
      </p:sp>
      <p:sp>
        <p:nvSpPr>
          <p:cNvPr id="22" name="Text 20"/>
          <p:cNvSpPr/>
          <p:nvPr/>
        </p:nvSpPr>
        <p:spPr>
          <a:xfrm>
            <a:off x="671513" y="39894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885825" y="3970697"/>
            <a:ext cx="335756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точка — один из тысяч</a:t>
            </a:r>
            <a:endParaRPr lang="en-US" sz="872" dirty="0"/>
          </a:p>
        </p:txBody>
      </p:sp>
      <p:sp>
        <p:nvSpPr>
          <p:cNvPr id="24" name="Text 22"/>
          <p:cNvSpPr/>
          <p:nvPr/>
        </p:nvSpPr>
        <p:spPr>
          <a:xfrm>
            <a:off x="4693444" y="1094333"/>
            <a:ext cx="3986213" cy="3459807"/>
          </a:xfrm>
          <a:prstGeom prst="roundRect">
            <a:avLst>
              <a:gd name="adj" fmla="val 3304"/>
            </a:avLst>
          </a:prstGeom>
          <a:solidFill>
            <a:srgbClr val="FFFFFF"/>
          </a:solidFill>
          <a:ln w="14288">
            <a:solidFill>
              <a:srgbClr val="0ABAB5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14900" y="1272927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50976" y="130900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27" name="Text 25"/>
          <p:cNvSpPr/>
          <p:nvPr/>
        </p:nvSpPr>
        <p:spPr>
          <a:xfrm>
            <a:off x="5300663" y="1321147"/>
            <a:ext cx="315753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</a:t>
            </a:r>
            <a:endParaRPr lang="en-US" sz="1069" dirty="0"/>
          </a:p>
        </p:txBody>
      </p:sp>
      <p:sp>
        <p:nvSpPr>
          <p:cNvPr id="28" name="Text 26"/>
          <p:cNvSpPr/>
          <p:nvPr/>
        </p:nvSpPr>
        <p:spPr>
          <a:xfrm>
            <a:off x="4914900" y="195537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ABA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9" name="Text 27"/>
          <p:cNvSpPr/>
          <p:nvPr/>
        </p:nvSpPr>
        <p:spPr>
          <a:xfrm>
            <a:off x="5143500" y="1943770"/>
            <a:ext cx="3314700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~10% нагрузка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в 2–4 раза ниже, принципиально</a:t>
            </a:r>
            <a:endParaRPr lang="en-US" sz="872" dirty="0"/>
          </a:p>
        </p:txBody>
      </p:sp>
      <p:sp>
        <p:nvSpPr>
          <p:cNvPr id="30" name="Text 28"/>
          <p:cNvSpPr/>
          <p:nvPr/>
        </p:nvSpPr>
        <p:spPr>
          <a:xfrm>
            <a:off x="4914900" y="262744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ABA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1" name="Text 29"/>
          <p:cNvSpPr/>
          <p:nvPr/>
        </p:nvSpPr>
        <p:spPr>
          <a:xfrm>
            <a:off x="5143500" y="2615840"/>
            <a:ext cx="3314700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балл = 1 ₽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баллы не сгорают и тратятся у всех точек района</a:t>
            </a:r>
            <a:endParaRPr lang="en-US" sz="872" dirty="0"/>
          </a:p>
        </p:txBody>
      </p:sp>
      <p:sp>
        <p:nvSpPr>
          <p:cNvPr id="32" name="Text 30"/>
          <p:cNvSpPr/>
          <p:nvPr/>
        </p:nvSpPr>
        <p:spPr>
          <a:xfrm>
            <a:off x="4914900" y="329952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ABA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3" name="Text 31"/>
          <p:cNvSpPr/>
          <p:nvPr/>
        </p:nvSpPr>
        <p:spPr>
          <a:xfrm>
            <a:off x="5143500" y="3287911"/>
            <a:ext cx="3314700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свои акции района, свои баллы, свои клиенты</a:t>
            </a:r>
            <a:endParaRPr lang="en-US" sz="872" dirty="0"/>
          </a:p>
        </p:txBody>
      </p:sp>
      <p:sp>
        <p:nvSpPr>
          <p:cNvPr id="34" name="Text 32"/>
          <p:cNvSpPr/>
          <p:nvPr/>
        </p:nvSpPr>
        <p:spPr>
          <a:xfrm>
            <a:off x="4914900" y="397159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ABA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5" name="Text 33"/>
          <p:cNvSpPr/>
          <p:nvPr/>
        </p:nvSpPr>
        <p:spPr>
          <a:xfrm>
            <a:off x="5143500" y="3959982"/>
            <a:ext cx="3314700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платформа — SaaS и агент, деньги через банк-партнёр</a:t>
            </a:r>
            <a:endParaRPr lang="en-US" sz="872" dirty="0"/>
          </a:p>
        </p:txBody>
      </p:sp>
      <p:sp>
        <p:nvSpPr>
          <p:cNvPr id="36" name="Text 34"/>
          <p:cNvSpPr/>
          <p:nvPr/>
        </p:nvSpPr>
        <p:spPr>
          <a:xfrm>
            <a:off x="457200" y="46898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Принцип платформы: снижаем нагрузку для лидеров, не поднимаем для всех.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00550" y="2652787"/>
            <a:ext cx="342900" cy="342900"/>
          </a:xfrm>
          <a:prstGeom prst="roundRect">
            <a:avLst>
              <a:gd name="adj" fmla="val 2775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19050" dir="5400000">
              <a:srgbClr val="1A1A1A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00550" y="2652787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spc="3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ОФФЕР ТОЧКЕ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89359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Инфраструктура под ключ — точке остаётся продавать</a:t>
            </a:r>
            <a:endParaRPr lang="en-US" sz="2138" dirty="0"/>
          </a:p>
        </p:txBody>
      </p:sp>
      <p:pic>
        <p:nvPicPr>
          <p:cNvPr id="4" name="Image 0" descr="/tmp/h2p-fit-1788296893436-thdzu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7189"/>
            <a:ext cx="3127177" cy="3552676"/>
          </a:xfrm>
          <a:prstGeom prst="rect">
            <a:avLst/>
          </a:prstGeom>
          <a:effectLst>
            <a:outerShdw sx="100000" sy="100000" kx="0" ky="0" algn="bl" rotWithShape="0" blurRad="28575" dist="9525" dir="5400000">
              <a:srgbClr val="1A1A1A">
                <a:alpha val="1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4711303"/>
            <a:ext cx="31271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Так выглядит точка-участник: витрина, касса, лояльность — в одной системе</a:t>
            </a:r>
            <a:endParaRPr lang="en-US" sz="619" dirty="0"/>
          </a:p>
        </p:txBody>
      </p:sp>
      <p:sp>
        <p:nvSpPr>
          <p:cNvPr id="6" name="Text 3"/>
          <p:cNvSpPr/>
          <p:nvPr/>
        </p:nvSpPr>
        <p:spPr>
          <a:xfrm>
            <a:off x="3812977" y="1513359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856196" y="155657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547" dirty="0"/>
          </a:p>
        </p:txBody>
      </p:sp>
      <p:sp>
        <p:nvSpPr>
          <p:cNvPr id="8" name="Text 5"/>
          <p:cNvSpPr/>
          <p:nvPr/>
        </p:nvSpPr>
        <p:spPr>
          <a:xfrm>
            <a:off x="4227314" y="1590266"/>
            <a:ext cx="4459486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Витрина точки в экосистеме района</a:t>
            </a:r>
            <a:endParaRPr lang="en-US" sz="872" dirty="0"/>
          </a:p>
        </p:txBody>
      </p:sp>
      <p:sp>
        <p:nvSpPr>
          <p:cNvPr id="9" name="Text 6"/>
          <p:cNvSpPr/>
          <p:nvPr/>
        </p:nvSpPr>
        <p:spPr>
          <a:xfrm>
            <a:off x="3812977" y="1956271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856196" y="199949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547" dirty="0"/>
          </a:p>
        </p:txBody>
      </p:sp>
      <p:sp>
        <p:nvSpPr>
          <p:cNvPr id="11" name="Text 8"/>
          <p:cNvSpPr/>
          <p:nvPr/>
        </p:nvSpPr>
        <p:spPr>
          <a:xfrm>
            <a:off x="4227314" y="2033178"/>
            <a:ext cx="4459486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Касса 54-ФЗ и эквайринг — уже подключены</a:t>
            </a:r>
            <a:endParaRPr lang="en-US" sz="872" dirty="0"/>
          </a:p>
        </p:txBody>
      </p:sp>
      <p:sp>
        <p:nvSpPr>
          <p:cNvPr id="12" name="Text 9"/>
          <p:cNvSpPr/>
          <p:nvPr/>
        </p:nvSpPr>
        <p:spPr>
          <a:xfrm>
            <a:off x="3812977" y="2399184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856196" y="244240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547" dirty="0"/>
          </a:p>
        </p:txBody>
      </p:sp>
      <p:sp>
        <p:nvSpPr>
          <p:cNvPr id="14" name="Text 11"/>
          <p:cNvSpPr/>
          <p:nvPr/>
        </p:nvSpPr>
        <p:spPr>
          <a:xfrm>
            <a:off x="4227314" y="2476091"/>
            <a:ext cx="4459486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Программа лояльности: </a:t>
            </a:r>
            <a:pPr algn="l" indent="0" marL="0">
              <a:lnSpc>
                <a:spcPts val="1264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балл = 1 ₽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баллы не сгорают</a:t>
            </a:r>
            <a:endParaRPr lang="en-US" sz="872" dirty="0"/>
          </a:p>
        </p:txBody>
      </p:sp>
      <p:sp>
        <p:nvSpPr>
          <p:cNvPr id="15" name="Text 12"/>
          <p:cNvSpPr/>
          <p:nvPr/>
        </p:nvSpPr>
        <p:spPr>
          <a:xfrm>
            <a:off x="3812977" y="2842096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856196" y="288531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7" name="Text 14"/>
          <p:cNvSpPr/>
          <p:nvPr/>
        </p:nvSpPr>
        <p:spPr>
          <a:xfrm>
            <a:off x="4227314" y="2919003"/>
            <a:ext cx="4459486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Поддержка платформы — онбординг и запуск</a:t>
            </a:r>
            <a:endParaRPr lang="en-US" sz="872" dirty="0"/>
          </a:p>
        </p:txBody>
      </p:sp>
      <p:sp>
        <p:nvSpPr>
          <p:cNvPr id="18" name="Text 15"/>
          <p:cNvSpPr/>
          <p:nvPr/>
        </p:nvSpPr>
        <p:spPr>
          <a:xfrm>
            <a:off x="3812977" y="3711178"/>
            <a:ext cx="533102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ТАРИФЫ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816548" y="3904059"/>
            <a:ext cx="1550752" cy="921544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948708" y="4021931"/>
            <a:ext cx="12864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948708" y="4225528"/>
            <a:ext cx="1286433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07807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0%</a:t>
            </a:r>
            <a:endParaRPr lang="en-US" sz="1463" dirty="0"/>
          </a:p>
        </p:txBody>
      </p:sp>
      <p:sp>
        <p:nvSpPr>
          <p:cNvPr id="22" name="Text 19"/>
          <p:cNvSpPr/>
          <p:nvPr/>
        </p:nvSpPr>
        <p:spPr>
          <a:xfrm>
            <a:off x="3948708" y="4468416"/>
            <a:ext cx="128643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первые точки — старт без риска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74457" y="3904059"/>
            <a:ext cx="1550752" cy="921544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606616" y="4021931"/>
            <a:ext cx="12864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БАЗОВЫЙ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606616" y="4225528"/>
            <a:ext cx="1286433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</a:t>
            </a:r>
            <a:endParaRPr lang="en-US" sz="1463" dirty="0"/>
          </a:p>
        </p:txBody>
      </p:sp>
      <p:sp>
        <p:nvSpPr>
          <p:cNvPr id="26" name="Text 23"/>
          <p:cNvSpPr/>
          <p:nvPr/>
        </p:nvSpPr>
        <p:spPr>
          <a:xfrm>
            <a:off x="5606616" y="4468416"/>
            <a:ext cx="128643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стандартная работа платформы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132365" y="3904059"/>
            <a:ext cx="1550752" cy="921544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264524" y="4021931"/>
            <a:ext cx="12864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64524" y="4225528"/>
            <a:ext cx="760095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8A6A2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4–7%</a:t>
            </a:r>
            <a:endParaRPr lang="en-US" sz="1463" dirty="0"/>
          </a:p>
        </p:txBody>
      </p:sp>
      <p:sp>
        <p:nvSpPr>
          <p:cNvPr id="30" name="Text 27"/>
          <p:cNvSpPr/>
          <p:nvPr/>
        </p:nvSpPr>
        <p:spPr>
          <a:xfrm>
            <a:off x="7782446" y="4282678"/>
            <a:ext cx="7685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+ 2 990 ₽/мес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264524" y="4479131"/>
            <a:ext cx="13636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лидеров — снижаем, не поднимаем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750" y="-1214437"/>
            <a:ext cx="3071813" cy="3071813"/>
          </a:xfrm>
          <a:prstGeom prst="ellipse">
            <a:avLst/>
          </a:prstGeom>
          <a:solidFill>
            <a:srgbClr val="0ABAB5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ОНБОРДИНГ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89359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Подключение точки — 5 минут по QR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457200" y="1319361"/>
            <a:ext cx="1855924" cy="7144"/>
          </a:xfrm>
          <a:prstGeom prst="rect">
            <a:avLst/>
          </a:prstGeom>
          <a:solidFill>
            <a:srgbClr val="1A1A1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84574" y="1130052"/>
            <a:ext cx="385763" cy="385763"/>
          </a:xfrm>
          <a:prstGeom prst="roundRect">
            <a:avLst>
              <a:gd name="adj" fmla="val 34568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22079" y="1167557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109" dirty="0"/>
          </a:p>
        </p:txBody>
      </p:sp>
      <p:sp>
        <p:nvSpPr>
          <p:cNvPr id="8" name="Text 6"/>
          <p:cNvSpPr/>
          <p:nvPr/>
        </p:nvSpPr>
        <p:spPr>
          <a:xfrm>
            <a:off x="2998924" y="1130052"/>
            <a:ext cx="1661993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spc="-61" kern="0" dirty="0">
                <a:solidFill>
                  <a:srgbClr val="0ABA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мин</a:t>
            </a:r>
            <a:endParaRPr lang="en-US" sz="3038" dirty="0"/>
          </a:p>
        </p:txBody>
      </p:sp>
      <p:sp>
        <p:nvSpPr>
          <p:cNvPr id="9" name="Text 7"/>
          <p:cNvSpPr/>
          <p:nvPr/>
        </p:nvSpPr>
        <p:spPr>
          <a:xfrm>
            <a:off x="4166257" y="1165771"/>
            <a:ext cx="7144" cy="314325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01989" y="1132954"/>
            <a:ext cx="2357438" cy="410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знакомства до первой продажи через платформу</a:t>
            </a:r>
            <a:endParaRPr lang="en-US" sz="1069" dirty="0"/>
          </a:p>
        </p:txBody>
      </p:sp>
      <p:sp>
        <p:nvSpPr>
          <p:cNvPr id="11" name="Text 9"/>
          <p:cNvSpPr/>
          <p:nvPr/>
        </p:nvSpPr>
        <p:spPr>
          <a:xfrm>
            <a:off x="6830876" y="1319361"/>
            <a:ext cx="1855924" cy="7144"/>
          </a:xfrm>
          <a:prstGeom prst="rect">
            <a:avLst/>
          </a:prstGeom>
          <a:solidFill>
            <a:srgbClr val="1A1A1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2355317"/>
            <a:ext cx="2543175" cy="1205731"/>
          </a:xfrm>
          <a:prstGeom prst="roundRect">
            <a:avLst>
              <a:gd name="adj" fmla="val 9480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8650" y="2526767"/>
            <a:ext cx="214313" cy="214313"/>
          </a:xfrm>
          <a:prstGeom prst="roundRect">
            <a:avLst>
              <a:gd name="adj" fmla="val 4439990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650" y="2526767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7807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8650" y="2841092"/>
            <a:ext cx="2200275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Сканируете QR</a:t>
            </a:r>
            <a:endParaRPr lang="en-US" sz="1069" dirty="0"/>
          </a:p>
        </p:txBody>
      </p:sp>
      <p:sp>
        <p:nvSpPr>
          <p:cNvPr id="16" name="Text 14"/>
          <p:cNvSpPr/>
          <p:nvPr/>
        </p:nvSpPr>
        <p:spPr>
          <a:xfrm>
            <a:off x="628650" y="3101839"/>
            <a:ext cx="2200275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1A1A1A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владелец точки сканирует QR представителя со смартфона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71813" y="287960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ABA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18" name="Text 16"/>
          <p:cNvSpPr/>
          <p:nvPr/>
        </p:nvSpPr>
        <p:spPr>
          <a:xfrm>
            <a:off x="3300413" y="2355317"/>
            <a:ext cx="2543175" cy="1205731"/>
          </a:xfrm>
          <a:prstGeom prst="roundRect">
            <a:avLst>
              <a:gd name="adj" fmla="val 9480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71863" y="2526767"/>
            <a:ext cx="214313" cy="214313"/>
          </a:xfrm>
          <a:prstGeom prst="roundRect">
            <a:avLst>
              <a:gd name="adj" fmla="val 4439990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71863" y="2526767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7807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71863" y="2841092"/>
            <a:ext cx="2200275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Заполняет профиль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3471863" y="3101839"/>
            <a:ext cx="2200275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1A1A1A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точка получает витрину, кассу 54-ФЗ и эквайринг автоматически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15025" y="287960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ABA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6143625" y="2355317"/>
            <a:ext cx="2543175" cy="1205731"/>
          </a:xfrm>
          <a:prstGeom prst="roundRect">
            <a:avLst>
              <a:gd name="adj" fmla="val 9480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15075" y="2526767"/>
            <a:ext cx="214313" cy="214313"/>
          </a:xfrm>
          <a:prstGeom prst="roundRect">
            <a:avLst>
              <a:gd name="adj" fmla="val 4439990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15075" y="2526767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7807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15075" y="2841092"/>
            <a:ext cx="2200275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Продаёт с лояльностью</a:t>
            </a:r>
            <a:endParaRPr lang="en-US" sz="1069" dirty="0"/>
          </a:p>
        </p:txBody>
      </p:sp>
      <p:sp>
        <p:nvSpPr>
          <p:cNvPr id="28" name="Text 26"/>
          <p:cNvSpPr/>
          <p:nvPr/>
        </p:nvSpPr>
        <p:spPr>
          <a:xfrm>
            <a:off x="6315075" y="3101839"/>
            <a:ext cx="2200275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1A1A1A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баллы начисляются покупателям, вы видите оборот в кабинете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400550"/>
            <a:ext cx="8229600" cy="428625"/>
          </a:xfrm>
          <a:prstGeom prst="roundRect">
            <a:avLst>
              <a:gd name="adj" fmla="val 26667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2938" y="45291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31" name="Text 29"/>
          <p:cNvSpPr/>
          <p:nvPr/>
        </p:nvSpPr>
        <p:spPr>
          <a:xfrm>
            <a:off x="914400" y="4531816"/>
            <a:ext cx="7586663" cy="168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Скрипты разговоров, презентации и печатные материалы выдаёт </a:t>
            </a:r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платформа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вам не нужно ничего придумывать.</a:t>
            </a:r>
            <a:endParaRPr lang="en-US" sz="87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445841"/>
            <a:ext cx="911007" cy="212027"/>
          </a:xfrm>
          <a:prstGeom prst="roundRect">
            <a:avLst>
              <a:gd name="adj" fmla="val 4487860"/>
            </a:avLst>
          </a:prstGeom>
          <a:solidFill>
            <a:srgbClr val="F64A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652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03 /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04186" y="1487686"/>
            <a:ext cx="3885914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75"/>
              </a:lnSpc>
              <a:buNone/>
            </a:pPr>
            <a:r>
              <a:rPr lang="en-US" sz="16875" b="1" spc="-506" kern="0" dirty="0">
                <a:solidFill>
                  <a:srgbClr val="F64A8A">
                    <a:alpha val="1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6875" dirty="0"/>
          </a:p>
        </p:txBody>
      </p:sp>
      <p:sp>
        <p:nvSpPr>
          <p:cNvPr id="5" name="Text 3"/>
          <p:cNvSpPr/>
          <p:nvPr/>
        </p:nvSpPr>
        <p:spPr>
          <a:xfrm>
            <a:off x="457200" y="4643438"/>
            <a:ext cx="2003822" cy="42863"/>
          </a:xfrm>
          <a:prstGeom prst="roundRect">
            <a:avLst>
              <a:gd name="adj" fmla="val 22199741"/>
            </a:avLst>
          </a:prstGeom>
          <a:solidFill>
            <a:srgbClr val="1A1A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32459" y="4643438"/>
            <a:ext cx="2003822" cy="42863"/>
          </a:xfrm>
          <a:prstGeom prst="roundRect">
            <a:avLst>
              <a:gd name="adj" fmla="val 22199741"/>
            </a:avLst>
          </a:prstGeom>
          <a:solidFill>
            <a:srgbClr val="1A1A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07719" y="4643438"/>
            <a:ext cx="2003822" cy="42863"/>
          </a:xfrm>
          <a:prstGeom prst="roundRect">
            <a:avLst>
              <a:gd name="adj" fmla="val 22199741"/>
            </a:avLst>
          </a:prstGeom>
          <a:solidFill>
            <a:srgbClr val="F64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82978" y="4643438"/>
            <a:ext cx="2003822" cy="42863"/>
          </a:xfrm>
          <a:prstGeom prst="roundRect">
            <a:avLst>
              <a:gd name="adj" fmla="val 22199741"/>
            </a:avLst>
          </a:prstGeom>
          <a:solidFill>
            <a:srgbClr val="1A1A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57350" y="2154957"/>
            <a:ext cx="7380923" cy="44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81"/>
              </a:lnSpc>
              <a:buNone/>
            </a:pPr>
            <a:r>
              <a:rPr lang="en-US" sz="3038" b="1" spc="-6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Условия и старт</a:t>
            </a:r>
            <a:endParaRPr lang="en-US" sz="3038" dirty="0"/>
          </a:p>
        </p:txBody>
      </p:sp>
      <p:sp>
        <p:nvSpPr>
          <p:cNvPr id="10" name="Text 8"/>
          <p:cNvSpPr/>
          <p:nvPr/>
        </p:nvSpPr>
        <p:spPr>
          <a:xfrm>
            <a:off x="1657350" y="2714402"/>
            <a:ext cx="5143500" cy="45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Вход, четыре шага до первого дохода, текущий статус запуска и правила честной коммуникации.</a:t>
            </a:r>
            <a:endParaRPr lang="en-US" sz="1069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УСЛОВИЯ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6509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 в программу — подписка </a:t>
            </a:r>
            <a:pPr algn="l" indent="0" marL="0">
              <a:lnSpc>
                <a:spcPts val="2458"/>
              </a:lnSpc>
              <a:buNone/>
            </a:pPr>
            <a:r>
              <a:rPr lang="en-US" sz="2138" b="1" spc="-21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599 ₽/мес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64344" y="1631231"/>
            <a:ext cx="8215313" cy="1860947"/>
          </a:xfrm>
          <a:prstGeom prst="roundRect">
            <a:avLst>
              <a:gd name="adj" fmla="val 6142"/>
            </a:avLst>
          </a:prstGeom>
          <a:solidFill>
            <a:srgbClr val="FFFFFF"/>
          </a:solidFill>
          <a:ln w="14288">
            <a:solidFill>
              <a:srgbClr val="F64A8A"/>
            </a:solidFill>
            <a:prstDash val="solid"/>
          </a:ln>
          <a:effectLst>
            <a:outerShdw sx="100000" sy="100000" kx="0" ky="0" algn="bl" rotWithShape="0" blurRad="228600" dist="57150" dir="5400000">
              <a:srgbClr val="F64A8A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7238" y="1895549"/>
            <a:ext cx="1528227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spc="-61" kern="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599 ₽</a:t>
            </a:r>
            <a:endParaRPr lang="en-US" sz="3038" dirty="0"/>
          </a:p>
        </p:txBody>
      </p:sp>
      <p:sp>
        <p:nvSpPr>
          <p:cNvPr id="6" name="Text 4"/>
          <p:cNvSpPr/>
          <p:nvPr/>
        </p:nvSpPr>
        <p:spPr>
          <a:xfrm>
            <a:off x="1812392" y="2081287"/>
            <a:ext cx="575929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/месяц</a:t>
            </a:r>
            <a:endParaRPr lang="en-US" sz="1069" dirty="0"/>
          </a:p>
        </p:txBody>
      </p:sp>
      <p:sp>
        <p:nvSpPr>
          <p:cNvPr id="7" name="Text 5"/>
          <p:cNvSpPr/>
          <p:nvPr/>
        </p:nvSpPr>
        <p:spPr>
          <a:xfrm>
            <a:off x="5540536" y="1938412"/>
            <a:ext cx="2846226" cy="189309"/>
          </a:xfrm>
          <a:prstGeom prst="roundRect">
            <a:avLst>
              <a:gd name="adj" fmla="val 5026425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40536" y="1938412"/>
            <a:ext cx="2846226" cy="264345"/>
          </a:xfrm>
          <a:prstGeom prst="rect">
            <a:avLst/>
          </a:prstGeom>
          <a:noFill/>
          <a:ln/>
        </p:spPr>
        <p:txBody>
          <a:bodyPr wrap="square" lIns="100013" tIns="35719" rIns="100013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 АКЦИИ — 199 ₽/МЕС ПО ПРОМОКОДУ НА ВРЕМЯ АКЦИИ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57238" y="2470621"/>
            <a:ext cx="7629525" cy="7144"/>
          </a:xfrm>
          <a:prstGeom prst="rect">
            <a:avLst/>
          </a:prstGeom>
          <a:solidFill>
            <a:srgbClr val="1A1A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7238" y="2634928"/>
            <a:ext cx="76295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ВХОДИТ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57238" y="2867099"/>
            <a:ext cx="242888" cy="242888"/>
          </a:xfrm>
          <a:prstGeom prst="roundRect">
            <a:avLst>
              <a:gd name="adj" fmla="val 3917639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5097" y="288495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ABA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3" name="Text 11"/>
          <p:cNvSpPr/>
          <p:nvPr/>
        </p:nvSpPr>
        <p:spPr>
          <a:xfrm>
            <a:off x="1085850" y="2867099"/>
            <a:ext cx="2109750" cy="360759"/>
          </a:xfrm>
          <a:prstGeom prst="rect">
            <a:avLst/>
          </a:prstGeom>
          <a:noFill/>
          <a:ln/>
        </p:spPr>
        <p:txBody>
          <a:bodyPr wrap="square" lIns="0" tIns="28575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Личный кабинет с оборотом и выплатами по вашим точкам</a:t>
            </a:r>
            <a:endParaRPr lang="en-US" sz="872" dirty="0"/>
          </a:p>
        </p:txBody>
      </p:sp>
      <p:sp>
        <p:nvSpPr>
          <p:cNvPr id="14" name="Text 12"/>
          <p:cNvSpPr/>
          <p:nvPr/>
        </p:nvSpPr>
        <p:spPr>
          <a:xfrm>
            <a:off x="3352763" y="2867099"/>
            <a:ext cx="242888" cy="242888"/>
          </a:xfrm>
          <a:prstGeom prst="roundRect">
            <a:avLst>
              <a:gd name="adj" fmla="val 3917639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70622" y="288495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ABA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6" name="Text 14"/>
          <p:cNvSpPr/>
          <p:nvPr/>
        </p:nvSpPr>
        <p:spPr>
          <a:xfrm>
            <a:off x="3681375" y="2867099"/>
            <a:ext cx="2109750" cy="360759"/>
          </a:xfrm>
          <a:prstGeom prst="rect">
            <a:avLst/>
          </a:prstGeom>
          <a:noFill/>
          <a:ln/>
        </p:spPr>
        <p:txBody>
          <a:bodyPr wrap="square" lIns="0" tIns="28575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Материалы, скрипты и поддержка платформы при подключении точек</a:t>
            </a:r>
            <a:endParaRPr lang="en-US" sz="872" dirty="0"/>
          </a:p>
        </p:txBody>
      </p:sp>
      <p:sp>
        <p:nvSpPr>
          <p:cNvPr id="17" name="Text 15"/>
          <p:cNvSpPr/>
          <p:nvPr/>
        </p:nvSpPr>
        <p:spPr>
          <a:xfrm>
            <a:off x="5948288" y="2867099"/>
            <a:ext cx="242888" cy="242888"/>
          </a:xfrm>
          <a:prstGeom prst="roundRect">
            <a:avLst>
              <a:gd name="adj" fmla="val 3917639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66147" y="288495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ABA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9" name="Text 17"/>
          <p:cNvSpPr/>
          <p:nvPr/>
        </p:nvSpPr>
        <p:spPr>
          <a:xfrm>
            <a:off x="6276901" y="2867099"/>
            <a:ext cx="2109862" cy="360759"/>
          </a:xfrm>
          <a:prstGeom prst="rect">
            <a:avLst/>
          </a:prstGeom>
          <a:noFill/>
          <a:ln/>
        </p:spPr>
        <p:txBody>
          <a:bodyPr wrap="square" lIns="0" tIns="28575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Закрепление района — без конкуренции внутри платформы</a:t>
            </a:r>
            <a:endParaRPr lang="en-US" sz="872" dirty="0"/>
          </a:p>
        </p:txBody>
      </p:sp>
      <p:sp>
        <p:nvSpPr>
          <p:cNvPr id="20" name="Text 18"/>
          <p:cNvSpPr/>
          <p:nvPr/>
        </p:nvSpPr>
        <p:spPr>
          <a:xfrm>
            <a:off x="457200" y="369756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28650" y="3685059"/>
            <a:ext cx="80581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Никаких „стартовых пакетов“ и обязательных закупок нет: вы платите только за членство в системе.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389401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28650" y="3881512"/>
            <a:ext cx="80581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Доход платформы от подписок направляется на инфраструктуру.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ПЛАН ДЕЙСТВИЙ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6509"/>
            <a:ext cx="863600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начать: четыре шага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742950" y="2276959"/>
            <a:ext cx="7658100" cy="14288"/>
          </a:xfrm>
          <a:prstGeom prst="rect">
            <a:avLst/>
          </a:prstGeom>
          <a:solidFill>
            <a:srgbClr val="1A1A1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05062" y="3501889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95" dirty="0"/>
          </a:p>
        </p:txBody>
      </p:sp>
      <p:sp>
        <p:nvSpPr>
          <p:cNvPr id="6" name="Text 4"/>
          <p:cNvSpPr/>
          <p:nvPr/>
        </p:nvSpPr>
        <p:spPr>
          <a:xfrm>
            <a:off x="2283656" y="3492959"/>
            <a:ext cx="6403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 путь от заявки до первой подключённой точки — дни, а не месяцы: район закрепляется за первыми.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0772" y="2016212"/>
            <a:ext cx="1921669" cy="1273150"/>
          </a:xfrm>
          <a:prstGeom prst="roundRect">
            <a:avLst>
              <a:gd name="adj" fmla="val 8978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506" y="2191234"/>
            <a:ext cx="160020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F64A8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463" dirty="0"/>
          </a:p>
        </p:txBody>
      </p:sp>
      <p:sp>
        <p:nvSpPr>
          <p:cNvPr id="9" name="Text 7"/>
          <p:cNvSpPr/>
          <p:nvPr/>
        </p:nvSpPr>
        <p:spPr>
          <a:xfrm>
            <a:off x="621506" y="2476984"/>
            <a:ext cx="1600200" cy="16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Оставьте заявку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506" y="2682701"/>
            <a:ext cx="1600200" cy="431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заполните форму на lovii.ru — обсудим ваш район и план на первые точки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61034" y="2016212"/>
            <a:ext cx="1921669" cy="1273150"/>
          </a:xfrm>
          <a:prstGeom prst="roundRect">
            <a:avLst>
              <a:gd name="adj" fmla="val 8978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21769" y="2191234"/>
            <a:ext cx="160020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F64A8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463" dirty="0"/>
          </a:p>
        </p:txBody>
      </p:sp>
      <p:sp>
        <p:nvSpPr>
          <p:cNvPr id="13" name="Text 11"/>
          <p:cNvSpPr/>
          <p:nvPr/>
        </p:nvSpPr>
        <p:spPr>
          <a:xfrm>
            <a:off x="2721769" y="2476984"/>
            <a:ext cx="1600200" cy="16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Оформите подписку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21769" y="2682701"/>
            <a:ext cx="1600200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599 ₽/мес или 199 ₽ по акции. Списание — с баланса или карты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61297" y="2016212"/>
            <a:ext cx="1921669" cy="1273150"/>
          </a:xfrm>
          <a:prstGeom prst="roundRect">
            <a:avLst>
              <a:gd name="adj" fmla="val 8978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2031" y="2191234"/>
            <a:ext cx="160020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F64A8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463" dirty="0"/>
          </a:p>
        </p:txBody>
      </p:sp>
      <p:sp>
        <p:nvSpPr>
          <p:cNvPr id="17" name="Text 15"/>
          <p:cNvSpPr/>
          <p:nvPr/>
        </p:nvSpPr>
        <p:spPr>
          <a:xfrm>
            <a:off x="4822031" y="2476984"/>
            <a:ext cx="1600200" cy="16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Подключите первые точки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22031" y="2682701"/>
            <a:ext cx="1600200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онбординг точки — 5 минут по QR. Материалы и скрипты дадим мы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61559" y="2016212"/>
            <a:ext cx="1921669" cy="1273150"/>
          </a:xfrm>
          <a:prstGeom prst="roundRect">
            <a:avLst>
              <a:gd name="adj" fmla="val 8978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22294" y="2191234"/>
            <a:ext cx="160020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F64A8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463" dirty="0"/>
          </a:p>
        </p:txBody>
      </p:sp>
      <p:sp>
        <p:nvSpPr>
          <p:cNvPr id="21" name="Text 19"/>
          <p:cNvSpPr/>
          <p:nvPr/>
        </p:nvSpPr>
        <p:spPr>
          <a:xfrm>
            <a:off x="6922294" y="2476984"/>
            <a:ext cx="1600200" cy="16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Получайте доход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22294" y="2682701"/>
            <a:ext cx="1600200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40% от пула ваших точек и 10% от их кэшбэка — ежемесячно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СЕЙЧАС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6509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Статус запуска: платформа готова — идёт набор районов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57200" y="1677665"/>
            <a:ext cx="8229600" cy="714375"/>
          </a:xfrm>
          <a:prstGeom prst="roundRect">
            <a:avLst>
              <a:gd name="adj" fmla="val 16000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7225" y="1834828"/>
            <a:ext cx="400050" cy="400050"/>
          </a:xfrm>
          <a:prstGeom prst="roundRect">
            <a:avLst>
              <a:gd name="adj" fmla="val 2378571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1873" y="1879476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2109" dirty="0"/>
          </a:p>
        </p:txBody>
      </p:sp>
      <p:sp>
        <p:nvSpPr>
          <p:cNvPr id="7" name="Text 5"/>
          <p:cNvSpPr/>
          <p:nvPr/>
        </p:nvSpPr>
        <p:spPr>
          <a:xfrm>
            <a:off x="1200150" y="1895549"/>
            <a:ext cx="7286625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Этап: подключаем первые точки</a:t>
            </a:r>
            <a:endParaRPr lang="en-US" sz="1463" dirty="0"/>
          </a:p>
        </p:txBody>
      </p:sp>
      <p:sp>
        <p:nvSpPr>
          <p:cNvPr id="8" name="Text 6"/>
          <p:cNvSpPr/>
          <p:nvPr/>
        </p:nvSpPr>
        <p:spPr>
          <a:xfrm>
            <a:off x="460772" y="2538487"/>
            <a:ext cx="2640732" cy="550069"/>
          </a:xfrm>
          <a:prstGeom prst="roundRect">
            <a:avLst>
              <a:gd name="adj" fmla="val 20779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5794" y="271350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ABA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10" name="Text 8"/>
          <p:cNvSpPr/>
          <p:nvPr/>
        </p:nvSpPr>
        <p:spPr>
          <a:xfrm>
            <a:off x="935831" y="2730475"/>
            <a:ext cx="1990651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 открыто</a:t>
            </a:r>
            <a:endParaRPr lang="en-US" sz="872" dirty="0"/>
          </a:p>
        </p:txBody>
      </p:sp>
      <p:sp>
        <p:nvSpPr>
          <p:cNvPr id="11" name="Text 9"/>
          <p:cNvSpPr/>
          <p:nvPr/>
        </p:nvSpPr>
        <p:spPr>
          <a:xfrm>
            <a:off x="3251522" y="2538487"/>
            <a:ext cx="2640843" cy="550069"/>
          </a:xfrm>
          <a:prstGeom prst="roundRect">
            <a:avLst>
              <a:gd name="adj" fmla="val 20779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6544" y="271350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ABA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3726582" y="2730475"/>
            <a:ext cx="1990762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 с банком подписан</a:t>
            </a:r>
            <a:endParaRPr lang="en-US" sz="872" dirty="0"/>
          </a:p>
        </p:txBody>
      </p:sp>
      <p:sp>
        <p:nvSpPr>
          <p:cNvPr id="14" name="Text 12"/>
          <p:cNvSpPr/>
          <p:nvPr/>
        </p:nvSpPr>
        <p:spPr>
          <a:xfrm>
            <a:off x="6042385" y="2538487"/>
            <a:ext cx="2640732" cy="550069"/>
          </a:xfrm>
          <a:prstGeom prst="roundRect">
            <a:avLst>
              <a:gd name="adj" fmla="val 20779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7407" y="271350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ABA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16" name="Text 14"/>
          <p:cNvSpPr/>
          <p:nvPr/>
        </p:nvSpPr>
        <p:spPr>
          <a:xfrm>
            <a:off x="6517444" y="2730475"/>
            <a:ext cx="1990651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Эквайринг подключён</a:t>
            </a:r>
            <a:endParaRPr lang="en-US" sz="872" dirty="0"/>
          </a:p>
        </p:txBody>
      </p:sp>
      <p:sp>
        <p:nvSpPr>
          <p:cNvPr id="17" name="Text 15"/>
          <p:cNvSpPr/>
          <p:nvPr/>
        </p:nvSpPr>
        <p:spPr>
          <a:xfrm>
            <a:off x="457200" y="3235003"/>
            <a:ext cx="8229600" cy="614363"/>
          </a:xfrm>
          <a:prstGeom prst="roundRect">
            <a:avLst>
              <a:gd name="adj" fmla="val 18605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2938" y="3377878"/>
            <a:ext cx="328613" cy="328613"/>
          </a:xfrm>
          <a:prstGeom prst="roundRect">
            <a:avLst>
              <a:gd name="adj" fmla="val 2895648"/>
            </a:avLst>
          </a:prstGeom>
          <a:solidFill>
            <a:srgbClr val="D4A85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2943" y="3417883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85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1085850" y="3459138"/>
            <a:ext cx="7415213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Идёт набор представителей в первые районы — локации закрепляются за первыми, без конкуренции внутри платформы.</a:t>
            </a:r>
            <a:endParaRPr lang="en-US" sz="872" dirty="0"/>
          </a:p>
        </p:txBody>
      </p:sp>
      <p:sp>
        <p:nvSpPr>
          <p:cNvPr id="21" name="Text 19"/>
          <p:cNvSpPr/>
          <p:nvPr/>
        </p:nvSpPr>
        <p:spPr>
          <a:xfrm>
            <a:off x="457200" y="457735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984" dirty="0"/>
          </a:p>
        </p:txBody>
      </p:sp>
      <p:sp>
        <p:nvSpPr>
          <p:cNvPr id="22" name="Text 20"/>
          <p:cNvSpPr/>
          <p:nvPr/>
        </p:nvSpPr>
        <p:spPr>
          <a:xfrm>
            <a:off x="607219" y="4568428"/>
            <a:ext cx="80795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обещаний дат и доходов: статус отражает факты готовности платформы.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ОХРАННОЕ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6509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Правила, которые защищают вас и платформу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60772" y="1147911"/>
            <a:ext cx="4036219" cy="1544166"/>
          </a:xfrm>
          <a:prstGeom prst="roundRect">
            <a:avLst>
              <a:gd name="adj" fmla="val 7402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5794" y="165712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6" name="Text 4"/>
          <p:cNvSpPr/>
          <p:nvPr/>
        </p:nvSpPr>
        <p:spPr>
          <a:xfrm>
            <a:off x="864394" y="1666056"/>
            <a:ext cx="3457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Никаких гарантий дохода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35794" y="1885727"/>
            <a:ext cx="3686175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прогнозные показатели всегда с оговоркой „не является гарантией доходности“ — так написано и на сайте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47009" y="1147911"/>
            <a:ext cx="4036219" cy="1544166"/>
          </a:xfrm>
          <a:prstGeom prst="roundRect">
            <a:avLst>
              <a:gd name="adj" fmla="val 7402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22031" y="165712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0" name="Text 8"/>
          <p:cNvSpPr/>
          <p:nvPr/>
        </p:nvSpPr>
        <p:spPr>
          <a:xfrm>
            <a:off x="5050631" y="1666056"/>
            <a:ext cx="3457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Канон-цифры не редактируются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22031" y="1885727"/>
            <a:ext cx="3686175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тарифы </a:t>
            </a:r>
            <a:pPr algn="l" indent="0" marL="0">
              <a:lnSpc>
                <a:spcPts val="117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 0% / БАЗОВЫЙ 10% / PRO 4–7% + 2 990 ₽/мес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сплит </a:t>
            </a:r>
            <a:pPr algn="l" indent="0" marL="0">
              <a:lnSpc>
                <a:spcPts val="117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40/40/20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пулы </a:t>
            </a:r>
            <a:pPr algn="l" indent="0" marL="0">
              <a:lnSpc>
                <a:spcPts val="117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6,84% / 9,3%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сверяем, не выдумываем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0772" y="2842096"/>
            <a:ext cx="4036219" cy="1544166"/>
          </a:xfrm>
          <a:prstGeom prst="roundRect">
            <a:avLst>
              <a:gd name="adj" fmla="val 7402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5794" y="335131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864394" y="3360241"/>
            <a:ext cx="3457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Вывод баллов — от 3 000 ₽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5794" y="3579912"/>
            <a:ext cx="3686175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нельзя обещать вывод баллов меньше порога; расчёты — только через </a:t>
            </a:r>
            <a:pPr algn="l" indent="0" marL="0">
              <a:lnSpc>
                <a:spcPts val="117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номинальный счёт ст. 860.1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47009" y="2842096"/>
            <a:ext cx="4036219" cy="1544166"/>
          </a:xfrm>
          <a:prstGeom prst="roundRect">
            <a:avLst>
              <a:gd name="adj" fmla="val 7402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22031" y="335131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8" name="Text 16"/>
          <p:cNvSpPr/>
          <p:nvPr/>
        </p:nvSpPr>
        <p:spPr>
          <a:xfrm>
            <a:off x="5050631" y="3360241"/>
            <a:ext cx="3457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Имя банка — не в маркетинге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22031" y="3579912"/>
            <a:ext cx="3686175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банк-партнёр не называется в презентациях и постах: упоминание допустимо только в юридической строке сайта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455949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28650" y="4546997"/>
            <a:ext cx="80581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Эти правила взяты из стоп-листа платформы — их соблюдение обязательно для всех партнёров.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FAQ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46509"/>
            <a:ext cx="863600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Частые вопросы партнёров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57200" y="1144339"/>
            <a:ext cx="4043363" cy="1699543"/>
          </a:xfrm>
          <a:prstGeom prst="roundRect">
            <a:avLst>
              <a:gd name="adj" fmla="val 6725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2938" y="1674093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7941" y="1699096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985838" y="1700882"/>
            <a:ext cx="332898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Нужны ли вложения?</a:t>
            </a:r>
            <a:endParaRPr lang="en-US" sz="1069" dirty="0"/>
          </a:p>
        </p:txBody>
      </p:sp>
      <p:sp>
        <p:nvSpPr>
          <p:cNvPr id="8" name="Text 6"/>
          <p:cNvSpPr/>
          <p:nvPr/>
        </p:nvSpPr>
        <p:spPr>
          <a:xfrm>
            <a:off x="642938" y="2016993"/>
            <a:ext cx="3671888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Только подписка </a:t>
            </a:r>
            <a:pPr algn="l" indent="0" marL="0">
              <a:lnSpc>
                <a:spcPts val="117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599 ₽/мес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(по акции </a:t>
            </a:r>
            <a:pPr algn="l" indent="0" marL="0">
              <a:lnSpc>
                <a:spcPts val="117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199 ₽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). Никаких стартовых пакетов и обязательных закупок нет.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43438" y="1144339"/>
            <a:ext cx="4043363" cy="1699543"/>
          </a:xfrm>
          <a:prstGeom prst="roundRect">
            <a:avLst>
              <a:gd name="adj" fmla="val 6725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9175" y="1599754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54178" y="162475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5172075" y="1626543"/>
            <a:ext cx="332898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Сколько можно заработать?</a:t>
            </a:r>
            <a:endParaRPr lang="en-US" sz="1069" dirty="0"/>
          </a:p>
        </p:txBody>
      </p:sp>
      <p:sp>
        <p:nvSpPr>
          <p:cNvPr id="13" name="Text 11"/>
          <p:cNvSpPr/>
          <p:nvPr/>
        </p:nvSpPr>
        <p:spPr>
          <a:xfrm>
            <a:off x="4829175" y="1942654"/>
            <a:ext cx="3671888" cy="526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Доход зависит от числа и оборота ваших точек: одна активная точка — ориентир </a:t>
            </a:r>
            <a:pPr algn="l" indent="0" marL="0">
              <a:lnSpc>
                <a:spcPts val="117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≈ 3 970 ₽/мес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доли представителя. Расчёт всегда прозрачен. Не является гарантией доходности.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986757"/>
            <a:ext cx="4043363" cy="1699543"/>
          </a:xfrm>
          <a:prstGeom prst="roundRect">
            <a:avLst>
              <a:gd name="adj" fmla="val 6725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2938" y="3516511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7941" y="354151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406" dirty="0"/>
          </a:p>
        </p:txBody>
      </p:sp>
      <p:sp>
        <p:nvSpPr>
          <p:cNvPr id="17" name="Text 15"/>
          <p:cNvSpPr/>
          <p:nvPr/>
        </p:nvSpPr>
        <p:spPr>
          <a:xfrm>
            <a:off x="985838" y="3543300"/>
            <a:ext cx="332898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Откуда берётся мой доход?</a:t>
            </a:r>
            <a:endParaRPr lang="en-US" sz="1069" dirty="0"/>
          </a:p>
        </p:txBody>
      </p:sp>
      <p:sp>
        <p:nvSpPr>
          <p:cNvPr id="18" name="Text 16"/>
          <p:cNvSpPr/>
          <p:nvPr/>
        </p:nvSpPr>
        <p:spPr>
          <a:xfrm>
            <a:off x="642938" y="3859411"/>
            <a:ext cx="3671888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 комиссии платформы с активных точек (сплит </a:t>
            </a:r>
            <a:pPr algn="l" indent="0" marL="0">
              <a:lnSpc>
                <a:spcPts val="117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40/40/20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плюс </a:t>
            </a:r>
            <a:pPr algn="l" indent="0" marL="0">
              <a:lnSpc>
                <a:spcPts val="117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от начисленного кэшбэка ваших точек.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43438" y="2986757"/>
            <a:ext cx="4043363" cy="1699543"/>
          </a:xfrm>
          <a:prstGeom prst="roundRect">
            <a:avLst>
              <a:gd name="adj" fmla="val 6725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9175" y="3516511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54178" y="354151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406" dirty="0"/>
          </a:p>
        </p:txBody>
      </p:sp>
      <p:sp>
        <p:nvSpPr>
          <p:cNvPr id="22" name="Text 20"/>
          <p:cNvSpPr/>
          <p:nvPr/>
        </p:nvSpPr>
        <p:spPr>
          <a:xfrm>
            <a:off x="5172075" y="3543300"/>
            <a:ext cx="332898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Почему это не МЛМ?</a:t>
            </a:r>
            <a:endParaRPr lang="en-US" sz="1069" dirty="0"/>
          </a:p>
        </p:txBody>
      </p:sp>
      <p:sp>
        <p:nvSpPr>
          <p:cNvPr id="23" name="Text 21"/>
          <p:cNvSpPr/>
          <p:nvPr/>
        </p:nvSpPr>
        <p:spPr>
          <a:xfrm>
            <a:off x="4829175" y="3859411"/>
            <a:ext cx="3671888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Два уровня без каскада: Представитель → Амбассадор. Статусы дают бейджи и привилегии, но не проценты с чужих сетей.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00375"/>
            <a:ext cx="9144000" cy="2143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3947" y="786705"/>
            <a:ext cx="11361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СЛЕДУЮЩИЙ ШАГ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274320" y="1018877"/>
            <a:ext cx="8595360" cy="93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2"/>
              </a:lnSpc>
              <a:buNone/>
            </a:pPr>
            <a:r>
              <a:rPr lang="en-US" sz="3038" b="1" spc="-6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Станьте представителем </a:t>
            </a:r>
            <a:pPr algn="ctr" indent="0" marL="0">
              <a:lnSpc>
                <a:spcPts val="3402"/>
              </a:lnSpc>
              <a:buNone/>
            </a:pPr>
            <a:r>
              <a:rPr lang="en-US" sz="3038" b="1" spc="-61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своего района</a:t>
            </a:r>
            <a:endParaRPr lang="en-US" sz="3038" dirty="0"/>
          </a:p>
        </p:txBody>
      </p:sp>
      <p:sp>
        <p:nvSpPr>
          <p:cNvPr id="5" name="Text 2"/>
          <p:cNvSpPr/>
          <p:nvPr/>
        </p:nvSpPr>
        <p:spPr>
          <a:xfrm>
            <a:off x="1571625" y="2011412"/>
            <a:ext cx="6000750" cy="45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ищем людей, которые знают локальный бизнес и умеют строить отношения. Расскажите о себе — предложим район и план запуска.</a:t>
            </a:r>
            <a:endParaRPr lang="en-US" sz="1069" dirty="0"/>
          </a:p>
        </p:txBody>
      </p:sp>
      <p:sp>
        <p:nvSpPr>
          <p:cNvPr id="6" name="Text 3"/>
          <p:cNvSpPr/>
          <p:nvPr/>
        </p:nvSpPr>
        <p:spPr>
          <a:xfrm>
            <a:off x="457200" y="2674888"/>
            <a:ext cx="2647876" cy="606772"/>
          </a:xfrm>
          <a:prstGeom prst="roundRect">
            <a:avLst>
              <a:gd name="adj" fmla="val 18837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14363" y="2835399"/>
            <a:ext cx="285750" cy="285750"/>
          </a:xfrm>
          <a:prstGeom prst="roundRect">
            <a:avLst>
              <a:gd name="adj" fmla="val 3330000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43295" y="286433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547" dirty="0"/>
          </a:p>
        </p:txBody>
      </p:sp>
      <p:sp>
        <p:nvSpPr>
          <p:cNvPr id="9" name="Text 6"/>
          <p:cNvSpPr/>
          <p:nvPr/>
        </p:nvSpPr>
        <p:spPr>
          <a:xfrm>
            <a:off x="985838" y="2817763"/>
            <a:ext cx="1962076" cy="321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Закрепление района — без конкуренции внутри платформы</a:t>
            </a:r>
            <a:endParaRPr lang="en-US" sz="872" dirty="0"/>
          </a:p>
        </p:txBody>
      </p:sp>
      <p:sp>
        <p:nvSpPr>
          <p:cNvPr id="10" name="Text 7"/>
          <p:cNvSpPr/>
          <p:nvPr/>
        </p:nvSpPr>
        <p:spPr>
          <a:xfrm>
            <a:off x="3247951" y="2674888"/>
            <a:ext cx="2647987" cy="606772"/>
          </a:xfrm>
          <a:prstGeom prst="roundRect">
            <a:avLst>
              <a:gd name="adj" fmla="val 18837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405113" y="2835399"/>
            <a:ext cx="285750" cy="285750"/>
          </a:xfrm>
          <a:prstGeom prst="roundRect">
            <a:avLst>
              <a:gd name="adj" fmla="val 3330000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434045" y="286433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ABA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547" dirty="0"/>
          </a:p>
        </p:txBody>
      </p:sp>
      <p:sp>
        <p:nvSpPr>
          <p:cNvPr id="13" name="Text 10"/>
          <p:cNvSpPr/>
          <p:nvPr/>
        </p:nvSpPr>
        <p:spPr>
          <a:xfrm>
            <a:off x="3776588" y="2817763"/>
            <a:ext cx="1962187" cy="321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Карьера до статуса Губернатора — с привилегиями платформы</a:t>
            </a:r>
            <a:endParaRPr lang="en-US" sz="872" dirty="0"/>
          </a:p>
        </p:txBody>
      </p:sp>
      <p:sp>
        <p:nvSpPr>
          <p:cNvPr id="14" name="Text 11"/>
          <p:cNvSpPr/>
          <p:nvPr/>
        </p:nvSpPr>
        <p:spPr>
          <a:xfrm>
            <a:off x="6038813" y="2674888"/>
            <a:ext cx="2647876" cy="606772"/>
          </a:xfrm>
          <a:prstGeom prst="roundRect">
            <a:avLst>
              <a:gd name="adj" fmla="val 18837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195975" y="2835399"/>
            <a:ext cx="285750" cy="285750"/>
          </a:xfrm>
          <a:prstGeom prst="roundRect">
            <a:avLst>
              <a:gd name="adj" fmla="val 3330000"/>
            </a:avLst>
          </a:prstGeom>
          <a:solidFill>
            <a:srgbClr val="D4A85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224907" y="286433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4A85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17" name="Text 14"/>
          <p:cNvSpPr/>
          <p:nvPr/>
        </p:nvSpPr>
        <p:spPr>
          <a:xfrm>
            <a:off x="6567450" y="2898018"/>
            <a:ext cx="2071804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Сообщество партнёров — в Telegram</a:t>
            </a:r>
            <a:endParaRPr lang="en-US" sz="872" dirty="0"/>
          </a:p>
        </p:txBody>
      </p:sp>
      <p:sp>
        <p:nvSpPr>
          <p:cNvPr id="18" name="Text 15"/>
          <p:cNvSpPr/>
          <p:nvPr/>
        </p:nvSpPr>
        <p:spPr>
          <a:xfrm>
            <a:off x="1499629" y="3517404"/>
            <a:ext cx="6144630" cy="550069"/>
          </a:xfrm>
          <a:prstGeom prst="roundRect">
            <a:avLst>
              <a:gd name="adj" fmla="val 20779"/>
            </a:avLst>
          </a:prstGeom>
          <a:solidFill>
            <a:srgbClr val="FFFFFF"/>
          </a:solidFill>
          <a:ln w="14288">
            <a:solidFill>
              <a:srgbClr val="F64A8A"/>
            </a:solidFill>
            <a:prstDash val="solid"/>
          </a:ln>
          <a:effectLst>
            <a:outerShdw sx="100000" sy="100000" kx="0" ky="0" algn="bl" rotWithShape="0" blurRad="228600" dist="57150" dir="5400000">
              <a:srgbClr val="F64A8A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792523" y="369957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828" dirty="0"/>
          </a:p>
        </p:txBody>
      </p:sp>
      <p:sp>
        <p:nvSpPr>
          <p:cNvPr id="20" name="Text 17"/>
          <p:cNvSpPr/>
          <p:nvPr/>
        </p:nvSpPr>
        <p:spPr>
          <a:xfrm>
            <a:off x="2078273" y="3653135"/>
            <a:ext cx="5273092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Заполните форму на </a:t>
            </a:r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lovii.ru</a:t>
            </a:r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или напишите: </a:t>
            </a:r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hello@lovii.ru</a:t>
            </a:r>
            <a:endParaRPr lang="en-US" sz="1463" dirty="0"/>
          </a:p>
        </p:txBody>
      </p:sp>
      <p:sp>
        <p:nvSpPr>
          <p:cNvPr id="21" name="Text 18"/>
          <p:cNvSpPr/>
          <p:nvPr/>
        </p:nvSpPr>
        <p:spPr>
          <a:xfrm>
            <a:off x="2115889" y="4217491"/>
            <a:ext cx="4912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Оператор платформы — ООО «АКСИОМА» · lovii.ru · Прогнозные показатели не являются гарантией доходности</a:t>
            </a:r>
            <a:endParaRPr lang="en-US" sz="73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2026-09-01T21:08:20Z</dcterms:created>
  <dcterms:modified xsi:type="dcterms:W3CDTF">2026-09-01T21:08:20Z</dcterms:modified>
</cp:coreProperties>
</file>