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214437" y="-1071562"/>
            <a:ext cx="3071813" cy="3071813"/>
          </a:xfrm>
          <a:prstGeom prst="roundRect">
            <a:avLst>
              <a:gd name="adj" fmla="val 309767"/>
            </a:avLst>
          </a:prstGeom>
          <a:solidFill>
            <a:srgbClr val="F64A8A">
              <a:alpha val="5000"/>
            </a:srgbClr>
          </a:solidFill>
          <a:ln/>
        </p:spPr>
        <p:txBody>
          <a:bodyPr wrap="square" rtlCol="0" anchor="ctr"/>
          <a:lstStyle/>
          <a:p>
            <a:pPr indent="0" marL="0">
              <a:buNone/>
            </a:pPr>
            <a:endParaRPr lang="en-US" dirty="0"/>
          </a:p>
        </p:txBody>
      </p:sp>
      <p:sp>
        <p:nvSpPr>
          <p:cNvPr id="3" name="Text 1"/>
          <p:cNvSpPr/>
          <p:nvPr/>
        </p:nvSpPr>
        <p:spPr>
          <a:xfrm>
            <a:off x="1643063" y="3786188"/>
            <a:ext cx="2714625" cy="2714625"/>
          </a:xfrm>
          <a:prstGeom prst="roundRect">
            <a:avLst>
              <a:gd name="adj" fmla="val 350526"/>
            </a:avLst>
          </a:prstGeom>
          <a:solidFill>
            <a:srgbClr val="0ABAB5">
              <a:alpha val="5000"/>
            </a:srgbClr>
          </a:solidFill>
          <a:ln/>
        </p:spPr>
        <p:txBody>
          <a:bodyPr wrap="square" rtlCol="0" anchor="ctr"/>
          <a:lstStyle/>
          <a:p>
            <a:pPr indent="0" marL="0">
              <a:buNone/>
            </a:pPr>
            <a:endParaRPr lang="en-US" dirty="0"/>
          </a:p>
        </p:txBody>
      </p:sp>
      <p:sp>
        <p:nvSpPr>
          <p:cNvPr id="4" name="Text 2"/>
          <p:cNvSpPr/>
          <p:nvPr/>
        </p:nvSpPr>
        <p:spPr>
          <a:xfrm>
            <a:off x="457200" y="457200"/>
            <a:ext cx="2279749" cy="189309"/>
          </a:xfrm>
          <a:prstGeom prst="roundRect">
            <a:avLst>
              <a:gd name="adj" fmla="val 5026425"/>
            </a:avLst>
          </a:prstGeom>
          <a:solidFill>
            <a:srgbClr val="F64A8A">
              <a:alpha val="12000"/>
            </a:srgbClr>
          </a:solidFill>
          <a:ln/>
        </p:spPr>
        <p:txBody>
          <a:bodyPr wrap="square" rtlCol="0" anchor="ctr"/>
          <a:lstStyle/>
          <a:p>
            <a:pPr indent="0" marL="0">
              <a:buNone/>
            </a:pPr>
            <a:endParaRPr lang="en-US" dirty="0"/>
          </a:p>
        </p:txBody>
      </p:sp>
      <p:sp>
        <p:nvSpPr>
          <p:cNvPr id="5" name="Text 3"/>
          <p:cNvSpPr/>
          <p:nvPr/>
        </p:nvSpPr>
        <p:spPr>
          <a:xfrm>
            <a:off x="457200" y="457200"/>
            <a:ext cx="2279749" cy="264345"/>
          </a:xfrm>
          <a:prstGeom prst="rect">
            <a:avLst/>
          </a:prstGeom>
          <a:noFill/>
          <a:ln/>
        </p:spPr>
        <p:txBody>
          <a:bodyPr wrap="square" lIns="100013" tIns="35719" rIns="100013" bIns="35719" rtlCol="0" anchor="t"/>
          <a:lstStyle/>
          <a:p>
            <a:pPr algn="l" indent="0" marL="0">
              <a:lnSpc>
                <a:spcPts val="928"/>
              </a:lnSpc>
              <a:buNone/>
            </a:pPr>
            <a:r>
              <a:rPr lang="en-US" sz="800" b="1" spc="50" kern="0" dirty="0">
                <a:solidFill>
                  <a:srgbClr val="C92A6A"/>
                </a:solidFill>
                <a:latin typeface="Carlito" pitchFamily="34" charset="0"/>
                <a:ea typeface="Carlito" pitchFamily="34" charset="-122"/>
                <a:cs typeface="Carlito" pitchFamily="34" charset="-120"/>
              </a:rPr>
              <a:t>LOVII · ПЛАТФОРМА ЛОКАЛЬНОЙ ЭКОНОМИКИ</a:t>
            </a:r>
            <a:endParaRPr lang="en-US" sz="800" dirty="0"/>
          </a:p>
        </p:txBody>
      </p:sp>
      <p:sp>
        <p:nvSpPr>
          <p:cNvPr id="6" name="Text 4"/>
          <p:cNvSpPr/>
          <p:nvPr/>
        </p:nvSpPr>
        <p:spPr>
          <a:xfrm>
            <a:off x="457200" y="860822"/>
            <a:ext cx="5092065" cy="899791"/>
          </a:xfrm>
          <a:prstGeom prst="rect">
            <a:avLst/>
          </a:prstGeom>
          <a:noFill/>
          <a:ln/>
        </p:spPr>
        <p:txBody>
          <a:bodyPr wrap="none" lIns="0" tIns="0" rIns="0" bIns="0" rtlCol="0" anchor="t"/>
          <a:lstStyle/>
          <a:p>
            <a:pPr algn="l" indent="0" marL="0">
              <a:lnSpc>
                <a:spcPts val="3281"/>
              </a:lnSpc>
              <a:buNone/>
            </a:pPr>
            <a:r>
              <a:rPr lang="en-US" sz="3038" b="1" spc="-76" kern="0" dirty="0">
                <a:solidFill>
                  <a:srgbClr val="1A1A1A"/>
                </a:solidFill>
                <a:latin typeface="Carlito" pitchFamily="34" charset="0"/>
                <a:ea typeface="Carlito" pitchFamily="34" charset="-122"/>
                <a:cs typeface="Carlito" pitchFamily="34" charset="-120"/>
              </a:rPr>
              <a:t>Гайд по </a:t>
            </a:r>
            <a:pPr algn="l" indent="0" marL="0">
              <a:lnSpc>
                <a:spcPts val="3281"/>
              </a:lnSpc>
              <a:buNone/>
            </a:pPr>
            <a:r>
              <a:rPr lang="en-US" sz="3038" b="1" spc="-76" kern="0" dirty="0">
                <a:solidFill>
                  <a:srgbClr val="F64A8A"/>
                </a:solidFill>
                <a:latin typeface="Carlito" pitchFamily="34" charset="0"/>
                <a:ea typeface="Carlito" pitchFamily="34" charset="-122"/>
                <a:cs typeface="Carlito" pitchFamily="34" charset="-120"/>
              </a:rPr>
              <a:t>промтам</a:t>
            </a:r>
            <a:endParaRPr lang="en-US" sz="3038" dirty="0"/>
          </a:p>
          <a:p>
            <a:pPr algn="l" indent="0" marL="0">
              <a:lnSpc>
                <a:spcPts val="3281"/>
              </a:lnSpc>
              <a:buNone/>
            </a:pPr>
            <a:r>
              <a:rPr lang="en-US" sz="3038" b="1" spc="-76" kern="0" dirty="0">
                <a:solidFill>
                  <a:srgbClr val="1A1A1A"/>
                </a:solidFill>
                <a:latin typeface="Carlito" pitchFamily="34" charset="0"/>
                <a:ea typeface="Carlito" pitchFamily="34" charset="-122"/>
                <a:cs typeface="Carlito" pitchFamily="34" charset="-120"/>
              </a:rPr>
              <a:t>для image-генерации</a:t>
            </a:r>
            <a:endParaRPr lang="en-US" sz="3038" dirty="0"/>
          </a:p>
        </p:txBody>
      </p:sp>
      <p:sp>
        <p:nvSpPr>
          <p:cNvPr id="7" name="Text 5"/>
          <p:cNvSpPr/>
          <p:nvPr/>
        </p:nvSpPr>
        <p:spPr>
          <a:xfrm>
            <a:off x="457200" y="1865412"/>
            <a:ext cx="4000500" cy="659654"/>
          </a:xfrm>
          <a:prstGeom prst="rect">
            <a:avLst/>
          </a:prstGeom>
          <a:noFill/>
          <a:ln/>
        </p:spPr>
        <p:txBody>
          <a:bodyPr wrap="square" lIns="0" tIns="0" rIns="0" bIns="0" rtlCol="0" anchor="t"/>
          <a:lstStyle/>
          <a:p>
            <a:pPr algn="l" indent="0" marL="0">
              <a:lnSpc>
                <a:spcPts val="1603"/>
              </a:lnSpc>
              <a:buNone/>
            </a:pPr>
            <a:r>
              <a:rPr lang="en-US" sz="1069" dirty="0">
                <a:solidFill>
                  <a:srgbClr val="888888"/>
                </a:solidFill>
                <a:latin typeface="Carlito" pitchFamily="34" charset="0"/>
                <a:ea typeface="Carlito" pitchFamily="34" charset="-122"/>
                <a:cs typeface="Carlito" pitchFamily="34" charset="-120"/>
              </a:rPr>
              <a:t>Как амбассадору и представителю LOVII создавать фото- и медиаконтент по всем правилам бренда: идея, палитра, свет — и 15 готовых сценариев</a:t>
            </a:r>
            <a:endParaRPr lang="en-US" sz="1069" dirty="0"/>
          </a:p>
        </p:txBody>
      </p:sp>
      <p:sp>
        <p:nvSpPr>
          <p:cNvPr id="8" name="Text 6"/>
          <p:cNvSpPr/>
          <p:nvPr/>
        </p:nvSpPr>
        <p:spPr>
          <a:xfrm>
            <a:off x="457200" y="2604790"/>
            <a:ext cx="4629150" cy="164592"/>
          </a:xfrm>
          <a:prstGeom prst="rect">
            <a:avLst/>
          </a:prstGeom>
          <a:noFill/>
          <a:ln/>
        </p:spPr>
        <p:txBody>
          <a:bodyPr wrap="square" lIns="0" tIns="0" rIns="0" bIns="0" rtlCol="0" anchor="t"/>
          <a:lstStyle/>
          <a:p>
            <a:pPr algn="l" indent="0" marL="0">
              <a:lnSpc>
                <a:spcPts val="1097"/>
              </a:lnSpc>
              <a:buNone/>
            </a:pPr>
            <a:r>
              <a:rPr lang="en-US" sz="800" spc="22" kern="0" dirty="0">
                <a:solidFill>
                  <a:srgbClr val="888888"/>
                </a:solidFill>
                <a:latin typeface="Carlito" pitchFamily="34" charset="0"/>
                <a:ea typeface="Carlito" pitchFamily="34" charset="-122"/>
                <a:cs typeface="Carlito" pitchFamily="34" charset="-120"/>
              </a:rPr>
              <a:t>Для амбассадоров и представителей · lovii.ru · 2026</a:t>
            </a:r>
            <a:endParaRPr lang="en-US" sz="800" dirty="0"/>
          </a:p>
        </p:txBody>
      </p:sp>
      <p:sp>
        <p:nvSpPr>
          <p:cNvPr id="9" name="Text 7"/>
          <p:cNvSpPr/>
          <p:nvPr/>
        </p:nvSpPr>
        <p:spPr>
          <a:xfrm>
            <a:off x="457200" y="4616648"/>
            <a:ext cx="114300" cy="114300"/>
          </a:xfrm>
          <a:prstGeom prst="roundRect">
            <a:avLst>
              <a:gd name="adj" fmla="val 8325000"/>
            </a:avLst>
          </a:prstGeom>
          <a:solidFill>
            <a:srgbClr val="F64A8A"/>
          </a:solidFill>
          <a:ln/>
          <a:effectLst>
            <a:outerShdw sx="100000" sy="100000" kx="0" ky="0" algn="bl" rotWithShape="0" blurRad="28575" dist="9525" dir="5400000">
              <a:srgbClr val="1A1A1A">
                <a:alpha val="18000"/>
              </a:srgbClr>
            </a:outerShdw>
          </a:effectLst>
        </p:spPr>
        <p:txBody>
          <a:bodyPr wrap="square" rtlCol="0" anchor="ctr"/>
          <a:lstStyle/>
          <a:p>
            <a:pPr indent="0" marL="0">
              <a:buNone/>
            </a:pPr>
            <a:endParaRPr lang="en-US" dirty="0"/>
          </a:p>
        </p:txBody>
      </p:sp>
      <p:sp>
        <p:nvSpPr>
          <p:cNvPr id="10" name="Text 8"/>
          <p:cNvSpPr/>
          <p:nvPr/>
        </p:nvSpPr>
        <p:spPr>
          <a:xfrm>
            <a:off x="642938" y="4616648"/>
            <a:ext cx="114300" cy="114300"/>
          </a:xfrm>
          <a:prstGeom prst="roundRect">
            <a:avLst>
              <a:gd name="adj" fmla="val 8325000"/>
            </a:avLst>
          </a:prstGeom>
          <a:solidFill>
            <a:srgbClr val="0ABAB5"/>
          </a:solidFill>
          <a:ln/>
          <a:effectLst>
            <a:outerShdw sx="100000" sy="100000" kx="0" ky="0" algn="bl" rotWithShape="0" blurRad="28575" dist="9525" dir="5400000">
              <a:srgbClr val="1A1A1A">
                <a:alpha val="18000"/>
              </a:srgbClr>
            </a:outerShdw>
          </a:effectLst>
        </p:spPr>
        <p:txBody>
          <a:bodyPr wrap="square" rtlCol="0" anchor="ctr"/>
          <a:lstStyle/>
          <a:p>
            <a:pPr indent="0" marL="0">
              <a:buNone/>
            </a:pPr>
            <a:endParaRPr lang="en-US" dirty="0"/>
          </a:p>
        </p:txBody>
      </p:sp>
      <p:sp>
        <p:nvSpPr>
          <p:cNvPr id="11" name="Text 9"/>
          <p:cNvSpPr/>
          <p:nvPr/>
        </p:nvSpPr>
        <p:spPr>
          <a:xfrm>
            <a:off x="828675" y="4616648"/>
            <a:ext cx="114300" cy="114300"/>
          </a:xfrm>
          <a:prstGeom prst="roundRect">
            <a:avLst>
              <a:gd name="adj" fmla="val 8325000"/>
            </a:avLst>
          </a:prstGeom>
          <a:solidFill>
            <a:srgbClr val="D4A854"/>
          </a:solidFill>
          <a:ln/>
          <a:effectLst>
            <a:outerShdw sx="100000" sy="100000" kx="0" ky="0" algn="bl" rotWithShape="0" blurRad="28575" dist="9525" dir="5400000">
              <a:srgbClr val="1A1A1A">
                <a:alpha val="18000"/>
              </a:srgbClr>
            </a:outerShdw>
          </a:effectLst>
        </p:spPr>
        <p:txBody>
          <a:bodyPr wrap="square" rtlCol="0" anchor="ctr"/>
          <a:lstStyle/>
          <a:p>
            <a:pPr indent="0" marL="0">
              <a:buNone/>
            </a:pPr>
            <a:endParaRPr lang="en-US" dirty="0"/>
          </a:p>
        </p:txBody>
      </p:sp>
      <p:sp>
        <p:nvSpPr>
          <p:cNvPr id="12" name="Text 10"/>
          <p:cNvSpPr/>
          <p:nvPr/>
        </p:nvSpPr>
        <p:spPr>
          <a:xfrm>
            <a:off x="1014413" y="4616648"/>
            <a:ext cx="114300" cy="114300"/>
          </a:xfrm>
          <a:prstGeom prst="roundRect">
            <a:avLst>
              <a:gd name="adj" fmla="val 8325000"/>
            </a:avLst>
          </a:prstGeom>
          <a:solidFill>
            <a:srgbClr val="C92A6A"/>
          </a:solidFill>
          <a:ln/>
          <a:effectLst>
            <a:outerShdw sx="100000" sy="100000" kx="0" ky="0" algn="bl" rotWithShape="0" blurRad="28575" dist="9525" dir="5400000">
              <a:srgbClr val="1A1A1A">
                <a:alpha val="18000"/>
              </a:srgbClr>
            </a:outerShdw>
          </a:effectLst>
        </p:spPr>
        <p:txBody>
          <a:bodyPr wrap="square" rtlCol="0" anchor="ctr"/>
          <a:lstStyle/>
          <a:p>
            <a:pPr indent="0" marL="0">
              <a:buNone/>
            </a:pPr>
            <a:endParaRPr lang="en-US" dirty="0"/>
          </a:p>
        </p:txBody>
      </p:sp>
      <p:sp>
        <p:nvSpPr>
          <p:cNvPr id="13" name="Text 11"/>
          <p:cNvSpPr/>
          <p:nvPr/>
        </p:nvSpPr>
        <p:spPr>
          <a:xfrm>
            <a:off x="1200150" y="4616648"/>
            <a:ext cx="114300" cy="114300"/>
          </a:xfrm>
          <a:prstGeom prst="roundRect">
            <a:avLst>
              <a:gd name="adj" fmla="val 8325000"/>
            </a:avLst>
          </a:prstGeom>
          <a:solidFill>
            <a:srgbClr val="1A1A1A"/>
          </a:solidFill>
          <a:ln/>
          <a:effectLst>
            <a:outerShdw sx="100000" sy="100000" kx="0" ky="0" algn="bl" rotWithShape="0" blurRad="28575" dist="9525" dir="5400000">
              <a:srgbClr val="1A1A1A">
                <a:alpha val="18000"/>
              </a:srgbClr>
            </a:outerShdw>
          </a:effectLst>
        </p:spPr>
        <p:txBody>
          <a:bodyPr wrap="square" rtlCol="0" anchor="ctr"/>
          <a:lstStyle/>
          <a:p>
            <a:pPr indent="0" marL="0">
              <a:buNone/>
            </a:pPr>
            <a:endParaRPr lang="en-US" dirty="0"/>
          </a:p>
        </p:txBody>
      </p:sp>
      <p:sp>
        <p:nvSpPr>
          <p:cNvPr id="14" name="Text 12"/>
          <p:cNvSpPr/>
          <p:nvPr/>
        </p:nvSpPr>
        <p:spPr>
          <a:xfrm>
            <a:off x="1443038" y="4604147"/>
            <a:ext cx="3643313" cy="164592"/>
          </a:xfrm>
          <a:prstGeom prst="rect">
            <a:avLst/>
          </a:prstGeom>
          <a:noFill/>
          <a:ln/>
        </p:spPr>
        <p:txBody>
          <a:bodyPr wrap="none" lIns="0" tIns="0" rIns="0" bIns="0" rtlCol="0" anchor="t"/>
          <a:lstStyle/>
          <a:p>
            <a:pPr algn="l" indent="0" marL="0">
              <a:lnSpc>
                <a:spcPts val="1097"/>
              </a:lnSpc>
              <a:buNone/>
            </a:pPr>
            <a:r>
              <a:rPr lang="en-US" sz="800" dirty="0">
                <a:solidFill>
                  <a:srgbClr val="888888"/>
                </a:solidFill>
                <a:latin typeface="Carlito" pitchFamily="34" charset="0"/>
                <a:ea typeface="Carlito" pitchFamily="34" charset="-122"/>
                <a:cs typeface="Carlito" pitchFamily="34" charset="-120"/>
              </a:rPr>
              <a:t>5 тонов — 5 ролей платформы</a:t>
            </a:r>
            <a:endParaRPr lang="en-US" sz="800" dirty="0"/>
          </a:p>
        </p:txBody>
      </p:sp>
      <p:pic>
        <p:nvPicPr>
          <p:cNvPr id="15" name="Image 0" descr="/tmp/h2p-fit-1788292678638-hsg76o.png">    </p:cNvPr>
          <p:cNvPicPr>
            <a:picLocks noChangeAspect="1"/>
          </p:cNvPicPr>
          <p:nvPr/>
        </p:nvPicPr>
        <p:blipFill>
          <a:blip r:embed="rId1"/>
          <a:stretch>
            <a:fillRect/>
          </a:stretch>
        </p:blipFill>
        <p:spPr>
          <a:xfrm>
            <a:off x="5486400" y="0"/>
            <a:ext cx="3657600" cy="5143500"/>
          </a:xfrm>
          <a:prstGeom prst="rect">
            <a:avLst/>
          </a:prstGeom>
        </p:spPr>
      </p:pic>
      <p:pic>
        <p:nvPicPr>
          <p:cNvPr id="16" name="Image 1" descr="preencoded.png">    </p:cNvPr>
          <p:cNvPicPr>
            <a:picLocks noChangeAspect="1"/>
          </p:cNvPicPr>
          <p:nvPr/>
        </p:nvPicPr>
        <p:blipFill>
          <a:blip r:embed="rId2"/>
          <a:stretch>
            <a:fillRect/>
          </a:stretch>
        </p:blipFill>
        <p:spPr>
          <a:xfrm>
            <a:off x="5486400" y="0"/>
            <a:ext cx="3657600" cy="5143500"/>
          </a:xfrm>
          <a:prstGeom prst="rect">
            <a:avLst/>
          </a:prstGeom>
        </p:spPr>
      </p:pic>
      <p:sp>
        <p:nvSpPr>
          <p:cNvPr id="17" name="Text 13"/>
          <p:cNvSpPr/>
          <p:nvPr/>
        </p:nvSpPr>
        <p:spPr>
          <a:xfrm>
            <a:off x="5715000" y="4808860"/>
            <a:ext cx="3200400" cy="159053"/>
          </a:xfrm>
          <a:prstGeom prst="rect">
            <a:avLst/>
          </a:prstGeom>
          <a:noFill/>
          <a:ln/>
        </p:spPr>
        <p:txBody>
          <a:bodyPr wrap="square" lIns="0" tIns="0" rIns="0" bIns="0" rtlCol="0" anchor="t"/>
          <a:lstStyle/>
          <a:p>
            <a:pPr algn="l" indent="0" marL="0">
              <a:lnSpc>
                <a:spcPts val="1060"/>
              </a:lnSpc>
              <a:buNone/>
            </a:pPr>
            <a:r>
              <a:rPr lang="en-US" sz="800" spc="7" kern="0" dirty="0">
                <a:solidFill>
                  <a:srgbClr val="FFFFFF"/>
                </a:solidFill>
                <a:latin typeface="Carlito" pitchFamily="34" charset="0"/>
                <a:ea typeface="Carlito" pitchFamily="34" charset="-122"/>
                <a:cs typeface="Carlito" pitchFamily="34" charset="-120"/>
              </a:rPr>
              <a:t>Локальная экономика начинается с картинки района</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28625"/>
            <a:ext cx="8636000"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F64A8A"/>
                </a:solidFill>
                <a:latin typeface="Carlito" pitchFamily="34" charset="0"/>
                <a:ea typeface="Carlito" pitchFamily="34" charset="-122"/>
                <a:cs typeface="Carlito" pitchFamily="34" charset="-120"/>
              </a:rPr>
              <a:t>ЗАЧЕМ ЭТОТ ГАЙД</a:t>
            </a:r>
            <a:endParaRPr lang="en-US" sz="800" dirty="0"/>
          </a:p>
        </p:txBody>
      </p:sp>
      <p:sp>
        <p:nvSpPr>
          <p:cNvPr id="3" name="Text 1"/>
          <p:cNvSpPr/>
          <p:nvPr/>
        </p:nvSpPr>
        <p:spPr>
          <a:xfrm>
            <a:off x="457200" y="632222"/>
            <a:ext cx="8636000" cy="337060"/>
          </a:xfrm>
          <a:prstGeom prst="rect">
            <a:avLst/>
          </a:prstGeom>
          <a:noFill/>
          <a:ln/>
        </p:spPr>
        <p:txBody>
          <a:bodyPr wrap="square" lIns="0" tIns="0" rIns="0" bIns="0" rtlCol="0" anchor="t"/>
          <a:lstStyle/>
          <a:p>
            <a:pPr algn="l" indent="0" marL="0">
              <a:lnSpc>
                <a:spcPts val="2458"/>
              </a:lnSpc>
              <a:buNone/>
            </a:pPr>
            <a:r>
              <a:rPr lang="en-US" sz="2138" b="1" spc="-32" kern="0" dirty="0">
                <a:solidFill>
                  <a:srgbClr val="1A1A1A"/>
                </a:solidFill>
                <a:latin typeface="Carlito" pitchFamily="34" charset="0"/>
                <a:ea typeface="Carlito" pitchFamily="34" charset="-122"/>
                <a:cs typeface="Carlito" pitchFamily="34" charset="-120"/>
              </a:rPr>
              <a:t>Промт — это сценарий, по которому нейросеть рисует LOVII</a:t>
            </a:r>
            <a:endParaRPr lang="en-US" sz="2138" dirty="0"/>
          </a:p>
        </p:txBody>
      </p:sp>
      <p:sp>
        <p:nvSpPr>
          <p:cNvPr id="4" name="Text 2"/>
          <p:cNvSpPr/>
          <p:nvPr/>
        </p:nvSpPr>
        <p:spPr>
          <a:xfrm>
            <a:off x="457200" y="1058614"/>
            <a:ext cx="6429375" cy="581175"/>
          </a:xfrm>
          <a:prstGeom prst="rect">
            <a:avLst/>
          </a:prstGeom>
          <a:noFill/>
          <a:ln/>
        </p:spPr>
        <p:txBody>
          <a:bodyPr wrap="square" lIns="0" tIns="0" rIns="0" bIns="0" rtlCol="0" anchor="t"/>
          <a:lstStyle/>
          <a:p>
            <a:pPr algn="l" indent="0" marL="0">
              <a:lnSpc>
                <a:spcPts val="1412"/>
              </a:lnSpc>
              <a:buNone/>
            </a:pPr>
            <a:r>
              <a:rPr lang="en-US" sz="872" dirty="0">
                <a:solidFill>
                  <a:srgbClr val="1A1A1A"/>
                </a:solidFill>
                <a:latin typeface="Carlito" pitchFamily="34" charset="0"/>
                <a:ea typeface="Carlito" pitchFamily="34" charset="-122"/>
                <a:cs typeface="Carlito" pitchFamily="34" charset="-120"/>
              </a:rPr>
              <a:t>Каждая картинка платформы работает на доверие района. Соблюдая единые правила генерации, мы получаем узнаваемый визуальный язык — от поста в Telegram-канале до hero-баннера на lovii.ru. Гайд превращает хаотичные картинки в системный контент, который не стыдно показать жителям, бизнесу и инвесторам.</a:t>
            </a:r>
            <a:endParaRPr lang="en-US" sz="872" dirty="0"/>
          </a:p>
        </p:txBody>
      </p:sp>
      <p:sp>
        <p:nvSpPr>
          <p:cNvPr id="5" name="Text 3"/>
          <p:cNvSpPr/>
          <p:nvPr/>
        </p:nvSpPr>
        <p:spPr>
          <a:xfrm>
            <a:off x="457200" y="2109639"/>
            <a:ext cx="2628900" cy="1592275"/>
          </a:xfrm>
          <a:prstGeom prst="roundRect">
            <a:avLst>
              <a:gd name="adj" fmla="val 7178"/>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6" name="Text 4"/>
          <p:cNvSpPr/>
          <p:nvPr/>
        </p:nvSpPr>
        <p:spPr>
          <a:xfrm>
            <a:off x="657225" y="2309664"/>
            <a:ext cx="342900" cy="342900"/>
          </a:xfrm>
          <a:prstGeom prst="roundRect">
            <a:avLst>
              <a:gd name="adj" fmla="val 33333"/>
            </a:avLst>
          </a:prstGeom>
          <a:solidFill>
            <a:srgbClr val="F64A8A">
              <a:alpha val="12000"/>
            </a:srgbClr>
          </a:solidFill>
          <a:ln/>
        </p:spPr>
        <p:txBody>
          <a:bodyPr wrap="square" rtlCol="0" anchor="ctr"/>
          <a:lstStyle/>
          <a:p>
            <a:pPr indent="0" marL="0">
              <a:buNone/>
            </a:pPr>
            <a:endParaRPr lang="en-US" dirty="0"/>
          </a:p>
        </p:txBody>
      </p:sp>
      <p:sp>
        <p:nvSpPr>
          <p:cNvPr id="7" name="Text 5"/>
          <p:cNvSpPr/>
          <p:nvPr/>
        </p:nvSpPr>
        <p:spPr>
          <a:xfrm>
            <a:off x="704374" y="2356812"/>
            <a:ext cx="248602" cy="248602"/>
          </a:xfrm>
          <a:prstGeom prst="rect">
            <a:avLst/>
          </a:prstGeom>
          <a:noFill/>
          <a:ln/>
        </p:spPr>
        <p:txBody>
          <a:bodyPr wrap="none" lIns="0" tIns="0" rIns="0" bIns="0" rtlCol="0" anchor="ctr"/>
          <a:lstStyle/>
          <a:p>
            <a:pPr algn="ctr" indent="0" marL="0">
              <a:buNone/>
            </a:pPr>
            <a:r>
              <a:rPr lang="en-US" sz="1688" dirty="0">
                <a:solidFill>
                  <a:srgbClr val="C92A6A"/>
                </a:solidFill>
                <a:latin typeface="Segoe UI Symbol" pitchFamily="34" charset="0"/>
                <a:ea typeface="Segoe UI Symbol" pitchFamily="34" charset="-122"/>
                <a:cs typeface="Segoe UI Symbol" pitchFamily="34" charset="-120"/>
              </a:rPr>
              <a:t>✦</a:t>
            </a:r>
            <a:endParaRPr lang="en-US" sz="1688" dirty="0"/>
          </a:p>
        </p:txBody>
      </p:sp>
      <p:sp>
        <p:nvSpPr>
          <p:cNvPr id="8" name="Text 6"/>
          <p:cNvSpPr/>
          <p:nvPr/>
        </p:nvSpPr>
        <p:spPr>
          <a:xfrm>
            <a:off x="657225" y="2781151"/>
            <a:ext cx="2228850" cy="219885"/>
          </a:xfrm>
          <a:prstGeom prst="rect">
            <a:avLst/>
          </a:prstGeom>
          <a:noFill/>
          <a:ln/>
        </p:spPr>
        <p:txBody>
          <a:bodyPr wrap="none" lIns="0" tIns="0" rIns="0" bIns="0" rtlCol="0" anchor="t"/>
          <a:lstStyle/>
          <a:p>
            <a:pPr algn="l" indent="0" marL="0">
              <a:lnSpc>
                <a:spcPts val="1603"/>
              </a:lnSpc>
              <a:buNone/>
            </a:pPr>
            <a:r>
              <a:rPr lang="en-US" sz="1069" b="1" dirty="0">
                <a:solidFill>
                  <a:srgbClr val="1A1A1A"/>
                </a:solidFill>
                <a:latin typeface="Carlito" pitchFamily="34" charset="0"/>
                <a:ea typeface="Carlito" pitchFamily="34" charset="-122"/>
                <a:cs typeface="Carlito" pitchFamily="34" charset="-120"/>
              </a:rPr>
              <a:t>Единый узнаваемый стиль</a:t>
            </a:r>
            <a:endParaRPr lang="en-US" sz="1069" dirty="0"/>
          </a:p>
        </p:txBody>
      </p:sp>
      <p:sp>
        <p:nvSpPr>
          <p:cNvPr id="9" name="Text 7"/>
          <p:cNvSpPr/>
          <p:nvPr/>
        </p:nvSpPr>
        <p:spPr>
          <a:xfrm>
            <a:off x="657225" y="3056186"/>
            <a:ext cx="2228850" cy="351077"/>
          </a:xfrm>
          <a:prstGeom prst="rect">
            <a:avLst/>
          </a:prstGeom>
          <a:noFill/>
          <a:ln/>
        </p:spPr>
        <p:txBody>
          <a:bodyPr wrap="square" lIns="0" tIns="0" rIns="0" bIns="0" rtlCol="0" anchor="t"/>
          <a:lstStyle/>
          <a:p>
            <a:pPr algn="l" indent="0" marL="0">
              <a:lnSpc>
                <a:spcPts val="1170"/>
              </a:lnSpc>
              <a:buNone/>
            </a:pPr>
            <a:r>
              <a:rPr lang="en-US" sz="800" dirty="0">
                <a:solidFill>
                  <a:srgbClr val="888888"/>
                </a:solidFill>
                <a:latin typeface="Carlito" pitchFamily="34" charset="0"/>
                <a:ea typeface="Carlito" pitchFamily="34" charset="-122"/>
                <a:cs typeface="Carlito" pitchFamily="34" charset="-120"/>
              </a:rPr>
              <a:t>Все материалы выглядят как одна экосистема: те же тона, свет и настроение, что и на сайте lovii.ru.</a:t>
            </a:r>
            <a:endParaRPr lang="en-US" sz="800" dirty="0"/>
          </a:p>
        </p:txBody>
      </p:sp>
      <p:sp>
        <p:nvSpPr>
          <p:cNvPr id="10" name="Text 8"/>
          <p:cNvSpPr/>
          <p:nvPr/>
        </p:nvSpPr>
        <p:spPr>
          <a:xfrm>
            <a:off x="3257550" y="2109639"/>
            <a:ext cx="2628900" cy="1592275"/>
          </a:xfrm>
          <a:prstGeom prst="roundRect">
            <a:avLst>
              <a:gd name="adj" fmla="val 7178"/>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1" name="Text 9"/>
          <p:cNvSpPr/>
          <p:nvPr/>
        </p:nvSpPr>
        <p:spPr>
          <a:xfrm>
            <a:off x="3457575" y="2309664"/>
            <a:ext cx="342900" cy="342900"/>
          </a:xfrm>
          <a:prstGeom prst="roundRect">
            <a:avLst>
              <a:gd name="adj" fmla="val 33333"/>
            </a:avLst>
          </a:prstGeom>
          <a:solidFill>
            <a:srgbClr val="0ABAB5">
              <a:alpha val="10000"/>
            </a:srgbClr>
          </a:solidFill>
          <a:ln/>
        </p:spPr>
        <p:txBody>
          <a:bodyPr wrap="square" rtlCol="0" anchor="ctr"/>
          <a:lstStyle/>
          <a:p>
            <a:pPr indent="0" marL="0">
              <a:buNone/>
            </a:pPr>
            <a:endParaRPr lang="en-US" dirty="0"/>
          </a:p>
        </p:txBody>
      </p:sp>
      <p:sp>
        <p:nvSpPr>
          <p:cNvPr id="12" name="Text 10"/>
          <p:cNvSpPr/>
          <p:nvPr/>
        </p:nvSpPr>
        <p:spPr>
          <a:xfrm>
            <a:off x="3504724" y="2356812"/>
            <a:ext cx="248602" cy="248602"/>
          </a:xfrm>
          <a:prstGeom prst="rect">
            <a:avLst/>
          </a:prstGeom>
          <a:noFill/>
          <a:ln/>
        </p:spPr>
        <p:txBody>
          <a:bodyPr wrap="none" lIns="0" tIns="0" rIns="0" bIns="0" rtlCol="0" anchor="ctr"/>
          <a:lstStyle/>
          <a:p>
            <a:pPr algn="ctr" indent="0" marL="0">
              <a:buNone/>
            </a:pPr>
            <a:r>
              <a:rPr lang="en-US" sz="1688" dirty="0">
                <a:solidFill>
                  <a:srgbClr val="07807C"/>
                </a:solidFill>
                <a:latin typeface="Segoe UI Symbol" pitchFamily="34" charset="0"/>
                <a:ea typeface="Segoe UI Symbol" pitchFamily="34" charset="-122"/>
                <a:cs typeface="Segoe UI Symbol" pitchFamily="34" charset="-120"/>
              </a:rPr>
              <a:t>⚡</a:t>
            </a:r>
            <a:endParaRPr lang="en-US" sz="1688" dirty="0"/>
          </a:p>
        </p:txBody>
      </p:sp>
      <p:sp>
        <p:nvSpPr>
          <p:cNvPr id="13" name="Text 11"/>
          <p:cNvSpPr/>
          <p:nvPr/>
        </p:nvSpPr>
        <p:spPr>
          <a:xfrm>
            <a:off x="3457575" y="2781151"/>
            <a:ext cx="2228850" cy="219885"/>
          </a:xfrm>
          <a:prstGeom prst="rect">
            <a:avLst/>
          </a:prstGeom>
          <a:noFill/>
          <a:ln/>
        </p:spPr>
        <p:txBody>
          <a:bodyPr wrap="none" lIns="0" tIns="0" rIns="0" bIns="0" rtlCol="0" anchor="t"/>
          <a:lstStyle/>
          <a:p>
            <a:pPr algn="l" indent="0" marL="0">
              <a:lnSpc>
                <a:spcPts val="1603"/>
              </a:lnSpc>
              <a:buNone/>
            </a:pPr>
            <a:r>
              <a:rPr lang="en-US" sz="1069" b="1" dirty="0">
                <a:solidFill>
                  <a:srgbClr val="1A1A1A"/>
                </a:solidFill>
                <a:latin typeface="Carlito" pitchFamily="34" charset="0"/>
                <a:ea typeface="Carlito" pitchFamily="34" charset="-122"/>
                <a:cs typeface="Carlito" pitchFamily="34" charset="-120"/>
              </a:rPr>
              <a:t>Быстро и без дизайнера</a:t>
            </a:r>
            <a:endParaRPr lang="en-US" sz="1069" dirty="0"/>
          </a:p>
        </p:txBody>
      </p:sp>
      <p:sp>
        <p:nvSpPr>
          <p:cNvPr id="14" name="Text 12"/>
          <p:cNvSpPr/>
          <p:nvPr/>
        </p:nvSpPr>
        <p:spPr>
          <a:xfrm>
            <a:off x="3457575" y="3056186"/>
            <a:ext cx="2228850" cy="445703"/>
          </a:xfrm>
          <a:prstGeom prst="rect">
            <a:avLst/>
          </a:prstGeom>
          <a:noFill/>
          <a:ln/>
        </p:spPr>
        <p:txBody>
          <a:bodyPr wrap="square" lIns="0" tIns="0" rIns="0" bIns="0" rtlCol="0" anchor="t"/>
          <a:lstStyle/>
          <a:p>
            <a:pPr algn="l" indent="0" marL="0">
              <a:lnSpc>
                <a:spcPts val="1170"/>
              </a:lnSpc>
              <a:buNone/>
            </a:pPr>
            <a:r>
              <a:rPr lang="en-US" sz="800" dirty="0">
                <a:solidFill>
                  <a:srgbClr val="888888"/>
                </a:solidFill>
                <a:latin typeface="Carlito" pitchFamily="34" charset="0"/>
                <a:ea typeface="Carlito" pitchFamily="34" charset="-122"/>
                <a:cs typeface="Carlito" pitchFamily="34" charset="-120"/>
              </a:rPr>
              <a:t>Готовые сценарии: подставь свою точку и район — рабочий визуал готов за минуты, без брифов и правок.</a:t>
            </a:r>
            <a:endParaRPr lang="en-US" sz="800" dirty="0"/>
          </a:p>
        </p:txBody>
      </p:sp>
      <p:sp>
        <p:nvSpPr>
          <p:cNvPr id="15" name="Text 13"/>
          <p:cNvSpPr/>
          <p:nvPr/>
        </p:nvSpPr>
        <p:spPr>
          <a:xfrm>
            <a:off x="6057900" y="2109639"/>
            <a:ext cx="2628900" cy="1592275"/>
          </a:xfrm>
          <a:prstGeom prst="roundRect">
            <a:avLst>
              <a:gd name="adj" fmla="val 7178"/>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6" name="Text 14"/>
          <p:cNvSpPr/>
          <p:nvPr/>
        </p:nvSpPr>
        <p:spPr>
          <a:xfrm>
            <a:off x="6257925" y="2309664"/>
            <a:ext cx="342900" cy="342900"/>
          </a:xfrm>
          <a:prstGeom prst="roundRect">
            <a:avLst>
              <a:gd name="adj" fmla="val 33333"/>
            </a:avLst>
          </a:prstGeom>
          <a:solidFill>
            <a:srgbClr val="D4A854">
              <a:alpha val="14000"/>
            </a:srgbClr>
          </a:solidFill>
          <a:ln/>
        </p:spPr>
        <p:txBody>
          <a:bodyPr wrap="square" rtlCol="0" anchor="ctr"/>
          <a:lstStyle/>
          <a:p>
            <a:pPr indent="0" marL="0">
              <a:buNone/>
            </a:pPr>
            <a:endParaRPr lang="en-US" dirty="0"/>
          </a:p>
        </p:txBody>
      </p:sp>
      <p:sp>
        <p:nvSpPr>
          <p:cNvPr id="17" name="Text 15"/>
          <p:cNvSpPr/>
          <p:nvPr/>
        </p:nvSpPr>
        <p:spPr>
          <a:xfrm>
            <a:off x="6305074" y="2356812"/>
            <a:ext cx="248602" cy="248602"/>
          </a:xfrm>
          <a:prstGeom prst="rect">
            <a:avLst/>
          </a:prstGeom>
          <a:noFill/>
          <a:ln/>
        </p:spPr>
        <p:txBody>
          <a:bodyPr wrap="none" lIns="0" tIns="0" rIns="0" bIns="0" rtlCol="0" anchor="ctr"/>
          <a:lstStyle/>
          <a:p>
            <a:pPr algn="ctr" indent="0" marL="0">
              <a:buNone/>
            </a:pPr>
            <a:r>
              <a:rPr lang="en-US" sz="1688" dirty="0">
                <a:solidFill>
                  <a:srgbClr val="8A6A25"/>
                </a:solidFill>
                <a:latin typeface="Segoe UI Symbol" pitchFamily="34" charset="0"/>
                <a:ea typeface="Segoe UI Symbol" pitchFamily="34" charset="-122"/>
                <a:cs typeface="Segoe UI Symbol" pitchFamily="34" charset="-120"/>
              </a:rPr>
              <a:t>⛨</a:t>
            </a:r>
            <a:endParaRPr lang="en-US" sz="1688" dirty="0"/>
          </a:p>
        </p:txBody>
      </p:sp>
      <p:sp>
        <p:nvSpPr>
          <p:cNvPr id="18" name="Text 16"/>
          <p:cNvSpPr/>
          <p:nvPr/>
        </p:nvSpPr>
        <p:spPr>
          <a:xfrm>
            <a:off x="6257925" y="2781151"/>
            <a:ext cx="2228850" cy="219885"/>
          </a:xfrm>
          <a:prstGeom prst="rect">
            <a:avLst/>
          </a:prstGeom>
          <a:noFill/>
          <a:ln/>
        </p:spPr>
        <p:txBody>
          <a:bodyPr wrap="none" lIns="0" tIns="0" rIns="0" bIns="0" rtlCol="0" anchor="t"/>
          <a:lstStyle/>
          <a:p>
            <a:pPr algn="l" indent="0" marL="0">
              <a:lnSpc>
                <a:spcPts val="1603"/>
              </a:lnSpc>
              <a:buNone/>
            </a:pPr>
            <a:r>
              <a:rPr lang="en-US" sz="1069" b="1" dirty="0">
                <a:solidFill>
                  <a:srgbClr val="1A1A1A"/>
                </a:solidFill>
                <a:latin typeface="Carlito" pitchFamily="34" charset="0"/>
                <a:ea typeface="Carlito" pitchFamily="34" charset="-122"/>
                <a:cs typeface="Carlito" pitchFamily="34" charset="-120"/>
              </a:rPr>
              <a:t>Без ошибок бренда</a:t>
            </a:r>
            <a:endParaRPr lang="en-US" sz="1069" dirty="0"/>
          </a:p>
        </p:txBody>
      </p:sp>
      <p:sp>
        <p:nvSpPr>
          <p:cNvPr id="19" name="Text 17"/>
          <p:cNvSpPr/>
          <p:nvPr/>
        </p:nvSpPr>
        <p:spPr>
          <a:xfrm>
            <a:off x="6257925" y="3056186"/>
            <a:ext cx="2228850" cy="445703"/>
          </a:xfrm>
          <a:prstGeom prst="rect">
            <a:avLst/>
          </a:prstGeom>
          <a:noFill/>
          <a:ln/>
        </p:spPr>
        <p:txBody>
          <a:bodyPr wrap="square" lIns="0" tIns="0" rIns="0" bIns="0" rtlCol="0" anchor="t"/>
          <a:lstStyle/>
          <a:p>
            <a:pPr algn="l" indent="0" marL="0">
              <a:lnSpc>
                <a:spcPts val="1170"/>
              </a:lnSpc>
              <a:buNone/>
            </a:pPr>
            <a:r>
              <a:rPr lang="en-US" sz="800" dirty="0">
                <a:solidFill>
                  <a:srgbClr val="888888"/>
                </a:solidFill>
                <a:latin typeface="Carlito" pitchFamily="34" charset="0"/>
                <a:ea typeface="Carlito" pitchFamily="34" charset="-122"/>
                <a:cs typeface="Carlito" pitchFamily="34" charset="-120"/>
              </a:rPr>
              <a:t>Стоп-лист защищает от фейков: никаких обещаний вывода баллов, чужих логотипов и „холодного“ стока.</a:t>
            </a:r>
            <a:endParaRPr lang="en-US" sz="800" dirty="0"/>
          </a:p>
        </p:txBody>
      </p:sp>
      <p:sp>
        <p:nvSpPr>
          <p:cNvPr id="20" name="Text 18"/>
          <p:cNvSpPr/>
          <p:nvPr/>
        </p:nvSpPr>
        <p:spPr>
          <a:xfrm>
            <a:off x="457200" y="4214813"/>
            <a:ext cx="8229600" cy="528638"/>
          </a:xfrm>
          <a:prstGeom prst="roundRect">
            <a:avLst>
              <a:gd name="adj" fmla="val 21622"/>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1" name="Text 19"/>
          <p:cNvSpPr/>
          <p:nvPr/>
        </p:nvSpPr>
        <p:spPr>
          <a:xfrm>
            <a:off x="628650" y="4329113"/>
            <a:ext cx="300038" cy="300038"/>
          </a:xfrm>
          <a:prstGeom prst="roundRect">
            <a:avLst>
              <a:gd name="adj" fmla="val 38095"/>
            </a:avLst>
          </a:prstGeom>
          <a:solidFill>
            <a:srgbClr val="F64A8A">
              <a:alpha val="12000"/>
            </a:srgbClr>
          </a:solidFill>
          <a:ln/>
        </p:spPr>
        <p:txBody>
          <a:bodyPr wrap="square" rtlCol="0" anchor="ctr"/>
          <a:lstStyle/>
          <a:p>
            <a:pPr indent="0" marL="0">
              <a:buNone/>
            </a:pPr>
            <a:endParaRPr lang="en-US" dirty="0"/>
          </a:p>
        </p:txBody>
      </p:sp>
      <p:sp>
        <p:nvSpPr>
          <p:cNvPr id="22" name="Text 20"/>
          <p:cNvSpPr/>
          <p:nvPr/>
        </p:nvSpPr>
        <p:spPr>
          <a:xfrm>
            <a:off x="664726" y="4365188"/>
            <a:ext cx="227886" cy="227886"/>
          </a:xfrm>
          <a:prstGeom prst="rect">
            <a:avLst/>
          </a:prstGeom>
          <a:noFill/>
          <a:ln/>
        </p:spPr>
        <p:txBody>
          <a:bodyPr wrap="none" lIns="0" tIns="0" rIns="0" bIns="0" rtlCol="0" anchor="ctr"/>
          <a:lstStyle/>
          <a:p>
            <a:pPr algn="ctr" indent="0" marL="0">
              <a:buNone/>
            </a:pPr>
            <a:r>
              <a:rPr lang="en-US" sz="1547" dirty="0">
                <a:solidFill>
                  <a:srgbClr val="C92A6A"/>
                </a:solidFill>
                <a:latin typeface="Segoe UI Symbol" pitchFamily="34" charset="0"/>
                <a:ea typeface="Segoe UI Symbol" pitchFamily="34" charset="-122"/>
                <a:cs typeface="Segoe UI Symbol" pitchFamily="34" charset="-120"/>
              </a:rPr>
              <a:t>⇄</a:t>
            </a:r>
            <a:endParaRPr lang="en-US" sz="1547" dirty="0"/>
          </a:p>
        </p:txBody>
      </p:sp>
      <p:sp>
        <p:nvSpPr>
          <p:cNvPr id="23" name="Text 21"/>
          <p:cNvSpPr/>
          <p:nvPr/>
        </p:nvSpPr>
        <p:spPr>
          <a:xfrm>
            <a:off x="1042988" y="4396085"/>
            <a:ext cx="7472363" cy="179380"/>
          </a:xfrm>
          <a:prstGeom prst="rect">
            <a:avLst/>
          </a:prstGeom>
          <a:noFill/>
          <a:ln/>
        </p:spPr>
        <p:txBody>
          <a:bodyPr wrap="square" lIns="0" tIns="0" rIns="0" bIns="0" rtlCol="0" anchor="t"/>
          <a:lstStyle/>
          <a:p>
            <a:pPr algn="l" indent="0" marL="0">
              <a:lnSpc>
                <a:spcPts val="1308"/>
              </a:lnSpc>
              <a:buNone/>
            </a:pPr>
            <a:r>
              <a:rPr lang="en-US" sz="872" b="1" dirty="0">
                <a:solidFill>
                  <a:srgbClr val="1A1A1A"/>
                </a:solidFill>
                <a:latin typeface="Carlito" pitchFamily="34" charset="0"/>
                <a:ea typeface="Carlito" pitchFamily="34" charset="-122"/>
                <a:cs typeface="Carlito" pitchFamily="34" charset="-120"/>
              </a:rPr>
              <a:t>Формат каждого сценария:</a:t>
            </a:r>
            <a:pPr algn="l" indent="0" marL="0">
              <a:lnSpc>
                <a:spcPts val="1308"/>
              </a:lnSpc>
              <a:buNone/>
            </a:pPr>
            <a:r>
              <a:rPr lang="en-US" sz="872" dirty="0">
                <a:solidFill>
                  <a:srgbClr val="1A1A1A"/>
                </a:solidFill>
                <a:latin typeface="Carlito" pitchFamily="34" charset="0"/>
                <a:ea typeface="Carlito" pitchFamily="34" charset="-122"/>
                <a:cs typeface="Carlito" pitchFamily="34" charset="-120"/>
              </a:rPr>
              <a:t> EN-промт для Midjourney / Flux / DALL-E + перевод на русский с пояснением, почему это работает.</a:t>
            </a:r>
            <a:endParaRPr lang="en-US" sz="87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F64A8A"/>
                </a:solidFill>
                <a:latin typeface="Carlito" pitchFamily="34" charset="0"/>
                <a:ea typeface="Carlito" pitchFamily="34" charset="-122"/>
                <a:cs typeface="Carlito" pitchFamily="34" charset="-120"/>
              </a:rPr>
              <a:t>КОНТЕКСТ БРЕНДА</a:t>
            </a:r>
            <a:endParaRPr lang="en-US" sz="800" dirty="0"/>
          </a:p>
        </p:txBody>
      </p:sp>
      <p:sp>
        <p:nvSpPr>
          <p:cNvPr id="3" name="Text 1"/>
          <p:cNvSpPr/>
          <p:nvPr/>
        </p:nvSpPr>
        <p:spPr>
          <a:xfrm>
            <a:off x="457200" y="603647"/>
            <a:ext cx="8636000" cy="337060"/>
          </a:xfrm>
          <a:prstGeom prst="rect">
            <a:avLst/>
          </a:prstGeom>
          <a:noFill/>
          <a:ln/>
        </p:spPr>
        <p:txBody>
          <a:bodyPr wrap="square" lIns="0" tIns="0" rIns="0" bIns="0" rtlCol="0" anchor="t"/>
          <a:lstStyle/>
          <a:p>
            <a:pPr algn="l" indent="0" marL="0">
              <a:lnSpc>
                <a:spcPts val="2458"/>
              </a:lnSpc>
              <a:buNone/>
            </a:pPr>
            <a:r>
              <a:rPr lang="en-US" sz="2138" b="1" spc="-32" kern="0" dirty="0">
                <a:solidFill>
                  <a:srgbClr val="1A1A1A"/>
                </a:solidFill>
                <a:latin typeface="Carlito" pitchFamily="34" charset="0"/>
                <a:ea typeface="Carlito" pitchFamily="34" charset="-122"/>
                <a:cs typeface="Carlito" pitchFamily="34" charset="-120"/>
              </a:rPr>
              <a:t>Идея и цели: из чего растут все промты</a:t>
            </a:r>
            <a:endParaRPr lang="en-US" sz="2138" dirty="0"/>
          </a:p>
        </p:txBody>
      </p:sp>
      <p:sp>
        <p:nvSpPr>
          <p:cNvPr id="4" name="Text 2"/>
          <p:cNvSpPr/>
          <p:nvPr/>
        </p:nvSpPr>
        <p:spPr>
          <a:xfrm>
            <a:off x="457200" y="1101477"/>
            <a:ext cx="5600700" cy="573942"/>
          </a:xfrm>
          <a:prstGeom prst="rect">
            <a:avLst/>
          </a:prstGeom>
          <a:noFill/>
          <a:ln/>
        </p:spPr>
        <p:txBody>
          <a:bodyPr wrap="square" lIns="0" tIns="0" rIns="0" bIns="0" rtlCol="0" anchor="t"/>
          <a:lstStyle/>
          <a:p>
            <a:pPr algn="l" indent="0" marL="0">
              <a:lnSpc>
                <a:spcPts val="1395"/>
              </a:lnSpc>
              <a:buNone/>
            </a:pPr>
            <a:r>
              <a:rPr lang="en-US" sz="872" dirty="0">
                <a:solidFill>
                  <a:srgbClr val="1A1A1A"/>
                </a:solidFill>
                <a:latin typeface="Carlito" pitchFamily="34" charset="0"/>
                <a:ea typeface="Carlito" pitchFamily="34" charset="-122"/>
                <a:cs typeface="Carlito" pitchFamily="34" charset="-120"/>
              </a:rPr>
              <a:t>LOVII — агентская платформа лояльности для локальной экономики. Соединяет жителей, точки МСП, представителей, амбассадоров и инвесторов в одной экосистеме: платежи через банк-партнёр, общая программа лояльности и прозрачный сплит </a:t>
            </a:r>
            <a:pPr algn="l" indent="0" marL="0">
              <a:lnSpc>
                <a:spcPts val="1395"/>
              </a:lnSpc>
              <a:buNone/>
            </a:pPr>
            <a:r>
              <a:rPr lang="en-US" sz="872" b="1" dirty="0">
                <a:solidFill>
                  <a:srgbClr val="1A1A1A"/>
                </a:solidFill>
                <a:latin typeface="Liberation Sans Narrow" pitchFamily="34" charset="0"/>
                <a:ea typeface="Liberation Sans Narrow" pitchFamily="34" charset="-122"/>
                <a:cs typeface="Liberation Sans Narrow" pitchFamily="34" charset="-120"/>
              </a:rPr>
              <a:t>40/40/20</a:t>
            </a:r>
            <a:pPr algn="l" indent="0" marL="0">
              <a:lnSpc>
                <a:spcPts val="1395"/>
              </a:lnSpc>
              <a:buNone/>
            </a:pPr>
            <a:r>
              <a:rPr lang="en-US" sz="872" dirty="0">
                <a:solidFill>
                  <a:srgbClr val="1A1A1A"/>
                </a:solidFill>
                <a:latin typeface="Carlito" pitchFamily="34" charset="0"/>
                <a:ea typeface="Carlito" pitchFamily="34" charset="-122"/>
                <a:cs typeface="Carlito" pitchFamily="34" charset="-120"/>
              </a:rPr>
              <a:t>.</a:t>
            </a:r>
            <a:endParaRPr lang="en-US" sz="872" dirty="0"/>
          </a:p>
        </p:txBody>
      </p:sp>
      <p:sp>
        <p:nvSpPr>
          <p:cNvPr id="5" name="Text 3"/>
          <p:cNvSpPr/>
          <p:nvPr/>
        </p:nvSpPr>
        <p:spPr>
          <a:xfrm>
            <a:off x="457200" y="1790067"/>
            <a:ext cx="2743200" cy="1208745"/>
          </a:xfrm>
          <a:prstGeom prst="roundRect">
            <a:avLst>
              <a:gd name="adj" fmla="val 9456"/>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6" name="Text 4"/>
          <p:cNvSpPr/>
          <p:nvPr/>
        </p:nvSpPr>
        <p:spPr>
          <a:xfrm>
            <a:off x="614363" y="2244365"/>
            <a:ext cx="300038" cy="300038"/>
          </a:xfrm>
          <a:prstGeom prst="roundRect">
            <a:avLst>
              <a:gd name="adj" fmla="val 38095"/>
            </a:avLst>
          </a:prstGeom>
          <a:solidFill>
            <a:srgbClr val="F64A8A">
              <a:alpha val="12000"/>
            </a:srgbClr>
          </a:solidFill>
          <a:ln/>
        </p:spPr>
        <p:txBody>
          <a:bodyPr wrap="square" rtlCol="0" anchor="ctr"/>
          <a:lstStyle/>
          <a:p>
            <a:pPr indent="0" marL="0">
              <a:buNone/>
            </a:pPr>
            <a:endParaRPr lang="en-US" dirty="0"/>
          </a:p>
        </p:txBody>
      </p:sp>
      <p:sp>
        <p:nvSpPr>
          <p:cNvPr id="7" name="Text 5"/>
          <p:cNvSpPr/>
          <p:nvPr/>
        </p:nvSpPr>
        <p:spPr>
          <a:xfrm>
            <a:off x="655618" y="2285620"/>
            <a:ext cx="217527" cy="217527"/>
          </a:xfrm>
          <a:prstGeom prst="rect">
            <a:avLst/>
          </a:prstGeom>
          <a:noFill/>
          <a:ln/>
        </p:spPr>
        <p:txBody>
          <a:bodyPr wrap="none" lIns="0" tIns="0" rIns="0" bIns="0" rtlCol="0" anchor="ctr"/>
          <a:lstStyle/>
          <a:p>
            <a:pPr algn="ctr" indent="0" marL="0">
              <a:buNone/>
            </a:pPr>
            <a:r>
              <a:rPr lang="en-US" sz="1477" dirty="0">
                <a:solidFill>
                  <a:srgbClr val="C92A6A"/>
                </a:solidFill>
                <a:latin typeface="Segoe UI Symbol" pitchFamily="34" charset="0"/>
                <a:ea typeface="Segoe UI Symbol" pitchFamily="34" charset="-122"/>
                <a:cs typeface="Segoe UI Symbol" pitchFamily="34" charset="-120"/>
              </a:rPr>
              <a:t>♥</a:t>
            </a:r>
            <a:endParaRPr lang="en-US" sz="1477" dirty="0"/>
          </a:p>
        </p:txBody>
      </p:sp>
      <p:sp>
        <p:nvSpPr>
          <p:cNvPr id="8" name="Text 6"/>
          <p:cNvSpPr/>
          <p:nvPr/>
        </p:nvSpPr>
        <p:spPr>
          <a:xfrm>
            <a:off x="1014413" y="2167570"/>
            <a:ext cx="2028825" cy="147590"/>
          </a:xfrm>
          <a:prstGeom prst="rect">
            <a:avLst/>
          </a:prstGeom>
          <a:noFill/>
          <a:ln/>
        </p:spPr>
        <p:txBody>
          <a:bodyPr wrap="none" lIns="0" tIns="0" rIns="0" bIns="0" rtlCol="0" anchor="t">
            <a:normAutofit/>
          </a:bodyPr>
          <a:lstStyle/>
          <a:p>
            <a:pPr algn="l" indent="0" marL="0">
              <a:lnSpc>
                <a:spcPts val="1097"/>
              </a:lnSpc>
              <a:buNone/>
            </a:pPr>
            <a:r>
              <a:rPr lang="en-US" sz="800" b="1" dirty="0">
                <a:solidFill>
                  <a:srgbClr val="1A1A1A"/>
                </a:solidFill>
                <a:latin typeface="Carlito" pitchFamily="34" charset="0"/>
                <a:ea typeface="Carlito" pitchFamily="34" charset="-122"/>
                <a:cs typeface="Carlito" pitchFamily="34" charset="-120"/>
              </a:rPr>
              <a:t>Честная лояльность</a:t>
            </a:r>
            <a:endParaRPr lang="en-US" sz="800" dirty="0"/>
          </a:p>
        </p:txBody>
      </p:sp>
      <p:sp>
        <p:nvSpPr>
          <p:cNvPr id="9" name="Text 7"/>
          <p:cNvSpPr/>
          <p:nvPr/>
        </p:nvSpPr>
        <p:spPr>
          <a:xfrm>
            <a:off x="1014413" y="2342592"/>
            <a:ext cx="2028825" cy="329184"/>
          </a:xfrm>
          <a:prstGeom prst="rect">
            <a:avLst/>
          </a:prstGeom>
          <a:noFill/>
          <a:ln/>
        </p:spPr>
        <p:txBody>
          <a:bodyPr wrap="square" lIns="0" tIns="0" rIns="0" bIns="0" rtlCol="0" anchor="t"/>
          <a:lstStyle/>
          <a:p>
            <a:pPr algn="l" indent="0" marL="0">
              <a:lnSpc>
                <a:spcPts val="1097"/>
              </a:lnSpc>
              <a:buNone/>
            </a:pPr>
            <a:r>
              <a:rPr lang="en-US" sz="800" dirty="0">
                <a:solidFill>
                  <a:srgbClr val="888888"/>
                </a:solidFill>
                <a:latin typeface="Carlito" pitchFamily="34" charset="0"/>
                <a:ea typeface="Carlito" pitchFamily="34" charset="-122"/>
                <a:cs typeface="Carlito" pitchFamily="34" charset="-120"/>
              </a:rPr>
              <a:t>1 балл = 1 ₽, баллы не сгорают и тратятся у всех точек района</a:t>
            </a:r>
            <a:endParaRPr lang="en-US" sz="800" dirty="0"/>
          </a:p>
        </p:txBody>
      </p:sp>
      <p:sp>
        <p:nvSpPr>
          <p:cNvPr id="10" name="Text 8"/>
          <p:cNvSpPr/>
          <p:nvPr/>
        </p:nvSpPr>
        <p:spPr>
          <a:xfrm>
            <a:off x="3314700" y="1790067"/>
            <a:ext cx="2743200" cy="1208745"/>
          </a:xfrm>
          <a:prstGeom prst="roundRect">
            <a:avLst>
              <a:gd name="adj" fmla="val 9456"/>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1" name="Text 9"/>
          <p:cNvSpPr/>
          <p:nvPr/>
        </p:nvSpPr>
        <p:spPr>
          <a:xfrm>
            <a:off x="3471863" y="2244365"/>
            <a:ext cx="300038" cy="300038"/>
          </a:xfrm>
          <a:prstGeom prst="roundRect">
            <a:avLst>
              <a:gd name="adj" fmla="val 38095"/>
            </a:avLst>
          </a:prstGeom>
          <a:solidFill>
            <a:srgbClr val="0ABAB5">
              <a:alpha val="10000"/>
            </a:srgbClr>
          </a:solidFill>
          <a:ln/>
        </p:spPr>
        <p:txBody>
          <a:bodyPr wrap="square" rtlCol="0" anchor="ctr"/>
          <a:lstStyle/>
          <a:p>
            <a:pPr indent="0" marL="0">
              <a:buNone/>
            </a:pPr>
            <a:endParaRPr lang="en-US" dirty="0"/>
          </a:p>
        </p:txBody>
      </p:sp>
      <p:sp>
        <p:nvSpPr>
          <p:cNvPr id="12" name="Text 10"/>
          <p:cNvSpPr/>
          <p:nvPr/>
        </p:nvSpPr>
        <p:spPr>
          <a:xfrm>
            <a:off x="3513118" y="2285620"/>
            <a:ext cx="217527" cy="217527"/>
          </a:xfrm>
          <a:prstGeom prst="rect">
            <a:avLst/>
          </a:prstGeom>
          <a:noFill/>
          <a:ln/>
        </p:spPr>
        <p:txBody>
          <a:bodyPr wrap="none" lIns="0" tIns="0" rIns="0" bIns="0" rtlCol="0" anchor="ctr"/>
          <a:lstStyle/>
          <a:p>
            <a:pPr algn="ctr" indent="0" marL="0">
              <a:buNone/>
            </a:pPr>
            <a:r>
              <a:rPr lang="en-US" sz="1477" dirty="0">
                <a:solidFill>
                  <a:srgbClr val="07807C"/>
                </a:solidFill>
                <a:latin typeface="Segoe UI Symbol" pitchFamily="34" charset="0"/>
                <a:ea typeface="Segoe UI Symbol" pitchFamily="34" charset="-122"/>
                <a:cs typeface="Segoe UI Symbol" pitchFamily="34" charset="-120"/>
              </a:rPr>
              <a:t>↘</a:t>
            </a:r>
            <a:endParaRPr lang="en-US" sz="1477" dirty="0"/>
          </a:p>
        </p:txBody>
      </p:sp>
      <p:sp>
        <p:nvSpPr>
          <p:cNvPr id="13" name="Text 11"/>
          <p:cNvSpPr/>
          <p:nvPr/>
        </p:nvSpPr>
        <p:spPr>
          <a:xfrm>
            <a:off x="3871913" y="2167570"/>
            <a:ext cx="2028825" cy="147590"/>
          </a:xfrm>
          <a:prstGeom prst="rect">
            <a:avLst/>
          </a:prstGeom>
          <a:noFill/>
          <a:ln/>
        </p:spPr>
        <p:txBody>
          <a:bodyPr wrap="none" lIns="0" tIns="0" rIns="0" bIns="0" rtlCol="0" anchor="t">
            <a:normAutofit/>
          </a:bodyPr>
          <a:lstStyle/>
          <a:p>
            <a:pPr algn="l" indent="0" marL="0">
              <a:lnSpc>
                <a:spcPts val="1097"/>
              </a:lnSpc>
              <a:buNone/>
            </a:pPr>
            <a:r>
              <a:rPr lang="en-US" sz="800" b="1" dirty="0">
                <a:solidFill>
                  <a:srgbClr val="1A1A1A"/>
                </a:solidFill>
                <a:latin typeface="Carlito" pitchFamily="34" charset="0"/>
                <a:ea typeface="Carlito" pitchFamily="34" charset="-122"/>
                <a:cs typeface="Carlito" pitchFamily="34" charset="-120"/>
              </a:rPr>
              <a:t>Дешевле федералов</a:t>
            </a:r>
            <a:endParaRPr lang="en-US" sz="800" dirty="0"/>
          </a:p>
        </p:txBody>
      </p:sp>
      <p:sp>
        <p:nvSpPr>
          <p:cNvPr id="14" name="Text 12"/>
          <p:cNvSpPr/>
          <p:nvPr/>
        </p:nvSpPr>
        <p:spPr>
          <a:xfrm>
            <a:off x="3871913" y="2342592"/>
            <a:ext cx="2028825" cy="329184"/>
          </a:xfrm>
          <a:prstGeom prst="rect">
            <a:avLst/>
          </a:prstGeom>
          <a:noFill/>
          <a:ln/>
        </p:spPr>
        <p:txBody>
          <a:bodyPr wrap="square" lIns="0" tIns="0" rIns="0" bIns="0" rtlCol="0" anchor="t"/>
          <a:lstStyle/>
          <a:p>
            <a:pPr algn="l" indent="0" marL="0">
              <a:lnSpc>
                <a:spcPts val="1097"/>
              </a:lnSpc>
              <a:buNone/>
            </a:pPr>
            <a:r>
              <a:rPr lang="en-US" sz="800" dirty="0">
                <a:solidFill>
                  <a:srgbClr val="888888"/>
                </a:solidFill>
                <a:latin typeface="Carlito" pitchFamily="34" charset="0"/>
                <a:ea typeface="Carlito" pitchFamily="34" charset="-122"/>
                <a:cs typeface="Carlito" pitchFamily="34" charset="-120"/>
              </a:rPr>
              <a:t>нагрузка на точку ~10% против 20–45% у агрегаторов</a:t>
            </a:r>
            <a:endParaRPr lang="en-US" sz="800" dirty="0"/>
          </a:p>
        </p:txBody>
      </p:sp>
      <p:sp>
        <p:nvSpPr>
          <p:cNvPr id="15" name="Text 13"/>
          <p:cNvSpPr/>
          <p:nvPr/>
        </p:nvSpPr>
        <p:spPr>
          <a:xfrm>
            <a:off x="457200" y="3113112"/>
            <a:ext cx="2743200" cy="1208856"/>
          </a:xfrm>
          <a:prstGeom prst="roundRect">
            <a:avLst>
              <a:gd name="adj" fmla="val 9455"/>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6" name="Text 14"/>
          <p:cNvSpPr/>
          <p:nvPr/>
        </p:nvSpPr>
        <p:spPr>
          <a:xfrm>
            <a:off x="614363" y="3567522"/>
            <a:ext cx="300038" cy="300038"/>
          </a:xfrm>
          <a:prstGeom prst="roundRect">
            <a:avLst>
              <a:gd name="adj" fmla="val 38095"/>
            </a:avLst>
          </a:prstGeom>
          <a:solidFill>
            <a:srgbClr val="D4A854">
              <a:alpha val="14000"/>
            </a:srgbClr>
          </a:solidFill>
          <a:ln/>
        </p:spPr>
        <p:txBody>
          <a:bodyPr wrap="square" rtlCol="0" anchor="ctr"/>
          <a:lstStyle/>
          <a:p>
            <a:pPr indent="0" marL="0">
              <a:buNone/>
            </a:pPr>
            <a:endParaRPr lang="en-US" dirty="0"/>
          </a:p>
        </p:txBody>
      </p:sp>
      <p:sp>
        <p:nvSpPr>
          <p:cNvPr id="17" name="Text 15"/>
          <p:cNvSpPr/>
          <p:nvPr/>
        </p:nvSpPr>
        <p:spPr>
          <a:xfrm>
            <a:off x="655618" y="3608777"/>
            <a:ext cx="217527" cy="217527"/>
          </a:xfrm>
          <a:prstGeom prst="rect">
            <a:avLst/>
          </a:prstGeom>
          <a:noFill/>
          <a:ln/>
        </p:spPr>
        <p:txBody>
          <a:bodyPr wrap="none" lIns="0" tIns="0" rIns="0" bIns="0" rtlCol="0" anchor="ctr"/>
          <a:lstStyle/>
          <a:p>
            <a:pPr algn="ctr" indent="0" marL="0">
              <a:buNone/>
            </a:pPr>
            <a:r>
              <a:rPr lang="en-US" sz="1477" dirty="0">
                <a:solidFill>
                  <a:srgbClr val="8A6A25"/>
                </a:solidFill>
                <a:latin typeface="Segoe UI Symbol" pitchFamily="34" charset="0"/>
                <a:ea typeface="Segoe UI Symbol" pitchFamily="34" charset="-122"/>
                <a:cs typeface="Segoe UI Symbol" pitchFamily="34" charset="-120"/>
              </a:rPr>
              <a:t>🏪</a:t>
            </a:r>
            <a:endParaRPr lang="en-US" sz="1477" dirty="0"/>
          </a:p>
        </p:txBody>
      </p:sp>
      <p:sp>
        <p:nvSpPr>
          <p:cNvPr id="18" name="Text 16"/>
          <p:cNvSpPr/>
          <p:nvPr/>
        </p:nvSpPr>
        <p:spPr>
          <a:xfrm>
            <a:off x="1014413" y="3490726"/>
            <a:ext cx="2028825" cy="147590"/>
          </a:xfrm>
          <a:prstGeom prst="rect">
            <a:avLst/>
          </a:prstGeom>
          <a:noFill/>
          <a:ln/>
        </p:spPr>
        <p:txBody>
          <a:bodyPr wrap="none" lIns="0" tIns="0" rIns="0" bIns="0" rtlCol="0" anchor="t">
            <a:normAutofit/>
          </a:bodyPr>
          <a:lstStyle/>
          <a:p>
            <a:pPr algn="l" indent="0" marL="0">
              <a:lnSpc>
                <a:spcPts val="1097"/>
              </a:lnSpc>
              <a:buNone/>
            </a:pPr>
            <a:r>
              <a:rPr lang="en-US" sz="800" b="1" dirty="0">
                <a:solidFill>
                  <a:srgbClr val="1A1A1A"/>
                </a:solidFill>
                <a:latin typeface="Carlito" pitchFamily="34" charset="0"/>
                <a:ea typeface="Carlito" pitchFamily="34" charset="-122"/>
                <a:cs typeface="Carlito" pitchFamily="34" charset="-120"/>
              </a:rPr>
              <a:t>Агрегируем локальное</a:t>
            </a:r>
            <a:endParaRPr lang="en-US" sz="800" dirty="0"/>
          </a:p>
        </p:txBody>
      </p:sp>
      <p:sp>
        <p:nvSpPr>
          <p:cNvPr id="19" name="Text 17"/>
          <p:cNvSpPr/>
          <p:nvPr/>
        </p:nvSpPr>
        <p:spPr>
          <a:xfrm>
            <a:off x="1014413" y="3665748"/>
            <a:ext cx="2028825" cy="329184"/>
          </a:xfrm>
          <a:prstGeom prst="rect">
            <a:avLst/>
          </a:prstGeom>
          <a:noFill/>
          <a:ln/>
        </p:spPr>
        <p:txBody>
          <a:bodyPr wrap="square" lIns="0" tIns="0" rIns="0" bIns="0" rtlCol="0" anchor="t"/>
          <a:lstStyle/>
          <a:p>
            <a:pPr algn="l" indent="0" marL="0">
              <a:lnSpc>
                <a:spcPts val="1097"/>
              </a:lnSpc>
              <a:buNone/>
            </a:pPr>
            <a:r>
              <a:rPr lang="en-US" sz="800" dirty="0">
                <a:solidFill>
                  <a:srgbClr val="888888"/>
                </a:solidFill>
                <a:latin typeface="Carlito" pitchFamily="34" charset="0"/>
                <a:ea typeface="Carlito" pitchFamily="34" charset="-122"/>
                <a:cs typeface="Carlito" pitchFamily="34" charset="-120"/>
              </a:rPr>
              <a:t>свои точки, свои акции, свои баллы — вокруг района и города</a:t>
            </a:r>
            <a:endParaRPr lang="en-US" sz="800" dirty="0"/>
          </a:p>
        </p:txBody>
      </p:sp>
      <p:sp>
        <p:nvSpPr>
          <p:cNvPr id="20" name="Text 18"/>
          <p:cNvSpPr/>
          <p:nvPr/>
        </p:nvSpPr>
        <p:spPr>
          <a:xfrm>
            <a:off x="3314700" y="3113112"/>
            <a:ext cx="2743200" cy="1208856"/>
          </a:xfrm>
          <a:prstGeom prst="roundRect">
            <a:avLst>
              <a:gd name="adj" fmla="val 9455"/>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1" name="Text 19"/>
          <p:cNvSpPr/>
          <p:nvPr/>
        </p:nvSpPr>
        <p:spPr>
          <a:xfrm>
            <a:off x="3471863" y="3567522"/>
            <a:ext cx="300038" cy="300038"/>
          </a:xfrm>
          <a:prstGeom prst="roundRect">
            <a:avLst>
              <a:gd name="adj" fmla="val 38095"/>
            </a:avLst>
          </a:prstGeom>
          <a:solidFill>
            <a:srgbClr val="1A1A1A">
              <a:alpha val="6000"/>
            </a:srgbClr>
          </a:solidFill>
          <a:ln/>
        </p:spPr>
        <p:txBody>
          <a:bodyPr wrap="square" rtlCol="0" anchor="ctr"/>
          <a:lstStyle/>
          <a:p>
            <a:pPr indent="0" marL="0">
              <a:buNone/>
            </a:pPr>
            <a:endParaRPr lang="en-US" dirty="0"/>
          </a:p>
        </p:txBody>
      </p:sp>
      <p:sp>
        <p:nvSpPr>
          <p:cNvPr id="22" name="Text 20"/>
          <p:cNvSpPr/>
          <p:nvPr/>
        </p:nvSpPr>
        <p:spPr>
          <a:xfrm>
            <a:off x="3513118" y="3608777"/>
            <a:ext cx="217527" cy="217527"/>
          </a:xfrm>
          <a:prstGeom prst="rect">
            <a:avLst/>
          </a:prstGeom>
          <a:noFill/>
          <a:ln/>
        </p:spPr>
        <p:txBody>
          <a:bodyPr wrap="none" lIns="0" tIns="0" rIns="0" bIns="0" rtlCol="0" anchor="ctr"/>
          <a:lstStyle/>
          <a:p>
            <a:pPr algn="ctr" indent="0" marL="0">
              <a:buNone/>
            </a:pPr>
            <a:r>
              <a:rPr lang="en-US" sz="1477" dirty="0">
                <a:solidFill>
                  <a:srgbClr val="1A1A1A"/>
                </a:solidFill>
                <a:latin typeface="Segoe UI Symbol" pitchFamily="34" charset="0"/>
                <a:ea typeface="Segoe UI Symbol" pitchFamily="34" charset="-122"/>
                <a:cs typeface="Segoe UI Symbol" pitchFamily="34" charset="-120"/>
              </a:rPr>
              <a:t>⚿</a:t>
            </a:r>
            <a:endParaRPr lang="en-US" sz="1477" dirty="0"/>
          </a:p>
        </p:txBody>
      </p:sp>
      <p:sp>
        <p:nvSpPr>
          <p:cNvPr id="23" name="Text 21"/>
          <p:cNvSpPr/>
          <p:nvPr/>
        </p:nvSpPr>
        <p:spPr>
          <a:xfrm>
            <a:off x="3871913" y="3490726"/>
            <a:ext cx="2028825" cy="147590"/>
          </a:xfrm>
          <a:prstGeom prst="rect">
            <a:avLst/>
          </a:prstGeom>
          <a:noFill/>
          <a:ln/>
        </p:spPr>
        <p:txBody>
          <a:bodyPr wrap="none" lIns="0" tIns="0" rIns="0" bIns="0" rtlCol="0" anchor="t">
            <a:normAutofit/>
          </a:bodyPr>
          <a:lstStyle/>
          <a:p>
            <a:pPr algn="l" indent="0" marL="0">
              <a:lnSpc>
                <a:spcPts val="1097"/>
              </a:lnSpc>
              <a:buNone/>
            </a:pPr>
            <a:r>
              <a:rPr lang="en-US" sz="800" b="1" dirty="0">
                <a:solidFill>
                  <a:srgbClr val="1A1A1A"/>
                </a:solidFill>
                <a:latin typeface="Carlito" pitchFamily="34" charset="0"/>
                <a:ea typeface="Carlito" pitchFamily="34" charset="-122"/>
                <a:cs typeface="Carlito" pitchFamily="34" charset="-120"/>
              </a:rPr>
              <a:t>Приватность</a:t>
            </a:r>
            <a:endParaRPr lang="en-US" sz="800" dirty="0"/>
          </a:p>
        </p:txBody>
      </p:sp>
      <p:sp>
        <p:nvSpPr>
          <p:cNvPr id="24" name="Text 22"/>
          <p:cNvSpPr/>
          <p:nvPr/>
        </p:nvSpPr>
        <p:spPr>
          <a:xfrm>
            <a:off x="3871913" y="3665748"/>
            <a:ext cx="2028825" cy="329184"/>
          </a:xfrm>
          <a:prstGeom prst="rect">
            <a:avLst/>
          </a:prstGeom>
          <a:noFill/>
          <a:ln/>
        </p:spPr>
        <p:txBody>
          <a:bodyPr wrap="square" lIns="0" tIns="0" rIns="0" bIns="0" rtlCol="0" anchor="t"/>
          <a:lstStyle/>
          <a:p>
            <a:pPr algn="l" indent="0" marL="0">
              <a:lnSpc>
                <a:spcPts val="1097"/>
              </a:lnSpc>
              <a:buNone/>
            </a:pPr>
            <a:r>
              <a:rPr lang="en-US" sz="800" dirty="0">
                <a:solidFill>
                  <a:srgbClr val="888888"/>
                </a:solidFill>
                <a:latin typeface="Carlito" pitchFamily="34" charset="0"/>
                <a:ea typeface="Carlito" pitchFamily="34" charset="-122"/>
                <a:cs typeface="Carlito" pitchFamily="34" charset="-120"/>
              </a:rPr>
              <a:t>сайт не собирает и не хранит персональные данные</a:t>
            </a:r>
            <a:endParaRPr lang="en-US" sz="800" dirty="0"/>
          </a:p>
        </p:txBody>
      </p:sp>
      <p:sp>
        <p:nvSpPr>
          <p:cNvPr id="25" name="Text 23"/>
          <p:cNvSpPr/>
          <p:nvPr/>
        </p:nvSpPr>
        <p:spPr>
          <a:xfrm>
            <a:off x="6257925" y="1101477"/>
            <a:ext cx="2428875" cy="3220492"/>
          </a:xfrm>
          <a:prstGeom prst="roundRect">
            <a:avLst>
              <a:gd name="adj" fmla="val 4706"/>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6" name="Shape 24"/>
          <p:cNvSpPr/>
          <p:nvPr/>
        </p:nvSpPr>
        <p:spPr>
          <a:xfrm>
            <a:off x="6272213" y="1101477"/>
            <a:ext cx="0" cy="3220492"/>
          </a:xfrm>
          <a:prstGeom prst="line">
            <a:avLst/>
          </a:prstGeom>
          <a:noFill/>
          <a:ln w="28575">
            <a:solidFill>
              <a:srgbClr val="F64A8A"/>
            </a:solidFill>
            <a:prstDash val="solid"/>
          </a:ln>
        </p:spPr>
      </p:sp>
      <p:sp>
        <p:nvSpPr>
          <p:cNvPr id="27" name="Text 25"/>
          <p:cNvSpPr/>
          <p:nvPr/>
        </p:nvSpPr>
        <p:spPr>
          <a:xfrm>
            <a:off x="8043863" y="1201489"/>
            <a:ext cx="557213" cy="557213"/>
          </a:xfrm>
          <a:prstGeom prst="rect">
            <a:avLst/>
          </a:prstGeom>
          <a:noFill/>
          <a:ln/>
        </p:spPr>
        <p:txBody>
          <a:bodyPr wrap="none" lIns="0" tIns="0" rIns="0" bIns="0" rtlCol="0" anchor="ctr"/>
          <a:lstStyle/>
          <a:p>
            <a:pPr algn="ctr" indent="0" marL="0">
              <a:buNone/>
            </a:pPr>
            <a:r>
              <a:rPr lang="en-US" sz="4800" dirty="0">
                <a:solidFill>
                  <a:srgbClr val="F64A8A"/>
                </a:solidFill>
                <a:latin typeface="Segoe UI Symbol" pitchFamily="34" charset="0"/>
                <a:ea typeface="Segoe UI Symbol" pitchFamily="34" charset="-122"/>
                <a:cs typeface="Segoe UI Symbol" pitchFamily="34" charset="-120"/>
              </a:rPr>
              <a:t>“</a:t>
            </a:r>
            <a:endParaRPr lang="en-US" sz="4800" dirty="0"/>
          </a:p>
        </p:txBody>
      </p:sp>
      <p:sp>
        <p:nvSpPr>
          <p:cNvPr id="28" name="Text 26"/>
          <p:cNvSpPr/>
          <p:nvPr/>
        </p:nvSpPr>
        <p:spPr>
          <a:xfrm>
            <a:off x="6500813" y="2335671"/>
            <a:ext cx="1971675" cy="812271"/>
          </a:xfrm>
          <a:prstGeom prst="rect">
            <a:avLst/>
          </a:prstGeom>
          <a:noFill/>
          <a:ln/>
        </p:spPr>
        <p:txBody>
          <a:bodyPr wrap="square" lIns="0" tIns="0" rIns="0" bIns="0" rtlCol="0" anchor="t"/>
          <a:lstStyle/>
          <a:p>
            <a:pPr algn="l" indent="0" marL="0">
              <a:lnSpc>
                <a:spcPts val="1974"/>
              </a:lnSpc>
              <a:buNone/>
            </a:pPr>
            <a:r>
              <a:rPr lang="en-US" sz="1463" b="1" spc="-15" kern="0" dirty="0">
                <a:solidFill>
                  <a:srgbClr val="1A1A1A"/>
                </a:solidFill>
                <a:latin typeface="Carlito" pitchFamily="34" charset="0"/>
                <a:ea typeface="Carlito" pitchFamily="34" charset="-122"/>
                <a:cs typeface="Carlito" pitchFamily="34" charset="-120"/>
              </a:rPr>
              <a:t>Район зарабатывает вместе — а не платит агрегаторам</a:t>
            </a:r>
            <a:endParaRPr lang="en-US" sz="1463" dirty="0"/>
          </a:p>
        </p:txBody>
      </p:sp>
      <p:sp>
        <p:nvSpPr>
          <p:cNvPr id="29" name="Shape 27"/>
          <p:cNvSpPr/>
          <p:nvPr/>
        </p:nvSpPr>
        <p:spPr>
          <a:xfrm>
            <a:off x="457200" y="4482703"/>
            <a:ext cx="8229600" cy="0"/>
          </a:xfrm>
          <a:prstGeom prst="line">
            <a:avLst/>
          </a:prstGeom>
          <a:noFill/>
          <a:ln w="7144">
            <a:solidFill>
              <a:srgbClr val="1A1A1A"/>
            </a:solidFill>
            <a:prstDash val="solid"/>
          </a:ln>
        </p:spPr>
      </p:sp>
      <p:sp>
        <p:nvSpPr>
          <p:cNvPr id="30" name="Text 28"/>
          <p:cNvSpPr/>
          <p:nvPr/>
        </p:nvSpPr>
        <p:spPr>
          <a:xfrm>
            <a:off x="457200" y="4600575"/>
            <a:ext cx="142875" cy="142875"/>
          </a:xfrm>
          <a:prstGeom prst="rect">
            <a:avLst/>
          </a:prstGeom>
          <a:noFill/>
          <a:ln/>
        </p:spPr>
        <p:txBody>
          <a:bodyPr wrap="none" lIns="0" tIns="0" rIns="0" bIns="0" rtlCol="0" anchor="ctr"/>
          <a:lstStyle/>
          <a:p>
            <a:pPr algn="ctr" indent="0" marL="0">
              <a:buNone/>
            </a:pPr>
            <a:r>
              <a:rPr lang="en-US" sz="1406" dirty="0">
                <a:solidFill>
                  <a:srgbClr val="D4A854"/>
                </a:solidFill>
                <a:latin typeface="Segoe UI Symbol" pitchFamily="34" charset="0"/>
                <a:ea typeface="Segoe UI Symbol" pitchFamily="34" charset="-122"/>
                <a:cs typeface="Segoe UI Symbol" pitchFamily="34" charset="-120"/>
              </a:rPr>
              <a:t>◆</a:t>
            </a:r>
            <a:endParaRPr lang="en-US" sz="1406" dirty="0"/>
          </a:p>
        </p:txBody>
      </p:sp>
      <p:sp>
        <p:nvSpPr>
          <p:cNvPr id="31" name="Text 29"/>
          <p:cNvSpPr/>
          <p:nvPr/>
        </p:nvSpPr>
        <p:spPr>
          <a:xfrm>
            <a:off x="671513" y="4602361"/>
            <a:ext cx="8015288" cy="141089"/>
          </a:xfrm>
          <a:prstGeom prst="rect">
            <a:avLst/>
          </a:prstGeom>
          <a:noFill/>
          <a:ln/>
        </p:spPr>
        <p:txBody>
          <a:bodyPr wrap="square" lIns="0" tIns="0" rIns="0" bIns="0" rtlCol="0" anchor="t"/>
          <a:lstStyle/>
          <a:p>
            <a:pPr algn="l" indent="0" marL="0">
              <a:lnSpc>
                <a:spcPts val="1097"/>
              </a:lnSpc>
              <a:buNone/>
            </a:pPr>
            <a:r>
              <a:rPr lang="en-US" sz="800" b="1" dirty="0">
                <a:solidFill>
                  <a:srgbClr val="1A1A1A"/>
                </a:solidFill>
                <a:latin typeface="Carlito" pitchFamily="34" charset="0"/>
                <a:ea typeface="Carlito" pitchFamily="34" charset="-122"/>
                <a:cs typeface="Carlito" pitchFamily="34" charset="-120"/>
              </a:rPr>
              <a:t>Вывод:</a:t>
            </a:r>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 каждый промт этого гайда передаёт тепло, локальность и честность — три главных чувства бренда.</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72188" y="2357438"/>
            <a:ext cx="4143375" cy="4143375"/>
          </a:xfrm>
          <a:prstGeom prst="roundRect">
            <a:avLst>
              <a:gd name="adj" fmla="val 229655"/>
            </a:avLst>
          </a:prstGeom>
          <a:solidFill>
            <a:srgbClr val="F64A8A">
              <a:alpha val="6000"/>
            </a:srgbClr>
          </a:solidFill>
          <a:ln/>
        </p:spPr>
        <p:txBody>
          <a:bodyPr wrap="square" rtlCol="0" anchor="ctr"/>
          <a:lstStyle/>
          <a:p>
            <a:pPr indent="0" marL="0">
              <a:buNone/>
            </a:pPr>
            <a:endParaRPr lang="en-US" dirty="0"/>
          </a:p>
        </p:txBody>
      </p:sp>
      <p:sp>
        <p:nvSpPr>
          <p:cNvPr id="3" name="Text 1"/>
          <p:cNvSpPr/>
          <p:nvPr/>
        </p:nvSpPr>
        <p:spPr>
          <a:xfrm>
            <a:off x="6600825" y="-857250"/>
            <a:ext cx="1857375" cy="1857375"/>
          </a:xfrm>
          <a:prstGeom prst="roundRect">
            <a:avLst>
              <a:gd name="adj" fmla="val 512308"/>
            </a:avLst>
          </a:prstGeom>
          <a:solidFill>
            <a:srgbClr val="0ABAB5">
              <a:alpha val="5000"/>
            </a:srgbClr>
          </a:solidFill>
          <a:ln/>
        </p:spPr>
        <p:txBody>
          <a:bodyPr wrap="square" rtlCol="0" anchor="ctr"/>
          <a:lstStyle/>
          <a:p>
            <a:pPr indent="0" marL="0">
              <a:buNone/>
            </a:pPr>
            <a:endParaRPr lang="en-US" dirty="0"/>
          </a:p>
        </p:txBody>
      </p:sp>
      <p:sp>
        <p:nvSpPr>
          <p:cNvPr id="4" name="Text 2"/>
          <p:cNvSpPr/>
          <p:nvPr/>
        </p:nvSpPr>
        <p:spPr>
          <a:xfrm>
            <a:off x="1278796" y="742950"/>
            <a:ext cx="3367792" cy="2005965"/>
          </a:xfrm>
          <a:prstGeom prst="rect">
            <a:avLst/>
          </a:prstGeom>
          <a:noFill/>
          <a:ln/>
        </p:spPr>
        <p:txBody>
          <a:bodyPr wrap="square" lIns="0" tIns="0" rIns="0" bIns="0" rtlCol="0" anchor="t"/>
          <a:lstStyle/>
          <a:p>
            <a:pPr algn="l" indent="0" marL="0">
              <a:lnSpc>
                <a:spcPts val="14625"/>
              </a:lnSpc>
              <a:buNone/>
            </a:pPr>
            <a:r>
              <a:rPr lang="en-US" sz="14625" b="1" spc="-585" kern="0" dirty="0">
                <a:solidFill>
                  <a:srgbClr val="F64A8A">
                    <a:alpha val="14000"/>
                  </a:srgbClr>
                </a:solidFill>
                <a:latin typeface="Liberation Sans Narrow" pitchFamily="34" charset="0"/>
                <a:ea typeface="Liberation Sans Narrow" pitchFamily="34" charset="-122"/>
                <a:cs typeface="Liberation Sans Narrow" pitchFamily="34" charset="-120"/>
              </a:rPr>
              <a:t>01</a:t>
            </a:r>
            <a:endParaRPr lang="en-US" sz="14625" dirty="0"/>
          </a:p>
        </p:txBody>
      </p:sp>
      <p:sp>
        <p:nvSpPr>
          <p:cNvPr id="5" name="Text 3"/>
          <p:cNvSpPr/>
          <p:nvPr/>
        </p:nvSpPr>
        <p:spPr>
          <a:xfrm>
            <a:off x="434340" y="417266"/>
            <a:ext cx="911007" cy="212027"/>
          </a:xfrm>
          <a:prstGeom prst="roundRect">
            <a:avLst>
              <a:gd name="adj" fmla="val 4487860"/>
            </a:avLst>
          </a:prstGeom>
          <a:solidFill>
            <a:srgbClr val="F64A8A">
              <a:alpha val="12000"/>
            </a:srgbClr>
          </a:solidFill>
          <a:ln/>
        </p:spPr>
        <p:txBody>
          <a:bodyPr wrap="square" rtlCol="0" anchor="ctr"/>
          <a:lstStyle/>
          <a:p>
            <a:pPr indent="0" marL="0">
              <a:buNone/>
            </a:pPr>
            <a:endParaRPr lang="en-US" dirty="0"/>
          </a:p>
        </p:txBody>
      </p:sp>
      <p:sp>
        <p:nvSpPr>
          <p:cNvPr id="6" name="Text 4"/>
          <p:cNvSpPr/>
          <p:nvPr/>
        </p:nvSpPr>
        <p:spPr>
          <a:xfrm>
            <a:off x="457200" y="428625"/>
            <a:ext cx="865287" cy="189309"/>
          </a:xfrm>
          <a:prstGeom prst="rect">
            <a:avLst/>
          </a:prstGeom>
          <a:noFill/>
          <a:ln/>
        </p:spPr>
        <p:txBody>
          <a:bodyPr wrap="none" lIns="0" tIns="0" rIns="0" bIns="0" rtlCol="0" anchor="ctr"/>
          <a:lstStyle/>
          <a:p>
            <a:pPr algn="ctr" indent="0" marL="0">
              <a:lnSpc>
                <a:spcPts val="928"/>
              </a:lnSpc>
              <a:buNone/>
            </a:pPr>
            <a:r>
              <a:rPr lang="en-US" sz="800" b="1" spc="50" kern="0" dirty="0">
                <a:solidFill>
                  <a:srgbClr val="C92A6A"/>
                </a:solidFill>
                <a:latin typeface="Carlito" pitchFamily="34" charset="0"/>
                <a:ea typeface="Carlito" pitchFamily="34" charset="-122"/>
                <a:cs typeface="Carlito" pitchFamily="34" charset="-120"/>
              </a:rPr>
              <a:t>РАЗДЕЛ 01 / 04</a:t>
            </a:r>
            <a:endParaRPr lang="en-US" sz="800" dirty="0"/>
          </a:p>
        </p:txBody>
      </p:sp>
      <p:sp>
        <p:nvSpPr>
          <p:cNvPr id="7" name="Text 5"/>
          <p:cNvSpPr/>
          <p:nvPr/>
        </p:nvSpPr>
        <p:spPr>
          <a:xfrm>
            <a:off x="457200" y="2028825"/>
            <a:ext cx="8612505" cy="458214"/>
          </a:xfrm>
          <a:prstGeom prst="rect">
            <a:avLst/>
          </a:prstGeom>
          <a:noFill/>
          <a:ln/>
        </p:spPr>
        <p:txBody>
          <a:bodyPr wrap="square" lIns="0" tIns="0" rIns="0" bIns="0" rtlCol="0" anchor="t"/>
          <a:lstStyle/>
          <a:p>
            <a:pPr algn="l" indent="0" marL="0">
              <a:lnSpc>
                <a:spcPts val="3341"/>
              </a:lnSpc>
              <a:buNone/>
            </a:pPr>
            <a:r>
              <a:rPr lang="en-US" sz="3038" b="1" spc="-76" kern="0" dirty="0">
                <a:solidFill>
                  <a:srgbClr val="1A1A1A"/>
                </a:solidFill>
                <a:latin typeface="Carlito" pitchFamily="34" charset="0"/>
                <a:ea typeface="Carlito" pitchFamily="34" charset="-122"/>
                <a:cs typeface="Carlito" pitchFamily="34" charset="-120"/>
              </a:rPr>
              <a:t>Основы промт-инжиниринга</a:t>
            </a:r>
            <a:endParaRPr lang="en-US" sz="3038" dirty="0"/>
          </a:p>
        </p:txBody>
      </p:sp>
      <p:sp>
        <p:nvSpPr>
          <p:cNvPr id="8" name="Text 6"/>
          <p:cNvSpPr/>
          <p:nvPr/>
        </p:nvSpPr>
        <p:spPr>
          <a:xfrm>
            <a:off x="457200" y="2610259"/>
            <a:ext cx="5143500" cy="454235"/>
          </a:xfrm>
          <a:prstGeom prst="rect">
            <a:avLst/>
          </a:prstGeom>
          <a:noFill/>
          <a:ln/>
        </p:spPr>
        <p:txBody>
          <a:bodyPr wrap="square" lIns="0" tIns="0" rIns="0" bIns="0" rtlCol="0" anchor="t"/>
          <a:lstStyle/>
          <a:p>
            <a:pPr algn="l" indent="0" marL="0">
              <a:lnSpc>
                <a:spcPts val="1657"/>
              </a:lnSpc>
              <a:buNone/>
            </a:pPr>
            <a:r>
              <a:rPr lang="en-US" sz="1069" dirty="0">
                <a:solidFill>
                  <a:srgbClr val="888888"/>
                </a:solidFill>
                <a:latin typeface="Carlito" pitchFamily="34" charset="0"/>
                <a:ea typeface="Carlito" pitchFamily="34" charset="-122"/>
                <a:cs typeface="Carlito" pitchFamily="34" charset="-120"/>
              </a:rPr>
              <a:t>Анатомия промта, шесть правил визуального языка и фирменная палитра LOVII — фундамент, на котором строятся все сценарии генерации.</a:t>
            </a:r>
            <a:endParaRPr lang="en-US" sz="1069" dirty="0"/>
          </a:p>
        </p:txBody>
      </p:sp>
      <p:sp>
        <p:nvSpPr>
          <p:cNvPr id="9" name="Text 7"/>
          <p:cNvSpPr/>
          <p:nvPr/>
        </p:nvSpPr>
        <p:spPr>
          <a:xfrm>
            <a:off x="457200" y="4657725"/>
            <a:ext cx="2003822" cy="42863"/>
          </a:xfrm>
          <a:prstGeom prst="roundRect">
            <a:avLst>
              <a:gd name="adj" fmla="val 22199741"/>
            </a:avLst>
          </a:prstGeom>
          <a:solidFill>
            <a:srgbClr val="F64A8A"/>
          </a:solidFill>
          <a:ln/>
        </p:spPr>
        <p:txBody>
          <a:bodyPr wrap="square" rtlCol="0" anchor="ctr"/>
          <a:lstStyle/>
          <a:p>
            <a:pPr indent="0" marL="0">
              <a:buNone/>
            </a:pPr>
            <a:endParaRPr lang="en-US" dirty="0"/>
          </a:p>
        </p:txBody>
      </p:sp>
      <p:sp>
        <p:nvSpPr>
          <p:cNvPr id="10" name="Text 8"/>
          <p:cNvSpPr/>
          <p:nvPr/>
        </p:nvSpPr>
        <p:spPr>
          <a:xfrm>
            <a:off x="2532459" y="4657725"/>
            <a:ext cx="2003822" cy="42863"/>
          </a:xfrm>
          <a:prstGeom prst="roundRect">
            <a:avLst>
              <a:gd name="adj" fmla="val 22199741"/>
            </a:avLst>
          </a:prstGeom>
          <a:solidFill>
            <a:srgbClr val="1A1A1A">
              <a:alpha val="8000"/>
            </a:srgbClr>
          </a:solidFill>
          <a:ln/>
        </p:spPr>
        <p:txBody>
          <a:bodyPr wrap="square" rtlCol="0" anchor="ctr"/>
          <a:lstStyle/>
          <a:p>
            <a:pPr indent="0" marL="0">
              <a:buNone/>
            </a:pPr>
            <a:endParaRPr lang="en-US" dirty="0"/>
          </a:p>
        </p:txBody>
      </p:sp>
      <p:sp>
        <p:nvSpPr>
          <p:cNvPr id="11" name="Text 9"/>
          <p:cNvSpPr/>
          <p:nvPr/>
        </p:nvSpPr>
        <p:spPr>
          <a:xfrm>
            <a:off x="4607719" y="4657725"/>
            <a:ext cx="2003822" cy="42863"/>
          </a:xfrm>
          <a:prstGeom prst="roundRect">
            <a:avLst>
              <a:gd name="adj" fmla="val 22199741"/>
            </a:avLst>
          </a:prstGeom>
          <a:solidFill>
            <a:srgbClr val="1A1A1A">
              <a:alpha val="8000"/>
            </a:srgbClr>
          </a:solidFill>
          <a:ln/>
        </p:spPr>
        <p:txBody>
          <a:bodyPr wrap="square" rtlCol="0" anchor="ctr"/>
          <a:lstStyle/>
          <a:p>
            <a:pPr indent="0" marL="0">
              <a:buNone/>
            </a:pPr>
            <a:endParaRPr lang="en-US" dirty="0"/>
          </a:p>
        </p:txBody>
      </p:sp>
      <p:sp>
        <p:nvSpPr>
          <p:cNvPr id="12" name="Text 10"/>
          <p:cNvSpPr/>
          <p:nvPr/>
        </p:nvSpPr>
        <p:spPr>
          <a:xfrm>
            <a:off x="6682978" y="4657725"/>
            <a:ext cx="2003822" cy="42863"/>
          </a:xfrm>
          <a:prstGeom prst="roundRect">
            <a:avLst>
              <a:gd name="adj" fmla="val 22199741"/>
            </a:avLst>
          </a:prstGeom>
          <a:solidFill>
            <a:srgbClr val="1A1A1A">
              <a:alpha val="8000"/>
            </a:srgbClr>
          </a:solidFill>
          <a:ln/>
        </p:spPr>
        <p:txBody>
          <a:bodyPr wrap="square" rtlCol="0" anchor="ctr"/>
          <a:lstStyle/>
          <a:p>
            <a:pPr indent="0" marL="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00050" y="400050"/>
            <a:ext cx="8636000"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F64A8A"/>
                </a:solidFill>
                <a:latin typeface="Carlito" pitchFamily="34" charset="0"/>
                <a:ea typeface="Carlito" pitchFamily="34" charset="-122"/>
                <a:cs typeface="Carlito" pitchFamily="34" charset="-120"/>
              </a:rPr>
              <a:t>ФОРМУЛА</a:t>
            </a:r>
            <a:endParaRPr lang="en-US" sz="800" dirty="0"/>
          </a:p>
        </p:txBody>
      </p:sp>
      <p:sp>
        <p:nvSpPr>
          <p:cNvPr id="3" name="Text 1"/>
          <p:cNvSpPr/>
          <p:nvPr/>
        </p:nvSpPr>
        <p:spPr>
          <a:xfrm>
            <a:off x="400050" y="603647"/>
            <a:ext cx="8636000" cy="337060"/>
          </a:xfrm>
          <a:prstGeom prst="rect">
            <a:avLst/>
          </a:prstGeom>
          <a:noFill/>
          <a:ln/>
        </p:spPr>
        <p:txBody>
          <a:bodyPr wrap="square" lIns="0" tIns="0" rIns="0" bIns="0" rtlCol="0" anchor="t"/>
          <a:lstStyle/>
          <a:p>
            <a:pPr algn="l" indent="0" marL="0">
              <a:lnSpc>
                <a:spcPts val="2458"/>
              </a:lnSpc>
              <a:buNone/>
            </a:pPr>
            <a:r>
              <a:rPr lang="en-US" sz="2138" b="1" spc="-32" kern="0" dirty="0">
                <a:solidFill>
                  <a:srgbClr val="1A1A1A"/>
                </a:solidFill>
                <a:latin typeface="Carlito" pitchFamily="34" charset="0"/>
                <a:ea typeface="Carlito" pitchFamily="34" charset="-122"/>
                <a:cs typeface="Carlito" pitchFamily="34" charset="-120"/>
              </a:rPr>
              <a:t>Анатомия промта: 7 блоков по порядку</a:t>
            </a:r>
            <a:endParaRPr lang="en-US" sz="2138" dirty="0"/>
          </a:p>
        </p:txBody>
      </p:sp>
      <p:sp>
        <p:nvSpPr>
          <p:cNvPr id="4" name="Text 2"/>
          <p:cNvSpPr/>
          <p:nvPr/>
        </p:nvSpPr>
        <p:spPr>
          <a:xfrm>
            <a:off x="400050" y="1333460"/>
            <a:ext cx="709352" cy="322069"/>
          </a:xfrm>
          <a:prstGeom prst="roundRect">
            <a:avLst>
              <a:gd name="adj" fmla="val 35489"/>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5" name="Text 3"/>
          <p:cNvSpPr/>
          <p:nvPr/>
        </p:nvSpPr>
        <p:spPr>
          <a:xfrm>
            <a:off x="616037" y="1439131"/>
            <a:ext cx="521940" cy="126609"/>
          </a:xfrm>
          <a:prstGeom prst="rect">
            <a:avLst/>
          </a:prstGeom>
          <a:noFill/>
          <a:ln/>
        </p:spPr>
        <p:txBody>
          <a:bodyPr wrap="non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Субъект</a:t>
            </a:r>
            <a:endParaRPr lang="en-US" sz="800" dirty="0"/>
          </a:p>
        </p:txBody>
      </p:sp>
      <p:sp>
        <p:nvSpPr>
          <p:cNvPr id="6" name="Text 4"/>
          <p:cNvSpPr/>
          <p:nvPr/>
        </p:nvSpPr>
        <p:spPr>
          <a:xfrm>
            <a:off x="507206" y="1424843"/>
            <a:ext cx="495040" cy="139303"/>
          </a:xfrm>
          <a:prstGeom prst="rect">
            <a:avLst/>
          </a:prstGeom>
          <a:noFill/>
          <a:ln/>
        </p:spPr>
        <p:txBody>
          <a:bodyPr wrap="none" lIns="0" tIns="0" rIns="0" bIns="0" rtlCol="0" anchor="t"/>
          <a:lstStyle/>
          <a:p>
            <a:pPr algn="l" indent="0" marL="0">
              <a:lnSpc>
                <a:spcPts val="1097"/>
              </a:lnSpc>
              <a:buNone/>
            </a:pPr>
            <a:r>
              <a:rPr lang="en-US" sz="800" b="1" dirty="0">
                <a:solidFill>
                  <a:srgbClr val="F64A8A"/>
                </a:solidFill>
                <a:latin typeface="Liberation Sans Narrow" pitchFamily="34" charset="0"/>
                <a:ea typeface="Liberation Sans Narrow" pitchFamily="34" charset="-122"/>
                <a:cs typeface="Liberation Sans Narrow" pitchFamily="34" charset="-120"/>
              </a:rPr>
              <a:t>1</a:t>
            </a:r>
            <a:endParaRPr lang="en-US" sz="800" dirty="0"/>
          </a:p>
        </p:txBody>
      </p:sp>
      <p:sp>
        <p:nvSpPr>
          <p:cNvPr id="7" name="Text 5"/>
          <p:cNvSpPr/>
          <p:nvPr/>
        </p:nvSpPr>
        <p:spPr>
          <a:xfrm>
            <a:off x="1166552" y="1440917"/>
            <a:ext cx="107156" cy="107156"/>
          </a:xfrm>
          <a:prstGeom prst="rect">
            <a:avLst/>
          </a:prstGeom>
          <a:noFill/>
          <a:ln/>
        </p:spPr>
        <p:txBody>
          <a:bodyPr wrap="none" lIns="0" tIns="0" rIns="0" bIns="0" rtlCol="0" anchor="ctr"/>
          <a:lstStyle/>
          <a:p>
            <a:pPr algn="ctr" indent="0" marL="0">
              <a:buNone/>
            </a:pPr>
            <a:r>
              <a:rPr lang="en-US" sz="1055" dirty="0">
                <a:solidFill>
                  <a:srgbClr val="888888"/>
                </a:solidFill>
                <a:latin typeface="Segoe UI Symbol" pitchFamily="34" charset="0"/>
                <a:ea typeface="Segoe UI Symbol" pitchFamily="34" charset="-122"/>
                <a:cs typeface="Segoe UI Symbol" pitchFamily="34" charset="-120"/>
              </a:rPr>
              <a:t>→</a:t>
            </a:r>
            <a:endParaRPr lang="en-US" sz="1055" dirty="0"/>
          </a:p>
        </p:txBody>
      </p:sp>
      <p:sp>
        <p:nvSpPr>
          <p:cNvPr id="8" name="Text 6"/>
          <p:cNvSpPr/>
          <p:nvPr/>
        </p:nvSpPr>
        <p:spPr>
          <a:xfrm>
            <a:off x="1330858" y="1333460"/>
            <a:ext cx="762149" cy="322069"/>
          </a:xfrm>
          <a:prstGeom prst="roundRect">
            <a:avLst>
              <a:gd name="adj" fmla="val 35489"/>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9" name="Text 7"/>
          <p:cNvSpPr/>
          <p:nvPr/>
        </p:nvSpPr>
        <p:spPr>
          <a:xfrm>
            <a:off x="1546845" y="1439131"/>
            <a:ext cx="574737" cy="126609"/>
          </a:xfrm>
          <a:prstGeom prst="rect">
            <a:avLst/>
          </a:prstGeom>
          <a:noFill/>
          <a:ln/>
        </p:spPr>
        <p:txBody>
          <a:bodyPr wrap="non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Действие</a:t>
            </a:r>
            <a:endParaRPr lang="en-US" sz="800" dirty="0"/>
          </a:p>
        </p:txBody>
      </p:sp>
      <p:sp>
        <p:nvSpPr>
          <p:cNvPr id="10" name="Text 8"/>
          <p:cNvSpPr/>
          <p:nvPr/>
        </p:nvSpPr>
        <p:spPr>
          <a:xfrm>
            <a:off x="1438015" y="1424843"/>
            <a:ext cx="547836" cy="139303"/>
          </a:xfrm>
          <a:prstGeom prst="rect">
            <a:avLst/>
          </a:prstGeom>
          <a:noFill/>
          <a:ln/>
        </p:spPr>
        <p:txBody>
          <a:bodyPr wrap="none" lIns="0" tIns="0" rIns="0" bIns="0" rtlCol="0" anchor="t"/>
          <a:lstStyle/>
          <a:p>
            <a:pPr algn="l" indent="0" marL="0">
              <a:lnSpc>
                <a:spcPts val="1097"/>
              </a:lnSpc>
              <a:buNone/>
            </a:pPr>
            <a:r>
              <a:rPr lang="en-US" sz="800" b="1" dirty="0">
                <a:solidFill>
                  <a:srgbClr val="F64A8A"/>
                </a:solidFill>
                <a:latin typeface="Liberation Sans Narrow" pitchFamily="34" charset="0"/>
                <a:ea typeface="Liberation Sans Narrow" pitchFamily="34" charset="-122"/>
                <a:cs typeface="Liberation Sans Narrow" pitchFamily="34" charset="-120"/>
              </a:rPr>
              <a:t>2</a:t>
            </a:r>
            <a:endParaRPr lang="en-US" sz="800" dirty="0"/>
          </a:p>
        </p:txBody>
      </p:sp>
      <p:sp>
        <p:nvSpPr>
          <p:cNvPr id="11" name="Text 9"/>
          <p:cNvSpPr/>
          <p:nvPr/>
        </p:nvSpPr>
        <p:spPr>
          <a:xfrm>
            <a:off x="2150157" y="1440917"/>
            <a:ext cx="107156" cy="107156"/>
          </a:xfrm>
          <a:prstGeom prst="rect">
            <a:avLst/>
          </a:prstGeom>
          <a:noFill/>
          <a:ln/>
        </p:spPr>
        <p:txBody>
          <a:bodyPr wrap="none" lIns="0" tIns="0" rIns="0" bIns="0" rtlCol="0" anchor="ctr"/>
          <a:lstStyle/>
          <a:p>
            <a:pPr algn="ctr" indent="0" marL="0">
              <a:buNone/>
            </a:pPr>
            <a:r>
              <a:rPr lang="en-US" sz="1055" dirty="0">
                <a:solidFill>
                  <a:srgbClr val="888888"/>
                </a:solidFill>
                <a:latin typeface="Segoe UI Symbol" pitchFamily="34" charset="0"/>
                <a:ea typeface="Segoe UI Symbol" pitchFamily="34" charset="-122"/>
                <a:cs typeface="Segoe UI Symbol" pitchFamily="34" charset="-120"/>
              </a:rPr>
              <a:t>→</a:t>
            </a:r>
            <a:endParaRPr lang="en-US" sz="1055" dirty="0"/>
          </a:p>
        </p:txBody>
      </p:sp>
      <p:sp>
        <p:nvSpPr>
          <p:cNvPr id="12" name="Text 10"/>
          <p:cNvSpPr/>
          <p:nvPr/>
        </p:nvSpPr>
        <p:spPr>
          <a:xfrm>
            <a:off x="2314463" y="1333460"/>
            <a:ext cx="831354" cy="322069"/>
          </a:xfrm>
          <a:prstGeom prst="roundRect">
            <a:avLst>
              <a:gd name="adj" fmla="val 35489"/>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3" name="Text 11"/>
          <p:cNvSpPr/>
          <p:nvPr/>
        </p:nvSpPr>
        <p:spPr>
          <a:xfrm>
            <a:off x="2530450" y="1439131"/>
            <a:ext cx="643942" cy="126609"/>
          </a:xfrm>
          <a:prstGeom prst="rect">
            <a:avLst/>
          </a:prstGeom>
          <a:noFill/>
          <a:ln/>
        </p:spPr>
        <p:txBody>
          <a:bodyPr wrap="non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Окружение</a:t>
            </a:r>
            <a:endParaRPr lang="en-US" sz="800" dirty="0"/>
          </a:p>
        </p:txBody>
      </p:sp>
      <p:sp>
        <p:nvSpPr>
          <p:cNvPr id="14" name="Text 12"/>
          <p:cNvSpPr/>
          <p:nvPr/>
        </p:nvSpPr>
        <p:spPr>
          <a:xfrm>
            <a:off x="2421620" y="1424843"/>
            <a:ext cx="617041" cy="139303"/>
          </a:xfrm>
          <a:prstGeom prst="rect">
            <a:avLst/>
          </a:prstGeom>
          <a:noFill/>
          <a:ln/>
        </p:spPr>
        <p:txBody>
          <a:bodyPr wrap="none" lIns="0" tIns="0" rIns="0" bIns="0" rtlCol="0" anchor="t"/>
          <a:lstStyle/>
          <a:p>
            <a:pPr algn="l" indent="0" marL="0">
              <a:lnSpc>
                <a:spcPts val="1097"/>
              </a:lnSpc>
              <a:buNone/>
            </a:pPr>
            <a:r>
              <a:rPr lang="en-US" sz="800" b="1" dirty="0">
                <a:solidFill>
                  <a:srgbClr val="F64A8A"/>
                </a:solidFill>
                <a:latin typeface="Liberation Sans Narrow" pitchFamily="34" charset="0"/>
                <a:ea typeface="Liberation Sans Narrow" pitchFamily="34" charset="-122"/>
                <a:cs typeface="Liberation Sans Narrow" pitchFamily="34" charset="-120"/>
              </a:rPr>
              <a:t>3</a:t>
            </a:r>
            <a:endParaRPr lang="en-US" sz="800" dirty="0"/>
          </a:p>
        </p:txBody>
      </p:sp>
      <p:sp>
        <p:nvSpPr>
          <p:cNvPr id="15" name="Text 13"/>
          <p:cNvSpPr/>
          <p:nvPr/>
        </p:nvSpPr>
        <p:spPr>
          <a:xfrm>
            <a:off x="3202967" y="1440917"/>
            <a:ext cx="107156" cy="107156"/>
          </a:xfrm>
          <a:prstGeom prst="rect">
            <a:avLst/>
          </a:prstGeom>
          <a:noFill/>
          <a:ln/>
        </p:spPr>
        <p:txBody>
          <a:bodyPr wrap="none" lIns="0" tIns="0" rIns="0" bIns="0" rtlCol="0" anchor="ctr"/>
          <a:lstStyle/>
          <a:p>
            <a:pPr algn="ctr" indent="0" marL="0">
              <a:buNone/>
            </a:pPr>
            <a:r>
              <a:rPr lang="en-US" sz="1055" dirty="0">
                <a:solidFill>
                  <a:srgbClr val="888888"/>
                </a:solidFill>
                <a:latin typeface="Segoe UI Symbol" pitchFamily="34" charset="0"/>
                <a:ea typeface="Segoe UI Symbol" pitchFamily="34" charset="-122"/>
                <a:cs typeface="Segoe UI Symbol" pitchFamily="34" charset="-120"/>
              </a:rPr>
              <a:t>→</a:t>
            </a:r>
            <a:endParaRPr lang="en-US" sz="1055" dirty="0"/>
          </a:p>
        </p:txBody>
      </p:sp>
      <p:sp>
        <p:nvSpPr>
          <p:cNvPr id="16" name="Text 14"/>
          <p:cNvSpPr/>
          <p:nvPr/>
        </p:nvSpPr>
        <p:spPr>
          <a:xfrm>
            <a:off x="3367274" y="1333460"/>
            <a:ext cx="542032" cy="322069"/>
          </a:xfrm>
          <a:prstGeom prst="roundRect">
            <a:avLst>
              <a:gd name="adj" fmla="val 35489"/>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7" name="Text 15"/>
          <p:cNvSpPr/>
          <p:nvPr/>
        </p:nvSpPr>
        <p:spPr>
          <a:xfrm>
            <a:off x="3583260" y="1439131"/>
            <a:ext cx="354620" cy="126609"/>
          </a:xfrm>
          <a:prstGeom prst="rect">
            <a:avLst/>
          </a:prstGeom>
          <a:noFill/>
          <a:ln/>
        </p:spPr>
        <p:txBody>
          <a:bodyPr wrap="non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Свет</a:t>
            </a:r>
            <a:endParaRPr lang="en-US" sz="800" dirty="0"/>
          </a:p>
        </p:txBody>
      </p:sp>
      <p:sp>
        <p:nvSpPr>
          <p:cNvPr id="18" name="Text 16"/>
          <p:cNvSpPr/>
          <p:nvPr/>
        </p:nvSpPr>
        <p:spPr>
          <a:xfrm>
            <a:off x="3474430" y="1424843"/>
            <a:ext cx="327720" cy="139303"/>
          </a:xfrm>
          <a:prstGeom prst="rect">
            <a:avLst/>
          </a:prstGeom>
          <a:noFill/>
          <a:ln/>
        </p:spPr>
        <p:txBody>
          <a:bodyPr wrap="none" lIns="0" tIns="0" rIns="0" bIns="0" rtlCol="0" anchor="t"/>
          <a:lstStyle/>
          <a:p>
            <a:pPr algn="l" indent="0" marL="0">
              <a:lnSpc>
                <a:spcPts val="1097"/>
              </a:lnSpc>
              <a:buNone/>
            </a:pPr>
            <a:r>
              <a:rPr lang="en-US" sz="800" b="1" dirty="0">
                <a:solidFill>
                  <a:srgbClr val="F64A8A"/>
                </a:solidFill>
                <a:latin typeface="Liberation Sans Narrow" pitchFamily="34" charset="0"/>
                <a:ea typeface="Liberation Sans Narrow" pitchFamily="34" charset="-122"/>
                <a:cs typeface="Liberation Sans Narrow" pitchFamily="34" charset="-120"/>
              </a:rPr>
              <a:t>4</a:t>
            </a:r>
            <a:endParaRPr lang="en-US" sz="800" dirty="0"/>
          </a:p>
        </p:txBody>
      </p:sp>
      <p:sp>
        <p:nvSpPr>
          <p:cNvPr id="19" name="Text 17"/>
          <p:cNvSpPr/>
          <p:nvPr/>
        </p:nvSpPr>
        <p:spPr>
          <a:xfrm>
            <a:off x="3966456" y="1440917"/>
            <a:ext cx="107156" cy="107156"/>
          </a:xfrm>
          <a:prstGeom prst="rect">
            <a:avLst/>
          </a:prstGeom>
          <a:noFill/>
          <a:ln/>
        </p:spPr>
        <p:txBody>
          <a:bodyPr wrap="none" lIns="0" tIns="0" rIns="0" bIns="0" rtlCol="0" anchor="ctr"/>
          <a:lstStyle/>
          <a:p>
            <a:pPr algn="ctr" indent="0" marL="0">
              <a:buNone/>
            </a:pPr>
            <a:r>
              <a:rPr lang="en-US" sz="1055" dirty="0">
                <a:solidFill>
                  <a:srgbClr val="888888"/>
                </a:solidFill>
                <a:latin typeface="Segoe UI Symbol" pitchFamily="34" charset="0"/>
                <a:ea typeface="Segoe UI Symbol" pitchFamily="34" charset="-122"/>
                <a:cs typeface="Segoe UI Symbol" pitchFamily="34" charset="-120"/>
              </a:rPr>
              <a:t>→</a:t>
            </a:r>
            <a:endParaRPr lang="en-US" sz="1055" dirty="0"/>
          </a:p>
        </p:txBody>
      </p:sp>
      <p:sp>
        <p:nvSpPr>
          <p:cNvPr id="20" name="Text 18"/>
          <p:cNvSpPr/>
          <p:nvPr/>
        </p:nvSpPr>
        <p:spPr>
          <a:xfrm>
            <a:off x="4130762" y="1333460"/>
            <a:ext cx="608893" cy="322069"/>
          </a:xfrm>
          <a:prstGeom prst="roundRect">
            <a:avLst>
              <a:gd name="adj" fmla="val 35489"/>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1" name="Text 19"/>
          <p:cNvSpPr/>
          <p:nvPr/>
        </p:nvSpPr>
        <p:spPr>
          <a:xfrm>
            <a:off x="4346749" y="1439131"/>
            <a:ext cx="421481" cy="126609"/>
          </a:xfrm>
          <a:prstGeom prst="rect">
            <a:avLst/>
          </a:prstGeom>
          <a:noFill/>
          <a:ln/>
        </p:spPr>
        <p:txBody>
          <a:bodyPr wrap="non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Стиль</a:t>
            </a:r>
            <a:endParaRPr lang="en-US" sz="800" dirty="0"/>
          </a:p>
        </p:txBody>
      </p:sp>
      <p:sp>
        <p:nvSpPr>
          <p:cNvPr id="22" name="Text 20"/>
          <p:cNvSpPr/>
          <p:nvPr/>
        </p:nvSpPr>
        <p:spPr>
          <a:xfrm>
            <a:off x="4237918" y="1424843"/>
            <a:ext cx="394581" cy="139303"/>
          </a:xfrm>
          <a:prstGeom prst="rect">
            <a:avLst/>
          </a:prstGeom>
          <a:noFill/>
          <a:ln/>
        </p:spPr>
        <p:txBody>
          <a:bodyPr wrap="none" lIns="0" tIns="0" rIns="0" bIns="0" rtlCol="0" anchor="t"/>
          <a:lstStyle/>
          <a:p>
            <a:pPr algn="l" indent="0" marL="0">
              <a:lnSpc>
                <a:spcPts val="1097"/>
              </a:lnSpc>
              <a:buNone/>
            </a:pPr>
            <a:r>
              <a:rPr lang="en-US" sz="800" b="1" dirty="0">
                <a:solidFill>
                  <a:srgbClr val="F64A8A"/>
                </a:solidFill>
                <a:latin typeface="Liberation Sans Narrow" pitchFamily="34" charset="0"/>
                <a:ea typeface="Liberation Sans Narrow" pitchFamily="34" charset="-122"/>
                <a:cs typeface="Liberation Sans Narrow" pitchFamily="34" charset="-120"/>
              </a:rPr>
              <a:t>5</a:t>
            </a:r>
            <a:endParaRPr lang="en-US" sz="800" dirty="0"/>
          </a:p>
        </p:txBody>
      </p:sp>
      <p:sp>
        <p:nvSpPr>
          <p:cNvPr id="23" name="Text 21"/>
          <p:cNvSpPr/>
          <p:nvPr/>
        </p:nvSpPr>
        <p:spPr>
          <a:xfrm>
            <a:off x="4796805" y="1440917"/>
            <a:ext cx="107156" cy="107156"/>
          </a:xfrm>
          <a:prstGeom prst="rect">
            <a:avLst/>
          </a:prstGeom>
          <a:noFill/>
          <a:ln/>
        </p:spPr>
        <p:txBody>
          <a:bodyPr wrap="none" lIns="0" tIns="0" rIns="0" bIns="0" rtlCol="0" anchor="ctr"/>
          <a:lstStyle/>
          <a:p>
            <a:pPr algn="ctr" indent="0" marL="0">
              <a:buNone/>
            </a:pPr>
            <a:r>
              <a:rPr lang="en-US" sz="1055" dirty="0">
                <a:solidFill>
                  <a:srgbClr val="888888"/>
                </a:solidFill>
                <a:latin typeface="Segoe UI Symbol" pitchFamily="34" charset="0"/>
                <a:ea typeface="Segoe UI Symbol" pitchFamily="34" charset="-122"/>
                <a:cs typeface="Segoe UI Symbol" pitchFamily="34" charset="-120"/>
              </a:rPr>
              <a:t>→</a:t>
            </a:r>
            <a:endParaRPr lang="en-US" sz="1055" dirty="0"/>
          </a:p>
        </p:txBody>
      </p:sp>
      <p:sp>
        <p:nvSpPr>
          <p:cNvPr id="24" name="Text 22"/>
          <p:cNvSpPr/>
          <p:nvPr/>
        </p:nvSpPr>
        <p:spPr>
          <a:xfrm>
            <a:off x="4961111" y="1333460"/>
            <a:ext cx="887276" cy="322069"/>
          </a:xfrm>
          <a:prstGeom prst="roundRect">
            <a:avLst>
              <a:gd name="adj" fmla="val 35489"/>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5" name="Text 23"/>
          <p:cNvSpPr/>
          <p:nvPr/>
        </p:nvSpPr>
        <p:spPr>
          <a:xfrm>
            <a:off x="5177098" y="1439131"/>
            <a:ext cx="699864" cy="126609"/>
          </a:xfrm>
          <a:prstGeom prst="rect">
            <a:avLst/>
          </a:prstGeom>
          <a:noFill/>
          <a:ln/>
        </p:spPr>
        <p:txBody>
          <a:bodyPr wrap="non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Композиция</a:t>
            </a:r>
            <a:endParaRPr lang="en-US" sz="800" dirty="0"/>
          </a:p>
        </p:txBody>
      </p:sp>
      <p:sp>
        <p:nvSpPr>
          <p:cNvPr id="26" name="Text 24"/>
          <p:cNvSpPr/>
          <p:nvPr/>
        </p:nvSpPr>
        <p:spPr>
          <a:xfrm>
            <a:off x="5068267" y="1424843"/>
            <a:ext cx="672964" cy="139303"/>
          </a:xfrm>
          <a:prstGeom prst="rect">
            <a:avLst/>
          </a:prstGeom>
          <a:noFill/>
          <a:ln/>
        </p:spPr>
        <p:txBody>
          <a:bodyPr wrap="none" lIns="0" tIns="0" rIns="0" bIns="0" rtlCol="0" anchor="t"/>
          <a:lstStyle/>
          <a:p>
            <a:pPr algn="l" indent="0" marL="0">
              <a:lnSpc>
                <a:spcPts val="1097"/>
              </a:lnSpc>
              <a:buNone/>
            </a:pPr>
            <a:r>
              <a:rPr lang="en-US" sz="800" b="1" dirty="0">
                <a:solidFill>
                  <a:srgbClr val="F64A8A"/>
                </a:solidFill>
                <a:latin typeface="Liberation Sans Narrow" pitchFamily="34" charset="0"/>
                <a:ea typeface="Liberation Sans Narrow" pitchFamily="34" charset="-122"/>
                <a:cs typeface="Liberation Sans Narrow" pitchFamily="34" charset="-120"/>
              </a:rPr>
              <a:t>6</a:t>
            </a:r>
            <a:endParaRPr lang="en-US" sz="800" dirty="0"/>
          </a:p>
        </p:txBody>
      </p:sp>
      <p:sp>
        <p:nvSpPr>
          <p:cNvPr id="27" name="Text 25"/>
          <p:cNvSpPr/>
          <p:nvPr/>
        </p:nvSpPr>
        <p:spPr>
          <a:xfrm>
            <a:off x="5905537" y="1440917"/>
            <a:ext cx="107156" cy="107156"/>
          </a:xfrm>
          <a:prstGeom prst="rect">
            <a:avLst/>
          </a:prstGeom>
          <a:noFill/>
          <a:ln/>
        </p:spPr>
        <p:txBody>
          <a:bodyPr wrap="none" lIns="0" tIns="0" rIns="0" bIns="0" rtlCol="0" anchor="ctr"/>
          <a:lstStyle/>
          <a:p>
            <a:pPr algn="ctr" indent="0" marL="0">
              <a:buNone/>
            </a:pPr>
            <a:r>
              <a:rPr lang="en-US" sz="1055" dirty="0">
                <a:solidFill>
                  <a:srgbClr val="888888"/>
                </a:solidFill>
                <a:latin typeface="Segoe UI Symbol" pitchFamily="34" charset="0"/>
                <a:ea typeface="Segoe UI Symbol" pitchFamily="34" charset="-122"/>
                <a:cs typeface="Segoe UI Symbol" pitchFamily="34" charset="-120"/>
              </a:rPr>
              <a:t>→</a:t>
            </a:r>
            <a:endParaRPr lang="en-US" sz="1055" dirty="0"/>
          </a:p>
        </p:txBody>
      </p:sp>
      <p:sp>
        <p:nvSpPr>
          <p:cNvPr id="28" name="Text 26"/>
          <p:cNvSpPr/>
          <p:nvPr/>
        </p:nvSpPr>
        <p:spPr>
          <a:xfrm>
            <a:off x="6069843" y="1333460"/>
            <a:ext cx="994097" cy="322069"/>
          </a:xfrm>
          <a:prstGeom prst="roundRect">
            <a:avLst>
              <a:gd name="adj" fmla="val 35489"/>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9" name="Text 27"/>
          <p:cNvSpPr/>
          <p:nvPr/>
        </p:nvSpPr>
        <p:spPr>
          <a:xfrm>
            <a:off x="6285830" y="1439131"/>
            <a:ext cx="2458120" cy="126609"/>
          </a:xfrm>
          <a:prstGeom prst="rect">
            <a:avLst/>
          </a:prstGeom>
          <a:noFill/>
          <a:ln/>
        </p:spPr>
        <p:txBody>
          <a:bodyPr wrap="non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Техпараметры</a:t>
            </a:r>
            <a:endParaRPr lang="en-US" sz="800" dirty="0"/>
          </a:p>
        </p:txBody>
      </p:sp>
      <p:sp>
        <p:nvSpPr>
          <p:cNvPr id="30" name="Text 28"/>
          <p:cNvSpPr/>
          <p:nvPr/>
        </p:nvSpPr>
        <p:spPr>
          <a:xfrm>
            <a:off x="6177000" y="1424843"/>
            <a:ext cx="779785" cy="139303"/>
          </a:xfrm>
          <a:prstGeom prst="rect">
            <a:avLst/>
          </a:prstGeom>
          <a:noFill/>
          <a:ln/>
        </p:spPr>
        <p:txBody>
          <a:bodyPr wrap="none" lIns="0" tIns="0" rIns="0" bIns="0" rtlCol="0" anchor="t"/>
          <a:lstStyle/>
          <a:p>
            <a:pPr algn="l" indent="0" marL="0">
              <a:lnSpc>
                <a:spcPts val="1097"/>
              </a:lnSpc>
              <a:buNone/>
            </a:pPr>
            <a:r>
              <a:rPr lang="en-US" sz="800" b="1" dirty="0">
                <a:solidFill>
                  <a:srgbClr val="F64A8A"/>
                </a:solidFill>
                <a:latin typeface="Liberation Sans Narrow" pitchFamily="34" charset="0"/>
                <a:ea typeface="Liberation Sans Narrow" pitchFamily="34" charset="-122"/>
                <a:cs typeface="Liberation Sans Narrow" pitchFamily="34" charset="-120"/>
              </a:rPr>
              <a:t>7</a:t>
            </a:r>
            <a:endParaRPr lang="en-US" sz="800" dirty="0"/>
          </a:p>
        </p:txBody>
      </p:sp>
      <p:sp>
        <p:nvSpPr>
          <p:cNvPr id="31" name="Text 29"/>
          <p:cNvSpPr/>
          <p:nvPr/>
        </p:nvSpPr>
        <p:spPr>
          <a:xfrm>
            <a:off x="400050" y="2073139"/>
            <a:ext cx="8343900" cy="792175"/>
          </a:xfrm>
          <a:prstGeom prst="roundRect">
            <a:avLst>
              <a:gd name="adj" fmla="val 14429"/>
            </a:avLst>
          </a:prstGeom>
          <a:solidFill>
            <a:srgbClr val="262023"/>
          </a:solidFill>
          <a:ln/>
        </p:spPr>
        <p:txBody>
          <a:bodyPr wrap="square" rtlCol="0" anchor="ctr"/>
          <a:lstStyle/>
          <a:p>
            <a:pPr indent="0" marL="0">
              <a:buNone/>
            </a:pPr>
            <a:endParaRPr lang="en-US" dirty="0"/>
          </a:p>
        </p:txBody>
      </p:sp>
      <p:sp>
        <p:nvSpPr>
          <p:cNvPr id="32" name="Text 30"/>
          <p:cNvSpPr/>
          <p:nvPr/>
        </p:nvSpPr>
        <p:spPr>
          <a:xfrm>
            <a:off x="571500" y="2216014"/>
            <a:ext cx="8110728" cy="137209"/>
          </a:xfrm>
          <a:prstGeom prst="rect">
            <a:avLst/>
          </a:prstGeom>
          <a:noFill/>
          <a:ln/>
        </p:spPr>
        <p:txBody>
          <a:bodyPr wrap="square" lIns="0" tIns="0" rIns="0" bIns="0" rtlCol="0" anchor="t">
            <a:normAutofit/>
          </a:bodyPr>
          <a:lstStyle/>
          <a:p>
            <a:pPr algn="l" indent="0" marL="0">
              <a:lnSpc>
                <a:spcPts val="959"/>
              </a:lnSpc>
              <a:buNone/>
            </a:pPr>
            <a:r>
              <a:rPr lang="en-US" sz="800" b="1" spc="62" kern="0" dirty="0">
                <a:solidFill>
                  <a:srgbClr val="D4A854"/>
                </a:solidFill>
                <a:latin typeface="Carlito" pitchFamily="34" charset="0"/>
                <a:ea typeface="Carlito" pitchFamily="34" charset="-122"/>
                <a:cs typeface="Carlito" pitchFamily="34" charset="-120"/>
              </a:rPr>
              <a:t>ПРИМЕР СОБРАННОГО ПРОМТА · EN</a:t>
            </a:r>
            <a:endParaRPr lang="en-US" sz="800" dirty="0"/>
          </a:p>
        </p:txBody>
      </p:sp>
      <p:sp>
        <p:nvSpPr>
          <p:cNvPr id="33" name="Text 31"/>
          <p:cNvSpPr/>
          <p:nvPr/>
        </p:nvSpPr>
        <p:spPr>
          <a:xfrm>
            <a:off x="571500" y="2380655"/>
            <a:ext cx="8001000" cy="341784"/>
          </a:xfrm>
          <a:prstGeom prst="rect">
            <a:avLst/>
          </a:prstGeom>
          <a:noFill/>
          <a:ln/>
        </p:spPr>
        <p:txBody>
          <a:bodyPr wrap="square" lIns="0" tIns="0" rIns="0" bIns="0" rtlCol="0" anchor="t"/>
          <a:lstStyle/>
          <a:p>
            <a:pPr algn="l" indent="0" marL="0">
              <a:lnSpc>
                <a:spcPts val="1346"/>
              </a:lnSpc>
              <a:buNone/>
            </a:pPr>
            <a:r>
              <a:rPr lang="en-US" sz="816" dirty="0">
                <a:solidFill>
                  <a:srgbClr val="F8F8F8"/>
                </a:solidFill>
                <a:latin typeface="Courier New" pitchFamily="34" charset="0"/>
                <a:ea typeface="Courier New" pitchFamily="34" charset="-122"/>
                <a:cs typeface="Courier New" pitchFamily="34" charset="-120"/>
              </a:rPr>
              <a:t>A smiling barista handing a paper cup to a young woman, inside a cozy neighborhood coffee shop, warm morning light through large windows, photorealistic lifestyle photography, shallow depth of field, eye-level shot, </a:t>
            </a:r>
            <a:pPr algn="l" indent="0" marL="0">
              <a:lnSpc>
                <a:spcPts val="1346"/>
              </a:lnSpc>
              <a:buNone/>
            </a:pPr>
            <a:r>
              <a:rPr lang="en-US" sz="816" dirty="0">
                <a:solidFill>
                  <a:srgbClr val="D4A854"/>
                </a:solidFill>
                <a:latin typeface="Liberation Sans Narrow" pitchFamily="34" charset="0"/>
                <a:ea typeface="Liberation Sans Narrow" pitchFamily="34" charset="-122"/>
                <a:cs typeface="Liberation Sans Narrow" pitchFamily="34" charset="-120"/>
              </a:rPr>
              <a:t>--ar 4:5</a:t>
            </a:r>
            <a:endParaRPr lang="en-US" sz="816" dirty="0"/>
          </a:p>
        </p:txBody>
      </p:sp>
      <p:sp>
        <p:nvSpPr>
          <p:cNvPr id="34" name="Text 32"/>
          <p:cNvSpPr/>
          <p:nvPr/>
        </p:nvSpPr>
        <p:spPr>
          <a:xfrm>
            <a:off x="403622" y="2968898"/>
            <a:ext cx="8336756" cy="726095"/>
          </a:xfrm>
          <a:prstGeom prst="roundRect">
            <a:avLst>
              <a:gd name="adj" fmla="val 15742"/>
            </a:avLst>
          </a:prstGeom>
          <a:solidFill>
            <a:srgbClr val="F8F8F8"/>
          </a:solidFill>
          <a:ln w="7144">
            <a:solidFill>
              <a:srgbClr val="1A1A1A"/>
            </a:solidFill>
            <a:prstDash val="solid"/>
          </a:ln>
        </p:spPr>
        <p:txBody>
          <a:bodyPr wrap="square" rtlCol="0" anchor="ctr"/>
          <a:lstStyle/>
          <a:p>
            <a:pPr indent="0" marL="0">
              <a:buNone/>
            </a:pPr>
            <a:endParaRPr lang="en-US" dirty="0"/>
          </a:p>
        </p:txBody>
      </p:sp>
      <p:sp>
        <p:nvSpPr>
          <p:cNvPr id="35" name="Text 33"/>
          <p:cNvSpPr/>
          <p:nvPr/>
        </p:nvSpPr>
        <p:spPr>
          <a:xfrm>
            <a:off x="578644" y="3101057"/>
            <a:ext cx="7986713" cy="137209"/>
          </a:xfrm>
          <a:prstGeom prst="rect">
            <a:avLst/>
          </a:prstGeom>
          <a:noFill/>
          <a:ln/>
        </p:spPr>
        <p:txBody>
          <a:bodyPr wrap="none" lIns="0" tIns="0" rIns="0" bIns="0" rtlCol="0" anchor="t">
            <a:normAutofit/>
          </a:bodyPr>
          <a:lstStyle/>
          <a:p>
            <a:pPr algn="l" indent="0" marL="0">
              <a:lnSpc>
                <a:spcPts val="959"/>
              </a:lnSpc>
              <a:buNone/>
            </a:pPr>
            <a:r>
              <a:rPr lang="en-US" sz="800" b="1" spc="62" kern="0" dirty="0">
                <a:solidFill>
                  <a:srgbClr val="C92A6A"/>
                </a:solidFill>
                <a:latin typeface="Carlito" pitchFamily="34" charset="0"/>
                <a:ea typeface="Carlito" pitchFamily="34" charset="-122"/>
                <a:cs typeface="Carlito" pitchFamily="34" charset="-120"/>
              </a:rPr>
              <a:t>ПОДСТРОЧНЫЙ ПЕРЕВОД · RU</a:t>
            </a:r>
            <a:endParaRPr lang="en-US" sz="800" dirty="0"/>
          </a:p>
        </p:txBody>
      </p:sp>
      <p:sp>
        <p:nvSpPr>
          <p:cNvPr id="36" name="Text 34"/>
          <p:cNvSpPr/>
          <p:nvPr/>
        </p:nvSpPr>
        <p:spPr>
          <a:xfrm>
            <a:off x="578644" y="3265698"/>
            <a:ext cx="7986713" cy="297135"/>
          </a:xfrm>
          <a:prstGeom prst="rect">
            <a:avLst/>
          </a:prstGeom>
          <a:noFill/>
          <a:ln/>
        </p:spPr>
        <p:txBody>
          <a:bodyPr wrap="square" lIns="0" tIns="0" rIns="0" bIns="0" rtlCol="0" anchor="t"/>
          <a:lstStyle/>
          <a:p>
            <a:pPr algn="l" indent="0" marL="0">
              <a:lnSpc>
                <a:spcPts val="1170"/>
              </a:lnSpc>
              <a:buNone/>
            </a:pPr>
            <a:r>
              <a:rPr lang="en-US" sz="800" dirty="0">
                <a:solidFill>
                  <a:srgbClr val="1A1A1A"/>
                </a:solidFill>
                <a:latin typeface="Courier New" pitchFamily="34" charset="0"/>
                <a:ea typeface="Courier New" pitchFamily="34" charset="-122"/>
                <a:cs typeface="Courier New" pitchFamily="34" charset="-120"/>
              </a:rPr>
              <a:t>Улыбающийся бариста подаёт бумажный стаканчик молодой женщине, уютная районная кофейня, тёплый утренний свет из больших окон, фотореалистичная lifestyle-съёмка, малая глубина резкости, ракурс на уровне глаз, </a:t>
            </a:r>
            <a:pPr algn="l" indent="0" marL="0">
              <a:lnSpc>
                <a:spcPts val="1170"/>
              </a:lnSpc>
              <a:buNone/>
            </a:pPr>
            <a:r>
              <a:rPr lang="en-US" sz="800" b="1" dirty="0">
                <a:solidFill>
                  <a:srgbClr val="1A1A1A"/>
                </a:solidFill>
                <a:latin typeface="Liberation Sans Narrow" pitchFamily="34" charset="0"/>
                <a:ea typeface="Liberation Sans Narrow" pitchFamily="34" charset="-122"/>
                <a:cs typeface="Liberation Sans Narrow" pitchFamily="34" charset="-120"/>
              </a:rPr>
              <a:t>--ar 4:5</a:t>
            </a:r>
            <a:endParaRPr lang="en-US" sz="800" dirty="0"/>
          </a:p>
        </p:txBody>
      </p:sp>
      <p:sp>
        <p:nvSpPr>
          <p:cNvPr id="37" name="Text 35"/>
          <p:cNvSpPr/>
          <p:nvPr/>
        </p:nvSpPr>
        <p:spPr>
          <a:xfrm>
            <a:off x="400050" y="4129088"/>
            <a:ext cx="8343900" cy="614363"/>
          </a:xfrm>
          <a:prstGeom prst="roundRect">
            <a:avLst>
              <a:gd name="adj" fmla="val 18605"/>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38" name="Text 36"/>
          <p:cNvSpPr/>
          <p:nvPr/>
        </p:nvSpPr>
        <p:spPr>
          <a:xfrm>
            <a:off x="585788" y="4271963"/>
            <a:ext cx="328613" cy="328613"/>
          </a:xfrm>
          <a:prstGeom prst="roundRect">
            <a:avLst>
              <a:gd name="adj" fmla="val 34783"/>
            </a:avLst>
          </a:prstGeom>
          <a:solidFill>
            <a:srgbClr val="D4A854">
              <a:alpha val="14000"/>
            </a:srgbClr>
          </a:solidFill>
          <a:ln/>
        </p:spPr>
        <p:txBody>
          <a:bodyPr wrap="square" rtlCol="0" anchor="ctr"/>
          <a:lstStyle/>
          <a:p>
            <a:pPr indent="0" marL="0">
              <a:buNone/>
            </a:pPr>
            <a:endParaRPr lang="en-US" dirty="0"/>
          </a:p>
        </p:txBody>
      </p:sp>
      <p:sp>
        <p:nvSpPr>
          <p:cNvPr id="39" name="Text 37"/>
          <p:cNvSpPr/>
          <p:nvPr/>
        </p:nvSpPr>
        <p:spPr>
          <a:xfrm>
            <a:off x="625793" y="4311968"/>
            <a:ext cx="248602" cy="248602"/>
          </a:xfrm>
          <a:prstGeom prst="rect">
            <a:avLst/>
          </a:prstGeom>
          <a:noFill/>
          <a:ln/>
        </p:spPr>
        <p:txBody>
          <a:bodyPr wrap="none" lIns="0" tIns="0" rIns="0" bIns="0" rtlCol="0" anchor="ctr"/>
          <a:lstStyle/>
          <a:p>
            <a:pPr algn="ctr" indent="0" marL="0">
              <a:buNone/>
            </a:pPr>
            <a:r>
              <a:rPr lang="en-US" sz="1688" dirty="0">
                <a:solidFill>
                  <a:srgbClr val="D4A854"/>
                </a:solidFill>
                <a:latin typeface="Segoe UI Symbol" pitchFamily="34" charset="0"/>
                <a:ea typeface="Segoe UI Symbol" pitchFamily="34" charset="-122"/>
                <a:cs typeface="Segoe UI Symbol" pitchFamily="34" charset="-120"/>
              </a:rPr>
              <a:t>◆</a:t>
            </a:r>
            <a:endParaRPr lang="en-US" sz="1688" dirty="0"/>
          </a:p>
        </p:txBody>
      </p:sp>
      <p:sp>
        <p:nvSpPr>
          <p:cNvPr id="40" name="Text 38"/>
          <p:cNvSpPr/>
          <p:nvPr/>
        </p:nvSpPr>
        <p:spPr>
          <a:xfrm>
            <a:off x="1028700" y="4350432"/>
            <a:ext cx="7529513" cy="185287"/>
          </a:xfrm>
          <a:prstGeom prst="rect">
            <a:avLst/>
          </a:prstGeom>
          <a:noFill/>
          <a:ln/>
        </p:spPr>
        <p:txBody>
          <a:bodyPr wrap="square" lIns="0" tIns="0" rIns="0" bIns="0" rtlCol="0" anchor="t"/>
          <a:lstStyle/>
          <a:p>
            <a:pPr algn="l" indent="0" marL="0">
              <a:lnSpc>
                <a:spcPts val="1351"/>
              </a:lnSpc>
              <a:buNone/>
            </a:pPr>
            <a:r>
              <a:rPr lang="en-US" sz="872" b="1" dirty="0">
                <a:solidFill>
                  <a:srgbClr val="1A1A1A"/>
                </a:solidFill>
                <a:latin typeface="Carlito" pitchFamily="34" charset="0"/>
                <a:ea typeface="Carlito" pitchFamily="34" charset="-122"/>
                <a:cs typeface="Carlito" pitchFamily="34" charset="-120"/>
              </a:rPr>
              <a:t>Правило LOVII:</a:t>
            </a:r>
            <a:pPr algn="l" indent="0" marL="0">
              <a:lnSpc>
                <a:spcPts val="1351"/>
              </a:lnSpc>
              <a:buNone/>
            </a:pPr>
            <a:r>
              <a:rPr lang="en-US" sz="872" dirty="0">
                <a:solidFill>
                  <a:srgbClr val="1A1A1A"/>
                </a:solidFill>
                <a:latin typeface="Carlito" pitchFamily="34" charset="0"/>
                <a:ea typeface="Carlito" pitchFamily="34" charset="-122"/>
                <a:cs typeface="Carlito" pitchFamily="34" charset="-120"/>
              </a:rPr>
              <a:t> сначала кто и где, потом свет и тон — начало промта нейросеть взвешивает сильнее, чем конец.</a:t>
            </a:r>
            <a:endParaRPr lang="en-US" sz="872"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F64A8A"/>
                </a:solidFill>
                <a:latin typeface="Carlito" pitchFamily="34" charset="0"/>
                <a:ea typeface="Carlito" pitchFamily="34" charset="-122"/>
                <a:cs typeface="Carlito" pitchFamily="34" charset="-120"/>
              </a:rPr>
              <a:t>ВИЗУАЛЬНЫЙ ЯЗЫК</a:t>
            </a:r>
            <a:endParaRPr lang="en-US" sz="800" dirty="0"/>
          </a:p>
        </p:txBody>
      </p:sp>
      <p:sp>
        <p:nvSpPr>
          <p:cNvPr id="3" name="Text 1"/>
          <p:cNvSpPr/>
          <p:nvPr/>
        </p:nvSpPr>
        <p:spPr>
          <a:xfrm>
            <a:off x="457200" y="603647"/>
            <a:ext cx="8636000" cy="337060"/>
          </a:xfrm>
          <a:prstGeom prst="rect">
            <a:avLst/>
          </a:prstGeom>
          <a:noFill/>
          <a:ln/>
        </p:spPr>
        <p:txBody>
          <a:bodyPr wrap="square" lIns="0" tIns="0" rIns="0" bIns="0" rtlCol="0" anchor="t"/>
          <a:lstStyle/>
          <a:p>
            <a:pPr algn="l" indent="0" marL="0">
              <a:lnSpc>
                <a:spcPts val="2458"/>
              </a:lnSpc>
              <a:buNone/>
            </a:pPr>
            <a:r>
              <a:rPr lang="en-US" sz="2138" b="1" spc="-32" kern="0" dirty="0">
                <a:solidFill>
                  <a:srgbClr val="1A1A1A"/>
                </a:solidFill>
                <a:latin typeface="Carlito" pitchFamily="34" charset="0"/>
                <a:ea typeface="Carlito" pitchFamily="34" charset="-122"/>
                <a:cs typeface="Carlito" pitchFamily="34" charset="-120"/>
              </a:rPr>
              <a:t>Шесть правил визуального контента LOVII</a:t>
            </a:r>
            <a:endParaRPr lang="en-US" sz="2138" dirty="0"/>
          </a:p>
        </p:txBody>
      </p:sp>
      <p:sp>
        <p:nvSpPr>
          <p:cNvPr id="4" name="Text 2"/>
          <p:cNvSpPr/>
          <p:nvPr/>
        </p:nvSpPr>
        <p:spPr>
          <a:xfrm>
            <a:off x="457200" y="1101477"/>
            <a:ext cx="2647876" cy="1749549"/>
          </a:xfrm>
          <a:prstGeom prst="roundRect">
            <a:avLst>
              <a:gd name="adj" fmla="val 6533"/>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5" name="Text 3"/>
          <p:cNvSpPr/>
          <p:nvPr/>
        </p:nvSpPr>
        <p:spPr>
          <a:xfrm>
            <a:off x="657225" y="1656234"/>
            <a:ext cx="257175" cy="257175"/>
          </a:xfrm>
          <a:prstGeom prst="roundRect">
            <a:avLst>
              <a:gd name="adj" fmla="val 3700000"/>
            </a:avLst>
          </a:prstGeom>
          <a:solidFill>
            <a:srgbClr val="F64A8A">
              <a:alpha val="12000"/>
            </a:srgbClr>
          </a:solidFill>
          <a:ln/>
        </p:spPr>
        <p:txBody>
          <a:bodyPr wrap="square" rtlCol="0" anchor="ctr"/>
          <a:lstStyle/>
          <a:p>
            <a:pPr indent="0" marL="0">
              <a:buNone/>
            </a:pPr>
            <a:endParaRPr lang="en-US" dirty="0"/>
          </a:p>
        </p:txBody>
      </p:sp>
      <p:sp>
        <p:nvSpPr>
          <p:cNvPr id="6" name="Text 4"/>
          <p:cNvSpPr/>
          <p:nvPr/>
        </p:nvSpPr>
        <p:spPr>
          <a:xfrm>
            <a:off x="657225" y="1656234"/>
            <a:ext cx="300038" cy="257175"/>
          </a:xfrm>
          <a:prstGeom prst="rect">
            <a:avLst/>
          </a:prstGeom>
          <a:noFill/>
          <a:ln/>
        </p:spPr>
        <p:txBody>
          <a:bodyPr wrap="none" lIns="0" tIns="0" rIns="0" bIns="0" rtlCol="0" anchor="ctr"/>
          <a:lstStyle/>
          <a:p>
            <a:pPr algn="ctr" indent="0" marL="0">
              <a:lnSpc>
                <a:spcPts val="1266"/>
              </a:lnSpc>
              <a:buNone/>
            </a:pPr>
            <a:r>
              <a:rPr lang="en-US" sz="844" b="1" dirty="0">
                <a:solidFill>
                  <a:srgbClr val="C92A6A"/>
                </a:solidFill>
                <a:latin typeface="Liberation Sans Narrow" pitchFamily="34" charset="0"/>
                <a:ea typeface="Liberation Sans Narrow" pitchFamily="34" charset="-122"/>
                <a:cs typeface="Liberation Sans Narrow" pitchFamily="34" charset="-120"/>
              </a:rPr>
              <a:t>1</a:t>
            </a:r>
            <a:endParaRPr lang="en-US" sz="844" dirty="0"/>
          </a:p>
        </p:txBody>
      </p:sp>
      <p:sp>
        <p:nvSpPr>
          <p:cNvPr id="7" name="Text 5"/>
          <p:cNvSpPr/>
          <p:nvPr/>
        </p:nvSpPr>
        <p:spPr>
          <a:xfrm>
            <a:off x="1000125" y="1683023"/>
            <a:ext cx="1904926" cy="219885"/>
          </a:xfrm>
          <a:prstGeom prst="rect">
            <a:avLst/>
          </a:prstGeom>
          <a:noFill/>
          <a:ln/>
        </p:spPr>
        <p:txBody>
          <a:bodyPr wrap="none" lIns="0" tIns="0" rIns="0" bIns="0" rtlCol="0" anchor="t"/>
          <a:lstStyle/>
          <a:p>
            <a:pPr algn="l" indent="0" marL="0">
              <a:lnSpc>
                <a:spcPts val="1603"/>
              </a:lnSpc>
              <a:buNone/>
            </a:pPr>
            <a:r>
              <a:rPr lang="en-US" sz="1069" b="1" spc="-11" kern="0" dirty="0">
                <a:solidFill>
                  <a:srgbClr val="1A1A1A"/>
                </a:solidFill>
                <a:latin typeface="Carlito" pitchFamily="34" charset="0"/>
                <a:ea typeface="Carlito" pitchFamily="34" charset="-122"/>
                <a:cs typeface="Carlito" pitchFamily="34" charset="-120"/>
              </a:rPr>
              <a:t>Тёплый живой свет</a:t>
            </a:r>
            <a:endParaRPr lang="en-US" sz="1069" dirty="0"/>
          </a:p>
        </p:txBody>
      </p:sp>
      <p:sp>
        <p:nvSpPr>
          <p:cNvPr id="8" name="Text 6"/>
          <p:cNvSpPr/>
          <p:nvPr/>
        </p:nvSpPr>
        <p:spPr>
          <a:xfrm>
            <a:off x="657225" y="1999134"/>
            <a:ext cx="2247826" cy="351077"/>
          </a:xfrm>
          <a:prstGeom prst="rect">
            <a:avLst/>
          </a:prstGeom>
          <a:noFill/>
          <a:ln/>
        </p:spPr>
        <p:txBody>
          <a:bodyPr wrap="square" lIns="0" tIns="0" rIns="0" bIns="0" rtlCol="0" anchor="t"/>
          <a:lstStyle/>
          <a:p>
            <a:pPr algn="l" indent="0" marL="0">
              <a:lnSpc>
                <a:spcPts val="1170"/>
              </a:lnSpc>
              <a:buNone/>
            </a:pPr>
            <a:r>
              <a:rPr lang="en-US" sz="800" dirty="0">
                <a:solidFill>
                  <a:srgbClr val="888888"/>
                </a:solidFill>
                <a:latin typeface="Carlito" pitchFamily="34" charset="0"/>
                <a:ea typeface="Carlito" pitchFamily="34" charset="-122"/>
                <a:cs typeface="Carlito" pitchFamily="34" charset="-120"/>
              </a:rPr>
              <a:t>golden hour, мягкие тени, дневной свет из окон. Холодный студийный неон — только со смыслом.</a:t>
            </a:r>
            <a:endParaRPr lang="en-US" sz="800" dirty="0"/>
          </a:p>
        </p:txBody>
      </p:sp>
      <p:sp>
        <p:nvSpPr>
          <p:cNvPr id="9" name="Text 7"/>
          <p:cNvSpPr/>
          <p:nvPr/>
        </p:nvSpPr>
        <p:spPr>
          <a:xfrm>
            <a:off x="3247951" y="1101477"/>
            <a:ext cx="2647987" cy="1749549"/>
          </a:xfrm>
          <a:prstGeom prst="roundRect">
            <a:avLst>
              <a:gd name="adj" fmla="val 6533"/>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0" name="Text 8"/>
          <p:cNvSpPr/>
          <p:nvPr/>
        </p:nvSpPr>
        <p:spPr>
          <a:xfrm>
            <a:off x="3447976" y="1656234"/>
            <a:ext cx="257175" cy="257175"/>
          </a:xfrm>
          <a:prstGeom prst="roundRect">
            <a:avLst>
              <a:gd name="adj" fmla="val 3700000"/>
            </a:avLst>
          </a:prstGeom>
          <a:solidFill>
            <a:srgbClr val="0ABAB5">
              <a:alpha val="10000"/>
            </a:srgbClr>
          </a:solidFill>
          <a:ln/>
        </p:spPr>
        <p:txBody>
          <a:bodyPr wrap="square" rtlCol="0" anchor="ctr"/>
          <a:lstStyle/>
          <a:p>
            <a:pPr indent="0" marL="0">
              <a:buNone/>
            </a:pPr>
            <a:endParaRPr lang="en-US" dirty="0"/>
          </a:p>
        </p:txBody>
      </p:sp>
      <p:sp>
        <p:nvSpPr>
          <p:cNvPr id="11" name="Text 9"/>
          <p:cNvSpPr/>
          <p:nvPr/>
        </p:nvSpPr>
        <p:spPr>
          <a:xfrm>
            <a:off x="3447976" y="1656234"/>
            <a:ext cx="300038" cy="257175"/>
          </a:xfrm>
          <a:prstGeom prst="rect">
            <a:avLst/>
          </a:prstGeom>
          <a:noFill/>
          <a:ln/>
        </p:spPr>
        <p:txBody>
          <a:bodyPr wrap="none" lIns="0" tIns="0" rIns="0" bIns="0" rtlCol="0" anchor="ctr"/>
          <a:lstStyle/>
          <a:p>
            <a:pPr algn="ctr" indent="0" marL="0">
              <a:lnSpc>
                <a:spcPts val="1266"/>
              </a:lnSpc>
              <a:buNone/>
            </a:pPr>
            <a:r>
              <a:rPr lang="en-US" sz="844" b="1" dirty="0">
                <a:solidFill>
                  <a:srgbClr val="07807C"/>
                </a:solidFill>
                <a:latin typeface="Liberation Sans Narrow" pitchFamily="34" charset="0"/>
                <a:ea typeface="Liberation Sans Narrow" pitchFamily="34" charset="-122"/>
                <a:cs typeface="Liberation Sans Narrow" pitchFamily="34" charset="-120"/>
              </a:rPr>
              <a:t>2</a:t>
            </a:r>
            <a:endParaRPr lang="en-US" sz="844" dirty="0"/>
          </a:p>
        </p:txBody>
      </p:sp>
      <p:sp>
        <p:nvSpPr>
          <p:cNvPr id="12" name="Text 10"/>
          <p:cNvSpPr/>
          <p:nvPr/>
        </p:nvSpPr>
        <p:spPr>
          <a:xfrm>
            <a:off x="3790876" y="1683023"/>
            <a:ext cx="1905037" cy="219885"/>
          </a:xfrm>
          <a:prstGeom prst="rect">
            <a:avLst/>
          </a:prstGeom>
          <a:noFill/>
          <a:ln/>
        </p:spPr>
        <p:txBody>
          <a:bodyPr wrap="none" lIns="0" tIns="0" rIns="0" bIns="0" rtlCol="0" anchor="t"/>
          <a:lstStyle/>
          <a:p>
            <a:pPr algn="l" indent="0" marL="0">
              <a:lnSpc>
                <a:spcPts val="1603"/>
              </a:lnSpc>
              <a:buNone/>
            </a:pPr>
            <a:r>
              <a:rPr lang="en-US" sz="1069" b="1" spc="-11" kern="0" dirty="0">
                <a:solidFill>
                  <a:srgbClr val="1A1A1A"/>
                </a:solidFill>
                <a:latin typeface="Carlito" pitchFamily="34" charset="0"/>
                <a:ea typeface="Carlito" pitchFamily="34" charset="-122"/>
                <a:cs typeface="Carlito" pitchFamily="34" charset="-120"/>
              </a:rPr>
              <a:t>Настоящие люди</a:t>
            </a:r>
            <a:endParaRPr lang="en-US" sz="1069" dirty="0"/>
          </a:p>
        </p:txBody>
      </p:sp>
      <p:sp>
        <p:nvSpPr>
          <p:cNvPr id="13" name="Text 11"/>
          <p:cNvSpPr/>
          <p:nvPr/>
        </p:nvSpPr>
        <p:spPr>
          <a:xfrm>
            <a:off x="3447976" y="1999134"/>
            <a:ext cx="2247937" cy="351077"/>
          </a:xfrm>
          <a:prstGeom prst="rect">
            <a:avLst/>
          </a:prstGeom>
          <a:noFill/>
          <a:ln/>
        </p:spPr>
        <p:txBody>
          <a:bodyPr wrap="square" lIns="0" tIns="0" rIns="0" bIns="0" rtlCol="0" anchor="t"/>
          <a:lstStyle/>
          <a:p>
            <a:pPr algn="l" indent="0" marL="0">
              <a:lnSpc>
                <a:spcPts val="1170"/>
              </a:lnSpc>
              <a:buNone/>
            </a:pPr>
            <a:r>
              <a:rPr lang="en-US" sz="800" dirty="0">
                <a:solidFill>
                  <a:srgbClr val="888888"/>
                </a:solidFill>
                <a:latin typeface="Carlito" pitchFamily="34" charset="0"/>
                <a:ea typeface="Carlito" pitchFamily="34" charset="-122"/>
                <a:cs typeface="Carlito" pitchFamily="34" charset="-120"/>
              </a:rPr>
              <a:t>естественные эмоции, разные лица и возраст района. Без „стоковых“ заученных улыбок.</a:t>
            </a:r>
            <a:endParaRPr lang="en-US" sz="800" dirty="0"/>
          </a:p>
        </p:txBody>
      </p:sp>
      <p:sp>
        <p:nvSpPr>
          <p:cNvPr id="14" name="Text 12"/>
          <p:cNvSpPr/>
          <p:nvPr/>
        </p:nvSpPr>
        <p:spPr>
          <a:xfrm>
            <a:off x="6038813" y="1101477"/>
            <a:ext cx="2647876" cy="1749549"/>
          </a:xfrm>
          <a:prstGeom prst="roundRect">
            <a:avLst>
              <a:gd name="adj" fmla="val 6533"/>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5" name="Text 13"/>
          <p:cNvSpPr/>
          <p:nvPr/>
        </p:nvSpPr>
        <p:spPr>
          <a:xfrm>
            <a:off x="6238838" y="1656234"/>
            <a:ext cx="257175" cy="257175"/>
          </a:xfrm>
          <a:prstGeom prst="roundRect">
            <a:avLst>
              <a:gd name="adj" fmla="val 3700000"/>
            </a:avLst>
          </a:prstGeom>
          <a:solidFill>
            <a:srgbClr val="D4A854">
              <a:alpha val="14000"/>
            </a:srgbClr>
          </a:solidFill>
          <a:ln/>
        </p:spPr>
        <p:txBody>
          <a:bodyPr wrap="square" rtlCol="0" anchor="ctr"/>
          <a:lstStyle/>
          <a:p>
            <a:pPr indent="0" marL="0">
              <a:buNone/>
            </a:pPr>
            <a:endParaRPr lang="en-US" dirty="0"/>
          </a:p>
        </p:txBody>
      </p:sp>
      <p:sp>
        <p:nvSpPr>
          <p:cNvPr id="16" name="Text 14"/>
          <p:cNvSpPr/>
          <p:nvPr/>
        </p:nvSpPr>
        <p:spPr>
          <a:xfrm>
            <a:off x="6238838" y="1656234"/>
            <a:ext cx="300038" cy="257175"/>
          </a:xfrm>
          <a:prstGeom prst="rect">
            <a:avLst/>
          </a:prstGeom>
          <a:noFill/>
          <a:ln/>
        </p:spPr>
        <p:txBody>
          <a:bodyPr wrap="none" lIns="0" tIns="0" rIns="0" bIns="0" rtlCol="0" anchor="ctr"/>
          <a:lstStyle/>
          <a:p>
            <a:pPr algn="ctr" indent="0" marL="0">
              <a:lnSpc>
                <a:spcPts val="1266"/>
              </a:lnSpc>
              <a:buNone/>
            </a:pPr>
            <a:r>
              <a:rPr lang="en-US" sz="844" b="1" dirty="0">
                <a:solidFill>
                  <a:srgbClr val="8A6A25"/>
                </a:solidFill>
                <a:latin typeface="Liberation Sans Narrow" pitchFamily="34" charset="0"/>
                <a:ea typeface="Liberation Sans Narrow" pitchFamily="34" charset="-122"/>
                <a:cs typeface="Liberation Sans Narrow" pitchFamily="34" charset="-120"/>
              </a:rPr>
              <a:t>3</a:t>
            </a:r>
            <a:endParaRPr lang="en-US" sz="844" dirty="0"/>
          </a:p>
        </p:txBody>
      </p:sp>
      <p:sp>
        <p:nvSpPr>
          <p:cNvPr id="17" name="Text 15"/>
          <p:cNvSpPr/>
          <p:nvPr/>
        </p:nvSpPr>
        <p:spPr>
          <a:xfrm>
            <a:off x="6581738" y="1683023"/>
            <a:ext cx="1904926" cy="219885"/>
          </a:xfrm>
          <a:prstGeom prst="rect">
            <a:avLst/>
          </a:prstGeom>
          <a:noFill/>
          <a:ln/>
        </p:spPr>
        <p:txBody>
          <a:bodyPr wrap="none" lIns="0" tIns="0" rIns="0" bIns="0" rtlCol="0" anchor="t"/>
          <a:lstStyle/>
          <a:p>
            <a:pPr algn="l" indent="0" marL="0">
              <a:lnSpc>
                <a:spcPts val="1603"/>
              </a:lnSpc>
              <a:buNone/>
            </a:pPr>
            <a:r>
              <a:rPr lang="en-US" sz="1069" b="1" spc="-11" kern="0" dirty="0">
                <a:solidFill>
                  <a:srgbClr val="1A1A1A"/>
                </a:solidFill>
                <a:latin typeface="Carlito" pitchFamily="34" charset="0"/>
                <a:ea typeface="Carlito" pitchFamily="34" charset="-122"/>
                <a:cs typeface="Carlito" pitchFamily="34" charset="-120"/>
              </a:rPr>
              <a:t>Локальность прежде всего</a:t>
            </a:r>
            <a:endParaRPr lang="en-US" sz="1069" dirty="0"/>
          </a:p>
        </p:txBody>
      </p:sp>
      <p:sp>
        <p:nvSpPr>
          <p:cNvPr id="18" name="Text 16"/>
          <p:cNvSpPr/>
          <p:nvPr/>
        </p:nvSpPr>
        <p:spPr>
          <a:xfrm>
            <a:off x="6238838" y="1999134"/>
            <a:ext cx="2247826" cy="351077"/>
          </a:xfrm>
          <a:prstGeom prst="rect">
            <a:avLst/>
          </a:prstGeom>
          <a:noFill/>
          <a:ln/>
        </p:spPr>
        <p:txBody>
          <a:bodyPr wrap="square" lIns="0" tIns="0" rIns="0" bIns="0" rtlCol="0" anchor="t"/>
          <a:lstStyle/>
          <a:p>
            <a:pPr algn="l" indent="0" marL="0">
              <a:lnSpc>
                <a:spcPts val="1170"/>
              </a:lnSpc>
              <a:buNone/>
            </a:pPr>
            <a:r>
              <a:rPr lang="en-US" sz="800" dirty="0">
                <a:solidFill>
                  <a:srgbClr val="888888"/>
                </a:solidFill>
                <a:latin typeface="Carlito" pitchFamily="34" charset="0"/>
                <a:ea typeface="Carlito" pitchFamily="34" charset="-122"/>
                <a:cs typeface="Carlito" pitchFamily="34" charset="-120"/>
              </a:rPr>
              <a:t>районные кафе, пекарни, рынки, дворы. Зритель должен узнать свою улицу.</a:t>
            </a:r>
            <a:endParaRPr lang="en-US" sz="800" dirty="0"/>
          </a:p>
        </p:txBody>
      </p:sp>
      <p:sp>
        <p:nvSpPr>
          <p:cNvPr id="19" name="Text 17"/>
          <p:cNvSpPr/>
          <p:nvPr/>
        </p:nvSpPr>
        <p:spPr>
          <a:xfrm>
            <a:off x="457200" y="2993901"/>
            <a:ext cx="2647876" cy="1749549"/>
          </a:xfrm>
          <a:prstGeom prst="roundRect">
            <a:avLst>
              <a:gd name="adj" fmla="val 6533"/>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0" name="Text 18"/>
          <p:cNvSpPr/>
          <p:nvPr/>
        </p:nvSpPr>
        <p:spPr>
          <a:xfrm>
            <a:off x="657225" y="3548658"/>
            <a:ext cx="257175" cy="257175"/>
          </a:xfrm>
          <a:prstGeom prst="roundRect">
            <a:avLst>
              <a:gd name="adj" fmla="val 3700000"/>
            </a:avLst>
          </a:prstGeom>
          <a:solidFill>
            <a:srgbClr val="C92A6A">
              <a:alpha val="12000"/>
            </a:srgbClr>
          </a:solidFill>
          <a:ln/>
        </p:spPr>
        <p:txBody>
          <a:bodyPr wrap="square" rtlCol="0" anchor="ctr"/>
          <a:lstStyle/>
          <a:p>
            <a:pPr indent="0" marL="0">
              <a:buNone/>
            </a:pPr>
            <a:endParaRPr lang="en-US" dirty="0"/>
          </a:p>
        </p:txBody>
      </p:sp>
      <p:sp>
        <p:nvSpPr>
          <p:cNvPr id="21" name="Text 19"/>
          <p:cNvSpPr/>
          <p:nvPr/>
        </p:nvSpPr>
        <p:spPr>
          <a:xfrm>
            <a:off x="657225" y="3548658"/>
            <a:ext cx="300038" cy="257175"/>
          </a:xfrm>
          <a:prstGeom prst="rect">
            <a:avLst/>
          </a:prstGeom>
          <a:noFill/>
          <a:ln/>
        </p:spPr>
        <p:txBody>
          <a:bodyPr wrap="none" lIns="0" tIns="0" rIns="0" bIns="0" rtlCol="0" anchor="ctr"/>
          <a:lstStyle/>
          <a:p>
            <a:pPr algn="ctr" indent="0" marL="0">
              <a:lnSpc>
                <a:spcPts val="1266"/>
              </a:lnSpc>
              <a:buNone/>
            </a:pPr>
            <a:r>
              <a:rPr lang="en-US" sz="844" b="1" dirty="0">
                <a:solidFill>
                  <a:srgbClr val="C92A6A"/>
                </a:solidFill>
                <a:latin typeface="Liberation Sans Narrow" pitchFamily="34" charset="0"/>
                <a:ea typeface="Liberation Sans Narrow" pitchFamily="34" charset="-122"/>
                <a:cs typeface="Liberation Sans Narrow" pitchFamily="34" charset="-120"/>
              </a:rPr>
              <a:t>4</a:t>
            </a:r>
            <a:endParaRPr lang="en-US" sz="844" dirty="0"/>
          </a:p>
        </p:txBody>
      </p:sp>
      <p:sp>
        <p:nvSpPr>
          <p:cNvPr id="22" name="Text 20"/>
          <p:cNvSpPr/>
          <p:nvPr/>
        </p:nvSpPr>
        <p:spPr>
          <a:xfrm>
            <a:off x="1000125" y="3575447"/>
            <a:ext cx="1904926" cy="219885"/>
          </a:xfrm>
          <a:prstGeom prst="rect">
            <a:avLst/>
          </a:prstGeom>
          <a:noFill/>
          <a:ln/>
        </p:spPr>
        <p:txBody>
          <a:bodyPr wrap="none" lIns="0" tIns="0" rIns="0" bIns="0" rtlCol="0" anchor="t"/>
          <a:lstStyle/>
          <a:p>
            <a:pPr algn="l" indent="0" marL="0">
              <a:lnSpc>
                <a:spcPts val="1603"/>
              </a:lnSpc>
              <a:buNone/>
            </a:pPr>
            <a:r>
              <a:rPr lang="en-US" sz="1069" b="1" spc="-11" kern="0" dirty="0">
                <a:solidFill>
                  <a:srgbClr val="1A1A1A"/>
                </a:solidFill>
                <a:latin typeface="Carlito" pitchFamily="34" charset="0"/>
                <a:ea typeface="Carlito" pitchFamily="34" charset="-122"/>
                <a:cs typeface="Carlito" pitchFamily="34" charset="-120"/>
              </a:rPr>
              <a:t>Воздух и чистый фон</a:t>
            </a:r>
            <a:endParaRPr lang="en-US" sz="1069" dirty="0"/>
          </a:p>
        </p:txBody>
      </p:sp>
      <p:sp>
        <p:nvSpPr>
          <p:cNvPr id="23" name="Text 21"/>
          <p:cNvSpPr/>
          <p:nvPr/>
        </p:nvSpPr>
        <p:spPr>
          <a:xfrm>
            <a:off x="657225" y="3891558"/>
            <a:ext cx="2247826" cy="351077"/>
          </a:xfrm>
          <a:prstGeom prst="rect">
            <a:avLst/>
          </a:prstGeom>
          <a:noFill/>
          <a:ln/>
        </p:spPr>
        <p:txBody>
          <a:bodyPr wrap="square" lIns="0" tIns="0" rIns="0" bIns="0" rtlCol="0" anchor="t"/>
          <a:lstStyle/>
          <a:p>
            <a:pPr algn="l" indent="0" marL="0">
              <a:lnSpc>
                <a:spcPts val="1170"/>
              </a:lnSpc>
              <a:buNone/>
            </a:pPr>
            <a:r>
              <a:rPr lang="en-US" sz="800" dirty="0">
                <a:solidFill>
                  <a:srgbClr val="888888"/>
                </a:solidFill>
                <a:latin typeface="Carlito" pitchFamily="34" charset="0"/>
                <a:ea typeface="Carlito" pitchFamily="34" charset="-122"/>
                <a:cs typeface="Carlito" pitchFamily="34" charset="-120"/>
              </a:rPr>
              <a:t>светлые поверхности </a:t>
            </a:r>
            <a:pPr algn="l" indent="0" marL="0">
              <a:lnSpc>
                <a:spcPts val="1170"/>
              </a:lnSpc>
              <a:buNone/>
            </a:pPr>
            <a:r>
              <a:rPr lang="en-US" sz="800" dirty="0">
                <a:solidFill>
                  <a:srgbClr val="888888"/>
                </a:solidFill>
                <a:latin typeface="Liberation Sans Narrow" pitchFamily="34" charset="0"/>
                <a:ea typeface="Liberation Sans Narrow" pitchFamily="34" charset="-122"/>
                <a:cs typeface="Liberation Sans Narrow" pitchFamily="34" charset="-120"/>
              </a:rPr>
              <a:t>#F8F8F8</a:t>
            </a:r>
            <a:pPr algn="l" indent="0" marL="0">
              <a:lnSpc>
                <a:spcPts val="1170"/>
              </a:lnSpc>
              <a:buNone/>
            </a:pPr>
            <a:r>
              <a:rPr lang="en-US" sz="800" dirty="0">
                <a:solidFill>
                  <a:srgbClr val="888888"/>
                </a:solidFill>
                <a:latin typeface="Carlito" pitchFamily="34" charset="0"/>
                <a:ea typeface="Carlito" pitchFamily="34" charset="-122"/>
                <a:cs typeface="Carlito" pitchFamily="34" charset="-120"/>
              </a:rPr>
              <a:t>, свободное место под текст и логотип платформы.</a:t>
            </a:r>
            <a:endParaRPr lang="en-US" sz="800" dirty="0"/>
          </a:p>
        </p:txBody>
      </p:sp>
      <p:sp>
        <p:nvSpPr>
          <p:cNvPr id="24" name="Text 22"/>
          <p:cNvSpPr/>
          <p:nvPr/>
        </p:nvSpPr>
        <p:spPr>
          <a:xfrm>
            <a:off x="3247951" y="2993901"/>
            <a:ext cx="2647987" cy="1749549"/>
          </a:xfrm>
          <a:prstGeom prst="roundRect">
            <a:avLst>
              <a:gd name="adj" fmla="val 6533"/>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5" name="Text 23"/>
          <p:cNvSpPr/>
          <p:nvPr/>
        </p:nvSpPr>
        <p:spPr>
          <a:xfrm>
            <a:off x="3447976" y="3548658"/>
            <a:ext cx="257175" cy="257175"/>
          </a:xfrm>
          <a:prstGeom prst="roundRect">
            <a:avLst>
              <a:gd name="adj" fmla="val 3700000"/>
            </a:avLst>
          </a:prstGeom>
          <a:solidFill>
            <a:srgbClr val="1A1A1A">
              <a:alpha val="6000"/>
            </a:srgbClr>
          </a:solidFill>
          <a:ln/>
        </p:spPr>
        <p:txBody>
          <a:bodyPr wrap="square" rtlCol="0" anchor="ctr"/>
          <a:lstStyle/>
          <a:p>
            <a:pPr indent="0" marL="0">
              <a:buNone/>
            </a:pPr>
            <a:endParaRPr lang="en-US" dirty="0"/>
          </a:p>
        </p:txBody>
      </p:sp>
      <p:sp>
        <p:nvSpPr>
          <p:cNvPr id="26" name="Text 24"/>
          <p:cNvSpPr/>
          <p:nvPr/>
        </p:nvSpPr>
        <p:spPr>
          <a:xfrm>
            <a:off x="3447976" y="3548658"/>
            <a:ext cx="300038" cy="257175"/>
          </a:xfrm>
          <a:prstGeom prst="rect">
            <a:avLst/>
          </a:prstGeom>
          <a:noFill/>
          <a:ln/>
        </p:spPr>
        <p:txBody>
          <a:bodyPr wrap="none" lIns="0" tIns="0" rIns="0" bIns="0" rtlCol="0" anchor="ctr"/>
          <a:lstStyle/>
          <a:p>
            <a:pPr algn="ctr" indent="0" marL="0">
              <a:lnSpc>
                <a:spcPts val="1266"/>
              </a:lnSpc>
              <a:buNone/>
            </a:pPr>
            <a:r>
              <a:rPr lang="en-US" sz="844" b="1" dirty="0">
                <a:solidFill>
                  <a:srgbClr val="1A1A1A"/>
                </a:solidFill>
                <a:latin typeface="Liberation Sans Narrow" pitchFamily="34" charset="0"/>
                <a:ea typeface="Liberation Sans Narrow" pitchFamily="34" charset="-122"/>
                <a:cs typeface="Liberation Sans Narrow" pitchFamily="34" charset="-120"/>
              </a:rPr>
              <a:t>5</a:t>
            </a:r>
            <a:endParaRPr lang="en-US" sz="844" dirty="0"/>
          </a:p>
        </p:txBody>
      </p:sp>
      <p:sp>
        <p:nvSpPr>
          <p:cNvPr id="27" name="Text 25"/>
          <p:cNvSpPr/>
          <p:nvPr/>
        </p:nvSpPr>
        <p:spPr>
          <a:xfrm>
            <a:off x="3790876" y="3575447"/>
            <a:ext cx="1905037" cy="219885"/>
          </a:xfrm>
          <a:prstGeom prst="rect">
            <a:avLst/>
          </a:prstGeom>
          <a:noFill/>
          <a:ln/>
        </p:spPr>
        <p:txBody>
          <a:bodyPr wrap="none" lIns="0" tIns="0" rIns="0" bIns="0" rtlCol="0" anchor="t"/>
          <a:lstStyle/>
          <a:p>
            <a:pPr algn="l" indent="0" marL="0">
              <a:lnSpc>
                <a:spcPts val="1603"/>
              </a:lnSpc>
              <a:buNone/>
            </a:pPr>
            <a:r>
              <a:rPr lang="en-US" sz="1069" b="1" spc="-11" kern="0" dirty="0">
                <a:solidFill>
                  <a:srgbClr val="1A1A1A"/>
                </a:solidFill>
                <a:latin typeface="Carlito" pitchFamily="34" charset="0"/>
                <a:ea typeface="Carlito" pitchFamily="34" charset="-122"/>
                <a:cs typeface="Carlito" pitchFamily="34" charset="-120"/>
              </a:rPr>
              <a:t>Акцент по роли</a:t>
            </a:r>
            <a:endParaRPr lang="en-US" sz="1069" dirty="0"/>
          </a:p>
        </p:txBody>
      </p:sp>
      <p:sp>
        <p:nvSpPr>
          <p:cNvPr id="28" name="Text 26"/>
          <p:cNvSpPr/>
          <p:nvPr/>
        </p:nvSpPr>
        <p:spPr>
          <a:xfrm>
            <a:off x="3447976" y="3891558"/>
            <a:ext cx="2247937" cy="351077"/>
          </a:xfrm>
          <a:prstGeom prst="rect">
            <a:avLst/>
          </a:prstGeom>
          <a:noFill/>
          <a:ln/>
        </p:spPr>
        <p:txBody>
          <a:bodyPr wrap="square" lIns="0" tIns="0" rIns="0" bIns="0" rtlCol="0" anchor="t"/>
          <a:lstStyle/>
          <a:p>
            <a:pPr algn="l" indent="0" marL="0">
              <a:lnSpc>
                <a:spcPts val="1170"/>
              </a:lnSpc>
              <a:buNone/>
            </a:pPr>
            <a:r>
              <a:rPr lang="en-US" sz="800" dirty="0">
                <a:solidFill>
                  <a:srgbClr val="888888"/>
                </a:solidFill>
                <a:latin typeface="Carlito" pitchFamily="34" charset="0"/>
                <a:ea typeface="Carlito" pitchFamily="34" charset="-122"/>
                <a:cs typeface="Carlito" pitchFamily="34" charset="-120"/>
              </a:rPr>
              <a:t>цветовой тон раздела в деталях кадра: вывеска, чашка, упаковка, одежда.</a:t>
            </a:r>
            <a:endParaRPr lang="en-US" sz="800" dirty="0"/>
          </a:p>
        </p:txBody>
      </p:sp>
      <p:sp>
        <p:nvSpPr>
          <p:cNvPr id="29" name="Text 27"/>
          <p:cNvSpPr/>
          <p:nvPr/>
        </p:nvSpPr>
        <p:spPr>
          <a:xfrm>
            <a:off x="6038813" y="2993901"/>
            <a:ext cx="2647876" cy="1749549"/>
          </a:xfrm>
          <a:prstGeom prst="roundRect">
            <a:avLst>
              <a:gd name="adj" fmla="val 6533"/>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pic>
        <p:nvPicPr>
          <p:cNvPr id="30" name="Image 0" descr="preencoded.png">    </p:cNvPr>
          <p:cNvPicPr>
            <a:picLocks noChangeAspect="1"/>
          </p:cNvPicPr>
          <p:nvPr/>
        </p:nvPicPr>
        <p:blipFill>
          <a:blip r:embed="rId1"/>
          <a:stretch>
            <a:fillRect/>
          </a:stretch>
        </p:blipFill>
        <p:spPr>
          <a:xfrm>
            <a:off x="6238838" y="3548658"/>
            <a:ext cx="257175" cy="257175"/>
          </a:xfrm>
          <a:prstGeom prst="rect">
            <a:avLst/>
          </a:prstGeom>
        </p:spPr>
      </p:pic>
      <p:sp>
        <p:nvSpPr>
          <p:cNvPr id="31" name="Text 28"/>
          <p:cNvSpPr/>
          <p:nvPr/>
        </p:nvSpPr>
        <p:spPr>
          <a:xfrm>
            <a:off x="6238838" y="3548658"/>
            <a:ext cx="300038" cy="257175"/>
          </a:xfrm>
          <a:prstGeom prst="rect">
            <a:avLst/>
          </a:prstGeom>
          <a:noFill/>
          <a:ln/>
        </p:spPr>
        <p:txBody>
          <a:bodyPr wrap="none" lIns="0" tIns="0" rIns="0" bIns="0" rtlCol="0" anchor="ctr"/>
          <a:lstStyle/>
          <a:p>
            <a:pPr algn="ctr" indent="0" marL="0">
              <a:lnSpc>
                <a:spcPts val="1266"/>
              </a:lnSpc>
              <a:buNone/>
            </a:pPr>
            <a:r>
              <a:rPr lang="en-US" sz="844" b="1" dirty="0">
                <a:solidFill>
                  <a:srgbClr val="FFFFFF"/>
                </a:solidFill>
                <a:latin typeface="Liberation Sans Narrow" pitchFamily="34" charset="0"/>
                <a:ea typeface="Liberation Sans Narrow" pitchFamily="34" charset="-122"/>
                <a:cs typeface="Liberation Sans Narrow" pitchFamily="34" charset="-120"/>
              </a:rPr>
              <a:t>6</a:t>
            </a:r>
            <a:endParaRPr lang="en-US" sz="844" dirty="0"/>
          </a:p>
        </p:txBody>
      </p:sp>
      <p:sp>
        <p:nvSpPr>
          <p:cNvPr id="32" name="Text 29"/>
          <p:cNvSpPr/>
          <p:nvPr/>
        </p:nvSpPr>
        <p:spPr>
          <a:xfrm>
            <a:off x="6581738" y="3575447"/>
            <a:ext cx="1904926" cy="219885"/>
          </a:xfrm>
          <a:prstGeom prst="rect">
            <a:avLst/>
          </a:prstGeom>
          <a:noFill/>
          <a:ln/>
        </p:spPr>
        <p:txBody>
          <a:bodyPr wrap="none" lIns="0" tIns="0" rIns="0" bIns="0" rtlCol="0" anchor="t"/>
          <a:lstStyle/>
          <a:p>
            <a:pPr algn="l" indent="0" marL="0">
              <a:lnSpc>
                <a:spcPts val="1603"/>
              </a:lnSpc>
              <a:buNone/>
            </a:pPr>
            <a:r>
              <a:rPr lang="en-US" sz="1069" b="1" spc="-11" kern="0" dirty="0">
                <a:solidFill>
                  <a:srgbClr val="1A1A1A"/>
                </a:solidFill>
                <a:latin typeface="Carlito" pitchFamily="34" charset="0"/>
                <a:ea typeface="Carlito" pitchFamily="34" charset="-122"/>
                <a:cs typeface="Carlito" pitchFamily="34" charset="-120"/>
              </a:rPr>
              <a:t>Честность без фейков</a:t>
            </a:r>
            <a:endParaRPr lang="en-US" sz="1069" dirty="0"/>
          </a:p>
        </p:txBody>
      </p:sp>
      <p:sp>
        <p:nvSpPr>
          <p:cNvPr id="33" name="Text 30"/>
          <p:cNvSpPr/>
          <p:nvPr/>
        </p:nvSpPr>
        <p:spPr>
          <a:xfrm>
            <a:off x="6238838" y="3891558"/>
            <a:ext cx="2247826" cy="351077"/>
          </a:xfrm>
          <a:prstGeom prst="rect">
            <a:avLst/>
          </a:prstGeom>
          <a:noFill/>
          <a:ln/>
        </p:spPr>
        <p:txBody>
          <a:bodyPr wrap="square" lIns="0" tIns="0" rIns="0" bIns="0" rtlCol="0" anchor="t"/>
          <a:lstStyle/>
          <a:p>
            <a:pPr algn="l" indent="0" marL="0">
              <a:lnSpc>
                <a:spcPts val="1170"/>
              </a:lnSpc>
              <a:buNone/>
            </a:pPr>
            <a:r>
              <a:rPr lang="en-US" sz="800" dirty="0">
                <a:solidFill>
                  <a:srgbClr val="888888"/>
                </a:solidFill>
                <a:latin typeface="Carlito" pitchFamily="34" charset="0"/>
                <a:ea typeface="Carlito" pitchFamily="34" charset="-122"/>
                <a:cs typeface="Carlito" pitchFamily="34" charset="-120"/>
              </a:rPr>
              <a:t>никаких фальшивых денег, выводов баллов и чужих товарных знаков в кадре.</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43813" y="-928687"/>
            <a:ext cx="2286000" cy="2286000"/>
          </a:xfrm>
          <a:prstGeom prst="roundRect">
            <a:avLst>
              <a:gd name="adj" fmla="val 416250"/>
            </a:avLst>
          </a:prstGeom>
          <a:solidFill>
            <a:srgbClr val="D4A854">
              <a:alpha val="7000"/>
            </a:srgbClr>
          </a:solidFill>
          <a:ln/>
        </p:spPr>
        <p:txBody>
          <a:bodyPr wrap="square" rtlCol="0" anchor="ctr"/>
          <a:lstStyle/>
          <a:p>
            <a:pPr indent="0" marL="0">
              <a:buNone/>
            </a:pPr>
            <a:endParaRPr lang="en-US" dirty="0"/>
          </a:p>
        </p:txBody>
      </p:sp>
      <p:sp>
        <p:nvSpPr>
          <p:cNvPr id="3" name="Text 1"/>
          <p:cNvSpPr/>
          <p:nvPr/>
        </p:nvSpPr>
        <p:spPr>
          <a:xfrm>
            <a:off x="457200" y="400050"/>
            <a:ext cx="8636000"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F64A8A"/>
                </a:solidFill>
                <a:latin typeface="Carlito" pitchFamily="34" charset="0"/>
                <a:ea typeface="Carlito" pitchFamily="34" charset="-122"/>
                <a:cs typeface="Carlito" pitchFamily="34" charset="-120"/>
              </a:rPr>
              <a:t>ПАЛИТРА</a:t>
            </a:r>
            <a:endParaRPr lang="en-US" sz="800" dirty="0"/>
          </a:p>
        </p:txBody>
      </p:sp>
      <p:sp>
        <p:nvSpPr>
          <p:cNvPr id="4" name="Text 2"/>
          <p:cNvSpPr/>
          <p:nvPr/>
        </p:nvSpPr>
        <p:spPr>
          <a:xfrm>
            <a:off x="457200" y="603647"/>
            <a:ext cx="8636000" cy="337060"/>
          </a:xfrm>
          <a:prstGeom prst="rect">
            <a:avLst/>
          </a:prstGeom>
          <a:noFill/>
          <a:ln/>
        </p:spPr>
        <p:txBody>
          <a:bodyPr wrap="square" lIns="0" tIns="0" rIns="0" bIns="0" rtlCol="0" anchor="t"/>
          <a:lstStyle/>
          <a:p>
            <a:pPr algn="l" indent="0" marL="0">
              <a:lnSpc>
                <a:spcPts val="2458"/>
              </a:lnSpc>
              <a:buNone/>
            </a:pPr>
            <a:r>
              <a:rPr lang="en-US" sz="2138" b="1" spc="-32" kern="0" dirty="0">
                <a:solidFill>
                  <a:srgbClr val="1A1A1A"/>
                </a:solidFill>
                <a:latin typeface="Carlito" pitchFamily="34" charset="0"/>
                <a:ea typeface="Carlito" pitchFamily="34" charset="-122"/>
                <a:cs typeface="Carlito" pitchFamily="34" charset="-120"/>
              </a:rPr>
              <a:t>Как описать бренд цветом и светом</a:t>
            </a:r>
            <a:endParaRPr lang="en-US" sz="2138" dirty="0"/>
          </a:p>
        </p:txBody>
      </p:sp>
      <p:sp>
        <p:nvSpPr>
          <p:cNvPr id="5" name="Text 3"/>
          <p:cNvSpPr/>
          <p:nvPr/>
        </p:nvSpPr>
        <p:spPr>
          <a:xfrm>
            <a:off x="460772" y="1090761"/>
            <a:ext cx="4707731" cy="3261345"/>
          </a:xfrm>
          <a:prstGeom prst="roundRect">
            <a:avLst>
              <a:gd name="adj" fmla="val 3505"/>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6" name="Text 4"/>
          <p:cNvSpPr/>
          <p:nvPr/>
        </p:nvSpPr>
        <p:spPr>
          <a:xfrm>
            <a:off x="635794" y="1398277"/>
            <a:ext cx="128588" cy="128588"/>
          </a:xfrm>
          <a:prstGeom prst="roundRect">
            <a:avLst>
              <a:gd name="adj" fmla="val 29630"/>
            </a:avLst>
          </a:prstGeom>
          <a:solidFill>
            <a:srgbClr val="F64A8A"/>
          </a:solidFill>
          <a:ln/>
          <a:effectLst>
            <a:outerShdw sx="100000" sy="100000" kx="0" ky="0" algn="bl" rotWithShape="0" blurRad="28575" dist="9525" dir="5400000">
              <a:srgbClr val="1A1A1A">
                <a:alpha val="15000"/>
              </a:srgbClr>
            </a:outerShdw>
          </a:effectLst>
        </p:spPr>
        <p:txBody>
          <a:bodyPr wrap="square" rtlCol="0" anchor="ctr"/>
          <a:lstStyle/>
          <a:p>
            <a:pPr indent="0" marL="0">
              <a:buNone/>
            </a:pPr>
            <a:endParaRPr lang="en-US" dirty="0"/>
          </a:p>
        </p:txBody>
      </p:sp>
      <p:sp>
        <p:nvSpPr>
          <p:cNvPr id="7" name="Text 5"/>
          <p:cNvSpPr/>
          <p:nvPr/>
        </p:nvSpPr>
        <p:spPr>
          <a:xfrm>
            <a:off x="864394" y="1384883"/>
            <a:ext cx="1005840" cy="167807"/>
          </a:xfrm>
          <a:prstGeom prst="rect">
            <a:avLst/>
          </a:prstGeom>
          <a:noFill/>
          <a:ln/>
        </p:spPr>
        <p:txBody>
          <a:bodyPr wrap="none" lIns="0" tIns="0" rIns="0" bIns="0" rtlCol="0" anchor="t"/>
          <a:lstStyle/>
          <a:p>
            <a:pPr algn="l" indent="0" marL="0">
              <a:lnSpc>
                <a:spcPts val="1223"/>
              </a:lnSpc>
              <a:buNone/>
            </a:pPr>
            <a:r>
              <a:rPr lang="en-US" sz="816" b="1" dirty="0">
                <a:solidFill>
                  <a:srgbClr val="1A1A1A"/>
                </a:solidFill>
                <a:latin typeface="Carlito" pitchFamily="34" charset="0"/>
                <a:ea typeface="Carlito" pitchFamily="34" charset="-122"/>
                <a:cs typeface="Carlito" pitchFamily="34" charset="-120"/>
              </a:rPr>
              <a:t>Pink</a:t>
            </a:r>
            <a:endParaRPr lang="en-US" sz="816" dirty="0"/>
          </a:p>
        </p:txBody>
      </p:sp>
      <p:sp>
        <p:nvSpPr>
          <p:cNvPr id="8" name="Text 6"/>
          <p:cNvSpPr/>
          <p:nvPr/>
        </p:nvSpPr>
        <p:spPr>
          <a:xfrm>
            <a:off x="1593056" y="1395599"/>
            <a:ext cx="2574317" cy="164592"/>
          </a:xfrm>
          <a:prstGeom prst="rect">
            <a:avLst/>
          </a:prstGeom>
          <a:noFill/>
          <a:ln/>
        </p:spPr>
        <p:txBody>
          <a:bodyPr wrap="none" lIns="0" tIns="0" rIns="0" bIns="0" rtlCol="0" anchor="t"/>
          <a:lstStyle/>
          <a:p>
            <a:pPr algn="l" indent="0" marL="0">
              <a:lnSpc>
                <a:spcPts val="1055"/>
              </a:lnSpc>
              <a:buNone/>
            </a:pPr>
            <a:r>
              <a:rPr lang="en-US" sz="800" spc="14" kern="0" dirty="0">
                <a:solidFill>
                  <a:srgbClr val="888888"/>
                </a:solidFill>
                <a:latin typeface="Liberation Sans Narrow" pitchFamily="34" charset="0"/>
                <a:ea typeface="Liberation Sans Narrow" pitchFamily="34" charset="-122"/>
                <a:cs typeface="Liberation Sans Narrow" pitchFamily="34" charset="-120"/>
              </a:rPr>
              <a:t>#F64A8A</a:t>
            </a:r>
            <a:endParaRPr lang="en-US" sz="800" dirty="0"/>
          </a:p>
        </p:txBody>
      </p:sp>
      <p:sp>
        <p:nvSpPr>
          <p:cNvPr id="9" name="Text 7"/>
          <p:cNvSpPr/>
          <p:nvPr/>
        </p:nvSpPr>
        <p:spPr>
          <a:xfrm>
            <a:off x="4052846" y="1390241"/>
            <a:ext cx="940635" cy="164592"/>
          </a:xfrm>
          <a:prstGeom prst="rect">
            <a:avLst/>
          </a:prstGeom>
          <a:noFill/>
          <a:ln/>
        </p:spPr>
        <p:txBody>
          <a:bodyPr wrap="square" lIns="0" tIns="0" rIns="0" bIns="0" rtlCol="0" anchor="t"/>
          <a:lstStyle/>
          <a:p>
            <a:pPr algn="r" indent="0" marL="0">
              <a:lnSpc>
                <a:spcPts val="1139"/>
              </a:lnSpc>
              <a:buNone/>
            </a:pPr>
            <a:r>
              <a:rPr lang="en-US" sz="759" i="1" dirty="0">
                <a:solidFill>
                  <a:srgbClr val="1A1A1A"/>
                </a:solidFill>
                <a:latin typeface="Carlito" pitchFamily="34" charset="0"/>
                <a:ea typeface="Carlito" pitchFamily="34" charset="-122"/>
                <a:cs typeface="Carlito" pitchFamily="34" charset="-120"/>
              </a:rPr>
              <a:t>"vivid pink accent"</a:t>
            </a:r>
            <a:endParaRPr lang="en-US" sz="759" dirty="0"/>
          </a:p>
        </p:txBody>
      </p:sp>
      <p:sp>
        <p:nvSpPr>
          <p:cNvPr id="10" name="Shape 8"/>
          <p:cNvSpPr/>
          <p:nvPr/>
        </p:nvSpPr>
        <p:spPr>
          <a:xfrm>
            <a:off x="635794" y="1777231"/>
            <a:ext cx="4357688" cy="0"/>
          </a:xfrm>
          <a:prstGeom prst="line">
            <a:avLst/>
          </a:prstGeom>
          <a:noFill/>
          <a:ln w="7144">
            <a:solidFill>
              <a:srgbClr val="1A1A1A"/>
            </a:solidFill>
            <a:prstDash val="solid"/>
          </a:ln>
        </p:spPr>
      </p:sp>
      <p:sp>
        <p:nvSpPr>
          <p:cNvPr id="11" name="Text 9"/>
          <p:cNvSpPr/>
          <p:nvPr/>
        </p:nvSpPr>
        <p:spPr>
          <a:xfrm>
            <a:off x="635794" y="2027597"/>
            <a:ext cx="128588" cy="128588"/>
          </a:xfrm>
          <a:prstGeom prst="roundRect">
            <a:avLst>
              <a:gd name="adj" fmla="val 29630"/>
            </a:avLst>
          </a:prstGeom>
          <a:solidFill>
            <a:srgbClr val="0ABAB5"/>
          </a:solidFill>
          <a:ln/>
          <a:effectLst>
            <a:outerShdw sx="100000" sy="100000" kx="0" ky="0" algn="bl" rotWithShape="0" blurRad="28575" dist="9525" dir="5400000">
              <a:srgbClr val="1A1A1A">
                <a:alpha val="15000"/>
              </a:srgbClr>
            </a:outerShdw>
          </a:effectLst>
        </p:spPr>
        <p:txBody>
          <a:bodyPr wrap="square" rtlCol="0" anchor="ctr"/>
          <a:lstStyle/>
          <a:p>
            <a:pPr indent="0" marL="0">
              <a:buNone/>
            </a:pPr>
            <a:endParaRPr lang="en-US" dirty="0"/>
          </a:p>
        </p:txBody>
      </p:sp>
      <p:sp>
        <p:nvSpPr>
          <p:cNvPr id="12" name="Text 10"/>
          <p:cNvSpPr/>
          <p:nvPr/>
        </p:nvSpPr>
        <p:spPr>
          <a:xfrm>
            <a:off x="864394" y="2014203"/>
            <a:ext cx="898970" cy="167807"/>
          </a:xfrm>
          <a:prstGeom prst="rect">
            <a:avLst/>
          </a:prstGeom>
          <a:noFill/>
          <a:ln/>
        </p:spPr>
        <p:txBody>
          <a:bodyPr wrap="none" lIns="0" tIns="0" rIns="0" bIns="0" rtlCol="0" anchor="t"/>
          <a:lstStyle/>
          <a:p>
            <a:pPr algn="l" indent="0" marL="0">
              <a:lnSpc>
                <a:spcPts val="1223"/>
              </a:lnSpc>
              <a:buNone/>
            </a:pPr>
            <a:r>
              <a:rPr lang="en-US" sz="816" b="1" dirty="0">
                <a:solidFill>
                  <a:srgbClr val="1A1A1A"/>
                </a:solidFill>
                <a:latin typeface="Carlito" pitchFamily="34" charset="0"/>
                <a:ea typeface="Carlito" pitchFamily="34" charset="-122"/>
                <a:cs typeface="Carlito" pitchFamily="34" charset="-120"/>
              </a:rPr>
              <a:t>Tiffany</a:t>
            </a:r>
            <a:endParaRPr lang="en-US" sz="816" dirty="0"/>
          </a:p>
        </p:txBody>
      </p:sp>
      <p:sp>
        <p:nvSpPr>
          <p:cNvPr id="13" name="Text 11"/>
          <p:cNvSpPr/>
          <p:nvPr/>
        </p:nvSpPr>
        <p:spPr>
          <a:xfrm>
            <a:off x="1593056" y="2024918"/>
            <a:ext cx="2467049" cy="164592"/>
          </a:xfrm>
          <a:prstGeom prst="rect">
            <a:avLst/>
          </a:prstGeom>
          <a:noFill/>
          <a:ln/>
        </p:spPr>
        <p:txBody>
          <a:bodyPr wrap="none" lIns="0" tIns="0" rIns="0" bIns="0" rtlCol="0" anchor="t"/>
          <a:lstStyle/>
          <a:p>
            <a:pPr algn="l" indent="0" marL="0">
              <a:lnSpc>
                <a:spcPts val="1055"/>
              </a:lnSpc>
              <a:buNone/>
            </a:pPr>
            <a:r>
              <a:rPr lang="en-US" sz="800" spc="14" kern="0" dirty="0">
                <a:solidFill>
                  <a:srgbClr val="888888"/>
                </a:solidFill>
                <a:latin typeface="Liberation Sans Narrow" pitchFamily="34" charset="0"/>
                <a:ea typeface="Liberation Sans Narrow" pitchFamily="34" charset="-122"/>
                <a:cs typeface="Liberation Sans Narrow" pitchFamily="34" charset="-120"/>
              </a:rPr>
              <a:t>#0ABAB5</a:t>
            </a:r>
            <a:endParaRPr lang="en-US" sz="800" dirty="0"/>
          </a:p>
        </p:txBody>
      </p:sp>
      <p:sp>
        <p:nvSpPr>
          <p:cNvPr id="14" name="Text 12"/>
          <p:cNvSpPr/>
          <p:nvPr/>
        </p:nvSpPr>
        <p:spPr>
          <a:xfrm>
            <a:off x="3986440" y="2019560"/>
            <a:ext cx="1007041" cy="164592"/>
          </a:xfrm>
          <a:prstGeom prst="rect">
            <a:avLst/>
          </a:prstGeom>
          <a:noFill/>
          <a:ln/>
        </p:spPr>
        <p:txBody>
          <a:bodyPr wrap="square" lIns="0" tIns="0" rIns="0" bIns="0" rtlCol="0" anchor="t"/>
          <a:lstStyle/>
          <a:p>
            <a:pPr algn="r" indent="0" marL="0">
              <a:lnSpc>
                <a:spcPts val="1139"/>
              </a:lnSpc>
              <a:buNone/>
            </a:pPr>
            <a:r>
              <a:rPr lang="en-US" sz="759" i="1" dirty="0">
                <a:solidFill>
                  <a:srgbClr val="1A1A1A"/>
                </a:solidFill>
                <a:latin typeface="Carlito" pitchFamily="34" charset="0"/>
                <a:ea typeface="Carlito" pitchFamily="34" charset="-122"/>
                <a:cs typeface="Carlito" pitchFamily="34" charset="-120"/>
              </a:rPr>
              <a:t>"soft teal / turquoise"</a:t>
            </a:r>
            <a:endParaRPr lang="en-US" sz="759" dirty="0"/>
          </a:p>
        </p:txBody>
      </p:sp>
      <p:sp>
        <p:nvSpPr>
          <p:cNvPr id="15" name="Shape 13"/>
          <p:cNvSpPr/>
          <p:nvPr/>
        </p:nvSpPr>
        <p:spPr>
          <a:xfrm>
            <a:off x="635794" y="2406662"/>
            <a:ext cx="4357688" cy="0"/>
          </a:xfrm>
          <a:prstGeom prst="line">
            <a:avLst/>
          </a:prstGeom>
          <a:noFill/>
          <a:ln w="7144">
            <a:solidFill>
              <a:srgbClr val="1A1A1A"/>
            </a:solidFill>
            <a:prstDash val="solid"/>
          </a:ln>
        </p:spPr>
      </p:sp>
      <p:sp>
        <p:nvSpPr>
          <p:cNvPr id="16" name="Text 14"/>
          <p:cNvSpPr/>
          <p:nvPr/>
        </p:nvSpPr>
        <p:spPr>
          <a:xfrm>
            <a:off x="635794" y="2657029"/>
            <a:ext cx="128588" cy="128588"/>
          </a:xfrm>
          <a:prstGeom prst="roundRect">
            <a:avLst>
              <a:gd name="adj" fmla="val 29630"/>
            </a:avLst>
          </a:prstGeom>
          <a:solidFill>
            <a:srgbClr val="D4A854"/>
          </a:solidFill>
          <a:ln/>
          <a:effectLst>
            <a:outerShdw sx="100000" sy="100000" kx="0" ky="0" algn="bl" rotWithShape="0" blurRad="28575" dist="9525" dir="5400000">
              <a:srgbClr val="1A1A1A">
                <a:alpha val="15000"/>
              </a:srgbClr>
            </a:outerShdw>
          </a:effectLst>
        </p:spPr>
        <p:txBody>
          <a:bodyPr wrap="square" rtlCol="0" anchor="ctr"/>
          <a:lstStyle/>
          <a:p>
            <a:pPr indent="0" marL="0">
              <a:buNone/>
            </a:pPr>
            <a:endParaRPr lang="en-US" dirty="0"/>
          </a:p>
        </p:txBody>
      </p:sp>
      <p:sp>
        <p:nvSpPr>
          <p:cNvPr id="17" name="Text 15"/>
          <p:cNvSpPr/>
          <p:nvPr/>
        </p:nvSpPr>
        <p:spPr>
          <a:xfrm>
            <a:off x="864394" y="2643634"/>
            <a:ext cx="1005840" cy="167807"/>
          </a:xfrm>
          <a:prstGeom prst="rect">
            <a:avLst/>
          </a:prstGeom>
          <a:noFill/>
          <a:ln/>
        </p:spPr>
        <p:txBody>
          <a:bodyPr wrap="none" lIns="0" tIns="0" rIns="0" bIns="0" rtlCol="0" anchor="t"/>
          <a:lstStyle/>
          <a:p>
            <a:pPr algn="l" indent="0" marL="0">
              <a:lnSpc>
                <a:spcPts val="1223"/>
              </a:lnSpc>
              <a:buNone/>
            </a:pPr>
            <a:r>
              <a:rPr lang="en-US" sz="816" b="1" dirty="0">
                <a:solidFill>
                  <a:srgbClr val="1A1A1A"/>
                </a:solidFill>
                <a:latin typeface="Carlito" pitchFamily="34" charset="0"/>
                <a:ea typeface="Carlito" pitchFamily="34" charset="-122"/>
                <a:cs typeface="Carlito" pitchFamily="34" charset="-120"/>
              </a:rPr>
              <a:t>Gold</a:t>
            </a:r>
            <a:endParaRPr lang="en-US" sz="816" dirty="0"/>
          </a:p>
        </p:txBody>
      </p:sp>
      <p:sp>
        <p:nvSpPr>
          <p:cNvPr id="18" name="Text 16"/>
          <p:cNvSpPr/>
          <p:nvPr/>
        </p:nvSpPr>
        <p:spPr>
          <a:xfrm>
            <a:off x="1593056" y="2654350"/>
            <a:ext cx="2542170" cy="164592"/>
          </a:xfrm>
          <a:prstGeom prst="rect">
            <a:avLst/>
          </a:prstGeom>
          <a:noFill/>
          <a:ln/>
        </p:spPr>
        <p:txBody>
          <a:bodyPr wrap="none" lIns="0" tIns="0" rIns="0" bIns="0" rtlCol="0" anchor="t"/>
          <a:lstStyle/>
          <a:p>
            <a:pPr algn="l" indent="0" marL="0">
              <a:lnSpc>
                <a:spcPts val="1055"/>
              </a:lnSpc>
              <a:buNone/>
            </a:pPr>
            <a:r>
              <a:rPr lang="en-US" sz="800" spc="14" kern="0" dirty="0">
                <a:solidFill>
                  <a:srgbClr val="888888"/>
                </a:solidFill>
                <a:latin typeface="Liberation Sans Narrow" pitchFamily="34" charset="0"/>
                <a:ea typeface="Liberation Sans Narrow" pitchFamily="34" charset="-122"/>
                <a:cs typeface="Liberation Sans Narrow" pitchFamily="34" charset="-120"/>
              </a:rPr>
              <a:t>#D4A854</a:t>
            </a:r>
            <a:endParaRPr lang="en-US" sz="800" dirty="0"/>
          </a:p>
        </p:txBody>
      </p:sp>
      <p:sp>
        <p:nvSpPr>
          <p:cNvPr id="19" name="Text 17"/>
          <p:cNvSpPr/>
          <p:nvPr/>
        </p:nvSpPr>
        <p:spPr>
          <a:xfrm>
            <a:off x="4013884" y="2648992"/>
            <a:ext cx="979597" cy="164592"/>
          </a:xfrm>
          <a:prstGeom prst="rect">
            <a:avLst/>
          </a:prstGeom>
          <a:noFill/>
          <a:ln/>
        </p:spPr>
        <p:txBody>
          <a:bodyPr wrap="none" lIns="0" tIns="0" rIns="0" bIns="0" rtlCol="0" anchor="t"/>
          <a:lstStyle/>
          <a:p>
            <a:pPr algn="r" indent="0" marL="0">
              <a:lnSpc>
                <a:spcPts val="1139"/>
              </a:lnSpc>
              <a:buNone/>
            </a:pPr>
            <a:r>
              <a:rPr lang="en-US" sz="800" i="1" dirty="0">
                <a:solidFill>
                  <a:srgbClr val="1A1A1A"/>
                </a:solidFill>
                <a:latin typeface="Carlito" pitchFamily="34" charset="0"/>
                <a:ea typeface="Carlito" pitchFamily="34" charset="-122"/>
                <a:cs typeface="Carlito" pitchFamily="34" charset="-120"/>
              </a:rPr>
              <a:t>"warm muted gold"</a:t>
            </a:r>
            <a:endParaRPr lang="en-US" sz="800" dirty="0"/>
          </a:p>
        </p:txBody>
      </p:sp>
      <p:sp>
        <p:nvSpPr>
          <p:cNvPr id="20" name="Shape 18"/>
          <p:cNvSpPr/>
          <p:nvPr/>
        </p:nvSpPr>
        <p:spPr>
          <a:xfrm>
            <a:off x="635794" y="3036094"/>
            <a:ext cx="4357688" cy="0"/>
          </a:xfrm>
          <a:prstGeom prst="line">
            <a:avLst/>
          </a:prstGeom>
          <a:noFill/>
          <a:ln w="7144">
            <a:solidFill>
              <a:srgbClr val="1A1A1A"/>
            </a:solidFill>
            <a:prstDash val="solid"/>
          </a:ln>
        </p:spPr>
      </p:sp>
      <p:sp>
        <p:nvSpPr>
          <p:cNvPr id="21" name="Text 19"/>
          <p:cNvSpPr/>
          <p:nvPr/>
        </p:nvSpPr>
        <p:spPr>
          <a:xfrm>
            <a:off x="635794" y="3286460"/>
            <a:ext cx="128588" cy="128588"/>
          </a:xfrm>
          <a:prstGeom prst="roundRect">
            <a:avLst>
              <a:gd name="adj" fmla="val 29630"/>
            </a:avLst>
          </a:prstGeom>
          <a:solidFill>
            <a:srgbClr val="C92A6A"/>
          </a:solidFill>
          <a:ln/>
          <a:effectLst>
            <a:outerShdw sx="100000" sy="100000" kx="0" ky="0" algn="bl" rotWithShape="0" blurRad="28575" dist="9525" dir="5400000">
              <a:srgbClr val="1A1A1A">
                <a:alpha val="15000"/>
              </a:srgbClr>
            </a:outerShdw>
          </a:effectLst>
        </p:spPr>
        <p:txBody>
          <a:bodyPr wrap="square" rtlCol="0" anchor="ctr"/>
          <a:lstStyle/>
          <a:p>
            <a:pPr indent="0" marL="0">
              <a:buNone/>
            </a:pPr>
            <a:endParaRPr lang="en-US" dirty="0"/>
          </a:p>
        </p:txBody>
      </p:sp>
      <p:sp>
        <p:nvSpPr>
          <p:cNvPr id="22" name="Text 20"/>
          <p:cNvSpPr/>
          <p:nvPr/>
        </p:nvSpPr>
        <p:spPr>
          <a:xfrm>
            <a:off x="864394" y="3273065"/>
            <a:ext cx="1005840" cy="167807"/>
          </a:xfrm>
          <a:prstGeom prst="rect">
            <a:avLst/>
          </a:prstGeom>
          <a:noFill/>
          <a:ln/>
        </p:spPr>
        <p:txBody>
          <a:bodyPr wrap="none" lIns="0" tIns="0" rIns="0" bIns="0" rtlCol="0" anchor="t"/>
          <a:lstStyle/>
          <a:p>
            <a:pPr algn="l" indent="0" marL="0">
              <a:lnSpc>
                <a:spcPts val="1223"/>
              </a:lnSpc>
              <a:buNone/>
            </a:pPr>
            <a:r>
              <a:rPr lang="en-US" sz="816" b="1" dirty="0">
                <a:solidFill>
                  <a:srgbClr val="1A1A1A"/>
                </a:solidFill>
                <a:latin typeface="Carlito" pitchFamily="34" charset="0"/>
                <a:ea typeface="Carlito" pitchFamily="34" charset="-122"/>
                <a:cs typeface="Carlito" pitchFamily="34" charset="-120"/>
              </a:rPr>
              <a:t>Plum</a:t>
            </a:r>
            <a:endParaRPr lang="en-US" sz="816" dirty="0"/>
          </a:p>
        </p:txBody>
      </p:sp>
      <p:sp>
        <p:nvSpPr>
          <p:cNvPr id="23" name="Text 21"/>
          <p:cNvSpPr/>
          <p:nvPr/>
        </p:nvSpPr>
        <p:spPr>
          <a:xfrm>
            <a:off x="1593056" y="3283781"/>
            <a:ext cx="2633253" cy="164592"/>
          </a:xfrm>
          <a:prstGeom prst="rect">
            <a:avLst/>
          </a:prstGeom>
          <a:noFill/>
          <a:ln/>
        </p:spPr>
        <p:txBody>
          <a:bodyPr wrap="none" lIns="0" tIns="0" rIns="0" bIns="0" rtlCol="0" anchor="t"/>
          <a:lstStyle/>
          <a:p>
            <a:pPr algn="l" indent="0" marL="0">
              <a:lnSpc>
                <a:spcPts val="1055"/>
              </a:lnSpc>
              <a:buNone/>
            </a:pPr>
            <a:r>
              <a:rPr lang="en-US" sz="800" spc="14" kern="0" dirty="0">
                <a:solidFill>
                  <a:srgbClr val="888888"/>
                </a:solidFill>
                <a:latin typeface="Liberation Sans Narrow" pitchFamily="34" charset="0"/>
                <a:ea typeface="Liberation Sans Narrow" pitchFamily="34" charset="-122"/>
                <a:cs typeface="Liberation Sans Narrow" pitchFamily="34" charset="-120"/>
              </a:rPr>
              <a:t>#C92A6A</a:t>
            </a:r>
            <a:endParaRPr lang="en-US" sz="800" dirty="0"/>
          </a:p>
        </p:txBody>
      </p:sp>
      <p:sp>
        <p:nvSpPr>
          <p:cNvPr id="24" name="Text 22"/>
          <p:cNvSpPr/>
          <p:nvPr/>
        </p:nvSpPr>
        <p:spPr>
          <a:xfrm>
            <a:off x="4124277" y="3278423"/>
            <a:ext cx="869205" cy="164592"/>
          </a:xfrm>
          <a:prstGeom prst="rect">
            <a:avLst/>
          </a:prstGeom>
          <a:noFill/>
          <a:ln/>
        </p:spPr>
        <p:txBody>
          <a:bodyPr wrap="none" lIns="0" tIns="0" rIns="0" bIns="0" rtlCol="0" anchor="t"/>
          <a:lstStyle/>
          <a:p>
            <a:pPr algn="r" indent="0" marL="0">
              <a:lnSpc>
                <a:spcPts val="1139"/>
              </a:lnSpc>
              <a:buNone/>
            </a:pPr>
            <a:r>
              <a:rPr lang="en-US" sz="759" i="1" dirty="0">
                <a:solidFill>
                  <a:srgbClr val="1A1A1A"/>
                </a:solidFill>
                <a:latin typeface="Carlito" pitchFamily="34" charset="0"/>
                <a:ea typeface="Carlito" pitchFamily="34" charset="-122"/>
                <a:cs typeface="Carlito" pitchFamily="34" charset="-120"/>
              </a:rPr>
              <a:t>"deep raspberry"</a:t>
            </a:r>
            <a:endParaRPr lang="en-US" sz="759" dirty="0"/>
          </a:p>
        </p:txBody>
      </p:sp>
      <p:sp>
        <p:nvSpPr>
          <p:cNvPr id="25" name="Shape 23"/>
          <p:cNvSpPr/>
          <p:nvPr/>
        </p:nvSpPr>
        <p:spPr>
          <a:xfrm>
            <a:off x="635794" y="3665525"/>
            <a:ext cx="4357688" cy="0"/>
          </a:xfrm>
          <a:prstGeom prst="line">
            <a:avLst/>
          </a:prstGeom>
          <a:noFill/>
          <a:ln w="7144">
            <a:solidFill>
              <a:srgbClr val="1A1A1A"/>
            </a:solidFill>
            <a:prstDash val="solid"/>
          </a:ln>
        </p:spPr>
      </p:sp>
      <p:sp>
        <p:nvSpPr>
          <p:cNvPr id="26" name="Text 24"/>
          <p:cNvSpPr/>
          <p:nvPr/>
        </p:nvSpPr>
        <p:spPr>
          <a:xfrm>
            <a:off x="635794" y="3915891"/>
            <a:ext cx="128588" cy="128588"/>
          </a:xfrm>
          <a:prstGeom prst="roundRect">
            <a:avLst>
              <a:gd name="adj" fmla="val 29630"/>
            </a:avLst>
          </a:prstGeom>
          <a:solidFill>
            <a:srgbClr val="1A1A1A"/>
          </a:solidFill>
          <a:ln/>
          <a:effectLst>
            <a:outerShdw sx="100000" sy="100000" kx="0" ky="0" algn="bl" rotWithShape="0" blurRad="28575" dist="9525" dir="5400000">
              <a:srgbClr val="1A1A1A">
                <a:alpha val="15000"/>
              </a:srgbClr>
            </a:outerShdw>
          </a:effectLst>
        </p:spPr>
        <p:txBody>
          <a:bodyPr wrap="square" rtlCol="0" anchor="ctr"/>
          <a:lstStyle/>
          <a:p>
            <a:pPr indent="0" marL="0">
              <a:buNone/>
            </a:pPr>
            <a:endParaRPr lang="en-US" dirty="0"/>
          </a:p>
        </p:txBody>
      </p:sp>
      <p:sp>
        <p:nvSpPr>
          <p:cNvPr id="27" name="Text 25"/>
          <p:cNvSpPr/>
          <p:nvPr/>
        </p:nvSpPr>
        <p:spPr>
          <a:xfrm>
            <a:off x="864394" y="3902497"/>
            <a:ext cx="1005840" cy="167807"/>
          </a:xfrm>
          <a:prstGeom prst="rect">
            <a:avLst/>
          </a:prstGeom>
          <a:noFill/>
          <a:ln/>
        </p:spPr>
        <p:txBody>
          <a:bodyPr wrap="none" lIns="0" tIns="0" rIns="0" bIns="0" rtlCol="0" anchor="t"/>
          <a:lstStyle/>
          <a:p>
            <a:pPr algn="l" indent="0" marL="0">
              <a:lnSpc>
                <a:spcPts val="1223"/>
              </a:lnSpc>
              <a:buNone/>
            </a:pPr>
            <a:r>
              <a:rPr lang="en-US" sz="816" b="1" dirty="0">
                <a:solidFill>
                  <a:srgbClr val="1A1A1A"/>
                </a:solidFill>
                <a:latin typeface="Carlito" pitchFamily="34" charset="0"/>
                <a:ea typeface="Carlito" pitchFamily="34" charset="-122"/>
                <a:cs typeface="Carlito" pitchFamily="34" charset="-120"/>
              </a:rPr>
              <a:t>Ink</a:t>
            </a:r>
            <a:endParaRPr lang="en-US" sz="816" dirty="0"/>
          </a:p>
        </p:txBody>
      </p:sp>
      <p:sp>
        <p:nvSpPr>
          <p:cNvPr id="28" name="Text 26"/>
          <p:cNvSpPr/>
          <p:nvPr/>
        </p:nvSpPr>
        <p:spPr>
          <a:xfrm>
            <a:off x="1593056" y="3913212"/>
            <a:ext cx="2683259" cy="164592"/>
          </a:xfrm>
          <a:prstGeom prst="rect">
            <a:avLst/>
          </a:prstGeom>
          <a:noFill/>
          <a:ln/>
        </p:spPr>
        <p:txBody>
          <a:bodyPr wrap="none" lIns="0" tIns="0" rIns="0" bIns="0" rtlCol="0" anchor="t"/>
          <a:lstStyle/>
          <a:p>
            <a:pPr algn="l" indent="0" marL="0">
              <a:lnSpc>
                <a:spcPts val="1055"/>
              </a:lnSpc>
              <a:buNone/>
            </a:pPr>
            <a:r>
              <a:rPr lang="en-US" sz="800" spc="14" kern="0" dirty="0">
                <a:solidFill>
                  <a:srgbClr val="888888"/>
                </a:solidFill>
                <a:latin typeface="Liberation Sans Narrow" pitchFamily="34" charset="0"/>
                <a:ea typeface="Liberation Sans Narrow" pitchFamily="34" charset="-122"/>
                <a:cs typeface="Liberation Sans Narrow" pitchFamily="34" charset="-120"/>
              </a:rPr>
              <a:t>#1A1A1A</a:t>
            </a:r>
            <a:endParaRPr lang="en-US" sz="800" dirty="0"/>
          </a:p>
        </p:txBody>
      </p:sp>
      <p:sp>
        <p:nvSpPr>
          <p:cNvPr id="29" name="Text 27"/>
          <p:cNvSpPr/>
          <p:nvPr/>
        </p:nvSpPr>
        <p:spPr>
          <a:xfrm>
            <a:off x="4184884" y="3907854"/>
            <a:ext cx="808597" cy="164592"/>
          </a:xfrm>
          <a:prstGeom prst="rect">
            <a:avLst/>
          </a:prstGeom>
          <a:noFill/>
          <a:ln/>
        </p:spPr>
        <p:txBody>
          <a:bodyPr wrap="none" lIns="0" tIns="0" rIns="0" bIns="0" rtlCol="0" anchor="t"/>
          <a:lstStyle/>
          <a:p>
            <a:pPr algn="r" indent="0" marL="0">
              <a:lnSpc>
                <a:spcPts val="1139"/>
              </a:lnSpc>
              <a:buNone/>
            </a:pPr>
            <a:r>
              <a:rPr lang="en-US" sz="759" i="1" dirty="0">
                <a:solidFill>
                  <a:srgbClr val="1A1A1A"/>
                </a:solidFill>
                <a:latin typeface="Carlito" pitchFamily="34" charset="0"/>
                <a:ea typeface="Carlito" pitchFamily="34" charset="-122"/>
                <a:cs typeface="Carlito" pitchFamily="34" charset="-120"/>
              </a:rPr>
              <a:t>"near-black ink"</a:t>
            </a:r>
            <a:endParaRPr lang="en-US" sz="759" dirty="0"/>
          </a:p>
        </p:txBody>
      </p:sp>
      <p:sp>
        <p:nvSpPr>
          <p:cNvPr id="30" name="Text 28"/>
          <p:cNvSpPr/>
          <p:nvPr/>
        </p:nvSpPr>
        <p:spPr>
          <a:xfrm>
            <a:off x="457200" y="4455691"/>
            <a:ext cx="4714875" cy="339999"/>
          </a:xfrm>
          <a:prstGeom prst="rect">
            <a:avLst/>
          </a:prstGeom>
          <a:noFill/>
          <a:ln/>
        </p:spPr>
        <p:txBody>
          <a:bodyPr wrap="square" lIns="0" tIns="0" rIns="0" bIns="0" rtlCol="0" anchor="t"/>
          <a:lstStyle/>
          <a:p>
            <a:pPr algn="l" indent="0" marL="0">
              <a:lnSpc>
                <a:spcPts val="1133"/>
              </a:lnSpc>
              <a:buNone/>
            </a:pPr>
            <a:r>
              <a:rPr lang="en-US" sz="800" dirty="0">
                <a:solidFill>
                  <a:srgbClr val="888888"/>
                </a:solidFill>
                <a:latin typeface="Carlito" pitchFamily="34" charset="0"/>
                <a:ea typeface="Carlito" pitchFamily="34" charset="-122"/>
                <a:cs typeface="Carlito" pitchFamily="34" charset="-120"/>
              </a:rPr>
              <a:t>В промте цвет задаётся эпитетами, а не HEX: например, </a:t>
            </a:r>
            <a:pPr algn="l" indent="0" marL="0">
              <a:lnSpc>
                <a:spcPts val="1133"/>
              </a:lnSpc>
              <a:buNone/>
            </a:pPr>
            <a:r>
              <a:rPr lang="en-US" sz="800" dirty="0">
                <a:solidFill>
                  <a:srgbClr val="1A1A1A"/>
                </a:solidFill>
                <a:latin typeface="Courier New" pitchFamily="34" charset="0"/>
                <a:ea typeface="Courier New" pitchFamily="34" charset="-122"/>
                <a:cs typeface="Courier New" pitchFamily="34" charset="-120"/>
              </a:rPr>
              <a:t>pink neon sign on the wall</a:t>
            </a:r>
            <a:pPr algn="l" indent="0" marL="0">
              <a:lnSpc>
                <a:spcPts val="1133"/>
              </a:lnSpc>
              <a:buNone/>
            </a:pPr>
            <a:r>
              <a:rPr lang="en-US" sz="800" dirty="0">
                <a:solidFill>
                  <a:srgbClr val="888888"/>
                </a:solidFill>
                <a:latin typeface="Carlito" pitchFamily="34" charset="0"/>
                <a:ea typeface="Carlito" pitchFamily="34" charset="-122"/>
                <a:cs typeface="Carlito" pitchFamily="34" charset="-120"/>
              </a:rPr>
              <a:t> или </a:t>
            </a:r>
            <a:pPr algn="l" indent="0" marL="0">
              <a:lnSpc>
                <a:spcPts val="1133"/>
              </a:lnSpc>
              <a:buNone/>
            </a:pPr>
            <a:r>
              <a:rPr lang="en-US" sz="800" dirty="0">
                <a:solidFill>
                  <a:srgbClr val="1A1A1A"/>
                </a:solidFill>
                <a:latin typeface="Courier New" pitchFamily="34" charset="0"/>
                <a:ea typeface="Courier New" pitchFamily="34" charset="-122"/>
                <a:cs typeface="Courier New" pitchFamily="34" charset="-120"/>
              </a:rPr>
              <a:t>teal apron of the barista</a:t>
            </a:r>
            <a:pPr algn="l" indent="0" marL="0">
              <a:lnSpc>
                <a:spcPts val="1133"/>
              </a:lnSpc>
              <a:buNone/>
            </a:pPr>
            <a:r>
              <a:rPr lang="en-US" sz="800" dirty="0">
                <a:solidFill>
                  <a:srgbClr val="888888"/>
                </a:solidFill>
                <a:latin typeface="Carlito" pitchFamily="34" charset="0"/>
                <a:ea typeface="Carlito" pitchFamily="34" charset="-122"/>
                <a:cs typeface="Carlito" pitchFamily="34" charset="-120"/>
              </a:rPr>
              <a:t>.</a:t>
            </a:r>
            <a:endParaRPr lang="en-US" sz="800" dirty="0"/>
          </a:p>
        </p:txBody>
      </p:sp>
      <p:pic>
        <p:nvPicPr>
          <p:cNvPr id="31" name="Image 0" descr="/tmp/h2p-fit-1788292678728-k2yhbb.png">    </p:cNvPr>
          <p:cNvPicPr>
            <a:picLocks noChangeAspect="1"/>
          </p:cNvPicPr>
          <p:nvPr/>
        </p:nvPicPr>
        <p:blipFill>
          <a:blip r:embed="rId1"/>
          <a:stretch>
            <a:fillRect/>
          </a:stretch>
        </p:blipFill>
        <p:spPr>
          <a:xfrm>
            <a:off x="5400675" y="1087189"/>
            <a:ext cx="3286125" cy="2464594"/>
          </a:xfrm>
          <a:prstGeom prst="rect">
            <a:avLst/>
          </a:prstGeom>
          <a:effectLst>
            <a:outerShdw sx="100000" sy="100000" kx="0" ky="0" algn="bl" rotWithShape="0" blurRad="28575" dist="9525" dir="5400000">
              <a:srgbClr val="1A1A1A">
                <a:alpha val="12000"/>
              </a:srgbClr>
            </a:outerShdw>
          </a:effectLst>
        </p:spPr>
      </p:pic>
      <p:sp>
        <p:nvSpPr>
          <p:cNvPr id="32" name="Text 29"/>
          <p:cNvSpPr/>
          <p:nvPr/>
        </p:nvSpPr>
        <p:spPr>
          <a:xfrm>
            <a:off x="5400675" y="3594646"/>
            <a:ext cx="3549015" cy="164592"/>
          </a:xfrm>
          <a:prstGeom prst="rect">
            <a:avLst/>
          </a:prstGeom>
          <a:noFill/>
          <a:ln/>
        </p:spPr>
        <p:txBody>
          <a:bodyPr wrap="square" lIns="0" tIns="0" rIns="0" bIns="0" rtlCol="0" anchor="t"/>
          <a:lstStyle/>
          <a:p>
            <a:pPr algn="l" indent="0" marL="0">
              <a:lnSpc>
                <a:spcPts val="928"/>
              </a:lnSpc>
              <a:buNone/>
            </a:pPr>
            <a:r>
              <a:rPr lang="en-US" sz="800" spc="12" kern="0" dirty="0">
                <a:solidFill>
                  <a:srgbClr val="888888"/>
                </a:solidFill>
                <a:latin typeface="Carlito" pitchFamily="34" charset="0"/>
                <a:ea typeface="Carlito" pitchFamily="34" charset="-122"/>
                <a:cs typeface="Carlito" pitchFamily="34" charset="-120"/>
              </a:rPr>
              <a:t>Тёплый свет + золотые акценты = премиум без холода</a:t>
            </a:r>
            <a:endParaRPr lang="en-US" sz="800" dirty="0"/>
          </a:p>
        </p:txBody>
      </p:sp>
      <p:sp>
        <p:nvSpPr>
          <p:cNvPr id="33" name="Text 30"/>
          <p:cNvSpPr/>
          <p:nvPr/>
        </p:nvSpPr>
        <p:spPr>
          <a:xfrm>
            <a:off x="5400675" y="3798243"/>
            <a:ext cx="3286125" cy="960834"/>
          </a:xfrm>
          <a:prstGeom prst="roundRect">
            <a:avLst>
              <a:gd name="adj" fmla="val 11896"/>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34" name="Text 31"/>
          <p:cNvSpPr/>
          <p:nvPr/>
        </p:nvSpPr>
        <p:spPr>
          <a:xfrm>
            <a:off x="5543550" y="3898255"/>
            <a:ext cx="3000375" cy="133302"/>
          </a:xfrm>
          <a:prstGeom prst="rect">
            <a:avLst/>
          </a:prstGeom>
          <a:noFill/>
          <a:ln/>
        </p:spPr>
        <p:txBody>
          <a:bodyPr wrap="none" lIns="0" tIns="0" rIns="0" bIns="0" rtlCol="0" anchor="t">
            <a:normAutofit/>
          </a:bodyPr>
          <a:lstStyle/>
          <a:p>
            <a:pPr algn="l" indent="0" marL="0">
              <a:lnSpc>
                <a:spcPts val="928"/>
              </a:lnSpc>
              <a:buNone/>
            </a:pPr>
            <a:r>
              <a:rPr lang="en-US" sz="800" b="1" spc="62" kern="0" dirty="0">
                <a:solidFill>
                  <a:srgbClr val="C92A6A"/>
                </a:solidFill>
                <a:latin typeface="Carlito" pitchFamily="34" charset="0"/>
                <a:ea typeface="Carlito" pitchFamily="34" charset="-122"/>
                <a:cs typeface="Carlito" pitchFamily="34" charset="-120"/>
              </a:rPr>
              <a:t>КЛЮЧИ СВЕТА · EN</a:t>
            </a:r>
            <a:endParaRPr lang="en-US" sz="800" dirty="0"/>
          </a:p>
        </p:txBody>
      </p:sp>
      <p:sp>
        <p:nvSpPr>
          <p:cNvPr id="35" name="Text 32"/>
          <p:cNvSpPr/>
          <p:nvPr/>
        </p:nvSpPr>
        <p:spPr>
          <a:xfrm>
            <a:off x="5543550" y="4104531"/>
            <a:ext cx="42863" cy="42863"/>
          </a:xfrm>
          <a:prstGeom prst="roundRect">
            <a:avLst>
              <a:gd name="adj" fmla="val 22199741"/>
            </a:avLst>
          </a:prstGeom>
          <a:solidFill>
            <a:srgbClr val="D4A854"/>
          </a:solidFill>
          <a:ln/>
        </p:spPr>
        <p:txBody>
          <a:bodyPr wrap="square" rtlCol="0" anchor="ctr"/>
          <a:lstStyle/>
          <a:p>
            <a:pPr indent="0" marL="0">
              <a:buNone/>
            </a:pPr>
            <a:endParaRPr lang="en-US" dirty="0"/>
          </a:p>
        </p:txBody>
      </p:sp>
      <p:sp>
        <p:nvSpPr>
          <p:cNvPr id="36" name="Text 33"/>
          <p:cNvSpPr/>
          <p:nvPr/>
        </p:nvSpPr>
        <p:spPr>
          <a:xfrm>
            <a:off x="5543550" y="4058989"/>
            <a:ext cx="3000375" cy="127945"/>
          </a:xfrm>
          <a:prstGeom prst="rect">
            <a:avLst/>
          </a:prstGeom>
          <a:noFill/>
          <a:ln/>
        </p:spPr>
        <p:txBody>
          <a:bodyPr wrap="none" lIns="0" tIns="0" rIns="0" bIns="0" rtlCol="0" anchor="t">
            <a:normAutofit/>
          </a:bodyPr>
          <a:lstStyle/>
          <a:p>
            <a:pPr algn="l" indent="0" marL="0">
              <a:lnSpc>
                <a:spcPts val="1055"/>
              </a:lnSpc>
              <a:buNone/>
            </a:pPr>
            <a:r>
              <a:rPr lang="en-US" sz="800" dirty="0">
                <a:solidFill>
                  <a:srgbClr val="1A1A1A"/>
                </a:solidFill>
                <a:latin typeface="Courier New" pitchFamily="34" charset="0"/>
                <a:ea typeface="Courier New" pitchFamily="34" charset="-122"/>
                <a:cs typeface="Courier New" pitchFamily="34" charset="-120"/>
              </a:rPr>
              <a:t>"warm golden hour glow"</a:t>
            </a:r>
            <a:endParaRPr lang="en-US" sz="800" dirty="0"/>
          </a:p>
        </p:txBody>
      </p:sp>
      <p:sp>
        <p:nvSpPr>
          <p:cNvPr id="37" name="Text 34"/>
          <p:cNvSpPr/>
          <p:nvPr/>
        </p:nvSpPr>
        <p:spPr>
          <a:xfrm>
            <a:off x="5543550" y="4259907"/>
            <a:ext cx="42863" cy="42863"/>
          </a:xfrm>
          <a:prstGeom prst="roundRect">
            <a:avLst>
              <a:gd name="adj" fmla="val 22199741"/>
            </a:avLst>
          </a:prstGeom>
          <a:solidFill>
            <a:srgbClr val="D4A854"/>
          </a:solidFill>
          <a:ln/>
        </p:spPr>
        <p:txBody>
          <a:bodyPr wrap="square" rtlCol="0" anchor="ctr"/>
          <a:lstStyle/>
          <a:p>
            <a:pPr indent="0" marL="0">
              <a:buNone/>
            </a:pPr>
            <a:endParaRPr lang="en-US" dirty="0"/>
          </a:p>
        </p:txBody>
      </p:sp>
      <p:sp>
        <p:nvSpPr>
          <p:cNvPr id="38" name="Text 35"/>
          <p:cNvSpPr/>
          <p:nvPr/>
        </p:nvSpPr>
        <p:spPr>
          <a:xfrm>
            <a:off x="5543550" y="4214366"/>
            <a:ext cx="3000375" cy="127945"/>
          </a:xfrm>
          <a:prstGeom prst="rect">
            <a:avLst/>
          </a:prstGeom>
          <a:noFill/>
          <a:ln/>
        </p:spPr>
        <p:txBody>
          <a:bodyPr wrap="none" lIns="0" tIns="0" rIns="0" bIns="0" rtlCol="0" anchor="t">
            <a:normAutofit/>
          </a:bodyPr>
          <a:lstStyle/>
          <a:p>
            <a:pPr algn="l" indent="0" marL="0">
              <a:lnSpc>
                <a:spcPts val="1055"/>
              </a:lnSpc>
              <a:buNone/>
            </a:pPr>
            <a:r>
              <a:rPr lang="en-US" sz="800" dirty="0">
                <a:solidFill>
                  <a:srgbClr val="1A1A1A"/>
                </a:solidFill>
                <a:latin typeface="Courier New" pitchFamily="34" charset="0"/>
                <a:ea typeface="Courier New" pitchFamily="34" charset="-122"/>
                <a:cs typeface="Courier New" pitchFamily="34" charset="-120"/>
              </a:rPr>
              <a:t>"soft diffused daylight"</a:t>
            </a:r>
            <a:endParaRPr lang="en-US" sz="800" dirty="0"/>
          </a:p>
        </p:txBody>
      </p:sp>
      <p:sp>
        <p:nvSpPr>
          <p:cNvPr id="39" name="Text 36"/>
          <p:cNvSpPr/>
          <p:nvPr/>
        </p:nvSpPr>
        <p:spPr>
          <a:xfrm>
            <a:off x="5543550" y="4415284"/>
            <a:ext cx="42863" cy="42863"/>
          </a:xfrm>
          <a:prstGeom prst="roundRect">
            <a:avLst>
              <a:gd name="adj" fmla="val 22199741"/>
            </a:avLst>
          </a:prstGeom>
          <a:solidFill>
            <a:srgbClr val="D4A854"/>
          </a:solidFill>
          <a:ln/>
        </p:spPr>
        <p:txBody>
          <a:bodyPr wrap="square" rtlCol="0" anchor="ctr"/>
          <a:lstStyle/>
          <a:p>
            <a:pPr indent="0" marL="0">
              <a:buNone/>
            </a:pPr>
            <a:endParaRPr lang="en-US" dirty="0"/>
          </a:p>
        </p:txBody>
      </p:sp>
      <p:sp>
        <p:nvSpPr>
          <p:cNvPr id="40" name="Text 37"/>
          <p:cNvSpPr/>
          <p:nvPr/>
        </p:nvSpPr>
        <p:spPr>
          <a:xfrm>
            <a:off x="5543550" y="4369743"/>
            <a:ext cx="3110103" cy="127945"/>
          </a:xfrm>
          <a:prstGeom prst="rect">
            <a:avLst/>
          </a:prstGeom>
          <a:noFill/>
          <a:ln/>
        </p:spPr>
        <p:txBody>
          <a:bodyPr wrap="none" lIns="0" tIns="0" rIns="0" bIns="0" rtlCol="0" anchor="t">
            <a:normAutofit/>
          </a:bodyPr>
          <a:lstStyle/>
          <a:p>
            <a:pPr algn="l" indent="0" marL="0">
              <a:lnSpc>
                <a:spcPts val="1055"/>
              </a:lnSpc>
              <a:buNone/>
            </a:pPr>
            <a:r>
              <a:rPr lang="en-US" sz="800" dirty="0">
                <a:solidFill>
                  <a:srgbClr val="1A1A1A"/>
                </a:solidFill>
                <a:latin typeface="Courier New" pitchFamily="34" charset="0"/>
                <a:ea typeface="Courier New" pitchFamily="34" charset="-122"/>
                <a:cs typeface="Courier New" pitchFamily="34" charset="-120"/>
              </a:rPr>
              <a:t>"large windows natural light"</a:t>
            </a:r>
            <a:endParaRPr lang="en-US" sz="800" dirty="0"/>
          </a:p>
        </p:txBody>
      </p:sp>
      <p:sp>
        <p:nvSpPr>
          <p:cNvPr id="41" name="Text 38"/>
          <p:cNvSpPr/>
          <p:nvPr/>
        </p:nvSpPr>
        <p:spPr>
          <a:xfrm>
            <a:off x="5543550" y="4570661"/>
            <a:ext cx="42863" cy="42863"/>
          </a:xfrm>
          <a:prstGeom prst="roundRect">
            <a:avLst>
              <a:gd name="adj" fmla="val 22199741"/>
            </a:avLst>
          </a:prstGeom>
          <a:solidFill>
            <a:srgbClr val="D4A854"/>
          </a:solidFill>
          <a:ln/>
        </p:spPr>
        <p:txBody>
          <a:bodyPr wrap="square" rtlCol="0" anchor="ctr"/>
          <a:lstStyle/>
          <a:p>
            <a:pPr indent="0" marL="0">
              <a:buNone/>
            </a:pPr>
            <a:endParaRPr lang="en-US" dirty="0"/>
          </a:p>
        </p:txBody>
      </p:sp>
      <p:sp>
        <p:nvSpPr>
          <p:cNvPr id="42" name="Text 39"/>
          <p:cNvSpPr/>
          <p:nvPr/>
        </p:nvSpPr>
        <p:spPr>
          <a:xfrm>
            <a:off x="5543550" y="4525119"/>
            <a:ext cx="3000375" cy="133945"/>
          </a:xfrm>
          <a:prstGeom prst="rect">
            <a:avLst/>
          </a:prstGeom>
          <a:noFill/>
          <a:ln/>
        </p:spPr>
        <p:txBody>
          <a:bodyPr wrap="none" lIns="0" tIns="0" rIns="0" bIns="0" rtlCol="0" anchor="t"/>
          <a:lstStyle/>
          <a:p>
            <a:pPr algn="l" indent="0" marL="0">
              <a:lnSpc>
                <a:spcPts val="1055"/>
              </a:lnSpc>
              <a:buNone/>
            </a:pPr>
            <a:r>
              <a:rPr lang="en-US" sz="800" dirty="0">
                <a:solidFill>
                  <a:srgbClr val="1A1A1A"/>
                </a:solidFill>
                <a:latin typeface="Courier New" pitchFamily="34" charset="0"/>
                <a:ea typeface="Courier New" pitchFamily="34" charset="-122"/>
                <a:cs typeface="Courier New" pitchFamily="34" charset="-120"/>
              </a:rPr>
              <a:t>"cozy evening ambience"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5763"/>
            <a:ext cx="8636000" cy="161877"/>
          </a:xfrm>
          <a:prstGeom prst="rect">
            <a:avLst/>
          </a:prstGeom>
          <a:noFill/>
          <a:ln/>
        </p:spPr>
        <p:txBody>
          <a:bodyPr wrap="none" lIns="0" tIns="0" rIns="0" bIns="0" rtlCol="0" anchor="t">
            <a:normAutofit/>
          </a:bodyPr>
          <a:lstStyle/>
          <a:p>
            <a:pPr algn="l" indent="0" marL="0">
              <a:lnSpc>
                <a:spcPts val="928"/>
              </a:lnSpc>
              <a:buNone/>
            </a:pPr>
            <a:r>
              <a:rPr lang="en-US" sz="800" b="1" spc="87" kern="0" dirty="0">
                <a:solidFill>
                  <a:srgbClr val="F64A8A"/>
                </a:solidFill>
                <a:latin typeface="Carlito" pitchFamily="34" charset="0"/>
                <a:ea typeface="Carlito" pitchFamily="34" charset="-122"/>
                <a:cs typeface="Carlito" pitchFamily="34" charset="-120"/>
              </a:rPr>
              <a:t>ТОНА РАЗДЕЛОВ</a:t>
            </a:r>
            <a:endParaRPr lang="en-US" sz="800" dirty="0"/>
          </a:p>
        </p:txBody>
      </p:sp>
      <p:sp>
        <p:nvSpPr>
          <p:cNvPr id="3" name="Text 1"/>
          <p:cNvSpPr/>
          <p:nvPr/>
        </p:nvSpPr>
        <p:spPr>
          <a:xfrm>
            <a:off x="457200" y="575072"/>
            <a:ext cx="8636000" cy="284661"/>
          </a:xfrm>
          <a:prstGeom prst="rect">
            <a:avLst/>
          </a:prstGeom>
          <a:noFill/>
          <a:ln/>
        </p:spPr>
        <p:txBody>
          <a:bodyPr wrap="square" lIns="0" tIns="0" rIns="0" bIns="0" rtlCol="0" anchor="t">
            <a:normAutofit/>
          </a:bodyPr>
          <a:lstStyle/>
          <a:p>
            <a:pPr algn="l" indent="0" marL="0">
              <a:lnSpc>
                <a:spcPts val="2458"/>
              </a:lnSpc>
              <a:buNone/>
            </a:pPr>
            <a:r>
              <a:rPr lang="en-US" sz="2138" b="1" spc="-43" kern="0" dirty="0">
                <a:solidFill>
                  <a:srgbClr val="1A1A1A"/>
                </a:solidFill>
                <a:latin typeface="Carlito" pitchFamily="34" charset="0"/>
                <a:ea typeface="Carlito" pitchFamily="34" charset="-122"/>
                <a:cs typeface="Carlito" pitchFamily="34" charset="-120"/>
              </a:rPr>
              <a:t>Пять ролей платформы — пять визуальных тонов</a:t>
            </a:r>
            <a:endParaRPr lang="en-US" sz="2138" dirty="0"/>
          </a:p>
        </p:txBody>
      </p:sp>
      <p:sp>
        <p:nvSpPr>
          <p:cNvPr id="4" name="Text 2"/>
          <p:cNvSpPr/>
          <p:nvPr/>
        </p:nvSpPr>
        <p:spPr>
          <a:xfrm>
            <a:off x="457200" y="1877578"/>
            <a:ext cx="1565821" cy="1779017"/>
          </a:xfrm>
          <a:prstGeom prst="roundRect">
            <a:avLst>
              <a:gd name="adj" fmla="val 7300"/>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5" name="Text 3"/>
          <p:cNvSpPr/>
          <p:nvPr/>
        </p:nvSpPr>
        <p:spPr>
          <a:xfrm>
            <a:off x="457200" y="1877578"/>
            <a:ext cx="1565821" cy="42863"/>
          </a:xfrm>
          <a:prstGeom prst="rect">
            <a:avLst/>
          </a:prstGeom>
          <a:solidFill>
            <a:srgbClr val="F64A8A"/>
          </a:solidFill>
          <a:ln/>
        </p:spPr>
        <p:txBody>
          <a:bodyPr wrap="square" rtlCol="0" anchor="ctr"/>
          <a:lstStyle/>
          <a:p>
            <a:pPr indent="0" marL="0">
              <a:buNone/>
            </a:pPr>
            <a:endParaRPr lang="en-US" dirty="0"/>
          </a:p>
        </p:txBody>
      </p:sp>
      <p:sp>
        <p:nvSpPr>
          <p:cNvPr id="6" name="Text 4"/>
          <p:cNvSpPr/>
          <p:nvPr/>
        </p:nvSpPr>
        <p:spPr>
          <a:xfrm>
            <a:off x="571500" y="2094681"/>
            <a:ext cx="71438" cy="71438"/>
          </a:xfrm>
          <a:prstGeom prst="roundRect">
            <a:avLst>
              <a:gd name="adj" fmla="val 13319907"/>
            </a:avLst>
          </a:prstGeom>
          <a:solidFill>
            <a:srgbClr val="F64A8A"/>
          </a:solidFill>
          <a:ln/>
        </p:spPr>
        <p:txBody>
          <a:bodyPr wrap="square" rtlCol="0" anchor="ctr"/>
          <a:lstStyle/>
          <a:p>
            <a:pPr indent="0" marL="0">
              <a:buNone/>
            </a:pPr>
            <a:endParaRPr lang="en-US" dirty="0"/>
          </a:p>
        </p:txBody>
      </p:sp>
      <p:sp>
        <p:nvSpPr>
          <p:cNvPr id="7" name="Text 5"/>
          <p:cNvSpPr/>
          <p:nvPr/>
        </p:nvSpPr>
        <p:spPr>
          <a:xfrm>
            <a:off x="700088" y="2049028"/>
            <a:ext cx="1208633" cy="175884"/>
          </a:xfrm>
          <a:prstGeom prst="rect">
            <a:avLst/>
          </a:prstGeom>
          <a:noFill/>
          <a:ln/>
        </p:spPr>
        <p:txBody>
          <a:bodyPr wrap="none" lIns="0" tIns="0" rIns="0" bIns="0" rtlCol="0" anchor="t"/>
          <a:lstStyle/>
          <a:p>
            <a:pPr algn="l" indent="0" marL="0">
              <a:lnSpc>
                <a:spcPts val="1283"/>
              </a:lnSpc>
              <a:buNone/>
            </a:pPr>
            <a:r>
              <a:rPr lang="en-US" sz="1069" b="1" spc="-11" kern="0" dirty="0">
                <a:solidFill>
                  <a:srgbClr val="1A1A1A"/>
                </a:solidFill>
                <a:latin typeface="Carlito" pitchFamily="34" charset="0"/>
                <a:ea typeface="Carlito" pitchFamily="34" charset="-122"/>
                <a:cs typeface="Carlito" pitchFamily="34" charset="-120"/>
              </a:rPr>
              <a:t>Клиентам</a:t>
            </a:r>
            <a:endParaRPr lang="en-US" sz="1069" dirty="0"/>
          </a:p>
        </p:txBody>
      </p:sp>
      <p:sp>
        <p:nvSpPr>
          <p:cNvPr id="8" name="Text 6"/>
          <p:cNvSpPr/>
          <p:nvPr/>
        </p:nvSpPr>
        <p:spPr>
          <a:xfrm>
            <a:off x="571500" y="2254746"/>
            <a:ext cx="1451521" cy="91440"/>
          </a:xfrm>
          <a:prstGeom prst="rect">
            <a:avLst/>
          </a:prstGeom>
          <a:noFill/>
          <a:ln/>
        </p:spPr>
        <p:txBody>
          <a:bodyPr wrap="none" lIns="0" tIns="0" rIns="0" bIns="0" rtlCol="0" anchor="t">
            <a:normAutofit/>
          </a:bodyPr>
          <a:lstStyle/>
          <a:p>
            <a:pPr algn="l" indent="0" marL="0">
              <a:lnSpc>
                <a:spcPts val="897"/>
              </a:lnSpc>
              <a:buNone/>
            </a:pPr>
            <a:r>
              <a:rPr lang="en-US" sz="800" dirty="0">
                <a:solidFill>
                  <a:srgbClr val="888888"/>
                </a:solidFill>
                <a:latin typeface="Carlito" pitchFamily="34" charset="0"/>
                <a:ea typeface="Carlito" pitchFamily="34" charset="-122"/>
                <a:cs typeface="Carlito" pitchFamily="34" charset="-120"/>
              </a:rPr>
              <a:t>жители района</a:t>
            </a:r>
            <a:endParaRPr lang="en-US" sz="800" dirty="0"/>
          </a:p>
        </p:txBody>
      </p:sp>
      <p:sp>
        <p:nvSpPr>
          <p:cNvPr id="9" name="Text 7"/>
          <p:cNvSpPr/>
          <p:nvPr/>
        </p:nvSpPr>
        <p:spPr>
          <a:xfrm>
            <a:off x="571500" y="2368600"/>
            <a:ext cx="1337221" cy="1173696"/>
          </a:xfrm>
          <a:prstGeom prst="roundRect">
            <a:avLst>
              <a:gd name="adj" fmla="val 9738"/>
            </a:avLst>
          </a:prstGeom>
          <a:solidFill>
            <a:srgbClr val="262023"/>
          </a:solidFill>
          <a:ln/>
        </p:spPr>
        <p:txBody>
          <a:bodyPr wrap="square" rtlCol="0" anchor="ctr"/>
          <a:lstStyle/>
          <a:p>
            <a:pPr indent="0" marL="0">
              <a:buNone/>
            </a:pPr>
            <a:endParaRPr lang="en-US" dirty="0"/>
          </a:p>
        </p:txBody>
      </p:sp>
      <p:sp>
        <p:nvSpPr>
          <p:cNvPr id="10" name="Text 8"/>
          <p:cNvSpPr/>
          <p:nvPr/>
        </p:nvSpPr>
        <p:spPr>
          <a:xfrm>
            <a:off x="671513" y="2461468"/>
            <a:ext cx="1137196" cy="130065"/>
          </a:xfrm>
          <a:prstGeom prst="rect">
            <a:avLst/>
          </a:prstGeom>
          <a:noFill/>
          <a:ln/>
        </p:spPr>
        <p:txBody>
          <a:bodyPr wrap="none" lIns="0" tIns="0" rIns="0" bIns="0" rtlCol="0" anchor="t">
            <a:normAutofit/>
          </a:bodyPr>
          <a:lstStyle/>
          <a:p>
            <a:pPr algn="l" indent="0" marL="0">
              <a:lnSpc>
                <a:spcPts val="959"/>
              </a:lnSpc>
              <a:buNone/>
            </a:pPr>
            <a:r>
              <a:rPr lang="en-US" sz="800" b="1" spc="62" kern="0" dirty="0">
                <a:solidFill>
                  <a:srgbClr val="D4A854"/>
                </a:solidFill>
                <a:latin typeface="Carlito" pitchFamily="34" charset="0"/>
                <a:ea typeface="Carlito" pitchFamily="34" charset="-122"/>
                <a:cs typeface="Carlito" pitchFamily="34" charset="-120"/>
              </a:rPr>
              <a:t>EN · ХУК</a:t>
            </a:r>
            <a:endParaRPr lang="en-US" sz="800" dirty="0"/>
          </a:p>
        </p:txBody>
      </p:sp>
      <p:sp>
        <p:nvSpPr>
          <p:cNvPr id="11" name="Text 9"/>
          <p:cNvSpPr/>
          <p:nvPr/>
        </p:nvSpPr>
        <p:spPr>
          <a:xfrm>
            <a:off x="671513" y="2618966"/>
            <a:ext cx="1205427" cy="830461"/>
          </a:xfrm>
          <a:prstGeom prst="rect">
            <a:avLst/>
          </a:prstGeom>
          <a:noFill/>
          <a:ln/>
        </p:spPr>
        <p:txBody>
          <a:bodyPr wrap="square" lIns="0" tIns="0" rIns="0" bIns="0" rtlCol="0" anchor="t"/>
          <a:lstStyle/>
          <a:p>
            <a:pPr algn="l" indent="0" marL="0">
              <a:lnSpc>
                <a:spcPts val="1090"/>
              </a:lnSpc>
              <a:buNone/>
            </a:pPr>
            <a:r>
              <a:rPr lang="en-US" sz="800" dirty="0">
                <a:solidFill>
                  <a:srgbClr val="F8F8F8"/>
                </a:solidFill>
                <a:latin typeface="Courier New" pitchFamily="34" charset="0"/>
                <a:ea typeface="Courier New" pitchFamily="34" charset="-122"/>
                <a:cs typeface="Courier New" pitchFamily="34" charset="-120"/>
              </a:rPr>
              <a:t>young woman smiling while paying with her phone at a local bakery, soft pink details, warm daylight</a:t>
            </a:r>
            <a:endParaRPr lang="en-US" sz="800" dirty="0"/>
          </a:p>
        </p:txBody>
      </p:sp>
      <p:sp>
        <p:nvSpPr>
          <p:cNvPr id="12" name="Text 10"/>
          <p:cNvSpPr/>
          <p:nvPr/>
        </p:nvSpPr>
        <p:spPr>
          <a:xfrm>
            <a:off x="2123033" y="1877578"/>
            <a:ext cx="1565932" cy="1779017"/>
          </a:xfrm>
          <a:prstGeom prst="roundRect">
            <a:avLst>
              <a:gd name="adj" fmla="val 7299"/>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3" name="Text 11"/>
          <p:cNvSpPr/>
          <p:nvPr/>
        </p:nvSpPr>
        <p:spPr>
          <a:xfrm>
            <a:off x="2123033" y="1877578"/>
            <a:ext cx="1565932" cy="42863"/>
          </a:xfrm>
          <a:prstGeom prst="rect">
            <a:avLst/>
          </a:prstGeom>
          <a:solidFill>
            <a:srgbClr val="0ABAB5"/>
          </a:solidFill>
          <a:ln/>
        </p:spPr>
        <p:txBody>
          <a:bodyPr wrap="square" rtlCol="0" anchor="ctr"/>
          <a:lstStyle/>
          <a:p>
            <a:pPr indent="0" marL="0">
              <a:buNone/>
            </a:pPr>
            <a:endParaRPr lang="en-US" dirty="0"/>
          </a:p>
        </p:txBody>
      </p:sp>
      <p:sp>
        <p:nvSpPr>
          <p:cNvPr id="14" name="Text 12"/>
          <p:cNvSpPr/>
          <p:nvPr/>
        </p:nvSpPr>
        <p:spPr>
          <a:xfrm>
            <a:off x="2237333" y="2094681"/>
            <a:ext cx="71438" cy="71438"/>
          </a:xfrm>
          <a:prstGeom prst="roundRect">
            <a:avLst>
              <a:gd name="adj" fmla="val 13319907"/>
            </a:avLst>
          </a:prstGeom>
          <a:solidFill>
            <a:srgbClr val="0ABAB5"/>
          </a:solidFill>
          <a:ln/>
        </p:spPr>
        <p:txBody>
          <a:bodyPr wrap="square" rtlCol="0" anchor="ctr"/>
          <a:lstStyle/>
          <a:p>
            <a:pPr indent="0" marL="0">
              <a:buNone/>
            </a:pPr>
            <a:endParaRPr lang="en-US" dirty="0"/>
          </a:p>
        </p:txBody>
      </p:sp>
      <p:sp>
        <p:nvSpPr>
          <p:cNvPr id="15" name="Text 13"/>
          <p:cNvSpPr/>
          <p:nvPr/>
        </p:nvSpPr>
        <p:spPr>
          <a:xfrm>
            <a:off x="2365921" y="2049028"/>
            <a:ext cx="1208745" cy="175884"/>
          </a:xfrm>
          <a:prstGeom prst="rect">
            <a:avLst/>
          </a:prstGeom>
          <a:noFill/>
          <a:ln/>
        </p:spPr>
        <p:txBody>
          <a:bodyPr wrap="none" lIns="0" tIns="0" rIns="0" bIns="0" rtlCol="0" anchor="t"/>
          <a:lstStyle/>
          <a:p>
            <a:pPr algn="l" indent="0" marL="0">
              <a:lnSpc>
                <a:spcPts val="1283"/>
              </a:lnSpc>
              <a:buNone/>
            </a:pPr>
            <a:r>
              <a:rPr lang="en-US" sz="1069" b="1" spc="-11" kern="0" dirty="0">
                <a:solidFill>
                  <a:srgbClr val="1A1A1A"/>
                </a:solidFill>
                <a:latin typeface="Carlito" pitchFamily="34" charset="0"/>
                <a:ea typeface="Carlito" pitchFamily="34" charset="-122"/>
                <a:cs typeface="Carlito" pitchFamily="34" charset="-120"/>
              </a:rPr>
              <a:t>Бизнесу</a:t>
            </a:r>
            <a:endParaRPr lang="en-US" sz="1069" dirty="0"/>
          </a:p>
        </p:txBody>
      </p:sp>
      <p:sp>
        <p:nvSpPr>
          <p:cNvPr id="16" name="Text 14"/>
          <p:cNvSpPr/>
          <p:nvPr/>
        </p:nvSpPr>
        <p:spPr>
          <a:xfrm>
            <a:off x="2237333" y="2254746"/>
            <a:ext cx="1451632" cy="158981"/>
          </a:xfrm>
          <a:prstGeom prst="rect">
            <a:avLst/>
          </a:prstGeom>
          <a:noFill/>
          <a:ln/>
        </p:spPr>
        <p:txBody>
          <a:bodyPr wrap="none" lIns="0" tIns="0" rIns="0" bIns="0" rtlCol="0" anchor="t"/>
          <a:lstStyle/>
          <a:p>
            <a:pPr algn="l" indent="0" marL="0">
              <a:lnSpc>
                <a:spcPts val="897"/>
              </a:lnSpc>
              <a:buNone/>
            </a:pPr>
            <a:r>
              <a:rPr lang="en-US" sz="800" dirty="0">
                <a:solidFill>
                  <a:srgbClr val="888888"/>
                </a:solidFill>
                <a:latin typeface="Carlito" pitchFamily="34" charset="0"/>
                <a:ea typeface="Carlito" pitchFamily="34" charset="-122"/>
                <a:cs typeface="Carlito" pitchFamily="34" charset="-120"/>
              </a:rPr>
              <a:t>точки МСП</a:t>
            </a:r>
            <a:endParaRPr lang="en-US" sz="800" dirty="0"/>
          </a:p>
        </p:txBody>
      </p:sp>
      <p:sp>
        <p:nvSpPr>
          <p:cNvPr id="17" name="Text 15"/>
          <p:cNvSpPr/>
          <p:nvPr/>
        </p:nvSpPr>
        <p:spPr>
          <a:xfrm>
            <a:off x="2237333" y="2645420"/>
            <a:ext cx="1337332" cy="896875"/>
          </a:xfrm>
          <a:prstGeom prst="roundRect">
            <a:avLst>
              <a:gd name="adj" fmla="val 12744"/>
            </a:avLst>
          </a:prstGeom>
          <a:solidFill>
            <a:srgbClr val="262023"/>
          </a:solidFill>
          <a:ln/>
        </p:spPr>
        <p:txBody>
          <a:bodyPr wrap="square" rtlCol="0" anchor="ctr"/>
          <a:lstStyle/>
          <a:p>
            <a:pPr indent="0" marL="0">
              <a:buNone/>
            </a:pPr>
            <a:endParaRPr lang="en-US" dirty="0"/>
          </a:p>
        </p:txBody>
      </p:sp>
      <p:sp>
        <p:nvSpPr>
          <p:cNvPr id="18" name="Text 16"/>
          <p:cNvSpPr/>
          <p:nvPr/>
        </p:nvSpPr>
        <p:spPr>
          <a:xfrm>
            <a:off x="2337346" y="2738289"/>
            <a:ext cx="1137307" cy="130065"/>
          </a:xfrm>
          <a:prstGeom prst="rect">
            <a:avLst/>
          </a:prstGeom>
          <a:noFill/>
          <a:ln/>
        </p:spPr>
        <p:txBody>
          <a:bodyPr wrap="none" lIns="0" tIns="0" rIns="0" bIns="0" rtlCol="0" anchor="t">
            <a:normAutofit/>
          </a:bodyPr>
          <a:lstStyle/>
          <a:p>
            <a:pPr algn="l" indent="0" marL="0">
              <a:lnSpc>
                <a:spcPts val="959"/>
              </a:lnSpc>
              <a:buNone/>
            </a:pPr>
            <a:r>
              <a:rPr lang="en-US" sz="800" b="1" spc="62" kern="0" dirty="0">
                <a:solidFill>
                  <a:srgbClr val="D4A854"/>
                </a:solidFill>
                <a:latin typeface="Carlito" pitchFamily="34" charset="0"/>
                <a:ea typeface="Carlito" pitchFamily="34" charset="-122"/>
                <a:cs typeface="Carlito" pitchFamily="34" charset="-120"/>
              </a:rPr>
              <a:t>EN · ХУК</a:t>
            </a:r>
            <a:endParaRPr lang="en-US" sz="800" dirty="0"/>
          </a:p>
        </p:txBody>
      </p:sp>
      <p:sp>
        <p:nvSpPr>
          <p:cNvPr id="19" name="Text 17"/>
          <p:cNvSpPr/>
          <p:nvPr/>
        </p:nvSpPr>
        <p:spPr>
          <a:xfrm>
            <a:off x="2337346" y="2895786"/>
            <a:ext cx="1205546" cy="553641"/>
          </a:xfrm>
          <a:prstGeom prst="rect">
            <a:avLst/>
          </a:prstGeom>
          <a:noFill/>
          <a:ln/>
        </p:spPr>
        <p:txBody>
          <a:bodyPr wrap="square" lIns="0" tIns="0" rIns="0" bIns="0" rtlCol="0" anchor="t"/>
          <a:lstStyle/>
          <a:p>
            <a:pPr algn="l" indent="0" marL="0">
              <a:lnSpc>
                <a:spcPts val="1090"/>
              </a:lnSpc>
              <a:buNone/>
            </a:pPr>
            <a:r>
              <a:rPr lang="en-US" sz="800" dirty="0">
                <a:solidFill>
                  <a:srgbClr val="F8F8F8"/>
                </a:solidFill>
                <a:latin typeface="Courier New" pitchFamily="34" charset="0"/>
                <a:ea typeface="Courier New" pitchFamily="34" charset="-122"/>
                <a:cs typeface="Courier New" pitchFamily="34" charset="-120"/>
              </a:rPr>
              <a:t>small shop owner at a modern counter with tablet, teal accents, clean bright interior</a:t>
            </a:r>
            <a:endParaRPr lang="en-US" sz="800" dirty="0"/>
          </a:p>
        </p:txBody>
      </p:sp>
      <p:sp>
        <p:nvSpPr>
          <p:cNvPr id="20" name="Text 18"/>
          <p:cNvSpPr/>
          <p:nvPr/>
        </p:nvSpPr>
        <p:spPr>
          <a:xfrm>
            <a:off x="3788978" y="1877578"/>
            <a:ext cx="1565932" cy="1779017"/>
          </a:xfrm>
          <a:prstGeom prst="roundRect">
            <a:avLst>
              <a:gd name="adj" fmla="val 7299"/>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1" name="Text 19"/>
          <p:cNvSpPr/>
          <p:nvPr/>
        </p:nvSpPr>
        <p:spPr>
          <a:xfrm>
            <a:off x="3788978" y="1877578"/>
            <a:ext cx="1565932" cy="42863"/>
          </a:xfrm>
          <a:prstGeom prst="rect">
            <a:avLst/>
          </a:prstGeom>
          <a:solidFill>
            <a:srgbClr val="D4A854"/>
          </a:solidFill>
          <a:ln/>
        </p:spPr>
        <p:txBody>
          <a:bodyPr wrap="square" rtlCol="0" anchor="ctr"/>
          <a:lstStyle/>
          <a:p>
            <a:pPr indent="0" marL="0">
              <a:buNone/>
            </a:pPr>
            <a:endParaRPr lang="en-US" dirty="0"/>
          </a:p>
        </p:txBody>
      </p:sp>
      <p:sp>
        <p:nvSpPr>
          <p:cNvPr id="22" name="Text 20"/>
          <p:cNvSpPr/>
          <p:nvPr/>
        </p:nvSpPr>
        <p:spPr>
          <a:xfrm>
            <a:off x="3903278" y="2094681"/>
            <a:ext cx="71438" cy="71438"/>
          </a:xfrm>
          <a:prstGeom prst="roundRect">
            <a:avLst>
              <a:gd name="adj" fmla="val 13319907"/>
            </a:avLst>
          </a:prstGeom>
          <a:solidFill>
            <a:srgbClr val="D4A854"/>
          </a:solidFill>
          <a:ln/>
        </p:spPr>
        <p:txBody>
          <a:bodyPr wrap="square" rtlCol="0" anchor="ctr"/>
          <a:lstStyle/>
          <a:p>
            <a:pPr indent="0" marL="0">
              <a:buNone/>
            </a:pPr>
            <a:endParaRPr lang="en-US" dirty="0"/>
          </a:p>
        </p:txBody>
      </p:sp>
      <p:sp>
        <p:nvSpPr>
          <p:cNvPr id="23" name="Text 21"/>
          <p:cNvSpPr/>
          <p:nvPr/>
        </p:nvSpPr>
        <p:spPr>
          <a:xfrm>
            <a:off x="4031866" y="2049028"/>
            <a:ext cx="1208745" cy="175884"/>
          </a:xfrm>
          <a:prstGeom prst="rect">
            <a:avLst/>
          </a:prstGeom>
          <a:noFill/>
          <a:ln/>
        </p:spPr>
        <p:txBody>
          <a:bodyPr wrap="none" lIns="0" tIns="0" rIns="0" bIns="0" rtlCol="0" anchor="t"/>
          <a:lstStyle/>
          <a:p>
            <a:pPr algn="l" indent="0" marL="0">
              <a:lnSpc>
                <a:spcPts val="1283"/>
              </a:lnSpc>
              <a:buNone/>
            </a:pPr>
            <a:r>
              <a:rPr lang="en-US" sz="1069" b="1" spc="-11" kern="0" dirty="0">
                <a:solidFill>
                  <a:srgbClr val="1A1A1A"/>
                </a:solidFill>
                <a:latin typeface="Carlito" pitchFamily="34" charset="0"/>
                <a:ea typeface="Carlito" pitchFamily="34" charset="-122"/>
                <a:cs typeface="Carlito" pitchFamily="34" charset="-120"/>
              </a:rPr>
              <a:t>Партнёрам</a:t>
            </a:r>
            <a:endParaRPr lang="en-US" sz="1069" dirty="0"/>
          </a:p>
        </p:txBody>
      </p:sp>
      <p:sp>
        <p:nvSpPr>
          <p:cNvPr id="24" name="Text 22"/>
          <p:cNvSpPr/>
          <p:nvPr/>
        </p:nvSpPr>
        <p:spPr>
          <a:xfrm>
            <a:off x="3903278" y="2254746"/>
            <a:ext cx="1444319" cy="158981"/>
          </a:xfrm>
          <a:prstGeom prst="rect">
            <a:avLst/>
          </a:prstGeom>
          <a:noFill/>
          <a:ln/>
        </p:spPr>
        <p:txBody>
          <a:bodyPr wrap="square" lIns="0" tIns="0" rIns="0" bIns="0" rtlCol="0" anchor="t"/>
          <a:lstStyle/>
          <a:p>
            <a:pPr algn="l" indent="0" marL="0">
              <a:lnSpc>
                <a:spcPts val="897"/>
              </a:lnSpc>
              <a:buNone/>
            </a:pPr>
            <a:r>
              <a:rPr lang="en-US" sz="619" dirty="0">
                <a:solidFill>
                  <a:srgbClr val="888888"/>
                </a:solidFill>
                <a:latin typeface="Carlito" pitchFamily="34" charset="0"/>
                <a:ea typeface="Carlito" pitchFamily="34" charset="-122"/>
                <a:cs typeface="Carlito" pitchFamily="34" charset="-120"/>
              </a:rPr>
              <a:t>представители, мэры, губернаторы</a:t>
            </a:r>
            <a:endParaRPr lang="en-US" sz="619" dirty="0"/>
          </a:p>
        </p:txBody>
      </p:sp>
      <p:sp>
        <p:nvSpPr>
          <p:cNvPr id="25" name="Text 23"/>
          <p:cNvSpPr/>
          <p:nvPr/>
        </p:nvSpPr>
        <p:spPr>
          <a:xfrm>
            <a:off x="3903278" y="2507010"/>
            <a:ext cx="1337332" cy="1035286"/>
          </a:xfrm>
          <a:prstGeom prst="roundRect">
            <a:avLst>
              <a:gd name="adj" fmla="val 11040"/>
            </a:avLst>
          </a:prstGeom>
          <a:solidFill>
            <a:srgbClr val="262023"/>
          </a:solidFill>
          <a:ln/>
        </p:spPr>
        <p:txBody>
          <a:bodyPr wrap="square" rtlCol="0" anchor="ctr"/>
          <a:lstStyle/>
          <a:p>
            <a:pPr indent="0" marL="0">
              <a:buNone/>
            </a:pPr>
            <a:endParaRPr lang="en-US" dirty="0"/>
          </a:p>
        </p:txBody>
      </p:sp>
      <p:sp>
        <p:nvSpPr>
          <p:cNvPr id="26" name="Text 24"/>
          <p:cNvSpPr/>
          <p:nvPr/>
        </p:nvSpPr>
        <p:spPr>
          <a:xfrm>
            <a:off x="4003291" y="2599879"/>
            <a:ext cx="1137307" cy="130065"/>
          </a:xfrm>
          <a:prstGeom prst="rect">
            <a:avLst/>
          </a:prstGeom>
          <a:noFill/>
          <a:ln/>
        </p:spPr>
        <p:txBody>
          <a:bodyPr wrap="none" lIns="0" tIns="0" rIns="0" bIns="0" rtlCol="0" anchor="t">
            <a:normAutofit/>
          </a:bodyPr>
          <a:lstStyle/>
          <a:p>
            <a:pPr algn="l" indent="0" marL="0">
              <a:lnSpc>
                <a:spcPts val="959"/>
              </a:lnSpc>
              <a:buNone/>
            </a:pPr>
            <a:r>
              <a:rPr lang="en-US" sz="800" b="1" spc="62" kern="0" dirty="0">
                <a:solidFill>
                  <a:srgbClr val="D4A854"/>
                </a:solidFill>
                <a:latin typeface="Carlito" pitchFamily="34" charset="0"/>
                <a:ea typeface="Carlito" pitchFamily="34" charset="-122"/>
                <a:cs typeface="Carlito" pitchFamily="34" charset="-120"/>
              </a:rPr>
              <a:t>EN · ХУК</a:t>
            </a:r>
            <a:endParaRPr lang="en-US" sz="800" dirty="0"/>
          </a:p>
        </p:txBody>
      </p:sp>
      <p:sp>
        <p:nvSpPr>
          <p:cNvPr id="27" name="Text 25"/>
          <p:cNvSpPr/>
          <p:nvPr/>
        </p:nvSpPr>
        <p:spPr>
          <a:xfrm>
            <a:off x="4003291" y="2757376"/>
            <a:ext cx="1205546" cy="692051"/>
          </a:xfrm>
          <a:prstGeom prst="rect">
            <a:avLst/>
          </a:prstGeom>
          <a:noFill/>
          <a:ln/>
        </p:spPr>
        <p:txBody>
          <a:bodyPr wrap="square" lIns="0" tIns="0" rIns="0" bIns="0" rtlCol="0" anchor="t"/>
          <a:lstStyle/>
          <a:p>
            <a:pPr algn="l" indent="0" marL="0">
              <a:lnSpc>
                <a:spcPts val="1090"/>
              </a:lnSpc>
              <a:buNone/>
            </a:pPr>
            <a:r>
              <a:rPr lang="en-US" sz="800" dirty="0">
                <a:solidFill>
                  <a:srgbClr val="F8F8F8"/>
                </a:solidFill>
                <a:latin typeface="Courier New" pitchFamily="34" charset="0"/>
                <a:ea typeface="Courier New" pitchFamily="34" charset="-122"/>
                <a:cs typeface="Courier New" pitchFamily="34" charset="-120"/>
              </a:rPr>
              <a:t>confident representative shaking hands with a local shop owner, warm golden light</a:t>
            </a:r>
            <a:endParaRPr lang="en-US" sz="800" dirty="0"/>
          </a:p>
        </p:txBody>
      </p:sp>
      <p:sp>
        <p:nvSpPr>
          <p:cNvPr id="28" name="Text 26"/>
          <p:cNvSpPr/>
          <p:nvPr/>
        </p:nvSpPr>
        <p:spPr>
          <a:xfrm>
            <a:off x="5454923" y="1877578"/>
            <a:ext cx="1565932" cy="1779017"/>
          </a:xfrm>
          <a:prstGeom prst="roundRect">
            <a:avLst>
              <a:gd name="adj" fmla="val 7299"/>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9" name="Text 27"/>
          <p:cNvSpPr/>
          <p:nvPr/>
        </p:nvSpPr>
        <p:spPr>
          <a:xfrm>
            <a:off x="5454923" y="1877578"/>
            <a:ext cx="1565932" cy="42863"/>
          </a:xfrm>
          <a:prstGeom prst="rect">
            <a:avLst/>
          </a:prstGeom>
          <a:solidFill>
            <a:srgbClr val="C92A6A"/>
          </a:solidFill>
          <a:ln/>
        </p:spPr>
        <p:txBody>
          <a:bodyPr wrap="square" rtlCol="0" anchor="ctr"/>
          <a:lstStyle/>
          <a:p>
            <a:pPr indent="0" marL="0">
              <a:buNone/>
            </a:pPr>
            <a:endParaRPr lang="en-US" dirty="0"/>
          </a:p>
        </p:txBody>
      </p:sp>
      <p:sp>
        <p:nvSpPr>
          <p:cNvPr id="30" name="Text 28"/>
          <p:cNvSpPr/>
          <p:nvPr/>
        </p:nvSpPr>
        <p:spPr>
          <a:xfrm>
            <a:off x="5569223" y="2094681"/>
            <a:ext cx="71438" cy="71438"/>
          </a:xfrm>
          <a:prstGeom prst="roundRect">
            <a:avLst>
              <a:gd name="adj" fmla="val 13319907"/>
            </a:avLst>
          </a:prstGeom>
          <a:solidFill>
            <a:srgbClr val="C92A6A"/>
          </a:solidFill>
          <a:ln/>
        </p:spPr>
        <p:txBody>
          <a:bodyPr wrap="square" rtlCol="0" anchor="ctr"/>
          <a:lstStyle/>
          <a:p>
            <a:pPr indent="0" marL="0">
              <a:buNone/>
            </a:pPr>
            <a:endParaRPr lang="en-US" dirty="0"/>
          </a:p>
        </p:txBody>
      </p:sp>
      <p:sp>
        <p:nvSpPr>
          <p:cNvPr id="31" name="Text 29"/>
          <p:cNvSpPr/>
          <p:nvPr/>
        </p:nvSpPr>
        <p:spPr>
          <a:xfrm>
            <a:off x="5697810" y="2049028"/>
            <a:ext cx="1244715" cy="175884"/>
          </a:xfrm>
          <a:prstGeom prst="rect">
            <a:avLst/>
          </a:prstGeom>
          <a:noFill/>
          <a:ln/>
        </p:spPr>
        <p:txBody>
          <a:bodyPr wrap="none" lIns="0" tIns="0" rIns="0" bIns="0" rtlCol="0" anchor="t"/>
          <a:lstStyle/>
          <a:p>
            <a:pPr algn="l" indent="0" marL="0">
              <a:lnSpc>
                <a:spcPts val="1283"/>
              </a:lnSpc>
              <a:buNone/>
            </a:pPr>
            <a:r>
              <a:rPr lang="en-US" sz="1069" b="1" spc="-11" kern="0" dirty="0">
                <a:solidFill>
                  <a:srgbClr val="1A1A1A"/>
                </a:solidFill>
                <a:latin typeface="Carlito" pitchFamily="34" charset="0"/>
                <a:ea typeface="Carlito" pitchFamily="34" charset="-122"/>
                <a:cs typeface="Carlito" pitchFamily="34" charset="-120"/>
              </a:rPr>
              <a:t>Амбассадорам</a:t>
            </a:r>
            <a:endParaRPr lang="en-US" sz="1069" dirty="0"/>
          </a:p>
        </p:txBody>
      </p:sp>
      <p:sp>
        <p:nvSpPr>
          <p:cNvPr id="32" name="Text 30"/>
          <p:cNvSpPr/>
          <p:nvPr/>
        </p:nvSpPr>
        <p:spPr>
          <a:xfrm>
            <a:off x="5569223" y="2254746"/>
            <a:ext cx="1451632" cy="158981"/>
          </a:xfrm>
          <a:prstGeom prst="rect">
            <a:avLst/>
          </a:prstGeom>
          <a:noFill/>
          <a:ln/>
        </p:spPr>
        <p:txBody>
          <a:bodyPr wrap="none" lIns="0" tIns="0" rIns="0" bIns="0" rtlCol="0" anchor="t"/>
          <a:lstStyle/>
          <a:p>
            <a:pPr algn="l" indent="0" marL="0">
              <a:lnSpc>
                <a:spcPts val="897"/>
              </a:lnSpc>
              <a:buNone/>
            </a:pPr>
            <a:r>
              <a:rPr lang="en-US" sz="800" dirty="0">
                <a:solidFill>
                  <a:srgbClr val="888888"/>
                </a:solidFill>
                <a:latin typeface="Carlito" pitchFamily="34" charset="0"/>
                <a:ea typeface="Carlito" pitchFamily="34" charset="-122"/>
                <a:cs typeface="Carlito" pitchFamily="34" charset="-120"/>
              </a:rPr>
              <a:t>лидеры локаций</a:t>
            </a:r>
            <a:endParaRPr lang="en-US" sz="800" dirty="0"/>
          </a:p>
        </p:txBody>
      </p:sp>
      <p:sp>
        <p:nvSpPr>
          <p:cNvPr id="33" name="Text 31"/>
          <p:cNvSpPr/>
          <p:nvPr/>
        </p:nvSpPr>
        <p:spPr>
          <a:xfrm>
            <a:off x="5569223" y="2507010"/>
            <a:ext cx="1337332" cy="1035286"/>
          </a:xfrm>
          <a:prstGeom prst="roundRect">
            <a:avLst>
              <a:gd name="adj" fmla="val 11040"/>
            </a:avLst>
          </a:prstGeom>
          <a:solidFill>
            <a:srgbClr val="262023"/>
          </a:solidFill>
          <a:ln/>
        </p:spPr>
        <p:txBody>
          <a:bodyPr wrap="square" rtlCol="0" anchor="ctr"/>
          <a:lstStyle/>
          <a:p>
            <a:pPr indent="0" marL="0">
              <a:buNone/>
            </a:pPr>
            <a:endParaRPr lang="en-US" dirty="0"/>
          </a:p>
        </p:txBody>
      </p:sp>
      <p:sp>
        <p:nvSpPr>
          <p:cNvPr id="34" name="Text 32"/>
          <p:cNvSpPr/>
          <p:nvPr/>
        </p:nvSpPr>
        <p:spPr>
          <a:xfrm>
            <a:off x="5669235" y="2599879"/>
            <a:ext cx="1137307" cy="130065"/>
          </a:xfrm>
          <a:prstGeom prst="rect">
            <a:avLst/>
          </a:prstGeom>
          <a:noFill/>
          <a:ln/>
        </p:spPr>
        <p:txBody>
          <a:bodyPr wrap="none" lIns="0" tIns="0" rIns="0" bIns="0" rtlCol="0" anchor="t">
            <a:normAutofit/>
          </a:bodyPr>
          <a:lstStyle/>
          <a:p>
            <a:pPr algn="l" indent="0" marL="0">
              <a:lnSpc>
                <a:spcPts val="959"/>
              </a:lnSpc>
              <a:buNone/>
            </a:pPr>
            <a:r>
              <a:rPr lang="en-US" sz="800" b="1" spc="62" kern="0" dirty="0">
                <a:solidFill>
                  <a:srgbClr val="D4A854"/>
                </a:solidFill>
                <a:latin typeface="Carlito" pitchFamily="34" charset="0"/>
                <a:ea typeface="Carlito" pitchFamily="34" charset="-122"/>
                <a:cs typeface="Carlito" pitchFamily="34" charset="-120"/>
              </a:rPr>
              <a:t>EN · ХУК</a:t>
            </a:r>
            <a:endParaRPr lang="en-US" sz="800" dirty="0"/>
          </a:p>
        </p:txBody>
      </p:sp>
      <p:sp>
        <p:nvSpPr>
          <p:cNvPr id="35" name="Text 33"/>
          <p:cNvSpPr/>
          <p:nvPr/>
        </p:nvSpPr>
        <p:spPr>
          <a:xfrm>
            <a:off x="5669235" y="2757376"/>
            <a:ext cx="1205546" cy="692051"/>
          </a:xfrm>
          <a:prstGeom prst="rect">
            <a:avLst/>
          </a:prstGeom>
          <a:noFill/>
          <a:ln/>
        </p:spPr>
        <p:txBody>
          <a:bodyPr wrap="square" lIns="0" tIns="0" rIns="0" bIns="0" rtlCol="0" anchor="t"/>
          <a:lstStyle/>
          <a:p>
            <a:pPr algn="l" indent="0" marL="0">
              <a:lnSpc>
                <a:spcPts val="1090"/>
              </a:lnSpc>
              <a:buNone/>
            </a:pPr>
            <a:r>
              <a:rPr lang="en-US" sz="800" dirty="0">
                <a:solidFill>
                  <a:srgbClr val="F8F8F8"/>
                </a:solidFill>
                <a:latin typeface="Courier New" pitchFamily="34" charset="0"/>
                <a:ea typeface="Courier New" pitchFamily="34" charset="-122"/>
                <a:cs typeface="Courier New" pitchFamily="34" charset="-120"/>
              </a:rPr>
              <a:t>community leader talking with neighbors in a cozy cafe, deep raspberry accents</a:t>
            </a:r>
            <a:endParaRPr lang="en-US" sz="800" dirty="0"/>
          </a:p>
        </p:txBody>
      </p:sp>
      <p:sp>
        <p:nvSpPr>
          <p:cNvPr id="36" name="Text 34"/>
          <p:cNvSpPr/>
          <p:nvPr/>
        </p:nvSpPr>
        <p:spPr>
          <a:xfrm>
            <a:off x="7120868" y="1877578"/>
            <a:ext cx="1565821" cy="1779017"/>
          </a:xfrm>
          <a:prstGeom prst="roundRect">
            <a:avLst>
              <a:gd name="adj" fmla="val 7300"/>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37" name="Text 35"/>
          <p:cNvSpPr/>
          <p:nvPr/>
        </p:nvSpPr>
        <p:spPr>
          <a:xfrm>
            <a:off x="7120868" y="1877578"/>
            <a:ext cx="1565821" cy="42863"/>
          </a:xfrm>
          <a:prstGeom prst="rect">
            <a:avLst/>
          </a:prstGeom>
          <a:solidFill>
            <a:srgbClr val="1A1A1A"/>
          </a:solidFill>
          <a:ln/>
        </p:spPr>
        <p:txBody>
          <a:bodyPr wrap="square" rtlCol="0" anchor="ctr"/>
          <a:lstStyle/>
          <a:p>
            <a:pPr indent="0" marL="0">
              <a:buNone/>
            </a:pPr>
            <a:endParaRPr lang="en-US" dirty="0"/>
          </a:p>
        </p:txBody>
      </p:sp>
      <p:sp>
        <p:nvSpPr>
          <p:cNvPr id="38" name="Text 36"/>
          <p:cNvSpPr/>
          <p:nvPr/>
        </p:nvSpPr>
        <p:spPr>
          <a:xfrm>
            <a:off x="7235168" y="2094681"/>
            <a:ext cx="71438" cy="71438"/>
          </a:xfrm>
          <a:prstGeom prst="roundRect">
            <a:avLst>
              <a:gd name="adj" fmla="val 13319907"/>
            </a:avLst>
          </a:prstGeom>
          <a:solidFill>
            <a:srgbClr val="1A1A1A"/>
          </a:solidFill>
          <a:ln/>
        </p:spPr>
        <p:txBody>
          <a:bodyPr wrap="square" rtlCol="0" anchor="ctr"/>
          <a:lstStyle/>
          <a:p>
            <a:pPr indent="0" marL="0">
              <a:buNone/>
            </a:pPr>
            <a:endParaRPr lang="en-US" dirty="0"/>
          </a:p>
        </p:txBody>
      </p:sp>
      <p:sp>
        <p:nvSpPr>
          <p:cNvPr id="39" name="Text 37"/>
          <p:cNvSpPr/>
          <p:nvPr/>
        </p:nvSpPr>
        <p:spPr>
          <a:xfrm>
            <a:off x="7363755" y="2049028"/>
            <a:ext cx="1208633" cy="175884"/>
          </a:xfrm>
          <a:prstGeom prst="rect">
            <a:avLst/>
          </a:prstGeom>
          <a:noFill/>
          <a:ln/>
        </p:spPr>
        <p:txBody>
          <a:bodyPr wrap="none" lIns="0" tIns="0" rIns="0" bIns="0" rtlCol="0" anchor="t"/>
          <a:lstStyle/>
          <a:p>
            <a:pPr algn="l" indent="0" marL="0">
              <a:lnSpc>
                <a:spcPts val="1283"/>
              </a:lnSpc>
              <a:buNone/>
            </a:pPr>
            <a:r>
              <a:rPr lang="en-US" sz="1069" b="1" spc="-11" kern="0" dirty="0">
                <a:solidFill>
                  <a:srgbClr val="1A1A1A"/>
                </a:solidFill>
                <a:latin typeface="Carlito" pitchFamily="34" charset="0"/>
                <a:ea typeface="Carlito" pitchFamily="34" charset="-122"/>
                <a:cs typeface="Carlito" pitchFamily="34" charset="-120"/>
              </a:rPr>
              <a:t>Инвесторам</a:t>
            </a:r>
            <a:endParaRPr lang="en-US" sz="1069" dirty="0"/>
          </a:p>
        </p:txBody>
      </p:sp>
      <p:sp>
        <p:nvSpPr>
          <p:cNvPr id="40" name="Text 38"/>
          <p:cNvSpPr/>
          <p:nvPr/>
        </p:nvSpPr>
        <p:spPr>
          <a:xfrm>
            <a:off x="7235168" y="2254746"/>
            <a:ext cx="1451521" cy="158981"/>
          </a:xfrm>
          <a:prstGeom prst="rect">
            <a:avLst/>
          </a:prstGeom>
          <a:noFill/>
          <a:ln/>
        </p:spPr>
        <p:txBody>
          <a:bodyPr wrap="none" lIns="0" tIns="0" rIns="0" bIns="0" rtlCol="0" anchor="t"/>
          <a:lstStyle/>
          <a:p>
            <a:pPr algn="l" indent="0" marL="0">
              <a:lnSpc>
                <a:spcPts val="897"/>
              </a:lnSpc>
              <a:buNone/>
            </a:pPr>
            <a:r>
              <a:rPr lang="en-US" sz="800" dirty="0">
                <a:solidFill>
                  <a:srgbClr val="888888"/>
                </a:solidFill>
                <a:latin typeface="Carlito" pitchFamily="34" charset="0"/>
                <a:ea typeface="Carlito" pitchFamily="34" charset="-122"/>
                <a:cs typeface="Carlito" pitchFamily="34" charset="-120"/>
              </a:rPr>
              <a:t>фонды и частные инвесторы</a:t>
            </a:r>
            <a:endParaRPr lang="en-US" sz="800" dirty="0"/>
          </a:p>
        </p:txBody>
      </p:sp>
      <p:sp>
        <p:nvSpPr>
          <p:cNvPr id="41" name="Text 39"/>
          <p:cNvSpPr/>
          <p:nvPr/>
        </p:nvSpPr>
        <p:spPr>
          <a:xfrm>
            <a:off x="7235168" y="2507010"/>
            <a:ext cx="1337221" cy="1035286"/>
          </a:xfrm>
          <a:prstGeom prst="roundRect">
            <a:avLst>
              <a:gd name="adj" fmla="val 11040"/>
            </a:avLst>
          </a:prstGeom>
          <a:solidFill>
            <a:srgbClr val="262023"/>
          </a:solidFill>
          <a:ln/>
        </p:spPr>
        <p:txBody>
          <a:bodyPr wrap="square" rtlCol="0" anchor="ctr"/>
          <a:lstStyle/>
          <a:p>
            <a:pPr indent="0" marL="0">
              <a:buNone/>
            </a:pPr>
            <a:endParaRPr lang="en-US" dirty="0"/>
          </a:p>
        </p:txBody>
      </p:sp>
      <p:sp>
        <p:nvSpPr>
          <p:cNvPr id="42" name="Text 40"/>
          <p:cNvSpPr/>
          <p:nvPr/>
        </p:nvSpPr>
        <p:spPr>
          <a:xfrm>
            <a:off x="7335180" y="2599879"/>
            <a:ext cx="1137196" cy="130065"/>
          </a:xfrm>
          <a:prstGeom prst="rect">
            <a:avLst/>
          </a:prstGeom>
          <a:noFill/>
          <a:ln/>
        </p:spPr>
        <p:txBody>
          <a:bodyPr wrap="none" lIns="0" tIns="0" rIns="0" bIns="0" rtlCol="0" anchor="t">
            <a:normAutofit/>
          </a:bodyPr>
          <a:lstStyle/>
          <a:p>
            <a:pPr algn="l" indent="0" marL="0">
              <a:lnSpc>
                <a:spcPts val="959"/>
              </a:lnSpc>
              <a:buNone/>
            </a:pPr>
            <a:r>
              <a:rPr lang="en-US" sz="800" b="1" spc="62" kern="0" dirty="0">
                <a:solidFill>
                  <a:srgbClr val="D4A854"/>
                </a:solidFill>
                <a:latin typeface="Carlito" pitchFamily="34" charset="0"/>
                <a:ea typeface="Carlito" pitchFamily="34" charset="-122"/>
                <a:cs typeface="Carlito" pitchFamily="34" charset="-120"/>
              </a:rPr>
              <a:t>EN · ХУК</a:t>
            </a:r>
            <a:endParaRPr lang="en-US" sz="800" dirty="0"/>
          </a:p>
        </p:txBody>
      </p:sp>
      <p:sp>
        <p:nvSpPr>
          <p:cNvPr id="43" name="Text 41"/>
          <p:cNvSpPr/>
          <p:nvPr/>
        </p:nvSpPr>
        <p:spPr>
          <a:xfrm>
            <a:off x="7335180" y="2757376"/>
            <a:ext cx="1205427" cy="692051"/>
          </a:xfrm>
          <a:prstGeom prst="rect">
            <a:avLst/>
          </a:prstGeom>
          <a:noFill/>
          <a:ln/>
        </p:spPr>
        <p:txBody>
          <a:bodyPr wrap="square" lIns="0" tIns="0" rIns="0" bIns="0" rtlCol="0" anchor="t"/>
          <a:lstStyle/>
          <a:p>
            <a:pPr algn="l" indent="0" marL="0">
              <a:lnSpc>
                <a:spcPts val="1090"/>
              </a:lnSpc>
              <a:buNone/>
            </a:pPr>
            <a:r>
              <a:rPr lang="en-US" sz="800" dirty="0">
                <a:solidFill>
                  <a:srgbClr val="F8F8F8"/>
                </a:solidFill>
                <a:latin typeface="Courier New" pitchFamily="34" charset="0"/>
                <a:ea typeface="Courier New" pitchFamily="34" charset="-122"/>
                <a:cs typeface="Courier New" pitchFamily="34" charset="-120"/>
              </a:rPr>
              <a:t>minimalist cityscape with growing network lines, near-black and white palette, premium look</a:t>
            </a:r>
            <a:endParaRPr lang="en-US" sz="800" dirty="0"/>
          </a:p>
        </p:txBody>
      </p:sp>
      <p:sp>
        <p:nvSpPr>
          <p:cNvPr id="44" name="Text 42"/>
          <p:cNvSpPr/>
          <p:nvPr/>
        </p:nvSpPr>
        <p:spPr>
          <a:xfrm>
            <a:off x="457200" y="4655939"/>
            <a:ext cx="121444" cy="121444"/>
          </a:xfrm>
          <a:prstGeom prst="rect">
            <a:avLst/>
          </a:prstGeom>
          <a:noFill/>
          <a:ln/>
        </p:spPr>
        <p:txBody>
          <a:bodyPr wrap="none" lIns="0" tIns="0" rIns="0" bIns="0" rtlCol="0" anchor="ctr"/>
          <a:lstStyle/>
          <a:p>
            <a:pPr algn="ctr" indent="0" marL="0">
              <a:buNone/>
            </a:pPr>
            <a:r>
              <a:rPr lang="en-US" sz="1195" dirty="0">
                <a:solidFill>
                  <a:srgbClr val="888888"/>
                </a:solidFill>
                <a:latin typeface="Segoe UI Symbol" pitchFamily="34" charset="0"/>
                <a:ea typeface="Segoe UI Symbol" pitchFamily="34" charset="-122"/>
                <a:cs typeface="Segoe UI Symbol" pitchFamily="34" charset="-120"/>
              </a:rPr>
              <a:t>✦</a:t>
            </a:r>
            <a:endParaRPr lang="en-US" sz="1195" dirty="0"/>
          </a:p>
        </p:txBody>
      </p:sp>
      <p:sp>
        <p:nvSpPr>
          <p:cNvPr id="45" name="Text 43"/>
          <p:cNvSpPr/>
          <p:nvPr/>
        </p:nvSpPr>
        <p:spPr>
          <a:xfrm>
            <a:off x="642938" y="4647009"/>
            <a:ext cx="8043863" cy="164592"/>
          </a:xfrm>
          <a:prstGeom prst="rect">
            <a:avLst/>
          </a:prstGeom>
          <a:noFill/>
          <a:ln/>
        </p:spPr>
        <p:txBody>
          <a:bodyPr wrap="square" lIns="0" tIns="0" rIns="0" bIns="0" rtlCol="0" anchor="t"/>
          <a:lstStyle/>
          <a:p>
            <a:pPr algn="l" indent="0" marL="0">
              <a:lnSpc>
                <a:spcPts val="1097"/>
              </a:lnSpc>
              <a:buNone/>
            </a:pPr>
            <a:r>
              <a:rPr lang="en-US" sz="800" dirty="0">
                <a:solidFill>
                  <a:srgbClr val="888888"/>
                </a:solidFill>
                <a:latin typeface="Carlito" pitchFamily="34" charset="0"/>
                <a:ea typeface="Carlito" pitchFamily="34" charset="-122"/>
                <a:cs typeface="Carlito" pitchFamily="34" charset="-120"/>
              </a:rPr>
              <a:t>Это хуки — первые слова промта. Добавьте сцену и техпараметры по формуле со слайда 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29313" y="-1571625"/>
            <a:ext cx="4429125" cy="4429125"/>
          </a:xfrm>
          <a:prstGeom prst="ellipse">
            <a:avLst/>
          </a:prstGeom>
          <a:solidFill>
            <a:srgbClr val="0ABAB5">
              <a:alpha val="7000"/>
            </a:srgbClr>
          </a:solidFill>
          <a:ln/>
        </p:spPr>
        <p:txBody>
          <a:bodyPr wrap="square" rtlCol="0" anchor="ctr"/>
          <a:lstStyle/>
          <a:p>
            <a:pPr indent="0" marL="0">
              <a:buNone/>
            </a:pPr>
            <a:endParaRPr lang="en-US" dirty="0"/>
          </a:p>
        </p:txBody>
      </p:sp>
      <p:sp>
        <p:nvSpPr>
          <p:cNvPr id="3" name="Text 1"/>
          <p:cNvSpPr/>
          <p:nvPr/>
        </p:nvSpPr>
        <p:spPr>
          <a:xfrm>
            <a:off x="5724395" y="714375"/>
            <a:ext cx="3419605" cy="1833095"/>
          </a:xfrm>
          <a:prstGeom prst="rect">
            <a:avLst/>
          </a:prstGeom>
          <a:noFill/>
          <a:ln/>
        </p:spPr>
        <p:txBody>
          <a:bodyPr wrap="square" lIns="0" tIns="0" rIns="0" bIns="0" rtlCol="0" anchor="t"/>
          <a:lstStyle/>
          <a:p>
            <a:pPr algn="l" indent="0" marL="0">
              <a:lnSpc>
                <a:spcPts val="13365"/>
              </a:lnSpc>
              <a:buNone/>
            </a:pPr>
            <a:r>
              <a:rPr lang="en-US" sz="14850" b="1" spc="-594" kern="0" dirty="0">
                <a:solidFill>
                  <a:srgbClr val="0ABAB5">
                    <a:alpha val="14000"/>
                  </a:srgbClr>
                </a:solidFill>
                <a:latin typeface="Liberation Sans Narrow" pitchFamily="34" charset="0"/>
                <a:ea typeface="Liberation Sans Narrow" pitchFamily="34" charset="-122"/>
                <a:cs typeface="Liberation Sans Narrow" pitchFamily="34" charset="-120"/>
              </a:rPr>
              <a:t>02</a:t>
            </a:r>
            <a:endParaRPr lang="en-US" sz="14850" dirty="0"/>
          </a:p>
        </p:txBody>
      </p:sp>
      <p:sp>
        <p:nvSpPr>
          <p:cNvPr id="4" name="Text 2"/>
          <p:cNvSpPr/>
          <p:nvPr/>
        </p:nvSpPr>
        <p:spPr>
          <a:xfrm>
            <a:off x="491490" y="445841"/>
            <a:ext cx="911007" cy="212027"/>
          </a:xfrm>
          <a:prstGeom prst="roundRect">
            <a:avLst>
              <a:gd name="adj" fmla="val 4487860"/>
            </a:avLst>
          </a:prstGeom>
          <a:solidFill>
            <a:srgbClr val="0ABAB5">
              <a:alpha val="10000"/>
            </a:srgbClr>
          </a:solidFill>
          <a:ln/>
        </p:spPr>
        <p:txBody>
          <a:bodyPr wrap="square" rtlCol="0" anchor="ctr"/>
          <a:lstStyle/>
          <a:p>
            <a:pPr indent="0" marL="0">
              <a:buNone/>
            </a:pPr>
            <a:endParaRPr lang="en-US" dirty="0"/>
          </a:p>
        </p:txBody>
      </p:sp>
      <p:sp>
        <p:nvSpPr>
          <p:cNvPr id="5" name="Text 3"/>
          <p:cNvSpPr/>
          <p:nvPr/>
        </p:nvSpPr>
        <p:spPr>
          <a:xfrm>
            <a:off x="514350" y="457200"/>
            <a:ext cx="865287" cy="189309"/>
          </a:xfrm>
          <a:prstGeom prst="rect">
            <a:avLst/>
          </a:prstGeom>
          <a:noFill/>
          <a:ln/>
        </p:spPr>
        <p:txBody>
          <a:bodyPr wrap="none" lIns="0" tIns="0" rIns="0" bIns="0" rtlCol="0" anchor="ctr"/>
          <a:lstStyle/>
          <a:p>
            <a:pPr algn="ctr" indent="0" marL="0">
              <a:lnSpc>
                <a:spcPts val="928"/>
              </a:lnSpc>
              <a:buNone/>
            </a:pPr>
            <a:r>
              <a:rPr lang="en-US" sz="800" b="1" spc="50" kern="0" dirty="0">
                <a:solidFill>
                  <a:srgbClr val="07807C"/>
                </a:solidFill>
                <a:latin typeface="Carlito" pitchFamily="34" charset="0"/>
                <a:ea typeface="Carlito" pitchFamily="34" charset="-122"/>
                <a:cs typeface="Carlito" pitchFamily="34" charset="-120"/>
              </a:rPr>
              <a:t>РАЗДЕЛ 02 / 04</a:t>
            </a:r>
            <a:endParaRPr lang="en-US" sz="800" dirty="0"/>
          </a:p>
        </p:txBody>
      </p:sp>
      <p:sp>
        <p:nvSpPr>
          <p:cNvPr id="6" name="Text 4"/>
          <p:cNvSpPr/>
          <p:nvPr/>
        </p:nvSpPr>
        <p:spPr>
          <a:xfrm>
            <a:off x="514350" y="2155292"/>
            <a:ext cx="8521065" cy="449896"/>
          </a:xfrm>
          <a:prstGeom prst="rect">
            <a:avLst/>
          </a:prstGeom>
          <a:noFill/>
          <a:ln/>
        </p:spPr>
        <p:txBody>
          <a:bodyPr wrap="none" lIns="0" tIns="0" rIns="0" bIns="0" rtlCol="0" anchor="t"/>
          <a:lstStyle/>
          <a:p>
            <a:pPr algn="l" indent="0" marL="0">
              <a:lnSpc>
                <a:spcPts val="3281"/>
              </a:lnSpc>
              <a:buNone/>
            </a:pPr>
            <a:r>
              <a:rPr lang="en-US" sz="3038" b="1" spc="-76" kern="0" dirty="0">
                <a:solidFill>
                  <a:srgbClr val="1A1A1A"/>
                </a:solidFill>
                <a:latin typeface="Carlito" pitchFamily="34" charset="0"/>
                <a:ea typeface="Carlito" pitchFamily="34" charset="-122"/>
                <a:cs typeface="Carlito" pitchFamily="34" charset="-120"/>
              </a:rPr>
              <a:t>Промты для фич платформы</a:t>
            </a:r>
            <a:endParaRPr lang="en-US" sz="3038" dirty="0"/>
          </a:p>
        </p:txBody>
      </p:sp>
      <p:sp>
        <p:nvSpPr>
          <p:cNvPr id="7" name="Text 5"/>
          <p:cNvSpPr/>
          <p:nvPr/>
        </p:nvSpPr>
        <p:spPr>
          <a:xfrm>
            <a:off x="514350" y="2743312"/>
            <a:ext cx="5143500" cy="468943"/>
          </a:xfrm>
          <a:prstGeom prst="rect">
            <a:avLst/>
          </a:prstGeom>
          <a:noFill/>
          <a:ln/>
        </p:spPr>
        <p:txBody>
          <a:bodyPr wrap="square" lIns="0" tIns="0" rIns="0" bIns="0" rtlCol="0" anchor="t"/>
          <a:lstStyle/>
          <a:p>
            <a:pPr algn="l" indent="0" marL="0">
              <a:lnSpc>
                <a:spcPts val="1710"/>
              </a:lnSpc>
              <a:buNone/>
            </a:pPr>
            <a:r>
              <a:rPr lang="en-US" sz="1069" dirty="0">
                <a:solidFill>
                  <a:srgbClr val="888888"/>
                </a:solidFill>
                <a:latin typeface="Carlito" pitchFamily="34" charset="0"/>
                <a:ea typeface="Carlito" pitchFamily="34" charset="-122"/>
                <a:cs typeface="Carlito" pitchFamily="34" charset="-120"/>
              </a:rPr>
              <a:t>Единая карта лояльности, баллы 1:1, QR-онбординг и справедливый сплит — визуальные истории ключевых механик LOVII, готовые к копированию.</a:t>
            </a:r>
            <a:endParaRPr lang="en-US" sz="1069" dirty="0"/>
          </a:p>
        </p:txBody>
      </p:sp>
      <p:sp>
        <p:nvSpPr>
          <p:cNvPr id="8" name="Text 6"/>
          <p:cNvSpPr/>
          <p:nvPr/>
        </p:nvSpPr>
        <p:spPr>
          <a:xfrm>
            <a:off x="514350" y="4686300"/>
            <a:ext cx="1975247" cy="42863"/>
          </a:xfrm>
          <a:prstGeom prst="roundRect">
            <a:avLst>
              <a:gd name="adj" fmla="val 66666"/>
            </a:avLst>
          </a:prstGeom>
          <a:solidFill>
            <a:srgbClr val="1A1A1A">
              <a:alpha val="8000"/>
            </a:srgbClr>
          </a:solidFill>
          <a:ln/>
        </p:spPr>
        <p:txBody>
          <a:bodyPr wrap="square" rtlCol="0" anchor="ctr"/>
          <a:lstStyle/>
          <a:p>
            <a:pPr indent="0" marL="0">
              <a:buNone/>
            </a:pPr>
            <a:endParaRPr lang="en-US" dirty="0"/>
          </a:p>
        </p:txBody>
      </p:sp>
      <p:sp>
        <p:nvSpPr>
          <p:cNvPr id="9" name="Text 7"/>
          <p:cNvSpPr/>
          <p:nvPr/>
        </p:nvSpPr>
        <p:spPr>
          <a:xfrm>
            <a:off x="2561034" y="4686300"/>
            <a:ext cx="1975247" cy="42863"/>
          </a:xfrm>
          <a:prstGeom prst="roundRect">
            <a:avLst>
              <a:gd name="adj" fmla="val 66666"/>
            </a:avLst>
          </a:prstGeom>
          <a:solidFill>
            <a:srgbClr val="0ABAB5"/>
          </a:solidFill>
          <a:ln/>
        </p:spPr>
        <p:txBody>
          <a:bodyPr wrap="square" rtlCol="0" anchor="ctr"/>
          <a:lstStyle/>
          <a:p>
            <a:pPr indent="0" marL="0">
              <a:buNone/>
            </a:pPr>
            <a:endParaRPr lang="en-US" dirty="0"/>
          </a:p>
        </p:txBody>
      </p:sp>
      <p:sp>
        <p:nvSpPr>
          <p:cNvPr id="10" name="Text 8"/>
          <p:cNvSpPr/>
          <p:nvPr/>
        </p:nvSpPr>
        <p:spPr>
          <a:xfrm>
            <a:off x="4607719" y="4686300"/>
            <a:ext cx="1975247" cy="42863"/>
          </a:xfrm>
          <a:prstGeom prst="roundRect">
            <a:avLst>
              <a:gd name="adj" fmla="val 66666"/>
            </a:avLst>
          </a:prstGeom>
          <a:solidFill>
            <a:srgbClr val="1A1A1A">
              <a:alpha val="8000"/>
            </a:srgbClr>
          </a:solidFill>
          <a:ln/>
        </p:spPr>
        <p:txBody>
          <a:bodyPr wrap="square" rtlCol="0" anchor="ctr"/>
          <a:lstStyle/>
          <a:p>
            <a:pPr indent="0" marL="0">
              <a:buNone/>
            </a:pPr>
            <a:endParaRPr lang="en-US" dirty="0"/>
          </a:p>
        </p:txBody>
      </p:sp>
      <p:sp>
        <p:nvSpPr>
          <p:cNvPr id="11" name="Text 9"/>
          <p:cNvSpPr/>
          <p:nvPr/>
        </p:nvSpPr>
        <p:spPr>
          <a:xfrm>
            <a:off x="6654403" y="4686300"/>
            <a:ext cx="1975247" cy="42863"/>
          </a:xfrm>
          <a:prstGeom prst="roundRect">
            <a:avLst>
              <a:gd name="adj" fmla="val 66666"/>
            </a:avLst>
          </a:prstGeom>
          <a:solidFill>
            <a:srgbClr val="1A1A1A">
              <a:alpha val="8000"/>
            </a:srgbClr>
          </a:solidFill>
          <a:ln/>
        </p:spPr>
        <p:txBody>
          <a:bodyPr wrap="square" rtlCol="0" anchor="ctr"/>
          <a:lstStyle/>
          <a:p>
            <a:pPr indent="0" marL="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29438" y="-1285875"/>
            <a:ext cx="3286125" cy="3286125"/>
          </a:xfrm>
          <a:prstGeom prst="ellipse">
            <a:avLst/>
          </a:prstGeom>
          <a:solidFill>
            <a:srgbClr val="F64A8A">
              <a:alpha val="5000"/>
            </a:srgbClr>
          </a:solidFill>
          <a:ln/>
        </p:spPr>
        <p:txBody>
          <a:bodyPr wrap="square" rtlCol="0" anchor="ctr"/>
          <a:lstStyle/>
          <a:p>
            <a:pPr indent="0" marL="0">
              <a:buNone/>
            </a:pPr>
            <a:endParaRPr lang="en-US" dirty="0"/>
          </a:p>
        </p:txBody>
      </p:sp>
      <p:sp>
        <p:nvSpPr>
          <p:cNvPr id="3" name="Text 1"/>
          <p:cNvSpPr/>
          <p:nvPr/>
        </p:nvSpPr>
        <p:spPr>
          <a:xfrm>
            <a:off x="434340" y="388691"/>
            <a:ext cx="1215174" cy="212027"/>
          </a:xfrm>
          <a:prstGeom prst="roundRect">
            <a:avLst>
              <a:gd name="adj" fmla="val 4487860"/>
            </a:avLst>
          </a:prstGeom>
          <a:solidFill>
            <a:srgbClr val="F64A8A">
              <a:alpha val="12000"/>
            </a:srgbClr>
          </a:solidFill>
          <a:ln/>
        </p:spPr>
        <p:txBody>
          <a:bodyPr wrap="square" rtlCol="0" anchor="ctr"/>
          <a:lstStyle/>
          <a:p>
            <a:pPr indent="0" marL="0">
              <a:buNone/>
            </a:pPr>
            <a:endParaRPr lang="en-US" dirty="0"/>
          </a:p>
        </p:txBody>
      </p:sp>
      <p:sp>
        <p:nvSpPr>
          <p:cNvPr id="4" name="Text 2"/>
          <p:cNvSpPr/>
          <p:nvPr/>
        </p:nvSpPr>
        <p:spPr>
          <a:xfrm>
            <a:off x="692944" y="450056"/>
            <a:ext cx="833698" cy="119703"/>
          </a:xfrm>
          <a:prstGeom prst="rect">
            <a:avLst/>
          </a:prstGeom>
          <a:noFill/>
          <a:ln/>
        </p:spPr>
        <p:txBody>
          <a:bodyPr wrap="none" lIns="0" tIns="0" rIns="0" bIns="0" rtlCol="0" anchor="t"/>
          <a:lstStyle/>
          <a:p>
            <a:pPr algn="l" indent="0" marL="0">
              <a:lnSpc>
                <a:spcPts val="928"/>
              </a:lnSpc>
              <a:buNone/>
            </a:pPr>
            <a:r>
              <a:rPr lang="en-US" sz="800" b="1" spc="50" kern="0" dirty="0">
                <a:solidFill>
                  <a:srgbClr val="C92A6A"/>
                </a:solidFill>
                <a:latin typeface="Carlito" pitchFamily="34" charset="0"/>
                <a:ea typeface="Carlito" pitchFamily="34" charset="-122"/>
                <a:cs typeface="Carlito" pitchFamily="34" charset="-120"/>
              </a:rPr>
              <a:t>ФИЧА · КЛИЕНТАМ</a:t>
            </a:r>
            <a:endParaRPr lang="en-US" sz="800" dirty="0"/>
          </a:p>
        </p:txBody>
      </p:sp>
      <p:sp>
        <p:nvSpPr>
          <p:cNvPr id="5" name="Text 3"/>
          <p:cNvSpPr/>
          <p:nvPr/>
        </p:nvSpPr>
        <p:spPr>
          <a:xfrm>
            <a:off x="557213" y="448270"/>
            <a:ext cx="92869" cy="92869"/>
          </a:xfrm>
          <a:prstGeom prst="rect">
            <a:avLst/>
          </a:prstGeom>
          <a:noFill/>
          <a:ln/>
        </p:spPr>
        <p:txBody>
          <a:bodyPr wrap="none" lIns="0" tIns="0" rIns="0" bIns="0" rtlCol="0" anchor="ctr"/>
          <a:lstStyle/>
          <a:p>
            <a:pPr algn="ctr" indent="0" marL="0">
              <a:buNone/>
            </a:pPr>
            <a:r>
              <a:rPr lang="en-US" sz="914" dirty="0">
                <a:solidFill>
                  <a:srgbClr val="C92A6A"/>
                </a:solidFill>
                <a:latin typeface="Segoe UI Symbol" pitchFamily="34" charset="0"/>
                <a:ea typeface="Segoe UI Symbol" pitchFamily="34" charset="-122"/>
                <a:cs typeface="Segoe UI Symbol" pitchFamily="34" charset="-120"/>
              </a:rPr>
              <a:t>♥</a:t>
            </a:r>
            <a:endParaRPr lang="en-US" sz="914" dirty="0"/>
          </a:p>
        </p:txBody>
      </p:sp>
      <p:sp>
        <p:nvSpPr>
          <p:cNvPr id="6" name="Text 4"/>
          <p:cNvSpPr/>
          <p:nvPr/>
        </p:nvSpPr>
        <p:spPr>
          <a:xfrm>
            <a:off x="457200" y="689372"/>
            <a:ext cx="8636000" cy="337060"/>
          </a:xfrm>
          <a:prstGeom prst="rect">
            <a:avLst/>
          </a:prstGeom>
          <a:noFill/>
          <a:ln/>
        </p:spPr>
        <p:txBody>
          <a:bodyPr wrap="square" lIns="0" tIns="0" rIns="0" bIns="0" rtlCol="0" anchor="t"/>
          <a:lstStyle/>
          <a:p>
            <a:pPr algn="l" indent="0" marL="0">
              <a:lnSpc>
                <a:spcPts val="2458"/>
              </a:lnSpc>
              <a:buNone/>
            </a:pPr>
            <a:r>
              <a:rPr lang="en-US" sz="2138" b="1" spc="-43" kern="0" dirty="0">
                <a:solidFill>
                  <a:srgbClr val="1A1A1A"/>
                </a:solidFill>
                <a:latin typeface="Carlito" pitchFamily="34" charset="0"/>
                <a:ea typeface="Carlito" pitchFamily="34" charset="-122"/>
                <a:cs typeface="Carlito" pitchFamily="34" charset="-120"/>
              </a:rPr>
              <a:t>Единая карта лояльности района</a:t>
            </a:r>
            <a:endParaRPr lang="en-US" sz="2138" dirty="0"/>
          </a:p>
        </p:txBody>
      </p:sp>
      <p:sp>
        <p:nvSpPr>
          <p:cNvPr id="7" name="Text 5"/>
          <p:cNvSpPr/>
          <p:nvPr/>
        </p:nvSpPr>
        <p:spPr>
          <a:xfrm>
            <a:off x="457200" y="1187202"/>
            <a:ext cx="3200400" cy="1742405"/>
          </a:xfrm>
          <a:prstGeom prst="roundRect">
            <a:avLst>
              <a:gd name="adj" fmla="val 6560"/>
            </a:avLst>
          </a:prstGeom>
          <a:solidFill>
            <a:srgbClr val="FFFFFF"/>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8" name="Shape 6"/>
          <p:cNvSpPr/>
          <p:nvPr/>
        </p:nvSpPr>
        <p:spPr>
          <a:xfrm>
            <a:off x="457200" y="1190774"/>
            <a:ext cx="3200400" cy="0"/>
          </a:xfrm>
          <a:prstGeom prst="line">
            <a:avLst/>
          </a:prstGeom>
          <a:noFill/>
          <a:ln w="7144">
            <a:solidFill>
              <a:srgbClr val="1A1A1A"/>
            </a:solidFill>
            <a:prstDash val="solid"/>
          </a:ln>
        </p:spPr>
      </p:sp>
      <p:sp>
        <p:nvSpPr>
          <p:cNvPr id="9" name="Shape 7"/>
          <p:cNvSpPr/>
          <p:nvPr/>
        </p:nvSpPr>
        <p:spPr>
          <a:xfrm>
            <a:off x="3654028" y="1187202"/>
            <a:ext cx="0" cy="1742405"/>
          </a:xfrm>
          <a:prstGeom prst="line">
            <a:avLst/>
          </a:prstGeom>
          <a:noFill/>
          <a:ln w="7144">
            <a:solidFill>
              <a:srgbClr val="1A1A1A"/>
            </a:solidFill>
            <a:prstDash val="solid"/>
          </a:ln>
        </p:spPr>
      </p:sp>
      <p:sp>
        <p:nvSpPr>
          <p:cNvPr id="10" name="Shape 8"/>
          <p:cNvSpPr/>
          <p:nvPr/>
        </p:nvSpPr>
        <p:spPr>
          <a:xfrm>
            <a:off x="457200" y="2926035"/>
            <a:ext cx="3200400" cy="0"/>
          </a:xfrm>
          <a:prstGeom prst="line">
            <a:avLst/>
          </a:prstGeom>
          <a:noFill/>
          <a:ln w="7144">
            <a:solidFill>
              <a:srgbClr val="1A1A1A"/>
            </a:solidFill>
            <a:prstDash val="solid"/>
          </a:ln>
        </p:spPr>
      </p:sp>
      <p:sp>
        <p:nvSpPr>
          <p:cNvPr id="11" name="Shape 9"/>
          <p:cNvSpPr/>
          <p:nvPr/>
        </p:nvSpPr>
        <p:spPr>
          <a:xfrm>
            <a:off x="471488" y="1187202"/>
            <a:ext cx="0" cy="1742405"/>
          </a:xfrm>
          <a:prstGeom prst="line">
            <a:avLst/>
          </a:prstGeom>
          <a:noFill/>
          <a:ln w="28575">
            <a:solidFill>
              <a:srgbClr val="F64A8A"/>
            </a:solidFill>
            <a:prstDash val="solid"/>
          </a:ln>
        </p:spPr>
      </p:sp>
      <p:sp>
        <p:nvSpPr>
          <p:cNvPr id="12" name="Text 10"/>
          <p:cNvSpPr/>
          <p:nvPr/>
        </p:nvSpPr>
        <p:spPr>
          <a:xfrm>
            <a:off x="842963" y="1619287"/>
            <a:ext cx="1089373" cy="119703"/>
          </a:xfrm>
          <a:prstGeom prst="rect">
            <a:avLst/>
          </a:prstGeom>
          <a:noFill/>
          <a:ln/>
        </p:spPr>
        <p:txBody>
          <a:bodyPr wrap="none" lIns="0" tIns="0" rIns="0" bIns="0" rtlCol="0" anchor="t"/>
          <a:lstStyle/>
          <a:p>
            <a:pPr algn="l" indent="0" marL="0">
              <a:lnSpc>
                <a:spcPts val="928"/>
              </a:lnSpc>
              <a:buNone/>
            </a:pPr>
            <a:r>
              <a:rPr lang="en-US" sz="800" b="1" spc="74" kern="0" dirty="0">
                <a:solidFill>
                  <a:srgbClr val="C92A6A"/>
                </a:solidFill>
                <a:latin typeface="Carlito" pitchFamily="34" charset="0"/>
                <a:ea typeface="Carlito" pitchFamily="34" charset="-122"/>
                <a:cs typeface="Carlito" pitchFamily="34" charset="-120"/>
              </a:rPr>
              <a:t>ИДЕЯ СЦЕНАРИЯ</a:t>
            </a:r>
            <a:endParaRPr lang="en-US" sz="800" dirty="0"/>
          </a:p>
        </p:txBody>
      </p:sp>
      <p:sp>
        <p:nvSpPr>
          <p:cNvPr id="13" name="Text 11"/>
          <p:cNvSpPr/>
          <p:nvPr/>
        </p:nvSpPr>
        <p:spPr>
          <a:xfrm>
            <a:off x="657225" y="1599642"/>
            <a:ext cx="128588" cy="128588"/>
          </a:xfrm>
          <a:prstGeom prst="rect">
            <a:avLst/>
          </a:prstGeom>
          <a:noFill/>
          <a:ln/>
        </p:spPr>
        <p:txBody>
          <a:bodyPr wrap="none" lIns="0" tIns="0" rIns="0" bIns="0" rtlCol="0" anchor="ctr"/>
          <a:lstStyle/>
          <a:p>
            <a:pPr algn="ctr" indent="0" marL="0">
              <a:buNone/>
            </a:pPr>
            <a:r>
              <a:rPr lang="en-US" sz="1266" dirty="0">
                <a:solidFill>
                  <a:srgbClr val="F64A8A"/>
                </a:solidFill>
                <a:latin typeface="Segoe UI Symbol" pitchFamily="34" charset="0"/>
                <a:ea typeface="Segoe UI Symbol" pitchFamily="34" charset="-122"/>
                <a:cs typeface="Segoe UI Symbol" pitchFamily="34" charset="-120"/>
              </a:rPr>
              <a:t>✎</a:t>
            </a:r>
            <a:endParaRPr lang="en-US" sz="1266" dirty="0"/>
          </a:p>
        </p:txBody>
      </p:sp>
      <p:sp>
        <p:nvSpPr>
          <p:cNvPr id="14" name="Text 12"/>
          <p:cNvSpPr/>
          <p:nvPr/>
        </p:nvSpPr>
        <p:spPr>
          <a:xfrm>
            <a:off x="657225" y="1799667"/>
            <a:ext cx="2821781" cy="774900"/>
          </a:xfrm>
          <a:prstGeom prst="rect">
            <a:avLst/>
          </a:prstGeom>
          <a:noFill/>
          <a:ln/>
        </p:spPr>
        <p:txBody>
          <a:bodyPr wrap="square" lIns="0" tIns="0" rIns="0" bIns="0" rtlCol="0" anchor="t"/>
          <a:lstStyle/>
          <a:p>
            <a:pPr algn="l" indent="0" marL="0">
              <a:lnSpc>
                <a:spcPts val="1412"/>
              </a:lnSpc>
              <a:buNone/>
            </a:pPr>
            <a:r>
              <a:rPr lang="en-US" sz="872" dirty="0">
                <a:solidFill>
                  <a:srgbClr val="1A1A1A"/>
                </a:solidFill>
                <a:latin typeface="Carlito" pitchFamily="34" charset="0"/>
                <a:ea typeface="Carlito" pitchFamily="34" charset="-122"/>
                <a:cs typeface="Carlito" pitchFamily="34" charset="-120"/>
              </a:rPr>
              <a:t>Одна карта вместо стопки флаеров: баллы живут у всех точек района и не сгорают. Показываем простоту и объединение — один герой, две знакомые точки рядом.</a:t>
            </a:r>
            <a:endParaRPr lang="en-US" sz="872" dirty="0"/>
          </a:p>
        </p:txBody>
      </p:sp>
      <p:sp>
        <p:nvSpPr>
          <p:cNvPr id="15" name="Text 13"/>
          <p:cNvSpPr/>
          <p:nvPr/>
        </p:nvSpPr>
        <p:spPr>
          <a:xfrm>
            <a:off x="457200" y="3072482"/>
            <a:ext cx="3200400" cy="1699543"/>
          </a:xfrm>
          <a:prstGeom prst="roundRect">
            <a:avLst>
              <a:gd name="adj" fmla="val 6725"/>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6" name="Text 14"/>
          <p:cNvSpPr/>
          <p:nvPr/>
        </p:nvSpPr>
        <p:spPr>
          <a:xfrm>
            <a:off x="814388" y="3619872"/>
            <a:ext cx="1239409" cy="119703"/>
          </a:xfrm>
          <a:prstGeom prst="rect">
            <a:avLst/>
          </a:prstGeom>
          <a:noFill/>
          <a:ln/>
        </p:spPr>
        <p:txBody>
          <a:bodyPr wrap="none" lIns="0" tIns="0" rIns="0" bIns="0" rtlCol="0" anchor="t"/>
          <a:lstStyle/>
          <a:p>
            <a:pPr algn="l" indent="0" marL="0">
              <a:lnSpc>
                <a:spcPts val="928"/>
              </a:lnSpc>
              <a:buNone/>
            </a:pPr>
            <a:r>
              <a:rPr lang="en-US" sz="800" b="1" spc="74" kern="0" dirty="0">
                <a:solidFill>
                  <a:srgbClr val="C92A6A"/>
                </a:solidFill>
                <a:latin typeface="Carlito" pitchFamily="34" charset="0"/>
                <a:ea typeface="Carlito" pitchFamily="34" charset="-122"/>
                <a:cs typeface="Carlito" pitchFamily="34" charset="-120"/>
              </a:rPr>
              <a:t>ПОЧЕМУ РАБОТАЕТ</a:t>
            </a:r>
            <a:endParaRPr lang="en-US" sz="800" dirty="0"/>
          </a:p>
        </p:txBody>
      </p:sp>
      <p:sp>
        <p:nvSpPr>
          <p:cNvPr id="17" name="Text 15"/>
          <p:cNvSpPr/>
          <p:nvPr/>
        </p:nvSpPr>
        <p:spPr>
          <a:xfrm>
            <a:off x="628650" y="3600227"/>
            <a:ext cx="128588" cy="128588"/>
          </a:xfrm>
          <a:prstGeom prst="rect">
            <a:avLst/>
          </a:prstGeom>
          <a:noFill/>
          <a:ln/>
        </p:spPr>
        <p:txBody>
          <a:bodyPr wrap="none" lIns="0" tIns="0" rIns="0" bIns="0" rtlCol="0" anchor="ctr"/>
          <a:lstStyle/>
          <a:p>
            <a:pPr algn="ctr" indent="0" marL="0">
              <a:buNone/>
            </a:pPr>
            <a:r>
              <a:rPr lang="en-US" sz="1266" dirty="0">
                <a:solidFill>
                  <a:srgbClr val="F64A8A"/>
                </a:solidFill>
                <a:latin typeface="Segoe UI Symbol" pitchFamily="34" charset="0"/>
                <a:ea typeface="Segoe UI Symbol" pitchFamily="34" charset="-122"/>
                <a:cs typeface="Segoe UI Symbol" pitchFamily="34" charset="-120"/>
              </a:rPr>
              <a:t>✦</a:t>
            </a:r>
            <a:endParaRPr lang="en-US" sz="1266" dirty="0"/>
          </a:p>
        </p:txBody>
      </p:sp>
      <p:sp>
        <p:nvSpPr>
          <p:cNvPr id="18" name="Text 16"/>
          <p:cNvSpPr/>
          <p:nvPr/>
        </p:nvSpPr>
        <p:spPr>
          <a:xfrm>
            <a:off x="628650" y="3793108"/>
            <a:ext cx="2857500" cy="532946"/>
          </a:xfrm>
          <a:prstGeom prst="rect">
            <a:avLst/>
          </a:prstGeom>
          <a:noFill/>
          <a:ln/>
        </p:spPr>
        <p:txBody>
          <a:bodyPr wrap="square" lIns="0" tIns="0" rIns="0" bIns="0" rtlCol="0" anchor="t"/>
          <a:lstStyle/>
          <a:p>
            <a:pPr algn="l" indent="0" marL="0">
              <a:lnSpc>
                <a:spcPts val="1185"/>
              </a:lnSpc>
              <a:buNone/>
            </a:pPr>
            <a:r>
              <a:rPr lang="en-US" sz="800" dirty="0">
                <a:solidFill>
                  <a:srgbClr val="888888"/>
                </a:solidFill>
                <a:latin typeface="Carlito" pitchFamily="34" charset="0"/>
                <a:ea typeface="Carlito" pitchFamily="34" charset="-122"/>
                <a:cs typeface="Carlito" pitchFamily="34" charset="-120"/>
              </a:rPr>
              <a:t>Один герой + две точки рядом = визуальная метафора „одна карта на весь район“. Баллы 1:1 в кадре не рисуем — их место в тексте, а не в картинке.</a:t>
            </a:r>
            <a:endParaRPr lang="en-US" sz="800" dirty="0"/>
          </a:p>
        </p:txBody>
      </p:sp>
      <p:sp>
        <p:nvSpPr>
          <p:cNvPr id="19" name="Text 17"/>
          <p:cNvSpPr/>
          <p:nvPr/>
        </p:nvSpPr>
        <p:spPr>
          <a:xfrm>
            <a:off x="3886200" y="1187202"/>
            <a:ext cx="4800600" cy="1713830"/>
          </a:xfrm>
          <a:prstGeom prst="roundRect">
            <a:avLst>
              <a:gd name="adj" fmla="val 6669"/>
            </a:avLst>
          </a:prstGeom>
          <a:solidFill>
            <a:srgbClr val="262023"/>
          </a:solidFill>
          <a:ln/>
        </p:spPr>
        <p:txBody>
          <a:bodyPr wrap="square" rtlCol="0" anchor="ctr"/>
          <a:lstStyle/>
          <a:p>
            <a:pPr indent="0" marL="0">
              <a:buNone/>
            </a:pPr>
            <a:endParaRPr lang="en-US" dirty="0"/>
          </a:p>
        </p:txBody>
      </p:sp>
      <p:sp>
        <p:nvSpPr>
          <p:cNvPr id="20" name="Text 18"/>
          <p:cNvSpPr/>
          <p:nvPr/>
        </p:nvSpPr>
        <p:spPr>
          <a:xfrm>
            <a:off x="4071938" y="1754125"/>
            <a:ext cx="4538853" cy="137209"/>
          </a:xfrm>
          <a:prstGeom prst="rect">
            <a:avLst/>
          </a:prstGeom>
          <a:noFill/>
          <a:ln/>
        </p:spPr>
        <p:txBody>
          <a:bodyPr wrap="square" lIns="0" tIns="0" rIns="0" bIns="0" rtlCol="0" anchor="t">
            <a:normAutofit/>
          </a:bodyPr>
          <a:lstStyle/>
          <a:p>
            <a:pPr algn="l" indent="0" marL="0">
              <a:lnSpc>
                <a:spcPts val="959"/>
              </a:lnSpc>
              <a:buNone/>
            </a:pPr>
            <a:r>
              <a:rPr lang="en-US" sz="800" b="1" spc="62" kern="0" dirty="0">
                <a:solidFill>
                  <a:srgbClr val="D4A854"/>
                </a:solidFill>
                <a:latin typeface="Carlito" pitchFamily="34" charset="0"/>
                <a:ea typeface="Carlito" pitchFamily="34" charset="-122"/>
                <a:cs typeface="Carlito" pitchFamily="34" charset="-120"/>
              </a:rPr>
              <a:t>EN · MIDJOURNEY / FLUX / DALL-E</a:t>
            </a:r>
            <a:endParaRPr lang="en-US" sz="800" dirty="0"/>
          </a:p>
        </p:txBody>
      </p:sp>
      <p:sp>
        <p:nvSpPr>
          <p:cNvPr id="21" name="Text 19"/>
          <p:cNvSpPr/>
          <p:nvPr/>
        </p:nvSpPr>
        <p:spPr>
          <a:xfrm>
            <a:off x="4071938" y="1918767"/>
            <a:ext cx="4429125" cy="510235"/>
          </a:xfrm>
          <a:prstGeom prst="rect">
            <a:avLst/>
          </a:prstGeom>
          <a:noFill/>
          <a:ln/>
        </p:spPr>
        <p:txBody>
          <a:bodyPr wrap="square" lIns="0" tIns="0" rIns="0" bIns="0" rtlCol="0" anchor="t"/>
          <a:lstStyle/>
          <a:p>
            <a:pPr algn="l" indent="0" marL="0">
              <a:lnSpc>
                <a:spcPts val="1090"/>
              </a:lnSpc>
              <a:buNone/>
            </a:pPr>
            <a:r>
              <a:rPr lang="en-US" sz="800" dirty="0">
                <a:solidFill>
                  <a:srgbClr val="F8F8F8"/>
                </a:solidFill>
                <a:latin typeface="Courier New" pitchFamily="34" charset="0"/>
                <a:ea typeface="Courier New" pitchFamily="34" charset="-122"/>
                <a:cs typeface="Courier New" pitchFamily="34" charset="-120"/>
              </a:rPr>
              <a:t>A young woman holding one sleek loyalty card while standing between a bakery and a coffee shop on a sunny neighborhood street, warm golden hour light, photorealistic lifestyle photo, shallow depth of field, eye-level, --ar 4:5</a:t>
            </a:r>
            <a:endParaRPr lang="en-US" sz="800" dirty="0"/>
          </a:p>
        </p:txBody>
      </p:sp>
      <p:sp>
        <p:nvSpPr>
          <p:cNvPr id="22" name="Text 20"/>
          <p:cNvSpPr/>
          <p:nvPr/>
        </p:nvSpPr>
        <p:spPr>
          <a:xfrm>
            <a:off x="3889772" y="3047479"/>
            <a:ext cx="4793456" cy="1720974"/>
          </a:xfrm>
          <a:prstGeom prst="roundRect">
            <a:avLst>
              <a:gd name="adj" fmla="val 6642"/>
            </a:avLst>
          </a:prstGeom>
          <a:solidFill>
            <a:srgbClr val="F8F8F8"/>
          </a:solidFill>
          <a:ln w="7144">
            <a:solidFill>
              <a:srgbClr val="1A1A1A"/>
            </a:solidFill>
            <a:prstDash val="solid"/>
          </a:ln>
        </p:spPr>
        <p:txBody>
          <a:bodyPr wrap="square" rtlCol="0" anchor="ctr"/>
          <a:lstStyle/>
          <a:p>
            <a:pPr indent="0" marL="0">
              <a:buNone/>
            </a:pPr>
            <a:endParaRPr lang="en-US" dirty="0"/>
          </a:p>
        </p:txBody>
      </p:sp>
      <p:sp>
        <p:nvSpPr>
          <p:cNvPr id="23" name="Text 21"/>
          <p:cNvSpPr/>
          <p:nvPr/>
        </p:nvSpPr>
        <p:spPr>
          <a:xfrm>
            <a:off x="4079081" y="3617975"/>
            <a:ext cx="4414838" cy="137209"/>
          </a:xfrm>
          <a:prstGeom prst="rect">
            <a:avLst/>
          </a:prstGeom>
          <a:noFill/>
          <a:ln/>
        </p:spPr>
        <p:txBody>
          <a:bodyPr wrap="none" lIns="0" tIns="0" rIns="0" bIns="0" rtlCol="0" anchor="t">
            <a:normAutofit/>
          </a:bodyPr>
          <a:lstStyle/>
          <a:p>
            <a:pPr algn="l" indent="0" marL="0">
              <a:lnSpc>
                <a:spcPts val="959"/>
              </a:lnSpc>
              <a:buNone/>
            </a:pPr>
            <a:r>
              <a:rPr lang="en-US" sz="800" b="1" spc="62" kern="0" dirty="0">
                <a:solidFill>
                  <a:srgbClr val="C92A6A"/>
                </a:solidFill>
                <a:latin typeface="Carlito" pitchFamily="34" charset="0"/>
                <a:ea typeface="Carlito" pitchFamily="34" charset="-122"/>
                <a:cs typeface="Carlito" pitchFamily="34" charset="-120"/>
              </a:rPr>
              <a:t>RU · ПЕРЕВОД</a:t>
            </a:r>
            <a:endParaRPr lang="en-US" sz="800" dirty="0"/>
          </a:p>
        </p:txBody>
      </p:sp>
      <p:sp>
        <p:nvSpPr>
          <p:cNvPr id="24" name="Text 22"/>
          <p:cNvSpPr/>
          <p:nvPr/>
        </p:nvSpPr>
        <p:spPr>
          <a:xfrm>
            <a:off x="4079081" y="3782616"/>
            <a:ext cx="4414838" cy="510235"/>
          </a:xfrm>
          <a:prstGeom prst="rect">
            <a:avLst/>
          </a:prstGeom>
          <a:noFill/>
          <a:ln/>
        </p:spPr>
        <p:txBody>
          <a:bodyPr wrap="square" lIns="0" tIns="0" rIns="0" bIns="0" rtlCol="0" anchor="t"/>
          <a:lstStyle/>
          <a:p>
            <a:pPr algn="l" indent="0" marL="0">
              <a:lnSpc>
                <a:spcPts val="1090"/>
              </a:lnSpc>
              <a:buNone/>
            </a:pPr>
            <a:r>
              <a:rPr lang="en-US" sz="800" dirty="0">
                <a:solidFill>
                  <a:srgbClr val="1A1A1A"/>
                </a:solidFill>
                <a:latin typeface="Courier New" pitchFamily="34" charset="0"/>
                <a:ea typeface="Courier New" pitchFamily="34" charset="-122"/>
                <a:cs typeface="Courier New" pitchFamily="34" charset="-120"/>
              </a:rPr>
              <a:t>Молодая женщина держит одну элегантную карту лояльности, стоя между пекарней и кофейней на солнечной улице района, тёплый свет золотого часа, фотореалистичный lifestyle-кадр, малая глубина резкости, уровень глаз, --ar 4:5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71562" y="-1285875"/>
            <a:ext cx="3286125" cy="3286125"/>
          </a:xfrm>
          <a:prstGeom prst="ellipse">
            <a:avLst/>
          </a:prstGeom>
          <a:solidFill>
            <a:srgbClr val="F64A8A">
              <a:alpha val="5000"/>
            </a:srgbClr>
          </a:solidFill>
          <a:ln/>
        </p:spPr>
        <p:txBody>
          <a:bodyPr wrap="square" rtlCol="0" anchor="ctr"/>
          <a:lstStyle/>
          <a:p>
            <a:pPr indent="0" marL="0">
              <a:buNone/>
            </a:pPr>
            <a:endParaRPr lang="en-US" dirty="0"/>
          </a:p>
        </p:txBody>
      </p:sp>
      <p:sp>
        <p:nvSpPr>
          <p:cNvPr id="3" name="Text 1"/>
          <p:cNvSpPr/>
          <p:nvPr/>
        </p:nvSpPr>
        <p:spPr>
          <a:xfrm>
            <a:off x="434340" y="388691"/>
            <a:ext cx="1215174" cy="212027"/>
          </a:xfrm>
          <a:prstGeom prst="roundRect">
            <a:avLst>
              <a:gd name="adj" fmla="val 4487860"/>
            </a:avLst>
          </a:prstGeom>
          <a:solidFill>
            <a:srgbClr val="F64A8A">
              <a:alpha val="12000"/>
            </a:srgbClr>
          </a:solidFill>
          <a:ln/>
        </p:spPr>
        <p:txBody>
          <a:bodyPr wrap="square" rtlCol="0" anchor="ctr"/>
          <a:lstStyle/>
          <a:p>
            <a:pPr indent="0" marL="0">
              <a:buNone/>
            </a:pPr>
            <a:endParaRPr lang="en-US" dirty="0"/>
          </a:p>
        </p:txBody>
      </p:sp>
      <p:sp>
        <p:nvSpPr>
          <p:cNvPr id="4" name="Text 2"/>
          <p:cNvSpPr/>
          <p:nvPr/>
        </p:nvSpPr>
        <p:spPr>
          <a:xfrm>
            <a:off x="692944" y="450056"/>
            <a:ext cx="833698" cy="119703"/>
          </a:xfrm>
          <a:prstGeom prst="rect">
            <a:avLst/>
          </a:prstGeom>
          <a:noFill/>
          <a:ln/>
        </p:spPr>
        <p:txBody>
          <a:bodyPr wrap="none" lIns="0" tIns="0" rIns="0" bIns="0" rtlCol="0" anchor="t"/>
          <a:lstStyle/>
          <a:p>
            <a:pPr algn="l" indent="0" marL="0">
              <a:lnSpc>
                <a:spcPts val="928"/>
              </a:lnSpc>
              <a:buNone/>
            </a:pPr>
            <a:r>
              <a:rPr lang="en-US" sz="800" b="1" spc="50" kern="0" dirty="0">
                <a:solidFill>
                  <a:srgbClr val="C92A6A"/>
                </a:solidFill>
                <a:latin typeface="Carlito" pitchFamily="34" charset="0"/>
                <a:ea typeface="Carlito" pitchFamily="34" charset="-122"/>
                <a:cs typeface="Carlito" pitchFamily="34" charset="-120"/>
              </a:rPr>
              <a:t>ФИЧА · КЛИЕНТАМ</a:t>
            </a:r>
            <a:endParaRPr lang="en-US" sz="800" dirty="0"/>
          </a:p>
        </p:txBody>
      </p:sp>
      <p:sp>
        <p:nvSpPr>
          <p:cNvPr id="5" name="Text 3"/>
          <p:cNvSpPr/>
          <p:nvPr/>
        </p:nvSpPr>
        <p:spPr>
          <a:xfrm>
            <a:off x="557213" y="448270"/>
            <a:ext cx="92869" cy="92869"/>
          </a:xfrm>
          <a:prstGeom prst="rect">
            <a:avLst/>
          </a:prstGeom>
          <a:noFill/>
          <a:ln/>
        </p:spPr>
        <p:txBody>
          <a:bodyPr wrap="none" lIns="0" tIns="0" rIns="0" bIns="0" rtlCol="0" anchor="ctr"/>
          <a:lstStyle/>
          <a:p>
            <a:pPr algn="ctr" indent="0" marL="0">
              <a:buNone/>
            </a:pPr>
            <a:r>
              <a:rPr lang="en-US" sz="914" dirty="0">
                <a:solidFill>
                  <a:srgbClr val="C92A6A"/>
                </a:solidFill>
                <a:latin typeface="Segoe UI Symbol" pitchFamily="34" charset="0"/>
                <a:ea typeface="Segoe UI Symbol" pitchFamily="34" charset="-122"/>
                <a:cs typeface="Segoe UI Symbol" pitchFamily="34" charset="-120"/>
              </a:rPr>
              <a:t>✦</a:t>
            </a:r>
            <a:endParaRPr lang="en-US" sz="914" dirty="0"/>
          </a:p>
        </p:txBody>
      </p:sp>
      <p:sp>
        <p:nvSpPr>
          <p:cNvPr id="6" name="Text 4"/>
          <p:cNvSpPr/>
          <p:nvPr/>
        </p:nvSpPr>
        <p:spPr>
          <a:xfrm>
            <a:off x="457200" y="689372"/>
            <a:ext cx="8636000" cy="337060"/>
          </a:xfrm>
          <a:prstGeom prst="rect">
            <a:avLst/>
          </a:prstGeom>
          <a:noFill/>
          <a:ln/>
        </p:spPr>
        <p:txBody>
          <a:bodyPr wrap="none" lIns="0" tIns="0" rIns="0" bIns="0" rtlCol="0" anchor="t"/>
          <a:lstStyle/>
          <a:p>
            <a:pPr algn="l" indent="0" marL="0">
              <a:lnSpc>
                <a:spcPts val="2458"/>
              </a:lnSpc>
              <a:buNone/>
            </a:pPr>
            <a:r>
              <a:rPr lang="en-US" sz="2138" b="1" spc="-43" kern="0" dirty="0">
                <a:solidFill>
                  <a:srgbClr val="1A1A1A"/>
                </a:solidFill>
                <a:latin typeface="Carlito" pitchFamily="34" charset="0"/>
                <a:ea typeface="Carlito" pitchFamily="34" charset="-122"/>
                <a:cs typeface="Carlito" pitchFamily="34" charset="-120"/>
              </a:rPr>
              <a:t>1 балл = 1 ₽ — честный кэшбэк</a:t>
            </a:r>
            <a:endParaRPr lang="en-US" sz="2138" dirty="0"/>
          </a:p>
        </p:txBody>
      </p:sp>
      <p:sp>
        <p:nvSpPr>
          <p:cNvPr id="7" name="Text 5"/>
          <p:cNvSpPr/>
          <p:nvPr/>
        </p:nvSpPr>
        <p:spPr>
          <a:xfrm>
            <a:off x="457200" y="1187202"/>
            <a:ext cx="4800600" cy="1713830"/>
          </a:xfrm>
          <a:prstGeom prst="roundRect">
            <a:avLst>
              <a:gd name="adj" fmla="val 6669"/>
            </a:avLst>
          </a:prstGeom>
          <a:solidFill>
            <a:srgbClr val="262023"/>
          </a:solidFill>
          <a:ln/>
        </p:spPr>
        <p:txBody>
          <a:bodyPr wrap="square" rtlCol="0" anchor="ctr"/>
          <a:lstStyle/>
          <a:p>
            <a:pPr indent="0" marL="0">
              <a:buNone/>
            </a:pPr>
            <a:endParaRPr lang="en-US" dirty="0"/>
          </a:p>
        </p:txBody>
      </p:sp>
      <p:sp>
        <p:nvSpPr>
          <p:cNvPr id="8" name="Text 6"/>
          <p:cNvSpPr/>
          <p:nvPr/>
        </p:nvSpPr>
        <p:spPr>
          <a:xfrm>
            <a:off x="642938" y="1754125"/>
            <a:ext cx="4538853" cy="137209"/>
          </a:xfrm>
          <a:prstGeom prst="rect">
            <a:avLst/>
          </a:prstGeom>
          <a:noFill/>
          <a:ln/>
        </p:spPr>
        <p:txBody>
          <a:bodyPr wrap="square" lIns="0" tIns="0" rIns="0" bIns="0" rtlCol="0" anchor="t">
            <a:normAutofit/>
          </a:bodyPr>
          <a:lstStyle/>
          <a:p>
            <a:pPr algn="l" indent="0" marL="0">
              <a:lnSpc>
                <a:spcPts val="959"/>
              </a:lnSpc>
              <a:buNone/>
            </a:pPr>
            <a:r>
              <a:rPr lang="en-US" sz="800" b="1" spc="62" kern="0" dirty="0">
                <a:solidFill>
                  <a:srgbClr val="D4A854"/>
                </a:solidFill>
                <a:latin typeface="Carlito" pitchFamily="34" charset="0"/>
                <a:ea typeface="Carlito" pitchFamily="34" charset="-122"/>
                <a:cs typeface="Carlito" pitchFamily="34" charset="-120"/>
              </a:rPr>
              <a:t>EN · MIDJOURNEY / FLUX / DALL-E</a:t>
            </a:r>
            <a:endParaRPr lang="en-US" sz="800" dirty="0"/>
          </a:p>
        </p:txBody>
      </p:sp>
      <p:sp>
        <p:nvSpPr>
          <p:cNvPr id="9" name="Text 7"/>
          <p:cNvSpPr/>
          <p:nvPr/>
        </p:nvSpPr>
        <p:spPr>
          <a:xfrm>
            <a:off x="642938" y="1918767"/>
            <a:ext cx="4429125" cy="510235"/>
          </a:xfrm>
          <a:prstGeom prst="rect">
            <a:avLst/>
          </a:prstGeom>
          <a:noFill/>
          <a:ln/>
        </p:spPr>
        <p:txBody>
          <a:bodyPr wrap="square" lIns="0" tIns="0" rIns="0" bIns="0" rtlCol="0" anchor="t"/>
          <a:lstStyle/>
          <a:p>
            <a:pPr algn="l" indent="0" marL="0">
              <a:lnSpc>
                <a:spcPts val="1090"/>
              </a:lnSpc>
              <a:buNone/>
            </a:pPr>
            <a:r>
              <a:rPr lang="en-US" sz="800" dirty="0">
                <a:solidFill>
                  <a:srgbClr val="F8F8F8"/>
                </a:solidFill>
                <a:latin typeface="Courier New" pitchFamily="34" charset="0"/>
                <a:ea typeface="Courier New" pitchFamily="34" charset="-122"/>
                <a:cs typeface="Courier New" pitchFamily="34" charset="-120"/>
              </a:rPr>
              <a:t>A happy customer receiving a free cappuccino with a smile at a cozy local cafe counter, barista giving a warm handshake, soft daylight, photorealistic lifestyle photography, warm tones, --ar 4:5</a:t>
            </a:r>
            <a:endParaRPr lang="en-US" sz="800" dirty="0"/>
          </a:p>
        </p:txBody>
      </p:sp>
      <p:sp>
        <p:nvSpPr>
          <p:cNvPr id="10" name="Text 8"/>
          <p:cNvSpPr/>
          <p:nvPr/>
        </p:nvSpPr>
        <p:spPr>
          <a:xfrm>
            <a:off x="460772" y="3047479"/>
            <a:ext cx="4793456" cy="1720974"/>
          </a:xfrm>
          <a:prstGeom prst="roundRect">
            <a:avLst>
              <a:gd name="adj" fmla="val 6642"/>
            </a:avLst>
          </a:prstGeom>
          <a:solidFill>
            <a:srgbClr val="F8F8F8"/>
          </a:solidFill>
          <a:ln w="7144">
            <a:solidFill>
              <a:srgbClr val="1A1A1A"/>
            </a:solidFill>
            <a:prstDash val="solid"/>
          </a:ln>
        </p:spPr>
        <p:txBody>
          <a:bodyPr wrap="square" rtlCol="0" anchor="ctr"/>
          <a:lstStyle/>
          <a:p>
            <a:pPr indent="0" marL="0">
              <a:buNone/>
            </a:pPr>
            <a:endParaRPr lang="en-US" dirty="0"/>
          </a:p>
        </p:txBody>
      </p:sp>
      <p:sp>
        <p:nvSpPr>
          <p:cNvPr id="11" name="Text 9"/>
          <p:cNvSpPr/>
          <p:nvPr/>
        </p:nvSpPr>
        <p:spPr>
          <a:xfrm>
            <a:off x="650081" y="3617975"/>
            <a:ext cx="4414838" cy="137209"/>
          </a:xfrm>
          <a:prstGeom prst="rect">
            <a:avLst/>
          </a:prstGeom>
          <a:noFill/>
          <a:ln/>
        </p:spPr>
        <p:txBody>
          <a:bodyPr wrap="none" lIns="0" tIns="0" rIns="0" bIns="0" rtlCol="0" anchor="t">
            <a:normAutofit/>
          </a:bodyPr>
          <a:lstStyle/>
          <a:p>
            <a:pPr algn="l" indent="0" marL="0">
              <a:lnSpc>
                <a:spcPts val="959"/>
              </a:lnSpc>
              <a:buNone/>
            </a:pPr>
            <a:r>
              <a:rPr lang="en-US" sz="800" b="1" spc="62" kern="0" dirty="0">
                <a:solidFill>
                  <a:srgbClr val="C92A6A"/>
                </a:solidFill>
                <a:latin typeface="Carlito" pitchFamily="34" charset="0"/>
                <a:ea typeface="Carlito" pitchFamily="34" charset="-122"/>
                <a:cs typeface="Carlito" pitchFamily="34" charset="-120"/>
              </a:rPr>
              <a:t>RU · ПЕРЕВОД</a:t>
            </a:r>
            <a:endParaRPr lang="en-US" sz="800" dirty="0"/>
          </a:p>
        </p:txBody>
      </p:sp>
      <p:sp>
        <p:nvSpPr>
          <p:cNvPr id="12" name="Text 10"/>
          <p:cNvSpPr/>
          <p:nvPr/>
        </p:nvSpPr>
        <p:spPr>
          <a:xfrm>
            <a:off x="650081" y="3782616"/>
            <a:ext cx="4414838" cy="510235"/>
          </a:xfrm>
          <a:prstGeom prst="rect">
            <a:avLst/>
          </a:prstGeom>
          <a:noFill/>
          <a:ln/>
        </p:spPr>
        <p:txBody>
          <a:bodyPr wrap="square" lIns="0" tIns="0" rIns="0" bIns="0" rtlCol="0" anchor="t"/>
          <a:lstStyle/>
          <a:p>
            <a:pPr algn="l" indent="0" marL="0">
              <a:lnSpc>
                <a:spcPts val="1090"/>
              </a:lnSpc>
              <a:buNone/>
            </a:pPr>
            <a:r>
              <a:rPr lang="en-US" sz="800" dirty="0">
                <a:solidFill>
                  <a:srgbClr val="1A1A1A"/>
                </a:solidFill>
                <a:latin typeface="Courier New" pitchFamily="34" charset="0"/>
                <a:ea typeface="Courier New" pitchFamily="34" charset="-122"/>
                <a:cs typeface="Courier New" pitchFamily="34" charset="-120"/>
              </a:rPr>
              <a:t>Довольный покупатель получает бесплатный капучино с улыбкой у стойки уютной районной кофейни, бариста тепло пожимает руку, мягкий дневной свет, фотореалистичная lifestyle-съёмка, тёплые тона, --ar 4:5</a:t>
            </a:r>
            <a:endParaRPr lang="en-US" sz="800" dirty="0"/>
          </a:p>
        </p:txBody>
      </p:sp>
      <p:sp>
        <p:nvSpPr>
          <p:cNvPr id="13" name="Text 11"/>
          <p:cNvSpPr/>
          <p:nvPr/>
        </p:nvSpPr>
        <p:spPr>
          <a:xfrm>
            <a:off x="5486400" y="1187202"/>
            <a:ext cx="3200400" cy="1742405"/>
          </a:xfrm>
          <a:prstGeom prst="roundRect">
            <a:avLst>
              <a:gd name="adj" fmla="val 6560"/>
            </a:avLst>
          </a:prstGeom>
          <a:solidFill>
            <a:srgbClr val="FFFFFF"/>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4" name="Shape 12"/>
          <p:cNvSpPr/>
          <p:nvPr/>
        </p:nvSpPr>
        <p:spPr>
          <a:xfrm>
            <a:off x="5486400" y="1190774"/>
            <a:ext cx="3200400" cy="0"/>
          </a:xfrm>
          <a:prstGeom prst="line">
            <a:avLst/>
          </a:prstGeom>
          <a:noFill/>
          <a:ln w="7144">
            <a:solidFill>
              <a:srgbClr val="1A1A1A"/>
            </a:solidFill>
            <a:prstDash val="solid"/>
          </a:ln>
        </p:spPr>
      </p:sp>
      <p:sp>
        <p:nvSpPr>
          <p:cNvPr id="15" name="Shape 13"/>
          <p:cNvSpPr/>
          <p:nvPr/>
        </p:nvSpPr>
        <p:spPr>
          <a:xfrm>
            <a:off x="8683228" y="1187202"/>
            <a:ext cx="0" cy="1742405"/>
          </a:xfrm>
          <a:prstGeom prst="line">
            <a:avLst/>
          </a:prstGeom>
          <a:noFill/>
          <a:ln w="7144">
            <a:solidFill>
              <a:srgbClr val="1A1A1A"/>
            </a:solidFill>
            <a:prstDash val="solid"/>
          </a:ln>
        </p:spPr>
      </p:sp>
      <p:sp>
        <p:nvSpPr>
          <p:cNvPr id="16" name="Shape 14"/>
          <p:cNvSpPr/>
          <p:nvPr/>
        </p:nvSpPr>
        <p:spPr>
          <a:xfrm>
            <a:off x="5486400" y="2926035"/>
            <a:ext cx="3200400" cy="0"/>
          </a:xfrm>
          <a:prstGeom prst="line">
            <a:avLst/>
          </a:prstGeom>
          <a:noFill/>
          <a:ln w="7144">
            <a:solidFill>
              <a:srgbClr val="1A1A1A"/>
            </a:solidFill>
            <a:prstDash val="solid"/>
          </a:ln>
        </p:spPr>
      </p:sp>
      <p:sp>
        <p:nvSpPr>
          <p:cNvPr id="17" name="Shape 15"/>
          <p:cNvSpPr/>
          <p:nvPr/>
        </p:nvSpPr>
        <p:spPr>
          <a:xfrm>
            <a:off x="5500688" y="1187202"/>
            <a:ext cx="0" cy="1742405"/>
          </a:xfrm>
          <a:prstGeom prst="line">
            <a:avLst/>
          </a:prstGeom>
          <a:noFill/>
          <a:ln w="28575">
            <a:solidFill>
              <a:srgbClr val="F64A8A"/>
            </a:solidFill>
            <a:prstDash val="solid"/>
          </a:ln>
        </p:spPr>
      </p:sp>
      <p:sp>
        <p:nvSpPr>
          <p:cNvPr id="18" name="Text 16"/>
          <p:cNvSpPr/>
          <p:nvPr/>
        </p:nvSpPr>
        <p:spPr>
          <a:xfrm>
            <a:off x="5872163" y="1619287"/>
            <a:ext cx="1089373" cy="119703"/>
          </a:xfrm>
          <a:prstGeom prst="rect">
            <a:avLst/>
          </a:prstGeom>
          <a:noFill/>
          <a:ln/>
        </p:spPr>
        <p:txBody>
          <a:bodyPr wrap="none" lIns="0" tIns="0" rIns="0" bIns="0" rtlCol="0" anchor="t"/>
          <a:lstStyle/>
          <a:p>
            <a:pPr algn="l" indent="0" marL="0">
              <a:lnSpc>
                <a:spcPts val="928"/>
              </a:lnSpc>
              <a:buNone/>
            </a:pPr>
            <a:r>
              <a:rPr lang="en-US" sz="800" b="1" spc="74" kern="0" dirty="0">
                <a:solidFill>
                  <a:srgbClr val="C92A6A"/>
                </a:solidFill>
                <a:latin typeface="Carlito" pitchFamily="34" charset="0"/>
                <a:ea typeface="Carlito" pitchFamily="34" charset="-122"/>
                <a:cs typeface="Carlito" pitchFamily="34" charset="-120"/>
              </a:rPr>
              <a:t>ИДЕЯ СЦЕНАРИЯ</a:t>
            </a:r>
            <a:endParaRPr lang="en-US" sz="800" dirty="0"/>
          </a:p>
        </p:txBody>
      </p:sp>
      <p:sp>
        <p:nvSpPr>
          <p:cNvPr id="19" name="Text 17"/>
          <p:cNvSpPr/>
          <p:nvPr/>
        </p:nvSpPr>
        <p:spPr>
          <a:xfrm>
            <a:off x="5686425" y="1599642"/>
            <a:ext cx="128588" cy="128588"/>
          </a:xfrm>
          <a:prstGeom prst="rect">
            <a:avLst/>
          </a:prstGeom>
          <a:noFill/>
          <a:ln/>
        </p:spPr>
        <p:txBody>
          <a:bodyPr wrap="none" lIns="0" tIns="0" rIns="0" bIns="0" rtlCol="0" anchor="ctr"/>
          <a:lstStyle/>
          <a:p>
            <a:pPr algn="ctr" indent="0" marL="0">
              <a:buNone/>
            </a:pPr>
            <a:r>
              <a:rPr lang="en-US" sz="1266" dirty="0">
                <a:solidFill>
                  <a:srgbClr val="F64A8A"/>
                </a:solidFill>
                <a:latin typeface="Segoe UI Symbol" pitchFamily="34" charset="0"/>
                <a:ea typeface="Segoe UI Symbol" pitchFamily="34" charset="-122"/>
                <a:cs typeface="Segoe UI Symbol" pitchFamily="34" charset="-120"/>
              </a:rPr>
              <a:t>✎</a:t>
            </a:r>
            <a:endParaRPr lang="en-US" sz="1266" dirty="0"/>
          </a:p>
        </p:txBody>
      </p:sp>
      <p:sp>
        <p:nvSpPr>
          <p:cNvPr id="20" name="Text 18"/>
          <p:cNvSpPr/>
          <p:nvPr/>
        </p:nvSpPr>
        <p:spPr>
          <a:xfrm>
            <a:off x="5686425" y="1799667"/>
            <a:ext cx="2821781" cy="774900"/>
          </a:xfrm>
          <a:prstGeom prst="rect">
            <a:avLst/>
          </a:prstGeom>
          <a:noFill/>
          <a:ln/>
        </p:spPr>
        <p:txBody>
          <a:bodyPr wrap="square" lIns="0" tIns="0" rIns="0" bIns="0" rtlCol="0" anchor="t"/>
          <a:lstStyle/>
          <a:p>
            <a:pPr algn="l" indent="0" marL="0">
              <a:lnSpc>
                <a:spcPts val="1412"/>
              </a:lnSpc>
              <a:buNone/>
            </a:pPr>
            <a:r>
              <a:rPr lang="en-US" sz="872" dirty="0">
                <a:solidFill>
                  <a:srgbClr val="1A1A1A"/>
                </a:solidFill>
                <a:latin typeface="Carlito" pitchFamily="34" charset="0"/>
                <a:ea typeface="Carlito" pitchFamily="34" charset="-122"/>
                <a:cs typeface="Carlito" pitchFamily="34" charset="-120"/>
              </a:rPr>
              <a:t>Курс фиксированный, баллы не сгорают и выводятся через СБП. Нужна атмосфера радости без денежных фейков: показываем момент награды, а не суммы на экране.</a:t>
            </a:r>
            <a:endParaRPr lang="en-US" sz="872" dirty="0"/>
          </a:p>
        </p:txBody>
      </p:sp>
      <p:sp>
        <p:nvSpPr>
          <p:cNvPr id="21" name="Text 19"/>
          <p:cNvSpPr/>
          <p:nvPr/>
        </p:nvSpPr>
        <p:spPr>
          <a:xfrm>
            <a:off x="5486400" y="3072482"/>
            <a:ext cx="3200400" cy="1699543"/>
          </a:xfrm>
          <a:prstGeom prst="roundRect">
            <a:avLst>
              <a:gd name="adj" fmla="val 6725"/>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2" name="Text 20"/>
          <p:cNvSpPr/>
          <p:nvPr/>
        </p:nvSpPr>
        <p:spPr>
          <a:xfrm>
            <a:off x="5843588" y="3695105"/>
            <a:ext cx="1239409" cy="119703"/>
          </a:xfrm>
          <a:prstGeom prst="rect">
            <a:avLst/>
          </a:prstGeom>
          <a:noFill/>
          <a:ln/>
        </p:spPr>
        <p:txBody>
          <a:bodyPr wrap="none" lIns="0" tIns="0" rIns="0" bIns="0" rtlCol="0" anchor="t"/>
          <a:lstStyle/>
          <a:p>
            <a:pPr algn="l" indent="0" marL="0">
              <a:lnSpc>
                <a:spcPts val="928"/>
              </a:lnSpc>
              <a:buNone/>
            </a:pPr>
            <a:r>
              <a:rPr lang="en-US" sz="800" b="1" spc="74" kern="0" dirty="0">
                <a:solidFill>
                  <a:srgbClr val="C92A6A"/>
                </a:solidFill>
                <a:latin typeface="Carlito" pitchFamily="34" charset="0"/>
                <a:ea typeface="Carlito" pitchFamily="34" charset="-122"/>
                <a:cs typeface="Carlito" pitchFamily="34" charset="-120"/>
              </a:rPr>
              <a:t>ПОЧЕМУ РАБОТАЕТ</a:t>
            </a:r>
            <a:endParaRPr lang="en-US" sz="800" dirty="0"/>
          </a:p>
        </p:txBody>
      </p:sp>
      <p:sp>
        <p:nvSpPr>
          <p:cNvPr id="23" name="Text 21"/>
          <p:cNvSpPr/>
          <p:nvPr/>
        </p:nvSpPr>
        <p:spPr>
          <a:xfrm>
            <a:off x="5657850" y="3675459"/>
            <a:ext cx="128588" cy="128588"/>
          </a:xfrm>
          <a:prstGeom prst="rect">
            <a:avLst/>
          </a:prstGeom>
          <a:noFill/>
          <a:ln/>
        </p:spPr>
        <p:txBody>
          <a:bodyPr wrap="none" lIns="0" tIns="0" rIns="0" bIns="0" rtlCol="0" anchor="ctr"/>
          <a:lstStyle/>
          <a:p>
            <a:pPr algn="ctr" indent="0" marL="0">
              <a:buNone/>
            </a:pPr>
            <a:r>
              <a:rPr lang="en-US" sz="1266" dirty="0">
                <a:solidFill>
                  <a:srgbClr val="F64A8A"/>
                </a:solidFill>
                <a:latin typeface="Segoe UI Symbol" pitchFamily="34" charset="0"/>
                <a:ea typeface="Segoe UI Symbol" pitchFamily="34" charset="-122"/>
                <a:cs typeface="Segoe UI Symbol" pitchFamily="34" charset="-120"/>
              </a:rPr>
              <a:t>✦</a:t>
            </a:r>
            <a:endParaRPr lang="en-US" sz="1266" dirty="0"/>
          </a:p>
        </p:txBody>
      </p:sp>
      <p:sp>
        <p:nvSpPr>
          <p:cNvPr id="24" name="Text 22"/>
          <p:cNvSpPr/>
          <p:nvPr/>
        </p:nvSpPr>
        <p:spPr>
          <a:xfrm>
            <a:off x="5657850" y="3868341"/>
            <a:ext cx="2857500" cy="355297"/>
          </a:xfrm>
          <a:prstGeom prst="rect">
            <a:avLst/>
          </a:prstGeom>
          <a:noFill/>
          <a:ln/>
        </p:spPr>
        <p:txBody>
          <a:bodyPr wrap="square" lIns="0" tIns="0" rIns="0" bIns="0" rtlCol="0" anchor="t"/>
          <a:lstStyle/>
          <a:p>
            <a:pPr algn="l" indent="0" marL="0">
              <a:lnSpc>
                <a:spcPts val="1185"/>
              </a:lnSpc>
              <a:buNone/>
            </a:pPr>
            <a:r>
              <a:rPr lang="en-US" sz="800" dirty="0">
                <a:solidFill>
                  <a:srgbClr val="888888"/>
                </a:solidFill>
                <a:latin typeface="Carlito" pitchFamily="34" charset="0"/>
                <a:ea typeface="Carlito" pitchFamily="34" charset="-122"/>
                <a:cs typeface="Carlito" pitchFamily="34" charset="-120"/>
              </a:rPr>
              <a:t>Радость награды в живой сцене вместо стоковых монет и купюр — так честнее и теплее, и не нарушает стоп-лист канона.</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29438" y="-1285875"/>
            <a:ext cx="3286125" cy="3286125"/>
          </a:xfrm>
          <a:prstGeom prst="ellipse">
            <a:avLst/>
          </a:prstGeom>
          <a:solidFill>
            <a:srgbClr val="0ABAB5">
              <a:alpha val="5000"/>
            </a:srgbClr>
          </a:solidFill>
          <a:ln/>
        </p:spPr>
        <p:txBody>
          <a:bodyPr wrap="square" rtlCol="0" anchor="ctr"/>
          <a:lstStyle/>
          <a:p>
            <a:pPr indent="0" marL="0">
              <a:buNone/>
            </a:pPr>
            <a:endParaRPr lang="en-US" dirty="0"/>
          </a:p>
        </p:txBody>
      </p:sp>
      <p:sp>
        <p:nvSpPr>
          <p:cNvPr id="3" name="Text 1"/>
          <p:cNvSpPr/>
          <p:nvPr/>
        </p:nvSpPr>
        <p:spPr>
          <a:xfrm>
            <a:off x="434340" y="388691"/>
            <a:ext cx="1150880" cy="212027"/>
          </a:xfrm>
          <a:prstGeom prst="roundRect">
            <a:avLst>
              <a:gd name="adj" fmla="val 4487860"/>
            </a:avLst>
          </a:prstGeom>
          <a:solidFill>
            <a:srgbClr val="0ABAB5">
              <a:alpha val="10000"/>
            </a:srgbClr>
          </a:solidFill>
          <a:ln/>
        </p:spPr>
        <p:txBody>
          <a:bodyPr wrap="square" rtlCol="0" anchor="ctr"/>
          <a:lstStyle/>
          <a:p>
            <a:pPr indent="0" marL="0">
              <a:buNone/>
            </a:pPr>
            <a:endParaRPr lang="en-US" dirty="0"/>
          </a:p>
        </p:txBody>
      </p:sp>
      <p:sp>
        <p:nvSpPr>
          <p:cNvPr id="4" name="Text 2"/>
          <p:cNvSpPr/>
          <p:nvPr/>
        </p:nvSpPr>
        <p:spPr>
          <a:xfrm>
            <a:off x="692944" y="450056"/>
            <a:ext cx="769404" cy="119703"/>
          </a:xfrm>
          <a:prstGeom prst="rect">
            <a:avLst/>
          </a:prstGeom>
          <a:noFill/>
          <a:ln/>
        </p:spPr>
        <p:txBody>
          <a:bodyPr wrap="none" lIns="0" tIns="0" rIns="0" bIns="0" rtlCol="0" anchor="t"/>
          <a:lstStyle/>
          <a:p>
            <a:pPr algn="l" indent="0" marL="0">
              <a:lnSpc>
                <a:spcPts val="928"/>
              </a:lnSpc>
              <a:buNone/>
            </a:pPr>
            <a:r>
              <a:rPr lang="en-US" sz="800" b="1" spc="50" kern="0" dirty="0">
                <a:solidFill>
                  <a:srgbClr val="07807C"/>
                </a:solidFill>
                <a:latin typeface="Carlito" pitchFamily="34" charset="0"/>
                <a:ea typeface="Carlito" pitchFamily="34" charset="-122"/>
                <a:cs typeface="Carlito" pitchFamily="34" charset="-120"/>
              </a:rPr>
              <a:t>ФИЧА · БИЗНЕСУ</a:t>
            </a:r>
            <a:endParaRPr lang="en-US" sz="800" dirty="0"/>
          </a:p>
        </p:txBody>
      </p:sp>
      <p:sp>
        <p:nvSpPr>
          <p:cNvPr id="5" name="Text 3"/>
          <p:cNvSpPr/>
          <p:nvPr/>
        </p:nvSpPr>
        <p:spPr>
          <a:xfrm>
            <a:off x="557213" y="448270"/>
            <a:ext cx="92869" cy="92869"/>
          </a:xfrm>
          <a:prstGeom prst="rect">
            <a:avLst/>
          </a:prstGeom>
          <a:noFill/>
          <a:ln/>
        </p:spPr>
        <p:txBody>
          <a:bodyPr wrap="none" lIns="0" tIns="0" rIns="0" bIns="0" rtlCol="0" anchor="ctr"/>
          <a:lstStyle/>
          <a:p>
            <a:pPr algn="ctr" indent="0" marL="0">
              <a:buNone/>
            </a:pPr>
            <a:r>
              <a:rPr lang="en-US" sz="914" dirty="0">
                <a:solidFill>
                  <a:srgbClr val="07807C"/>
                </a:solidFill>
                <a:latin typeface="Segoe UI Symbol" pitchFamily="34" charset="0"/>
                <a:ea typeface="Segoe UI Symbol" pitchFamily="34" charset="-122"/>
                <a:cs typeface="Segoe UI Symbol" pitchFamily="34" charset="-120"/>
              </a:rPr>
              <a:t>✦</a:t>
            </a:r>
            <a:endParaRPr lang="en-US" sz="914" dirty="0"/>
          </a:p>
        </p:txBody>
      </p:sp>
      <p:sp>
        <p:nvSpPr>
          <p:cNvPr id="6" name="Text 4"/>
          <p:cNvSpPr/>
          <p:nvPr/>
        </p:nvSpPr>
        <p:spPr>
          <a:xfrm>
            <a:off x="457200" y="689372"/>
            <a:ext cx="8636000" cy="337060"/>
          </a:xfrm>
          <a:prstGeom prst="rect">
            <a:avLst/>
          </a:prstGeom>
          <a:noFill/>
          <a:ln/>
        </p:spPr>
        <p:txBody>
          <a:bodyPr wrap="square" lIns="0" tIns="0" rIns="0" bIns="0" rtlCol="0" anchor="t"/>
          <a:lstStyle/>
          <a:p>
            <a:pPr algn="l" indent="0" marL="0">
              <a:lnSpc>
                <a:spcPts val="2458"/>
              </a:lnSpc>
              <a:buNone/>
            </a:pPr>
            <a:r>
              <a:rPr lang="en-US" sz="2138" b="1" spc="-43" kern="0" dirty="0">
                <a:solidFill>
                  <a:srgbClr val="1A1A1A"/>
                </a:solidFill>
                <a:latin typeface="Carlito" pitchFamily="34" charset="0"/>
                <a:ea typeface="Carlito" pitchFamily="34" charset="-122"/>
                <a:cs typeface="Carlito" pitchFamily="34" charset="-120"/>
              </a:rPr>
              <a:t>Подключение точки по QR за 5 минут</a:t>
            </a:r>
            <a:endParaRPr lang="en-US" sz="2138" dirty="0"/>
          </a:p>
        </p:txBody>
      </p:sp>
      <p:sp>
        <p:nvSpPr>
          <p:cNvPr id="7" name="Text 5"/>
          <p:cNvSpPr/>
          <p:nvPr/>
        </p:nvSpPr>
        <p:spPr>
          <a:xfrm>
            <a:off x="457200" y="1187202"/>
            <a:ext cx="3200400" cy="1742405"/>
          </a:xfrm>
          <a:prstGeom prst="roundRect">
            <a:avLst>
              <a:gd name="adj" fmla="val 6560"/>
            </a:avLst>
          </a:prstGeom>
          <a:solidFill>
            <a:srgbClr val="FFFFFF"/>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8" name="Shape 6"/>
          <p:cNvSpPr/>
          <p:nvPr/>
        </p:nvSpPr>
        <p:spPr>
          <a:xfrm>
            <a:off x="457200" y="1190774"/>
            <a:ext cx="3200400" cy="0"/>
          </a:xfrm>
          <a:prstGeom prst="line">
            <a:avLst/>
          </a:prstGeom>
          <a:noFill/>
          <a:ln w="7144">
            <a:solidFill>
              <a:srgbClr val="1A1A1A"/>
            </a:solidFill>
            <a:prstDash val="solid"/>
          </a:ln>
        </p:spPr>
      </p:sp>
      <p:sp>
        <p:nvSpPr>
          <p:cNvPr id="9" name="Shape 7"/>
          <p:cNvSpPr/>
          <p:nvPr/>
        </p:nvSpPr>
        <p:spPr>
          <a:xfrm>
            <a:off x="3654028" y="1187202"/>
            <a:ext cx="0" cy="1742405"/>
          </a:xfrm>
          <a:prstGeom prst="line">
            <a:avLst/>
          </a:prstGeom>
          <a:noFill/>
          <a:ln w="7144">
            <a:solidFill>
              <a:srgbClr val="1A1A1A"/>
            </a:solidFill>
            <a:prstDash val="solid"/>
          </a:ln>
        </p:spPr>
      </p:sp>
      <p:sp>
        <p:nvSpPr>
          <p:cNvPr id="10" name="Shape 8"/>
          <p:cNvSpPr/>
          <p:nvPr/>
        </p:nvSpPr>
        <p:spPr>
          <a:xfrm>
            <a:off x="457200" y="2926035"/>
            <a:ext cx="3200400" cy="0"/>
          </a:xfrm>
          <a:prstGeom prst="line">
            <a:avLst/>
          </a:prstGeom>
          <a:noFill/>
          <a:ln w="7144">
            <a:solidFill>
              <a:srgbClr val="1A1A1A"/>
            </a:solidFill>
            <a:prstDash val="solid"/>
          </a:ln>
        </p:spPr>
      </p:sp>
      <p:sp>
        <p:nvSpPr>
          <p:cNvPr id="11" name="Shape 9"/>
          <p:cNvSpPr/>
          <p:nvPr/>
        </p:nvSpPr>
        <p:spPr>
          <a:xfrm>
            <a:off x="471488" y="1187202"/>
            <a:ext cx="0" cy="1742405"/>
          </a:xfrm>
          <a:prstGeom prst="line">
            <a:avLst/>
          </a:prstGeom>
          <a:noFill/>
          <a:ln w="28575">
            <a:solidFill>
              <a:srgbClr val="0ABAB5"/>
            </a:solidFill>
            <a:prstDash val="solid"/>
          </a:ln>
        </p:spPr>
      </p:sp>
      <p:sp>
        <p:nvSpPr>
          <p:cNvPr id="12" name="Text 10"/>
          <p:cNvSpPr/>
          <p:nvPr/>
        </p:nvSpPr>
        <p:spPr>
          <a:xfrm>
            <a:off x="842963" y="1619287"/>
            <a:ext cx="1089373" cy="119703"/>
          </a:xfrm>
          <a:prstGeom prst="rect">
            <a:avLst/>
          </a:prstGeom>
          <a:noFill/>
          <a:ln/>
        </p:spPr>
        <p:txBody>
          <a:bodyPr wrap="none" lIns="0" tIns="0" rIns="0" bIns="0" rtlCol="0" anchor="t"/>
          <a:lstStyle/>
          <a:p>
            <a:pPr algn="l" indent="0" marL="0">
              <a:lnSpc>
                <a:spcPts val="928"/>
              </a:lnSpc>
              <a:buNone/>
            </a:pPr>
            <a:r>
              <a:rPr lang="en-US" sz="800" b="1" spc="74" kern="0" dirty="0">
                <a:solidFill>
                  <a:srgbClr val="07807C"/>
                </a:solidFill>
                <a:latin typeface="Carlito" pitchFamily="34" charset="0"/>
                <a:ea typeface="Carlito" pitchFamily="34" charset="-122"/>
                <a:cs typeface="Carlito" pitchFamily="34" charset="-120"/>
              </a:rPr>
              <a:t>ИДЕЯ СЦЕНАРИЯ</a:t>
            </a:r>
            <a:endParaRPr lang="en-US" sz="800" dirty="0"/>
          </a:p>
        </p:txBody>
      </p:sp>
      <p:sp>
        <p:nvSpPr>
          <p:cNvPr id="13" name="Text 11"/>
          <p:cNvSpPr/>
          <p:nvPr/>
        </p:nvSpPr>
        <p:spPr>
          <a:xfrm>
            <a:off x="657225" y="1599642"/>
            <a:ext cx="128588" cy="128588"/>
          </a:xfrm>
          <a:prstGeom prst="rect">
            <a:avLst/>
          </a:prstGeom>
          <a:noFill/>
          <a:ln/>
        </p:spPr>
        <p:txBody>
          <a:bodyPr wrap="none" lIns="0" tIns="0" rIns="0" bIns="0" rtlCol="0" anchor="ctr"/>
          <a:lstStyle/>
          <a:p>
            <a:pPr algn="ctr" indent="0" marL="0">
              <a:buNone/>
            </a:pPr>
            <a:r>
              <a:rPr lang="en-US" sz="1266" dirty="0">
                <a:solidFill>
                  <a:srgbClr val="0ABAB5"/>
                </a:solidFill>
                <a:latin typeface="Segoe UI Symbol" pitchFamily="34" charset="0"/>
                <a:ea typeface="Segoe UI Symbol" pitchFamily="34" charset="-122"/>
                <a:cs typeface="Segoe UI Symbol" pitchFamily="34" charset="-120"/>
              </a:rPr>
              <a:t>✎</a:t>
            </a:r>
            <a:endParaRPr lang="en-US" sz="1266" dirty="0"/>
          </a:p>
        </p:txBody>
      </p:sp>
      <p:sp>
        <p:nvSpPr>
          <p:cNvPr id="14" name="Text 12"/>
          <p:cNvSpPr/>
          <p:nvPr/>
        </p:nvSpPr>
        <p:spPr>
          <a:xfrm>
            <a:off x="657225" y="1799667"/>
            <a:ext cx="2821781" cy="774900"/>
          </a:xfrm>
          <a:prstGeom prst="rect">
            <a:avLst/>
          </a:prstGeom>
          <a:noFill/>
          <a:ln/>
        </p:spPr>
        <p:txBody>
          <a:bodyPr wrap="square" lIns="0" tIns="0" rIns="0" bIns="0" rtlCol="0" anchor="t"/>
          <a:lstStyle/>
          <a:p>
            <a:pPr algn="l" indent="0" marL="0">
              <a:lnSpc>
                <a:spcPts val="1412"/>
              </a:lnSpc>
              <a:buNone/>
            </a:pPr>
            <a:r>
              <a:rPr lang="en-US" sz="872" dirty="0">
                <a:solidFill>
                  <a:srgbClr val="1A1A1A"/>
                </a:solidFill>
                <a:latin typeface="Carlito" pitchFamily="34" charset="0"/>
                <a:ea typeface="Carlito" pitchFamily="34" charset="-122"/>
                <a:cs typeface="Carlito" pitchFamily="34" charset="-120"/>
              </a:rPr>
              <a:t>Онбординг бизнеса простой, как сфотографировать QR: 5 минут, витрина, касса 54-ФЗ, эквайринг и лояльность под ключ. Минимум техники в кадре, максимум лёгкости.</a:t>
            </a:r>
            <a:endParaRPr lang="en-US" sz="872" dirty="0"/>
          </a:p>
        </p:txBody>
      </p:sp>
      <p:sp>
        <p:nvSpPr>
          <p:cNvPr id="15" name="Text 13"/>
          <p:cNvSpPr/>
          <p:nvPr/>
        </p:nvSpPr>
        <p:spPr>
          <a:xfrm>
            <a:off x="457200" y="3072482"/>
            <a:ext cx="3200400" cy="1699543"/>
          </a:xfrm>
          <a:prstGeom prst="roundRect">
            <a:avLst>
              <a:gd name="adj" fmla="val 6725"/>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6" name="Text 14"/>
          <p:cNvSpPr/>
          <p:nvPr/>
        </p:nvSpPr>
        <p:spPr>
          <a:xfrm>
            <a:off x="814388" y="3619872"/>
            <a:ext cx="1239409" cy="119703"/>
          </a:xfrm>
          <a:prstGeom prst="rect">
            <a:avLst/>
          </a:prstGeom>
          <a:noFill/>
          <a:ln/>
        </p:spPr>
        <p:txBody>
          <a:bodyPr wrap="none" lIns="0" tIns="0" rIns="0" bIns="0" rtlCol="0" anchor="t"/>
          <a:lstStyle/>
          <a:p>
            <a:pPr algn="l" indent="0" marL="0">
              <a:lnSpc>
                <a:spcPts val="928"/>
              </a:lnSpc>
              <a:buNone/>
            </a:pPr>
            <a:r>
              <a:rPr lang="en-US" sz="800" b="1" spc="74" kern="0" dirty="0">
                <a:solidFill>
                  <a:srgbClr val="07807C"/>
                </a:solidFill>
                <a:latin typeface="Carlito" pitchFamily="34" charset="0"/>
                <a:ea typeface="Carlito" pitchFamily="34" charset="-122"/>
                <a:cs typeface="Carlito" pitchFamily="34" charset="-120"/>
              </a:rPr>
              <a:t>ПОЧЕМУ РАБОТАЕТ</a:t>
            </a:r>
            <a:endParaRPr lang="en-US" sz="800" dirty="0"/>
          </a:p>
        </p:txBody>
      </p:sp>
      <p:sp>
        <p:nvSpPr>
          <p:cNvPr id="17" name="Text 15"/>
          <p:cNvSpPr/>
          <p:nvPr/>
        </p:nvSpPr>
        <p:spPr>
          <a:xfrm>
            <a:off x="628650" y="3600227"/>
            <a:ext cx="128588" cy="128588"/>
          </a:xfrm>
          <a:prstGeom prst="rect">
            <a:avLst/>
          </a:prstGeom>
          <a:noFill/>
          <a:ln/>
        </p:spPr>
        <p:txBody>
          <a:bodyPr wrap="none" lIns="0" tIns="0" rIns="0" bIns="0" rtlCol="0" anchor="ctr"/>
          <a:lstStyle/>
          <a:p>
            <a:pPr algn="ctr" indent="0" marL="0">
              <a:buNone/>
            </a:pPr>
            <a:r>
              <a:rPr lang="en-US" sz="1266" dirty="0">
                <a:solidFill>
                  <a:srgbClr val="0ABAB5"/>
                </a:solidFill>
                <a:latin typeface="Segoe UI Symbol" pitchFamily="34" charset="0"/>
                <a:ea typeface="Segoe UI Symbol" pitchFamily="34" charset="-122"/>
                <a:cs typeface="Segoe UI Symbol" pitchFamily="34" charset="-120"/>
              </a:rPr>
              <a:t>✦</a:t>
            </a:r>
            <a:endParaRPr lang="en-US" sz="1266" dirty="0"/>
          </a:p>
        </p:txBody>
      </p:sp>
      <p:sp>
        <p:nvSpPr>
          <p:cNvPr id="18" name="Text 16"/>
          <p:cNvSpPr/>
          <p:nvPr/>
        </p:nvSpPr>
        <p:spPr>
          <a:xfrm>
            <a:off x="628650" y="3793108"/>
            <a:ext cx="2857500" cy="532946"/>
          </a:xfrm>
          <a:prstGeom prst="rect">
            <a:avLst/>
          </a:prstGeom>
          <a:noFill/>
          <a:ln/>
        </p:spPr>
        <p:txBody>
          <a:bodyPr wrap="square" lIns="0" tIns="0" rIns="0" bIns="0" rtlCol="0" anchor="t"/>
          <a:lstStyle/>
          <a:p>
            <a:pPr algn="l" indent="0" marL="0">
              <a:lnSpc>
                <a:spcPts val="1185"/>
              </a:lnSpc>
              <a:buNone/>
            </a:pPr>
            <a:r>
              <a:rPr lang="en-US" sz="800" dirty="0">
                <a:solidFill>
                  <a:srgbClr val="888888"/>
                </a:solidFill>
                <a:latin typeface="Carlito" pitchFamily="34" charset="0"/>
                <a:ea typeface="Carlito" pitchFamily="34" charset="-122"/>
                <a:cs typeface="Carlito" pitchFamily="34" charset="-120"/>
              </a:rPr>
              <a:t>Героиня — сама владелица: показывает, что подключение занимает минуты и не требует программиста. Факт „5 минут“ — канон, остаётся в тексте, не в генерации.</a:t>
            </a:r>
            <a:endParaRPr lang="en-US" sz="800" dirty="0"/>
          </a:p>
        </p:txBody>
      </p:sp>
      <p:sp>
        <p:nvSpPr>
          <p:cNvPr id="19" name="Text 17"/>
          <p:cNvSpPr/>
          <p:nvPr/>
        </p:nvSpPr>
        <p:spPr>
          <a:xfrm>
            <a:off x="3886200" y="1187202"/>
            <a:ext cx="4800600" cy="1713830"/>
          </a:xfrm>
          <a:prstGeom prst="roundRect">
            <a:avLst>
              <a:gd name="adj" fmla="val 6669"/>
            </a:avLst>
          </a:prstGeom>
          <a:solidFill>
            <a:srgbClr val="262023"/>
          </a:solidFill>
          <a:ln/>
        </p:spPr>
        <p:txBody>
          <a:bodyPr wrap="square" rtlCol="0" anchor="ctr"/>
          <a:lstStyle/>
          <a:p>
            <a:pPr indent="0" marL="0">
              <a:buNone/>
            </a:pPr>
            <a:endParaRPr lang="en-US" dirty="0"/>
          </a:p>
        </p:txBody>
      </p:sp>
      <p:sp>
        <p:nvSpPr>
          <p:cNvPr id="20" name="Text 18"/>
          <p:cNvSpPr/>
          <p:nvPr/>
        </p:nvSpPr>
        <p:spPr>
          <a:xfrm>
            <a:off x="4071938" y="1754125"/>
            <a:ext cx="4538853" cy="137209"/>
          </a:xfrm>
          <a:prstGeom prst="rect">
            <a:avLst/>
          </a:prstGeom>
          <a:noFill/>
          <a:ln/>
        </p:spPr>
        <p:txBody>
          <a:bodyPr wrap="square" lIns="0" tIns="0" rIns="0" bIns="0" rtlCol="0" anchor="t">
            <a:normAutofit/>
          </a:bodyPr>
          <a:lstStyle/>
          <a:p>
            <a:pPr algn="l" indent="0" marL="0">
              <a:lnSpc>
                <a:spcPts val="959"/>
              </a:lnSpc>
              <a:buNone/>
            </a:pPr>
            <a:r>
              <a:rPr lang="en-US" sz="800" b="1" spc="62" kern="0" dirty="0">
                <a:solidFill>
                  <a:srgbClr val="D4A854"/>
                </a:solidFill>
                <a:latin typeface="Carlito" pitchFamily="34" charset="0"/>
                <a:ea typeface="Carlito" pitchFamily="34" charset="-122"/>
                <a:cs typeface="Carlito" pitchFamily="34" charset="-120"/>
              </a:rPr>
              <a:t>EN · MIDJOURNEY / FLUX / DALL-E</a:t>
            </a:r>
            <a:endParaRPr lang="en-US" sz="800" dirty="0"/>
          </a:p>
        </p:txBody>
      </p:sp>
      <p:sp>
        <p:nvSpPr>
          <p:cNvPr id="21" name="Text 19"/>
          <p:cNvSpPr/>
          <p:nvPr/>
        </p:nvSpPr>
        <p:spPr>
          <a:xfrm>
            <a:off x="4071938" y="1918767"/>
            <a:ext cx="4429125" cy="510235"/>
          </a:xfrm>
          <a:prstGeom prst="rect">
            <a:avLst/>
          </a:prstGeom>
          <a:noFill/>
          <a:ln/>
        </p:spPr>
        <p:txBody>
          <a:bodyPr wrap="square" lIns="0" tIns="0" rIns="0" bIns="0" rtlCol="0" anchor="t"/>
          <a:lstStyle/>
          <a:p>
            <a:pPr algn="l" indent="0" marL="0">
              <a:lnSpc>
                <a:spcPts val="1090"/>
              </a:lnSpc>
              <a:buNone/>
            </a:pPr>
            <a:r>
              <a:rPr lang="en-US" sz="800" dirty="0">
                <a:solidFill>
                  <a:srgbClr val="F8F8F8"/>
                </a:solidFill>
                <a:latin typeface="Courier New" pitchFamily="34" charset="0"/>
                <a:ea typeface="Courier New" pitchFamily="34" charset="-122"/>
                <a:cs typeface="Courier New" pitchFamily="34" charset="-120"/>
              </a:rPr>
              <a:t>A small bakery owner scanning a QR code sticker on her own counter with a smartphone, bright clean interior, soft morning light through the window, photorealistic, calm and friendly mood, --ar 16:9</a:t>
            </a:r>
            <a:endParaRPr lang="en-US" sz="800" dirty="0"/>
          </a:p>
        </p:txBody>
      </p:sp>
      <p:sp>
        <p:nvSpPr>
          <p:cNvPr id="22" name="Text 20"/>
          <p:cNvSpPr/>
          <p:nvPr/>
        </p:nvSpPr>
        <p:spPr>
          <a:xfrm>
            <a:off x="3889772" y="3047479"/>
            <a:ext cx="4793456" cy="1720974"/>
          </a:xfrm>
          <a:prstGeom prst="roundRect">
            <a:avLst>
              <a:gd name="adj" fmla="val 6642"/>
            </a:avLst>
          </a:prstGeom>
          <a:solidFill>
            <a:srgbClr val="F8F8F8"/>
          </a:solidFill>
          <a:ln w="7144">
            <a:solidFill>
              <a:srgbClr val="1A1A1A"/>
            </a:solidFill>
            <a:prstDash val="solid"/>
          </a:ln>
        </p:spPr>
        <p:txBody>
          <a:bodyPr wrap="square" rtlCol="0" anchor="ctr"/>
          <a:lstStyle/>
          <a:p>
            <a:pPr indent="0" marL="0">
              <a:buNone/>
            </a:pPr>
            <a:endParaRPr lang="en-US" dirty="0"/>
          </a:p>
        </p:txBody>
      </p:sp>
      <p:sp>
        <p:nvSpPr>
          <p:cNvPr id="23" name="Text 21"/>
          <p:cNvSpPr/>
          <p:nvPr/>
        </p:nvSpPr>
        <p:spPr>
          <a:xfrm>
            <a:off x="4079081" y="3617975"/>
            <a:ext cx="4414838" cy="137209"/>
          </a:xfrm>
          <a:prstGeom prst="rect">
            <a:avLst/>
          </a:prstGeom>
          <a:noFill/>
          <a:ln/>
        </p:spPr>
        <p:txBody>
          <a:bodyPr wrap="none" lIns="0" tIns="0" rIns="0" bIns="0" rtlCol="0" anchor="t">
            <a:normAutofit/>
          </a:bodyPr>
          <a:lstStyle/>
          <a:p>
            <a:pPr algn="l" indent="0" marL="0">
              <a:lnSpc>
                <a:spcPts val="959"/>
              </a:lnSpc>
              <a:buNone/>
            </a:pPr>
            <a:r>
              <a:rPr lang="en-US" sz="800" b="1" spc="62" kern="0" dirty="0">
                <a:solidFill>
                  <a:srgbClr val="C92A6A"/>
                </a:solidFill>
                <a:latin typeface="Carlito" pitchFamily="34" charset="0"/>
                <a:ea typeface="Carlito" pitchFamily="34" charset="-122"/>
                <a:cs typeface="Carlito" pitchFamily="34" charset="-120"/>
              </a:rPr>
              <a:t>RU · ПЕРЕВОД</a:t>
            </a:r>
            <a:endParaRPr lang="en-US" sz="800" dirty="0"/>
          </a:p>
        </p:txBody>
      </p:sp>
      <p:sp>
        <p:nvSpPr>
          <p:cNvPr id="24" name="Text 22"/>
          <p:cNvSpPr/>
          <p:nvPr/>
        </p:nvSpPr>
        <p:spPr>
          <a:xfrm>
            <a:off x="4079081" y="3782616"/>
            <a:ext cx="4414838" cy="510235"/>
          </a:xfrm>
          <a:prstGeom prst="rect">
            <a:avLst/>
          </a:prstGeom>
          <a:noFill/>
          <a:ln/>
        </p:spPr>
        <p:txBody>
          <a:bodyPr wrap="square" lIns="0" tIns="0" rIns="0" bIns="0" rtlCol="0" anchor="t"/>
          <a:lstStyle/>
          <a:p>
            <a:pPr algn="l" indent="0" marL="0">
              <a:lnSpc>
                <a:spcPts val="1090"/>
              </a:lnSpc>
              <a:buNone/>
            </a:pPr>
            <a:r>
              <a:rPr lang="en-US" sz="800" dirty="0">
                <a:solidFill>
                  <a:srgbClr val="1A1A1A"/>
                </a:solidFill>
                <a:latin typeface="Courier New" pitchFamily="34" charset="0"/>
                <a:ea typeface="Courier New" pitchFamily="34" charset="-122"/>
                <a:cs typeface="Courier New" pitchFamily="34" charset="-120"/>
              </a:rPr>
              <a:t>Владелица небольшой пекарни сканирует смартфоном QR-стикер на собственной стойке, светлый чистый интерьер, мягкий утренний свет из окна, фотореалистично, спокойное дружелюбное настроение, --ar 16:9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71562" y="-1285875"/>
            <a:ext cx="3286125" cy="3286125"/>
          </a:xfrm>
          <a:prstGeom prst="ellipse">
            <a:avLst/>
          </a:prstGeom>
          <a:solidFill>
            <a:srgbClr val="D4A854">
              <a:alpha val="6000"/>
            </a:srgbClr>
          </a:solidFill>
          <a:ln/>
        </p:spPr>
        <p:txBody>
          <a:bodyPr wrap="square" rtlCol="0" anchor="ctr"/>
          <a:lstStyle/>
          <a:p>
            <a:pPr indent="0" marL="0">
              <a:buNone/>
            </a:pPr>
            <a:endParaRPr lang="en-US" dirty="0"/>
          </a:p>
        </p:txBody>
      </p:sp>
      <p:sp>
        <p:nvSpPr>
          <p:cNvPr id="3" name="Text 1"/>
          <p:cNvSpPr/>
          <p:nvPr/>
        </p:nvSpPr>
        <p:spPr>
          <a:xfrm>
            <a:off x="457200" y="400050"/>
            <a:ext cx="2112318" cy="189309"/>
          </a:xfrm>
          <a:prstGeom prst="roundRect">
            <a:avLst>
              <a:gd name="adj" fmla="val 5026425"/>
            </a:avLst>
          </a:prstGeom>
          <a:solidFill>
            <a:srgbClr val="D4A854">
              <a:alpha val="14000"/>
            </a:srgbClr>
          </a:solidFill>
          <a:ln/>
        </p:spPr>
        <p:txBody>
          <a:bodyPr wrap="square" rtlCol="0" anchor="ctr"/>
          <a:lstStyle/>
          <a:p>
            <a:pPr indent="0" marL="0">
              <a:buNone/>
            </a:pPr>
            <a:endParaRPr lang="en-US" dirty="0"/>
          </a:p>
        </p:txBody>
      </p:sp>
      <p:sp>
        <p:nvSpPr>
          <p:cNvPr id="4" name="Text 2"/>
          <p:cNvSpPr/>
          <p:nvPr/>
        </p:nvSpPr>
        <p:spPr>
          <a:xfrm>
            <a:off x="692944" y="450056"/>
            <a:ext cx="1776561" cy="119703"/>
          </a:xfrm>
          <a:prstGeom prst="rect">
            <a:avLst/>
          </a:prstGeom>
          <a:noFill/>
          <a:ln/>
        </p:spPr>
        <p:txBody>
          <a:bodyPr wrap="none" lIns="100013" tIns="35719" rIns="100013" bIns="35719" rtlCol="0" anchor="t"/>
          <a:lstStyle/>
          <a:p>
            <a:pPr algn="l" indent="0" marL="0">
              <a:lnSpc>
                <a:spcPts val="928"/>
              </a:lnSpc>
              <a:buNone/>
            </a:pPr>
            <a:r>
              <a:rPr lang="en-US" sz="800" b="1" spc="50" kern="0" dirty="0">
                <a:solidFill>
                  <a:srgbClr val="8A6A25"/>
                </a:solidFill>
                <a:latin typeface="Carlito" pitchFamily="34" charset="0"/>
                <a:ea typeface="Carlito" pitchFamily="34" charset="-122"/>
                <a:cs typeface="Carlito" pitchFamily="34" charset="-120"/>
              </a:rPr>
              <a:t>ФИЧА · ПАРТНЁРАМ И АМБАССАДОРАМ</a:t>
            </a:r>
            <a:endParaRPr lang="en-US" sz="800" dirty="0"/>
          </a:p>
        </p:txBody>
      </p:sp>
      <p:sp>
        <p:nvSpPr>
          <p:cNvPr id="5" name="Text 3"/>
          <p:cNvSpPr/>
          <p:nvPr/>
        </p:nvSpPr>
        <p:spPr>
          <a:xfrm>
            <a:off x="557213" y="448270"/>
            <a:ext cx="92869" cy="92869"/>
          </a:xfrm>
          <a:prstGeom prst="rect">
            <a:avLst/>
          </a:prstGeom>
          <a:noFill/>
          <a:ln/>
        </p:spPr>
        <p:txBody>
          <a:bodyPr wrap="none" lIns="0" tIns="0" rIns="0" bIns="0" rtlCol="0" anchor="ctr"/>
          <a:lstStyle/>
          <a:p>
            <a:pPr algn="ctr" indent="0" marL="0">
              <a:buNone/>
            </a:pPr>
            <a:r>
              <a:rPr lang="en-US" sz="914" dirty="0">
                <a:solidFill>
                  <a:srgbClr val="8A6A25"/>
                </a:solidFill>
                <a:latin typeface="Segoe UI Symbol" pitchFamily="34" charset="0"/>
                <a:ea typeface="Segoe UI Symbol" pitchFamily="34" charset="-122"/>
                <a:cs typeface="Segoe UI Symbol" pitchFamily="34" charset="-120"/>
              </a:rPr>
              <a:t>♟</a:t>
            </a:r>
            <a:endParaRPr lang="en-US" sz="914" dirty="0"/>
          </a:p>
        </p:txBody>
      </p:sp>
      <p:sp>
        <p:nvSpPr>
          <p:cNvPr id="6" name="Text 4"/>
          <p:cNvSpPr/>
          <p:nvPr/>
        </p:nvSpPr>
        <p:spPr>
          <a:xfrm>
            <a:off x="457200" y="689372"/>
            <a:ext cx="8636000" cy="337060"/>
          </a:xfrm>
          <a:prstGeom prst="rect">
            <a:avLst/>
          </a:prstGeom>
          <a:noFill/>
          <a:ln/>
        </p:spPr>
        <p:txBody>
          <a:bodyPr wrap="square" lIns="0" tIns="0" rIns="0" bIns="0" rtlCol="0" anchor="t"/>
          <a:lstStyle/>
          <a:p>
            <a:pPr algn="l" indent="0" marL="0">
              <a:lnSpc>
                <a:spcPts val="2458"/>
              </a:lnSpc>
              <a:buNone/>
            </a:pPr>
            <a:r>
              <a:rPr lang="en-US" sz="2138" b="1" spc="-43" kern="0" dirty="0">
                <a:solidFill>
                  <a:srgbClr val="1A1A1A"/>
                </a:solidFill>
                <a:latin typeface="Carlito" pitchFamily="34" charset="0"/>
                <a:ea typeface="Carlito" pitchFamily="34" charset="-122"/>
                <a:cs typeface="Carlito" pitchFamily="34" charset="-120"/>
              </a:rPr>
              <a:t>Справедливый сплит 40/40/20</a:t>
            </a:r>
            <a:endParaRPr lang="en-US" sz="2138" dirty="0"/>
          </a:p>
        </p:txBody>
      </p:sp>
      <p:sp>
        <p:nvSpPr>
          <p:cNvPr id="7" name="Text 5"/>
          <p:cNvSpPr/>
          <p:nvPr/>
        </p:nvSpPr>
        <p:spPr>
          <a:xfrm>
            <a:off x="457200" y="1187202"/>
            <a:ext cx="4800600" cy="1713830"/>
          </a:xfrm>
          <a:prstGeom prst="roundRect">
            <a:avLst>
              <a:gd name="adj" fmla="val 6669"/>
            </a:avLst>
          </a:prstGeom>
          <a:solidFill>
            <a:srgbClr val="262023"/>
          </a:solidFill>
          <a:ln/>
        </p:spPr>
        <p:txBody>
          <a:bodyPr wrap="square" rtlCol="0" anchor="ctr"/>
          <a:lstStyle/>
          <a:p>
            <a:pPr indent="0" marL="0">
              <a:buNone/>
            </a:pPr>
            <a:endParaRPr lang="en-US" dirty="0"/>
          </a:p>
        </p:txBody>
      </p:sp>
      <p:sp>
        <p:nvSpPr>
          <p:cNvPr id="8" name="Text 6"/>
          <p:cNvSpPr/>
          <p:nvPr/>
        </p:nvSpPr>
        <p:spPr>
          <a:xfrm>
            <a:off x="642938" y="1754125"/>
            <a:ext cx="4538853" cy="137209"/>
          </a:xfrm>
          <a:prstGeom prst="rect">
            <a:avLst/>
          </a:prstGeom>
          <a:noFill/>
          <a:ln/>
        </p:spPr>
        <p:txBody>
          <a:bodyPr wrap="square" lIns="0" tIns="0" rIns="0" bIns="0" rtlCol="0" anchor="t">
            <a:normAutofit/>
          </a:bodyPr>
          <a:lstStyle/>
          <a:p>
            <a:pPr algn="l" indent="0" marL="0">
              <a:lnSpc>
                <a:spcPts val="959"/>
              </a:lnSpc>
              <a:buNone/>
            </a:pPr>
            <a:r>
              <a:rPr lang="en-US" sz="800" b="1" spc="62" kern="0" dirty="0">
                <a:solidFill>
                  <a:srgbClr val="D4A854"/>
                </a:solidFill>
                <a:latin typeface="Carlito" pitchFamily="34" charset="0"/>
                <a:ea typeface="Carlito" pitchFamily="34" charset="-122"/>
                <a:cs typeface="Carlito" pitchFamily="34" charset="-120"/>
              </a:rPr>
              <a:t>EN · MIDJOURNEY / FLUX / DALL-E</a:t>
            </a:r>
            <a:endParaRPr lang="en-US" sz="800" dirty="0"/>
          </a:p>
        </p:txBody>
      </p:sp>
      <p:sp>
        <p:nvSpPr>
          <p:cNvPr id="9" name="Text 7"/>
          <p:cNvSpPr/>
          <p:nvPr/>
        </p:nvSpPr>
        <p:spPr>
          <a:xfrm>
            <a:off x="642938" y="1918767"/>
            <a:ext cx="4429125" cy="510235"/>
          </a:xfrm>
          <a:prstGeom prst="rect">
            <a:avLst/>
          </a:prstGeom>
          <a:noFill/>
          <a:ln/>
        </p:spPr>
        <p:txBody>
          <a:bodyPr wrap="square" lIns="0" tIns="0" rIns="0" bIns="0" rtlCol="0" anchor="t"/>
          <a:lstStyle/>
          <a:p>
            <a:pPr algn="l" indent="0" marL="0">
              <a:lnSpc>
                <a:spcPts val="1090"/>
              </a:lnSpc>
              <a:buNone/>
            </a:pPr>
            <a:r>
              <a:rPr lang="en-US" sz="800" dirty="0">
                <a:solidFill>
                  <a:srgbClr val="F8F8F8"/>
                </a:solidFill>
                <a:latin typeface="Courier New" pitchFamily="34" charset="0"/>
                <a:ea typeface="Courier New" pitchFamily="34" charset="-122"/>
                <a:cs typeface="Courier New" pitchFamily="34" charset="-120"/>
              </a:rPr>
              <a:t>A group of local shop owners and community partners celebrating together around a wooden table in a cozy neighborhood cafe, warm evening light, genuine laughter, photorealistic lifestyle photography, --ar 16:9</a:t>
            </a:r>
            <a:endParaRPr lang="en-US" sz="800" dirty="0"/>
          </a:p>
        </p:txBody>
      </p:sp>
      <p:sp>
        <p:nvSpPr>
          <p:cNvPr id="10" name="Text 8"/>
          <p:cNvSpPr/>
          <p:nvPr/>
        </p:nvSpPr>
        <p:spPr>
          <a:xfrm>
            <a:off x="460772" y="3047479"/>
            <a:ext cx="4793456" cy="1720974"/>
          </a:xfrm>
          <a:prstGeom prst="roundRect">
            <a:avLst>
              <a:gd name="adj" fmla="val 6642"/>
            </a:avLst>
          </a:prstGeom>
          <a:solidFill>
            <a:srgbClr val="F8F8F8"/>
          </a:solidFill>
          <a:ln w="7144">
            <a:solidFill>
              <a:srgbClr val="1A1A1A"/>
            </a:solidFill>
            <a:prstDash val="solid"/>
          </a:ln>
        </p:spPr>
        <p:txBody>
          <a:bodyPr wrap="square" rtlCol="0" anchor="ctr"/>
          <a:lstStyle/>
          <a:p>
            <a:pPr indent="0" marL="0">
              <a:buNone/>
            </a:pPr>
            <a:endParaRPr lang="en-US" dirty="0"/>
          </a:p>
        </p:txBody>
      </p:sp>
      <p:sp>
        <p:nvSpPr>
          <p:cNvPr id="11" name="Text 9"/>
          <p:cNvSpPr/>
          <p:nvPr/>
        </p:nvSpPr>
        <p:spPr>
          <a:xfrm>
            <a:off x="650081" y="3617975"/>
            <a:ext cx="4414838" cy="137209"/>
          </a:xfrm>
          <a:prstGeom prst="rect">
            <a:avLst/>
          </a:prstGeom>
          <a:noFill/>
          <a:ln/>
        </p:spPr>
        <p:txBody>
          <a:bodyPr wrap="none" lIns="0" tIns="0" rIns="0" bIns="0" rtlCol="0" anchor="t">
            <a:normAutofit/>
          </a:bodyPr>
          <a:lstStyle/>
          <a:p>
            <a:pPr algn="l" indent="0" marL="0">
              <a:lnSpc>
                <a:spcPts val="959"/>
              </a:lnSpc>
              <a:buNone/>
            </a:pPr>
            <a:r>
              <a:rPr lang="en-US" sz="800" b="1" spc="62" kern="0" dirty="0">
                <a:solidFill>
                  <a:srgbClr val="C92A6A"/>
                </a:solidFill>
                <a:latin typeface="Carlito" pitchFamily="34" charset="0"/>
                <a:ea typeface="Carlito" pitchFamily="34" charset="-122"/>
                <a:cs typeface="Carlito" pitchFamily="34" charset="-120"/>
              </a:rPr>
              <a:t>RU · ПЕРЕВОД</a:t>
            </a:r>
            <a:endParaRPr lang="en-US" sz="800" dirty="0"/>
          </a:p>
        </p:txBody>
      </p:sp>
      <p:sp>
        <p:nvSpPr>
          <p:cNvPr id="12" name="Text 10"/>
          <p:cNvSpPr/>
          <p:nvPr/>
        </p:nvSpPr>
        <p:spPr>
          <a:xfrm>
            <a:off x="650081" y="3782616"/>
            <a:ext cx="4414838" cy="510235"/>
          </a:xfrm>
          <a:prstGeom prst="rect">
            <a:avLst/>
          </a:prstGeom>
          <a:noFill/>
          <a:ln/>
        </p:spPr>
        <p:txBody>
          <a:bodyPr wrap="square" lIns="0" tIns="0" rIns="0" bIns="0" rtlCol="0" anchor="t"/>
          <a:lstStyle/>
          <a:p>
            <a:pPr algn="l" indent="0" marL="0">
              <a:lnSpc>
                <a:spcPts val="1090"/>
              </a:lnSpc>
              <a:buNone/>
            </a:pPr>
            <a:r>
              <a:rPr lang="en-US" sz="800" dirty="0">
                <a:solidFill>
                  <a:srgbClr val="1A1A1A"/>
                </a:solidFill>
                <a:latin typeface="Courier New" pitchFamily="34" charset="0"/>
                <a:ea typeface="Courier New" pitchFamily="34" charset="-122"/>
                <a:cs typeface="Courier New" pitchFamily="34" charset="-120"/>
              </a:rPr>
              <a:t>Группа владельцев локальных магазинов и партнёров сообщества вместе празднует за деревянным столом в уютной районной кофейне, тёплый вечерний свет, искренний смех, фотореалистичная lifestyle-съёмка, --ar 16:9</a:t>
            </a:r>
            <a:endParaRPr lang="en-US" sz="800" dirty="0"/>
          </a:p>
        </p:txBody>
      </p:sp>
      <p:sp>
        <p:nvSpPr>
          <p:cNvPr id="13" name="Text 11"/>
          <p:cNvSpPr/>
          <p:nvPr/>
        </p:nvSpPr>
        <p:spPr>
          <a:xfrm>
            <a:off x="5486400" y="1187202"/>
            <a:ext cx="3200400" cy="1742405"/>
          </a:xfrm>
          <a:prstGeom prst="roundRect">
            <a:avLst>
              <a:gd name="adj" fmla="val 6560"/>
            </a:avLst>
          </a:prstGeom>
          <a:solidFill>
            <a:srgbClr val="FFFFFF"/>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4" name="Shape 12"/>
          <p:cNvSpPr/>
          <p:nvPr/>
        </p:nvSpPr>
        <p:spPr>
          <a:xfrm>
            <a:off x="5486400" y="1190774"/>
            <a:ext cx="3200400" cy="0"/>
          </a:xfrm>
          <a:prstGeom prst="line">
            <a:avLst/>
          </a:prstGeom>
          <a:noFill/>
          <a:ln w="7144">
            <a:solidFill>
              <a:srgbClr val="1A1A1A"/>
            </a:solidFill>
            <a:prstDash val="solid"/>
          </a:ln>
        </p:spPr>
      </p:sp>
      <p:sp>
        <p:nvSpPr>
          <p:cNvPr id="15" name="Shape 13"/>
          <p:cNvSpPr/>
          <p:nvPr/>
        </p:nvSpPr>
        <p:spPr>
          <a:xfrm>
            <a:off x="8683228" y="1187202"/>
            <a:ext cx="0" cy="1742405"/>
          </a:xfrm>
          <a:prstGeom prst="line">
            <a:avLst/>
          </a:prstGeom>
          <a:noFill/>
          <a:ln w="7144">
            <a:solidFill>
              <a:srgbClr val="1A1A1A"/>
            </a:solidFill>
            <a:prstDash val="solid"/>
          </a:ln>
        </p:spPr>
      </p:sp>
      <p:sp>
        <p:nvSpPr>
          <p:cNvPr id="16" name="Shape 14"/>
          <p:cNvSpPr/>
          <p:nvPr/>
        </p:nvSpPr>
        <p:spPr>
          <a:xfrm>
            <a:off x="5486400" y="2926035"/>
            <a:ext cx="3200400" cy="0"/>
          </a:xfrm>
          <a:prstGeom prst="line">
            <a:avLst/>
          </a:prstGeom>
          <a:noFill/>
          <a:ln w="7144">
            <a:solidFill>
              <a:srgbClr val="1A1A1A"/>
            </a:solidFill>
            <a:prstDash val="solid"/>
          </a:ln>
        </p:spPr>
      </p:sp>
      <p:sp>
        <p:nvSpPr>
          <p:cNvPr id="17" name="Shape 15"/>
          <p:cNvSpPr/>
          <p:nvPr/>
        </p:nvSpPr>
        <p:spPr>
          <a:xfrm>
            <a:off x="5500688" y="1187202"/>
            <a:ext cx="0" cy="1742405"/>
          </a:xfrm>
          <a:prstGeom prst="line">
            <a:avLst/>
          </a:prstGeom>
          <a:noFill/>
          <a:ln w="28575">
            <a:solidFill>
              <a:srgbClr val="D4A854"/>
            </a:solidFill>
            <a:prstDash val="solid"/>
          </a:ln>
        </p:spPr>
      </p:sp>
      <p:sp>
        <p:nvSpPr>
          <p:cNvPr id="18" name="Text 16"/>
          <p:cNvSpPr/>
          <p:nvPr/>
        </p:nvSpPr>
        <p:spPr>
          <a:xfrm>
            <a:off x="5872163" y="1619287"/>
            <a:ext cx="1089373" cy="119703"/>
          </a:xfrm>
          <a:prstGeom prst="rect">
            <a:avLst/>
          </a:prstGeom>
          <a:noFill/>
          <a:ln/>
        </p:spPr>
        <p:txBody>
          <a:bodyPr wrap="none" lIns="0" tIns="0" rIns="0" bIns="0" rtlCol="0" anchor="t"/>
          <a:lstStyle/>
          <a:p>
            <a:pPr algn="l" indent="0" marL="0">
              <a:lnSpc>
                <a:spcPts val="928"/>
              </a:lnSpc>
              <a:buNone/>
            </a:pPr>
            <a:r>
              <a:rPr lang="en-US" sz="800" b="1" spc="74" kern="0" dirty="0">
                <a:solidFill>
                  <a:srgbClr val="8A6A25"/>
                </a:solidFill>
                <a:latin typeface="Carlito" pitchFamily="34" charset="0"/>
                <a:ea typeface="Carlito" pitchFamily="34" charset="-122"/>
                <a:cs typeface="Carlito" pitchFamily="34" charset="-120"/>
              </a:rPr>
              <a:t>ИДЕЯ СЦЕНАРИЯ</a:t>
            </a:r>
            <a:endParaRPr lang="en-US" sz="800" dirty="0"/>
          </a:p>
        </p:txBody>
      </p:sp>
      <p:sp>
        <p:nvSpPr>
          <p:cNvPr id="19" name="Text 17"/>
          <p:cNvSpPr/>
          <p:nvPr/>
        </p:nvSpPr>
        <p:spPr>
          <a:xfrm>
            <a:off x="5686425" y="1599642"/>
            <a:ext cx="128588" cy="128588"/>
          </a:xfrm>
          <a:prstGeom prst="rect">
            <a:avLst/>
          </a:prstGeom>
          <a:noFill/>
          <a:ln/>
        </p:spPr>
        <p:txBody>
          <a:bodyPr wrap="none" lIns="0" tIns="0" rIns="0" bIns="0" rtlCol="0" anchor="ctr"/>
          <a:lstStyle/>
          <a:p>
            <a:pPr algn="ctr" indent="0" marL="0">
              <a:buNone/>
            </a:pPr>
            <a:r>
              <a:rPr lang="en-US" sz="1266" dirty="0">
                <a:solidFill>
                  <a:srgbClr val="D4A854"/>
                </a:solidFill>
                <a:latin typeface="Segoe UI Symbol" pitchFamily="34" charset="0"/>
                <a:ea typeface="Segoe UI Symbol" pitchFamily="34" charset="-122"/>
                <a:cs typeface="Segoe UI Symbol" pitchFamily="34" charset="-120"/>
              </a:rPr>
              <a:t>✎</a:t>
            </a:r>
            <a:endParaRPr lang="en-US" sz="1266" dirty="0"/>
          </a:p>
        </p:txBody>
      </p:sp>
      <p:sp>
        <p:nvSpPr>
          <p:cNvPr id="20" name="Text 18"/>
          <p:cNvSpPr/>
          <p:nvPr/>
        </p:nvSpPr>
        <p:spPr>
          <a:xfrm>
            <a:off x="5686425" y="1799667"/>
            <a:ext cx="2821781" cy="774900"/>
          </a:xfrm>
          <a:prstGeom prst="rect">
            <a:avLst/>
          </a:prstGeom>
          <a:noFill/>
          <a:ln/>
        </p:spPr>
        <p:txBody>
          <a:bodyPr wrap="square" lIns="0" tIns="0" rIns="0" bIns="0" rtlCol="0" anchor="t"/>
          <a:lstStyle/>
          <a:p>
            <a:pPr algn="l" indent="0" marL="0">
              <a:lnSpc>
                <a:spcPts val="1412"/>
              </a:lnSpc>
              <a:buNone/>
            </a:pPr>
            <a:r>
              <a:rPr lang="en-US" sz="872" dirty="0">
                <a:solidFill>
                  <a:srgbClr val="1A1A1A"/>
                </a:solidFill>
                <a:latin typeface="Carlito" pitchFamily="34" charset="0"/>
                <a:ea typeface="Carlito" pitchFamily="34" charset="-122"/>
                <a:cs typeface="Carlito" pitchFamily="34" charset="-120"/>
              </a:rPr>
              <a:t>Распределение комиссии платформы открыто и зафиксировано: </a:t>
            </a:r>
            <a:pPr algn="l" indent="0" marL="0">
              <a:lnSpc>
                <a:spcPts val="1412"/>
              </a:lnSpc>
              <a:buNone/>
            </a:pPr>
            <a:r>
              <a:rPr lang="en-US" sz="872" b="1" dirty="0">
                <a:solidFill>
                  <a:srgbClr val="1A1A1A"/>
                </a:solidFill>
                <a:latin typeface="Liberation Sans Narrow" pitchFamily="34" charset="0"/>
                <a:ea typeface="Liberation Sans Narrow" pitchFamily="34" charset="-122"/>
                <a:cs typeface="Liberation Sans Narrow" pitchFamily="34" charset="-120"/>
              </a:rPr>
              <a:t>40%</a:t>
            </a:r>
            <a:pPr algn="l" indent="0" marL="0">
              <a:lnSpc>
                <a:spcPts val="1412"/>
              </a:lnSpc>
              <a:buNone/>
            </a:pPr>
            <a:r>
              <a:rPr lang="en-US" sz="872" dirty="0">
                <a:solidFill>
                  <a:srgbClr val="1A1A1A"/>
                </a:solidFill>
                <a:latin typeface="Carlito" pitchFamily="34" charset="0"/>
                <a:ea typeface="Carlito" pitchFamily="34" charset="-122"/>
                <a:cs typeface="Carlito" pitchFamily="34" charset="-120"/>
              </a:rPr>
              <a:t> точкам, </a:t>
            </a:r>
            <a:pPr algn="l" indent="0" marL="0">
              <a:lnSpc>
                <a:spcPts val="1412"/>
              </a:lnSpc>
              <a:buNone/>
            </a:pPr>
            <a:r>
              <a:rPr lang="en-US" sz="872" b="1" dirty="0">
                <a:solidFill>
                  <a:srgbClr val="1A1A1A"/>
                </a:solidFill>
                <a:latin typeface="Liberation Sans Narrow" pitchFamily="34" charset="0"/>
                <a:ea typeface="Liberation Sans Narrow" pitchFamily="34" charset="-122"/>
                <a:cs typeface="Liberation Sans Narrow" pitchFamily="34" charset="-120"/>
              </a:rPr>
              <a:t>40%</a:t>
            </a:r>
            <a:pPr algn="l" indent="0" marL="0">
              <a:lnSpc>
                <a:spcPts val="1412"/>
              </a:lnSpc>
              <a:buNone/>
            </a:pPr>
            <a:r>
              <a:rPr lang="en-US" sz="872" dirty="0">
                <a:solidFill>
                  <a:srgbClr val="1A1A1A"/>
                </a:solidFill>
                <a:latin typeface="Carlito" pitchFamily="34" charset="0"/>
                <a:ea typeface="Carlito" pitchFamily="34" charset="-122"/>
                <a:cs typeface="Carlito" pitchFamily="34" charset="-120"/>
              </a:rPr>
              <a:t> представителям, </a:t>
            </a:r>
            <a:pPr algn="l" indent="0" marL="0">
              <a:lnSpc>
                <a:spcPts val="1412"/>
              </a:lnSpc>
              <a:buNone/>
            </a:pPr>
            <a:r>
              <a:rPr lang="en-US" sz="872" b="1" dirty="0">
                <a:solidFill>
                  <a:srgbClr val="1A1A1A"/>
                </a:solidFill>
                <a:latin typeface="Liberation Sans Narrow" pitchFamily="34" charset="0"/>
                <a:ea typeface="Liberation Sans Narrow" pitchFamily="34" charset="-122"/>
                <a:cs typeface="Liberation Sans Narrow" pitchFamily="34" charset="-120"/>
              </a:rPr>
              <a:t>20%</a:t>
            </a:r>
            <a:pPr algn="l" indent="0" marL="0">
              <a:lnSpc>
                <a:spcPts val="1412"/>
              </a:lnSpc>
              <a:buNone/>
            </a:pPr>
            <a:r>
              <a:rPr lang="en-US" sz="872" dirty="0">
                <a:solidFill>
                  <a:srgbClr val="1A1A1A"/>
                </a:solidFill>
                <a:latin typeface="Carlito" pitchFamily="34" charset="0"/>
                <a:ea typeface="Carlito" pitchFamily="34" charset="-122"/>
                <a:cs typeface="Carlito" pitchFamily="34" charset="-120"/>
              </a:rPr>
              <a:t> амбассадорам сети. Визуально — не про деньги, а про круг участников.</a:t>
            </a:r>
            <a:endParaRPr lang="en-US" sz="872" dirty="0"/>
          </a:p>
        </p:txBody>
      </p:sp>
      <p:sp>
        <p:nvSpPr>
          <p:cNvPr id="21" name="Text 19"/>
          <p:cNvSpPr/>
          <p:nvPr/>
        </p:nvSpPr>
        <p:spPr>
          <a:xfrm>
            <a:off x="5486400" y="3072482"/>
            <a:ext cx="3200400" cy="1699543"/>
          </a:xfrm>
          <a:prstGeom prst="roundRect">
            <a:avLst>
              <a:gd name="adj" fmla="val 6725"/>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2" name="Text 20"/>
          <p:cNvSpPr/>
          <p:nvPr/>
        </p:nvSpPr>
        <p:spPr>
          <a:xfrm>
            <a:off x="5843588" y="3619872"/>
            <a:ext cx="1239409" cy="119703"/>
          </a:xfrm>
          <a:prstGeom prst="rect">
            <a:avLst/>
          </a:prstGeom>
          <a:noFill/>
          <a:ln/>
        </p:spPr>
        <p:txBody>
          <a:bodyPr wrap="none" lIns="0" tIns="0" rIns="0" bIns="0" rtlCol="0" anchor="t"/>
          <a:lstStyle/>
          <a:p>
            <a:pPr algn="l" indent="0" marL="0">
              <a:lnSpc>
                <a:spcPts val="928"/>
              </a:lnSpc>
              <a:buNone/>
            </a:pPr>
            <a:r>
              <a:rPr lang="en-US" sz="800" b="1" spc="74" kern="0" dirty="0">
                <a:solidFill>
                  <a:srgbClr val="8A6A25"/>
                </a:solidFill>
                <a:latin typeface="Carlito" pitchFamily="34" charset="0"/>
                <a:ea typeface="Carlito" pitchFamily="34" charset="-122"/>
                <a:cs typeface="Carlito" pitchFamily="34" charset="-120"/>
              </a:rPr>
              <a:t>ПОЧЕМУ РАБОТАЕТ</a:t>
            </a:r>
            <a:endParaRPr lang="en-US" sz="800" dirty="0"/>
          </a:p>
        </p:txBody>
      </p:sp>
      <p:sp>
        <p:nvSpPr>
          <p:cNvPr id="23" name="Text 21"/>
          <p:cNvSpPr/>
          <p:nvPr/>
        </p:nvSpPr>
        <p:spPr>
          <a:xfrm>
            <a:off x="5657850" y="3600227"/>
            <a:ext cx="128588" cy="128588"/>
          </a:xfrm>
          <a:prstGeom prst="rect">
            <a:avLst/>
          </a:prstGeom>
          <a:noFill/>
          <a:ln/>
        </p:spPr>
        <p:txBody>
          <a:bodyPr wrap="none" lIns="0" tIns="0" rIns="0" bIns="0" rtlCol="0" anchor="ctr"/>
          <a:lstStyle/>
          <a:p>
            <a:pPr algn="ctr" indent="0" marL="0">
              <a:buNone/>
            </a:pPr>
            <a:r>
              <a:rPr lang="en-US" sz="1266" dirty="0">
                <a:solidFill>
                  <a:srgbClr val="D4A854"/>
                </a:solidFill>
                <a:latin typeface="Segoe UI Symbol" pitchFamily="34" charset="0"/>
                <a:ea typeface="Segoe UI Symbol" pitchFamily="34" charset="-122"/>
                <a:cs typeface="Segoe UI Symbol" pitchFamily="34" charset="-120"/>
              </a:rPr>
              <a:t>✦</a:t>
            </a:r>
            <a:endParaRPr lang="en-US" sz="1266" dirty="0"/>
          </a:p>
        </p:txBody>
      </p:sp>
      <p:sp>
        <p:nvSpPr>
          <p:cNvPr id="24" name="Text 22"/>
          <p:cNvSpPr/>
          <p:nvPr/>
        </p:nvSpPr>
        <p:spPr>
          <a:xfrm>
            <a:off x="5657850" y="3793108"/>
            <a:ext cx="2857500" cy="532946"/>
          </a:xfrm>
          <a:prstGeom prst="rect">
            <a:avLst/>
          </a:prstGeom>
          <a:noFill/>
          <a:ln/>
        </p:spPr>
        <p:txBody>
          <a:bodyPr wrap="square" lIns="0" tIns="0" rIns="0" bIns="0" rtlCol="0" anchor="t"/>
          <a:lstStyle/>
          <a:p>
            <a:pPr algn="l" indent="0" marL="0">
              <a:lnSpc>
                <a:spcPts val="1185"/>
              </a:lnSpc>
              <a:buNone/>
            </a:pPr>
            <a:r>
              <a:rPr lang="en-US" sz="800" dirty="0">
                <a:solidFill>
                  <a:srgbClr val="888888"/>
                </a:solidFill>
                <a:latin typeface="Carlito" pitchFamily="34" charset="0"/>
                <a:ea typeface="Carlito" pitchFamily="34" charset="-122"/>
                <a:cs typeface="Carlito" pitchFamily="34" charset="-120"/>
              </a:rPr>
              <a:t>Круг людей за столом — метафора прозрачного распределения: выигрыш каждого — выигрыш всех. Цифры сплита наложим текстом поверх чистого кадра.</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214437" y="2286000"/>
            <a:ext cx="4429125" cy="4429125"/>
          </a:xfrm>
          <a:prstGeom prst="ellipse">
            <a:avLst/>
          </a:prstGeom>
          <a:solidFill>
            <a:srgbClr val="D4A854">
              <a:alpha val="8000"/>
            </a:srgbClr>
          </a:solidFill>
          <a:ln/>
        </p:spPr>
        <p:txBody>
          <a:bodyPr wrap="square" rtlCol="0" anchor="ctr"/>
          <a:lstStyle/>
          <a:p>
            <a:pPr indent="0" marL="0">
              <a:buNone/>
            </a:pPr>
            <a:endParaRPr lang="en-US" dirty="0"/>
          </a:p>
        </p:txBody>
      </p:sp>
      <p:sp>
        <p:nvSpPr>
          <p:cNvPr id="3" name="Text 1"/>
          <p:cNvSpPr/>
          <p:nvPr/>
        </p:nvSpPr>
        <p:spPr>
          <a:xfrm>
            <a:off x="162039" y="1071563"/>
            <a:ext cx="3419605" cy="1833095"/>
          </a:xfrm>
          <a:prstGeom prst="rect">
            <a:avLst/>
          </a:prstGeom>
          <a:noFill/>
          <a:ln/>
        </p:spPr>
        <p:txBody>
          <a:bodyPr wrap="square" lIns="0" tIns="0" rIns="0" bIns="0" rtlCol="0" anchor="t"/>
          <a:lstStyle/>
          <a:p>
            <a:pPr algn="l" indent="0" marL="0">
              <a:lnSpc>
                <a:spcPts val="13365"/>
              </a:lnSpc>
              <a:buNone/>
            </a:pPr>
            <a:r>
              <a:rPr lang="en-US" sz="14850" b="1" spc="-594" kern="0" dirty="0">
                <a:solidFill>
                  <a:srgbClr val="D4A854">
                    <a:alpha val="16000"/>
                  </a:srgbClr>
                </a:solidFill>
                <a:latin typeface="Liberation Sans Narrow" pitchFamily="34" charset="0"/>
                <a:ea typeface="Liberation Sans Narrow" pitchFamily="34" charset="-122"/>
                <a:cs typeface="Liberation Sans Narrow" pitchFamily="34" charset="-120"/>
              </a:rPr>
              <a:t>03</a:t>
            </a:r>
            <a:endParaRPr lang="en-US" sz="14850" dirty="0"/>
          </a:p>
        </p:txBody>
      </p:sp>
      <p:sp>
        <p:nvSpPr>
          <p:cNvPr id="4" name="Text 2"/>
          <p:cNvSpPr/>
          <p:nvPr/>
        </p:nvSpPr>
        <p:spPr>
          <a:xfrm>
            <a:off x="491490" y="445841"/>
            <a:ext cx="911007" cy="212027"/>
          </a:xfrm>
          <a:prstGeom prst="roundRect">
            <a:avLst>
              <a:gd name="adj" fmla="val 4487860"/>
            </a:avLst>
          </a:prstGeom>
          <a:solidFill>
            <a:srgbClr val="D4A854">
              <a:alpha val="14000"/>
            </a:srgbClr>
          </a:solidFill>
          <a:ln/>
        </p:spPr>
        <p:txBody>
          <a:bodyPr wrap="square" rtlCol="0" anchor="ctr"/>
          <a:lstStyle/>
          <a:p>
            <a:pPr indent="0" marL="0">
              <a:buNone/>
            </a:pPr>
            <a:endParaRPr lang="en-US" dirty="0"/>
          </a:p>
        </p:txBody>
      </p:sp>
      <p:sp>
        <p:nvSpPr>
          <p:cNvPr id="5" name="Text 3"/>
          <p:cNvSpPr/>
          <p:nvPr/>
        </p:nvSpPr>
        <p:spPr>
          <a:xfrm>
            <a:off x="514350" y="457200"/>
            <a:ext cx="865287" cy="189309"/>
          </a:xfrm>
          <a:prstGeom prst="rect">
            <a:avLst/>
          </a:prstGeom>
          <a:noFill/>
          <a:ln/>
        </p:spPr>
        <p:txBody>
          <a:bodyPr wrap="none" lIns="0" tIns="0" rIns="0" bIns="0" rtlCol="0" anchor="ctr"/>
          <a:lstStyle/>
          <a:p>
            <a:pPr algn="ctr" indent="0" marL="0">
              <a:lnSpc>
                <a:spcPts val="928"/>
              </a:lnSpc>
              <a:buNone/>
            </a:pPr>
            <a:r>
              <a:rPr lang="en-US" sz="800" b="1" spc="50" kern="0" dirty="0">
                <a:solidFill>
                  <a:srgbClr val="8A6A25"/>
                </a:solidFill>
                <a:latin typeface="Carlito" pitchFamily="34" charset="0"/>
                <a:ea typeface="Carlito" pitchFamily="34" charset="-122"/>
                <a:cs typeface="Carlito" pitchFamily="34" charset="-120"/>
              </a:rPr>
              <a:t>РАЗДЕЛ 03 / 04</a:t>
            </a:r>
            <a:endParaRPr lang="en-US" sz="800" dirty="0"/>
          </a:p>
        </p:txBody>
      </p:sp>
      <p:sp>
        <p:nvSpPr>
          <p:cNvPr id="6" name="Text 4"/>
          <p:cNvSpPr/>
          <p:nvPr/>
        </p:nvSpPr>
        <p:spPr>
          <a:xfrm>
            <a:off x="514350" y="2155292"/>
            <a:ext cx="8521065" cy="449896"/>
          </a:xfrm>
          <a:prstGeom prst="rect">
            <a:avLst/>
          </a:prstGeom>
          <a:noFill/>
          <a:ln/>
        </p:spPr>
        <p:txBody>
          <a:bodyPr wrap="none" lIns="0" tIns="0" rIns="0" bIns="0" rtlCol="0" anchor="t"/>
          <a:lstStyle/>
          <a:p>
            <a:pPr algn="l" indent="0" marL="0">
              <a:lnSpc>
                <a:spcPts val="3281"/>
              </a:lnSpc>
              <a:buNone/>
            </a:pPr>
            <a:r>
              <a:rPr lang="en-US" sz="3038" b="1" spc="-76" kern="0" dirty="0">
                <a:solidFill>
                  <a:srgbClr val="1A1A1A"/>
                </a:solidFill>
                <a:latin typeface="Carlito" pitchFamily="34" charset="0"/>
                <a:ea typeface="Carlito" pitchFamily="34" charset="-122"/>
                <a:cs typeface="Carlito" pitchFamily="34" charset="-120"/>
              </a:rPr>
              <a:t>Сценарии контента</a:t>
            </a:r>
            <a:endParaRPr lang="en-US" sz="3038" dirty="0"/>
          </a:p>
        </p:txBody>
      </p:sp>
      <p:sp>
        <p:nvSpPr>
          <p:cNvPr id="7" name="Text 5"/>
          <p:cNvSpPr/>
          <p:nvPr/>
        </p:nvSpPr>
        <p:spPr>
          <a:xfrm>
            <a:off x="514350" y="2743312"/>
            <a:ext cx="5143500" cy="468943"/>
          </a:xfrm>
          <a:prstGeom prst="rect">
            <a:avLst/>
          </a:prstGeom>
          <a:noFill/>
          <a:ln/>
        </p:spPr>
        <p:txBody>
          <a:bodyPr wrap="square" lIns="0" tIns="0" rIns="0" bIns="0" rtlCol="0" anchor="t"/>
          <a:lstStyle/>
          <a:p>
            <a:pPr algn="l" indent="0" marL="0">
              <a:lnSpc>
                <a:spcPts val="1710"/>
              </a:lnSpc>
              <a:buNone/>
            </a:pPr>
            <a:r>
              <a:rPr lang="en-US" sz="1069" dirty="0">
                <a:solidFill>
                  <a:srgbClr val="888888"/>
                </a:solidFill>
                <a:latin typeface="Carlito" pitchFamily="34" charset="0"/>
                <a:ea typeface="Carlito" pitchFamily="34" charset="-122"/>
                <a:cs typeface="Carlito" pitchFamily="34" charset="-120"/>
              </a:rPr>
              <a:t>Готовые промты для hero-баннеров сайта, атмосферных кадров точек МСП и живых сцен района — с указанием формата под каждый канал.</a:t>
            </a:r>
            <a:endParaRPr lang="en-US" sz="1069" dirty="0"/>
          </a:p>
        </p:txBody>
      </p:sp>
      <p:sp>
        <p:nvSpPr>
          <p:cNvPr id="8" name="Text 6"/>
          <p:cNvSpPr/>
          <p:nvPr/>
        </p:nvSpPr>
        <p:spPr>
          <a:xfrm>
            <a:off x="514350" y="4686300"/>
            <a:ext cx="1975247" cy="42863"/>
          </a:xfrm>
          <a:prstGeom prst="roundRect">
            <a:avLst>
              <a:gd name="adj" fmla="val 66666"/>
            </a:avLst>
          </a:prstGeom>
          <a:solidFill>
            <a:srgbClr val="1A1A1A">
              <a:alpha val="8000"/>
            </a:srgbClr>
          </a:solidFill>
          <a:ln/>
        </p:spPr>
        <p:txBody>
          <a:bodyPr wrap="square" rtlCol="0" anchor="ctr"/>
          <a:lstStyle/>
          <a:p>
            <a:pPr indent="0" marL="0">
              <a:buNone/>
            </a:pPr>
            <a:endParaRPr lang="en-US" dirty="0"/>
          </a:p>
        </p:txBody>
      </p:sp>
      <p:sp>
        <p:nvSpPr>
          <p:cNvPr id="9" name="Text 7"/>
          <p:cNvSpPr/>
          <p:nvPr/>
        </p:nvSpPr>
        <p:spPr>
          <a:xfrm>
            <a:off x="2561034" y="4686300"/>
            <a:ext cx="1975247" cy="42863"/>
          </a:xfrm>
          <a:prstGeom prst="roundRect">
            <a:avLst>
              <a:gd name="adj" fmla="val 66666"/>
            </a:avLst>
          </a:prstGeom>
          <a:solidFill>
            <a:srgbClr val="1A1A1A">
              <a:alpha val="8000"/>
            </a:srgbClr>
          </a:solidFill>
          <a:ln/>
        </p:spPr>
        <p:txBody>
          <a:bodyPr wrap="square" rtlCol="0" anchor="ctr"/>
          <a:lstStyle/>
          <a:p>
            <a:pPr indent="0" marL="0">
              <a:buNone/>
            </a:pPr>
            <a:endParaRPr lang="en-US" dirty="0"/>
          </a:p>
        </p:txBody>
      </p:sp>
      <p:sp>
        <p:nvSpPr>
          <p:cNvPr id="10" name="Text 8"/>
          <p:cNvSpPr/>
          <p:nvPr/>
        </p:nvSpPr>
        <p:spPr>
          <a:xfrm>
            <a:off x="4607719" y="4686300"/>
            <a:ext cx="1975247" cy="42863"/>
          </a:xfrm>
          <a:prstGeom prst="roundRect">
            <a:avLst>
              <a:gd name="adj" fmla="val 66666"/>
            </a:avLst>
          </a:prstGeom>
          <a:solidFill>
            <a:srgbClr val="D4A854"/>
          </a:solidFill>
          <a:ln/>
        </p:spPr>
        <p:txBody>
          <a:bodyPr wrap="square" rtlCol="0" anchor="ctr"/>
          <a:lstStyle/>
          <a:p>
            <a:pPr indent="0" marL="0">
              <a:buNone/>
            </a:pPr>
            <a:endParaRPr lang="en-US" dirty="0"/>
          </a:p>
        </p:txBody>
      </p:sp>
      <p:sp>
        <p:nvSpPr>
          <p:cNvPr id="11" name="Text 9"/>
          <p:cNvSpPr/>
          <p:nvPr/>
        </p:nvSpPr>
        <p:spPr>
          <a:xfrm>
            <a:off x="6654403" y="4686300"/>
            <a:ext cx="1975247" cy="42863"/>
          </a:xfrm>
          <a:prstGeom prst="roundRect">
            <a:avLst>
              <a:gd name="adj" fmla="val 66666"/>
            </a:avLst>
          </a:prstGeom>
          <a:solidFill>
            <a:srgbClr val="1A1A1A">
              <a:alpha val="8000"/>
            </a:srgbClr>
          </a:solidFill>
          <a:ln/>
        </p:spPr>
        <p:txBody>
          <a:bodyPr wrap="square" rtlCol="0" anchor="ctr"/>
          <a:lstStyle/>
          <a:p>
            <a:pPr indent="0" marL="0">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05765" y="388691"/>
            <a:ext cx="1383610" cy="212027"/>
          </a:xfrm>
          <a:prstGeom prst="roundRect">
            <a:avLst>
              <a:gd name="adj" fmla="val 4487860"/>
            </a:avLst>
          </a:prstGeom>
          <a:solidFill>
            <a:srgbClr val="F64A8A">
              <a:alpha val="12000"/>
            </a:srgbClr>
          </a:solidFill>
          <a:ln/>
        </p:spPr>
        <p:txBody>
          <a:bodyPr wrap="square" rtlCol="0" anchor="ctr"/>
          <a:lstStyle/>
          <a:p>
            <a:pPr indent="0" marL="0">
              <a:buNone/>
            </a:pPr>
            <a:endParaRPr lang="en-US" dirty="0"/>
          </a:p>
        </p:txBody>
      </p:sp>
      <p:sp>
        <p:nvSpPr>
          <p:cNvPr id="3" name="Text 1"/>
          <p:cNvSpPr/>
          <p:nvPr/>
        </p:nvSpPr>
        <p:spPr>
          <a:xfrm>
            <a:off x="428625" y="400050"/>
            <a:ext cx="1337890" cy="189309"/>
          </a:xfrm>
          <a:prstGeom prst="rect">
            <a:avLst/>
          </a:prstGeom>
          <a:noFill/>
          <a:ln/>
        </p:spPr>
        <p:txBody>
          <a:bodyPr wrap="none" lIns="0" tIns="0" rIns="0" bIns="0" rtlCol="0" anchor="ctr"/>
          <a:lstStyle/>
          <a:p>
            <a:pPr algn="ctr" indent="0" marL="0">
              <a:lnSpc>
                <a:spcPts val="928"/>
              </a:lnSpc>
              <a:buNone/>
            </a:pPr>
            <a:r>
              <a:rPr lang="en-US" sz="800" b="1" spc="50" kern="0" dirty="0">
                <a:solidFill>
                  <a:srgbClr val="C92A6A"/>
                </a:solidFill>
                <a:latin typeface="Carlito" pitchFamily="34" charset="0"/>
                <a:ea typeface="Carlito" pitchFamily="34" charset="-122"/>
                <a:cs typeface="Carlito" pitchFamily="34" charset="-120"/>
              </a:rPr>
              <a:t>КАНАЛЫ · САЙТ LOVII.RU</a:t>
            </a:r>
            <a:endParaRPr lang="en-US" sz="800" dirty="0"/>
          </a:p>
        </p:txBody>
      </p:sp>
      <p:sp>
        <p:nvSpPr>
          <p:cNvPr id="4" name="Text 2"/>
          <p:cNvSpPr/>
          <p:nvPr/>
        </p:nvSpPr>
        <p:spPr>
          <a:xfrm>
            <a:off x="428625" y="689372"/>
            <a:ext cx="8636000" cy="337060"/>
          </a:xfrm>
          <a:prstGeom prst="rect">
            <a:avLst/>
          </a:prstGeom>
          <a:noFill/>
          <a:ln/>
        </p:spPr>
        <p:txBody>
          <a:bodyPr wrap="square" lIns="0" tIns="0" rIns="0" bIns="0" rtlCol="0" anchor="t"/>
          <a:lstStyle/>
          <a:p>
            <a:pPr algn="l" indent="0" marL="0">
              <a:lnSpc>
                <a:spcPts val="2458"/>
              </a:lnSpc>
              <a:buNone/>
            </a:pPr>
            <a:r>
              <a:rPr lang="en-US" sz="2138" b="1" spc="-32" kern="0" dirty="0">
                <a:solidFill>
                  <a:srgbClr val="1A1A1A"/>
                </a:solidFill>
                <a:latin typeface="Carlito" pitchFamily="34" charset="0"/>
                <a:ea typeface="Carlito" pitchFamily="34" charset="-122"/>
                <a:cs typeface="Carlito" pitchFamily="34" charset="-120"/>
              </a:rPr>
              <a:t>Hero-баннеры: главная и страница Бизнесу</a:t>
            </a:r>
            <a:endParaRPr lang="en-US" sz="2138" dirty="0"/>
          </a:p>
        </p:txBody>
      </p:sp>
      <p:sp>
        <p:nvSpPr>
          <p:cNvPr id="5" name="Text 3"/>
          <p:cNvSpPr/>
          <p:nvPr/>
        </p:nvSpPr>
        <p:spPr>
          <a:xfrm>
            <a:off x="432197" y="1162199"/>
            <a:ext cx="4050506" cy="3363367"/>
          </a:xfrm>
          <a:prstGeom prst="roundRect">
            <a:avLst>
              <a:gd name="adj" fmla="val 3398"/>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6" name="Text 4"/>
          <p:cNvSpPr/>
          <p:nvPr/>
        </p:nvSpPr>
        <p:spPr>
          <a:xfrm>
            <a:off x="592931" y="1308646"/>
            <a:ext cx="371475" cy="28575"/>
          </a:xfrm>
          <a:prstGeom prst="roundRect">
            <a:avLst>
              <a:gd name="adj" fmla="val 33300000"/>
            </a:avLst>
          </a:prstGeom>
          <a:solidFill>
            <a:srgbClr val="F64A8A"/>
          </a:solidFill>
          <a:ln/>
        </p:spPr>
        <p:txBody>
          <a:bodyPr wrap="square" rtlCol="0" anchor="ctr"/>
          <a:lstStyle/>
          <a:p>
            <a:pPr indent="0" marL="0">
              <a:buNone/>
            </a:pPr>
            <a:endParaRPr lang="en-US" dirty="0"/>
          </a:p>
        </p:txBody>
      </p:sp>
      <p:sp>
        <p:nvSpPr>
          <p:cNvPr id="7" name="Text 5"/>
          <p:cNvSpPr/>
          <p:nvPr/>
        </p:nvSpPr>
        <p:spPr>
          <a:xfrm>
            <a:off x="592931" y="1422946"/>
            <a:ext cx="3729038" cy="219885"/>
          </a:xfrm>
          <a:prstGeom prst="rect">
            <a:avLst/>
          </a:prstGeom>
          <a:noFill/>
          <a:ln/>
        </p:spPr>
        <p:txBody>
          <a:bodyPr wrap="none" lIns="0" tIns="0" rIns="0" bIns="0" rtlCol="0" anchor="t"/>
          <a:lstStyle/>
          <a:p>
            <a:pPr algn="l" indent="0" marL="0">
              <a:lnSpc>
                <a:spcPts val="1603"/>
              </a:lnSpc>
              <a:buNone/>
            </a:pPr>
            <a:r>
              <a:rPr lang="en-US" sz="1069" b="1" dirty="0">
                <a:solidFill>
                  <a:srgbClr val="1A1A1A"/>
                </a:solidFill>
                <a:latin typeface="Carlito" pitchFamily="34" charset="0"/>
                <a:ea typeface="Carlito" pitchFamily="34" charset="-122"/>
                <a:cs typeface="Carlito" pitchFamily="34" charset="-120"/>
              </a:rPr>
              <a:t>Главная · hero</a:t>
            </a:r>
            <a:endParaRPr lang="en-US" sz="1069" dirty="0"/>
          </a:p>
        </p:txBody>
      </p:sp>
      <p:sp>
        <p:nvSpPr>
          <p:cNvPr id="8" name="Text 6"/>
          <p:cNvSpPr/>
          <p:nvPr/>
        </p:nvSpPr>
        <p:spPr>
          <a:xfrm>
            <a:off x="592931" y="1726555"/>
            <a:ext cx="3729038" cy="1085292"/>
          </a:xfrm>
          <a:prstGeom prst="roundRect">
            <a:avLst>
              <a:gd name="adj" fmla="val 10532"/>
            </a:avLst>
          </a:prstGeom>
          <a:solidFill>
            <a:srgbClr val="262023"/>
          </a:solidFill>
          <a:ln/>
        </p:spPr>
        <p:txBody>
          <a:bodyPr wrap="square" rtlCol="0" anchor="ctr"/>
          <a:lstStyle/>
          <a:p>
            <a:pPr indent="0" marL="0">
              <a:buNone/>
            </a:pPr>
            <a:endParaRPr lang="en-US" dirty="0"/>
          </a:p>
        </p:txBody>
      </p:sp>
      <p:sp>
        <p:nvSpPr>
          <p:cNvPr id="9" name="Text 7"/>
          <p:cNvSpPr/>
          <p:nvPr/>
        </p:nvSpPr>
        <p:spPr>
          <a:xfrm>
            <a:off x="721519" y="2019784"/>
            <a:ext cx="3387030" cy="811987"/>
          </a:xfrm>
          <a:prstGeom prst="rect">
            <a:avLst/>
          </a:prstGeom>
          <a:noFill/>
          <a:ln/>
        </p:spPr>
        <p:txBody>
          <a:bodyPr wrap="square" lIns="128588" tIns="114300" rIns="128588" bIns="114300" rtlCol="0" anchor="t"/>
          <a:lstStyle/>
          <a:p>
            <a:pPr algn="l" indent="0" marL="0">
              <a:lnSpc>
                <a:spcPts val="1090"/>
              </a:lnSpc>
              <a:buNone/>
            </a:pPr>
            <a:r>
              <a:rPr lang="en-US" sz="800" dirty="0">
                <a:solidFill>
                  <a:srgbClr val="F8F8F8"/>
                </a:solidFill>
                <a:latin typeface="Courier New" pitchFamily="34" charset="0"/>
                <a:ea typeface="Courier New" pitchFamily="34" charset="-122"/>
                <a:cs typeface="Courier New" pitchFamily="34" charset="-120"/>
              </a:rPr>
              <a:t>Wide panoramic view of a lively city neighborhood street with small independent shops, bakeries and cafes, people walking and greeting each other, warm golden hour light, photorealistic, soft depth of field, airy composition with copy space on the left, --ar 16:9</a:t>
            </a:r>
            <a:endParaRPr lang="en-US" sz="800" dirty="0"/>
          </a:p>
        </p:txBody>
      </p:sp>
      <p:sp>
        <p:nvSpPr>
          <p:cNvPr id="10" name="Text 8"/>
          <p:cNvSpPr/>
          <p:nvPr/>
        </p:nvSpPr>
        <p:spPr>
          <a:xfrm>
            <a:off x="721519" y="1840855"/>
            <a:ext cx="3471863" cy="170047"/>
          </a:xfrm>
          <a:prstGeom prst="rect">
            <a:avLst/>
          </a:prstGeom>
          <a:noFill/>
          <a:ln/>
        </p:spPr>
        <p:txBody>
          <a:bodyPr wrap="none" lIns="0" tIns="0" rIns="0" bIns="0" rtlCol="0" anchor="t"/>
          <a:lstStyle/>
          <a:p>
            <a:pPr algn="l" indent="0" marL="0">
              <a:lnSpc>
                <a:spcPts val="959"/>
              </a:lnSpc>
              <a:buNone/>
            </a:pPr>
            <a:r>
              <a:rPr lang="en-US" sz="800" b="1" spc="62" kern="0" dirty="0">
                <a:solidFill>
                  <a:srgbClr val="D4A854"/>
                </a:solidFill>
                <a:latin typeface="Carlito" pitchFamily="34" charset="0"/>
                <a:ea typeface="Carlito" pitchFamily="34" charset="-122"/>
                <a:cs typeface="Carlito" pitchFamily="34" charset="-120"/>
              </a:rPr>
              <a:t>EN</a:t>
            </a:r>
            <a:endParaRPr lang="en-US" sz="800" dirty="0"/>
          </a:p>
        </p:txBody>
      </p:sp>
      <p:sp>
        <p:nvSpPr>
          <p:cNvPr id="11" name="Text 9"/>
          <p:cNvSpPr/>
          <p:nvPr/>
        </p:nvSpPr>
        <p:spPr>
          <a:xfrm>
            <a:off x="596503" y="2886856"/>
            <a:ext cx="3721894" cy="1092436"/>
          </a:xfrm>
          <a:prstGeom prst="roundRect">
            <a:avLst>
              <a:gd name="adj" fmla="val 10463"/>
            </a:avLst>
          </a:prstGeom>
          <a:solidFill>
            <a:srgbClr val="F8F8F8"/>
          </a:solidFill>
          <a:ln w="7144">
            <a:solidFill>
              <a:srgbClr val="1A1A1A"/>
            </a:solidFill>
            <a:prstDash val="solid"/>
          </a:ln>
        </p:spPr>
        <p:txBody>
          <a:bodyPr wrap="square" rtlCol="0" anchor="ctr"/>
          <a:lstStyle/>
          <a:p>
            <a:pPr indent="0" marL="0">
              <a:buNone/>
            </a:pPr>
            <a:endParaRPr lang="en-US" dirty="0"/>
          </a:p>
        </p:txBody>
      </p:sp>
      <p:sp>
        <p:nvSpPr>
          <p:cNvPr id="12" name="Text 10"/>
          <p:cNvSpPr/>
          <p:nvPr/>
        </p:nvSpPr>
        <p:spPr>
          <a:xfrm>
            <a:off x="728663" y="3183657"/>
            <a:ext cx="3440720" cy="811987"/>
          </a:xfrm>
          <a:prstGeom prst="rect">
            <a:avLst/>
          </a:prstGeom>
          <a:noFill/>
          <a:ln/>
        </p:spPr>
        <p:txBody>
          <a:bodyPr wrap="square" lIns="128588" tIns="114300" rIns="128588" bIns="114300" rtlCol="0" anchor="t"/>
          <a:lstStyle/>
          <a:p>
            <a:pPr algn="l" indent="0" marL="0">
              <a:lnSpc>
                <a:spcPts val="1090"/>
              </a:lnSpc>
              <a:buNone/>
            </a:pPr>
            <a:r>
              <a:rPr lang="en-US" sz="800" dirty="0">
                <a:solidFill>
                  <a:srgbClr val="1A1A1A"/>
                </a:solidFill>
                <a:latin typeface="Courier New" pitchFamily="34" charset="0"/>
                <a:ea typeface="Courier New" pitchFamily="34" charset="-122"/>
                <a:cs typeface="Courier New" pitchFamily="34" charset="-120"/>
              </a:rPr>
              <a:t>Широкая панорама оживлённой улицы района с независимыми магазинами, пекарнями и кафе, люди гуляют и здороваются, тёплый свет золотого часа, фотореалистично, мягкая глубина резкости, воздушная композиция со свободным местом слева под заголовок, --ar 16:9</a:t>
            </a:r>
            <a:endParaRPr lang="en-US" sz="800" dirty="0"/>
          </a:p>
        </p:txBody>
      </p:sp>
      <p:sp>
        <p:nvSpPr>
          <p:cNvPr id="13" name="Text 11"/>
          <p:cNvSpPr/>
          <p:nvPr/>
        </p:nvSpPr>
        <p:spPr>
          <a:xfrm>
            <a:off x="728663" y="3004728"/>
            <a:ext cx="3457575" cy="170047"/>
          </a:xfrm>
          <a:prstGeom prst="rect">
            <a:avLst/>
          </a:prstGeom>
          <a:noFill/>
          <a:ln/>
        </p:spPr>
        <p:txBody>
          <a:bodyPr wrap="none" lIns="0" tIns="0" rIns="0" bIns="0" rtlCol="0" anchor="t"/>
          <a:lstStyle/>
          <a:p>
            <a:pPr algn="l" indent="0" marL="0">
              <a:lnSpc>
                <a:spcPts val="959"/>
              </a:lnSpc>
              <a:buNone/>
            </a:pPr>
            <a:r>
              <a:rPr lang="en-US" sz="800" b="1" spc="62" kern="0" dirty="0">
                <a:solidFill>
                  <a:srgbClr val="C92A6A"/>
                </a:solidFill>
                <a:latin typeface="Carlito" pitchFamily="34" charset="0"/>
                <a:ea typeface="Carlito" pitchFamily="34" charset="-122"/>
                <a:cs typeface="Carlito" pitchFamily="34" charset="-120"/>
              </a:rPr>
              <a:t>RU</a:t>
            </a:r>
            <a:endParaRPr lang="en-US" sz="800" dirty="0"/>
          </a:p>
        </p:txBody>
      </p:sp>
      <p:sp>
        <p:nvSpPr>
          <p:cNvPr id="14" name="Text 12"/>
          <p:cNvSpPr/>
          <p:nvPr/>
        </p:nvSpPr>
        <p:spPr>
          <a:xfrm>
            <a:off x="4661297" y="1162199"/>
            <a:ext cx="4050506" cy="3363367"/>
          </a:xfrm>
          <a:prstGeom prst="roundRect">
            <a:avLst>
              <a:gd name="adj" fmla="val 3398"/>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5" name="Text 13"/>
          <p:cNvSpPr/>
          <p:nvPr/>
        </p:nvSpPr>
        <p:spPr>
          <a:xfrm>
            <a:off x="4822031" y="1308646"/>
            <a:ext cx="371475" cy="28575"/>
          </a:xfrm>
          <a:prstGeom prst="roundRect">
            <a:avLst>
              <a:gd name="adj" fmla="val 33300000"/>
            </a:avLst>
          </a:prstGeom>
          <a:solidFill>
            <a:srgbClr val="0ABAB5"/>
          </a:solidFill>
          <a:ln/>
        </p:spPr>
        <p:txBody>
          <a:bodyPr wrap="square" rtlCol="0" anchor="ctr"/>
          <a:lstStyle/>
          <a:p>
            <a:pPr indent="0" marL="0">
              <a:buNone/>
            </a:pPr>
            <a:endParaRPr lang="en-US" dirty="0"/>
          </a:p>
        </p:txBody>
      </p:sp>
      <p:sp>
        <p:nvSpPr>
          <p:cNvPr id="16" name="Text 14"/>
          <p:cNvSpPr/>
          <p:nvPr/>
        </p:nvSpPr>
        <p:spPr>
          <a:xfrm>
            <a:off x="4822031" y="1422946"/>
            <a:ext cx="3729038" cy="219885"/>
          </a:xfrm>
          <a:prstGeom prst="rect">
            <a:avLst/>
          </a:prstGeom>
          <a:noFill/>
          <a:ln/>
        </p:spPr>
        <p:txBody>
          <a:bodyPr wrap="none" lIns="0" tIns="0" rIns="0" bIns="0" rtlCol="0" anchor="t"/>
          <a:lstStyle/>
          <a:p>
            <a:pPr algn="l" indent="0" marL="0">
              <a:lnSpc>
                <a:spcPts val="1603"/>
              </a:lnSpc>
              <a:buNone/>
            </a:pPr>
            <a:r>
              <a:rPr lang="en-US" sz="1069" b="1" dirty="0">
                <a:solidFill>
                  <a:srgbClr val="1A1A1A"/>
                </a:solidFill>
                <a:latin typeface="Carlito" pitchFamily="34" charset="0"/>
                <a:ea typeface="Carlito" pitchFamily="34" charset="-122"/>
                <a:cs typeface="Carlito" pitchFamily="34" charset="-120"/>
              </a:rPr>
              <a:t>Бизнесу · баннер</a:t>
            </a:r>
            <a:endParaRPr lang="en-US" sz="1069" dirty="0"/>
          </a:p>
        </p:txBody>
      </p:sp>
      <p:sp>
        <p:nvSpPr>
          <p:cNvPr id="17" name="Text 15"/>
          <p:cNvSpPr/>
          <p:nvPr/>
        </p:nvSpPr>
        <p:spPr>
          <a:xfrm>
            <a:off x="4822031" y="1726555"/>
            <a:ext cx="3729038" cy="946882"/>
          </a:xfrm>
          <a:prstGeom prst="roundRect">
            <a:avLst>
              <a:gd name="adj" fmla="val 12071"/>
            </a:avLst>
          </a:prstGeom>
          <a:solidFill>
            <a:srgbClr val="262023"/>
          </a:solidFill>
          <a:ln/>
        </p:spPr>
        <p:txBody>
          <a:bodyPr wrap="square" rtlCol="0" anchor="ctr"/>
          <a:lstStyle/>
          <a:p>
            <a:pPr indent="0" marL="0">
              <a:buNone/>
            </a:pPr>
            <a:endParaRPr lang="en-US" dirty="0"/>
          </a:p>
        </p:txBody>
      </p:sp>
      <p:sp>
        <p:nvSpPr>
          <p:cNvPr id="18" name="Text 16"/>
          <p:cNvSpPr/>
          <p:nvPr/>
        </p:nvSpPr>
        <p:spPr>
          <a:xfrm>
            <a:off x="4950619" y="2019784"/>
            <a:ext cx="3440720" cy="641909"/>
          </a:xfrm>
          <a:prstGeom prst="rect">
            <a:avLst/>
          </a:prstGeom>
          <a:noFill/>
          <a:ln/>
        </p:spPr>
        <p:txBody>
          <a:bodyPr wrap="square" lIns="128588" tIns="114300" rIns="128588" bIns="114300" rtlCol="0" anchor="t"/>
          <a:lstStyle/>
          <a:p>
            <a:pPr algn="l" indent="0" marL="0">
              <a:lnSpc>
                <a:spcPts val="1090"/>
              </a:lnSpc>
              <a:buNone/>
            </a:pPr>
            <a:r>
              <a:rPr lang="en-US" sz="800" dirty="0">
                <a:solidFill>
                  <a:srgbClr val="F8F8F8"/>
                </a:solidFill>
                <a:latin typeface="Courier New" pitchFamily="34" charset="0"/>
                <a:ea typeface="Courier New" pitchFamily="34" charset="-122"/>
                <a:cs typeface="Courier New" pitchFamily="34" charset="-120"/>
              </a:rPr>
              <a:t>Modern small shop interior with clean counter and tablet POS, owner arranging fresh goods, bright white daylight interior with subtle teal accents, photorealistic, clean minimal composition with copy space on the right, --ar 16:9</a:t>
            </a:r>
            <a:endParaRPr lang="en-US" sz="800" dirty="0"/>
          </a:p>
        </p:txBody>
      </p:sp>
      <p:sp>
        <p:nvSpPr>
          <p:cNvPr id="19" name="Text 17"/>
          <p:cNvSpPr/>
          <p:nvPr/>
        </p:nvSpPr>
        <p:spPr>
          <a:xfrm>
            <a:off x="4950619" y="1840855"/>
            <a:ext cx="3471863" cy="170047"/>
          </a:xfrm>
          <a:prstGeom prst="rect">
            <a:avLst/>
          </a:prstGeom>
          <a:noFill/>
          <a:ln/>
        </p:spPr>
        <p:txBody>
          <a:bodyPr wrap="none" lIns="0" tIns="0" rIns="0" bIns="0" rtlCol="0" anchor="t"/>
          <a:lstStyle/>
          <a:p>
            <a:pPr algn="l" indent="0" marL="0">
              <a:lnSpc>
                <a:spcPts val="959"/>
              </a:lnSpc>
              <a:buNone/>
            </a:pPr>
            <a:r>
              <a:rPr lang="en-US" sz="800" b="1" spc="62" kern="0" dirty="0">
                <a:solidFill>
                  <a:srgbClr val="D4A854"/>
                </a:solidFill>
                <a:latin typeface="Carlito" pitchFamily="34" charset="0"/>
                <a:ea typeface="Carlito" pitchFamily="34" charset="-122"/>
                <a:cs typeface="Carlito" pitchFamily="34" charset="-120"/>
              </a:rPr>
              <a:t>EN</a:t>
            </a:r>
            <a:endParaRPr lang="en-US" sz="800" dirty="0"/>
          </a:p>
        </p:txBody>
      </p:sp>
      <p:sp>
        <p:nvSpPr>
          <p:cNvPr id="20" name="Text 18"/>
          <p:cNvSpPr/>
          <p:nvPr/>
        </p:nvSpPr>
        <p:spPr>
          <a:xfrm>
            <a:off x="4825603" y="2748446"/>
            <a:ext cx="3721894" cy="1092436"/>
          </a:xfrm>
          <a:prstGeom prst="roundRect">
            <a:avLst>
              <a:gd name="adj" fmla="val 10463"/>
            </a:avLst>
          </a:prstGeom>
          <a:solidFill>
            <a:srgbClr val="F8F8F8"/>
          </a:solidFill>
          <a:ln w="7144">
            <a:solidFill>
              <a:srgbClr val="1A1A1A"/>
            </a:solidFill>
            <a:prstDash val="solid"/>
          </a:ln>
        </p:spPr>
        <p:txBody>
          <a:bodyPr wrap="square" rtlCol="0" anchor="ctr"/>
          <a:lstStyle/>
          <a:p>
            <a:pPr indent="0" marL="0">
              <a:buNone/>
            </a:pPr>
            <a:endParaRPr lang="en-US" dirty="0"/>
          </a:p>
        </p:txBody>
      </p:sp>
      <p:sp>
        <p:nvSpPr>
          <p:cNvPr id="21" name="Text 19"/>
          <p:cNvSpPr/>
          <p:nvPr/>
        </p:nvSpPr>
        <p:spPr>
          <a:xfrm>
            <a:off x="4957763" y="3045247"/>
            <a:ext cx="3387030" cy="811987"/>
          </a:xfrm>
          <a:prstGeom prst="rect">
            <a:avLst/>
          </a:prstGeom>
          <a:noFill/>
          <a:ln/>
        </p:spPr>
        <p:txBody>
          <a:bodyPr wrap="square" lIns="128588" tIns="114300" rIns="128588" bIns="114300" rtlCol="0" anchor="t"/>
          <a:lstStyle/>
          <a:p>
            <a:pPr algn="l" indent="0" marL="0">
              <a:lnSpc>
                <a:spcPts val="1090"/>
              </a:lnSpc>
              <a:buNone/>
            </a:pPr>
            <a:r>
              <a:rPr lang="en-US" sz="800" dirty="0">
                <a:solidFill>
                  <a:srgbClr val="1A1A1A"/>
                </a:solidFill>
                <a:latin typeface="Courier New" pitchFamily="34" charset="0"/>
                <a:ea typeface="Courier New" pitchFamily="34" charset="-122"/>
                <a:cs typeface="Courier New" pitchFamily="34" charset="-120"/>
              </a:rPr>
              <a:t>Современный интерьер небольшого магазина с чистой стойкой и планшетной кассой, владелец раскладывает свежий товар, светлый дневной интерьер с лёгкими бирюзовыми акцентами, фотореалистично, чистая минималистичная композиция со свободным местом справа, --ar 16:9</a:t>
            </a:r>
            <a:endParaRPr lang="en-US" sz="800" dirty="0"/>
          </a:p>
        </p:txBody>
      </p:sp>
      <p:sp>
        <p:nvSpPr>
          <p:cNvPr id="22" name="Text 20"/>
          <p:cNvSpPr/>
          <p:nvPr/>
        </p:nvSpPr>
        <p:spPr>
          <a:xfrm>
            <a:off x="4957763" y="2866318"/>
            <a:ext cx="3457575" cy="170047"/>
          </a:xfrm>
          <a:prstGeom prst="rect">
            <a:avLst/>
          </a:prstGeom>
          <a:noFill/>
          <a:ln/>
        </p:spPr>
        <p:txBody>
          <a:bodyPr wrap="none" lIns="0" tIns="0" rIns="0" bIns="0" rtlCol="0" anchor="t"/>
          <a:lstStyle/>
          <a:p>
            <a:pPr algn="l" indent="0" marL="0">
              <a:lnSpc>
                <a:spcPts val="959"/>
              </a:lnSpc>
              <a:buNone/>
            </a:pPr>
            <a:r>
              <a:rPr lang="en-US" sz="800" b="1" spc="62" kern="0" dirty="0">
                <a:solidFill>
                  <a:srgbClr val="C92A6A"/>
                </a:solidFill>
                <a:latin typeface="Carlito" pitchFamily="34" charset="0"/>
                <a:ea typeface="Carlito" pitchFamily="34" charset="-122"/>
                <a:cs typeface="Carlito" pitchFamily="34" charset="-120"/>
              </a:rPr>
              <a:t>RU</a:t>
            </a:r>
            <a:endParaRPr lang="en-US" sz="800" dirty="0"/>
          </a:p>
        </p:txBody>
      </p:sp>
      <p:sp>
        <p:nvSpPr>
          <p:cNvPr id="23" name="Text 21"/>
          <p:cNvSpPr/>
          <p:nvPr/>
        </p:nvSpPr>
        <p:spPr>
          <a:xfrm>
            <a:off x="428625" y="4657725"/>
            <a:ext cx="142875" cy="142875"/>
          </a:xfrm>
          <a:prstGeom prst="rect">
            <a:avLst/>
          </a:prstGeom>
          <a:noFill/>
          <a:ln/>
        </p:spPr>
        <p:txBody>
          <a:bodyPr wrap="none" lIns="0" tIns="0" rIns="0" bIns="0" rtlCol="0" anchor="ctr"/>
          <a:lstStyle/>
          <a:p>
            <a:pPr algn="ctr" indent="0" marL="0">
              <a:buNone/>
            </a:pPr>
            <a:r>
              <a:rPr lang="en-US" sz="1406" dirty="0">
                <a:solidFill>
                  <a:srgbClr val="C92A6A"/>
                </a:solidFill>
                <a:latin typeface="Segoe UI Symbol" pitchFamily="34" charset="0"/>
                <a:ea typeface="Segoe UI Symbol" pitchFamily="34" charset="-122"/>
                <a:cs typeface="Segoe UI Symbol" pitchFamily="34" charset="-120"/>
              </a:rPr>
              <a:t>✦</a:t>
            </a:r>
            <a:endParaRPr lang="en-US" sz="1406" dirty="0"/>
          </a:p>
        </p:txBody>
      </p:sp>
      <p:sp>
        <p:nvSpPr>
          <p:cNvPr id="24" name="Text 22"/>
          <p:cNvSpPr/>
          <p:nvPr/>
        </p:nvSpPr>
        <p:spPr>
          <a:xfrm>
            <a:off x="642938" y="4659511"/>
            <a:ext cx="8072438" cy="164592"/>
          </a:xfrm>
          <a:prstGeom prst="rect">
            <a:avLst/>
          </a:prstGeom>
          <a:noFill/>
          <a:ln/>
        </p:spPr>
        <p:txBody>
          <a:bodyPr wrap="squar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Ключевая фраза </a:t>
            </a:r>
            <a:pPr algn="l" indent="0" marL="0">
              <a:lnSpc>
                <a:spcPts val="1097"/>
              </a:lnSpc>
              <a:buNone/>
            </a:pPr>
            <a:r>
              <a:rPr lang="en-US" sz="800" dirty="0">
                <a:solidFill>
                  <a:srgbClr val="1A1A1A"/>
                </a:solidFill>
                <a:latin typeface="Courier New" pitchFamily="34" charset="0"/>
                <a:ea typeface="Courier New" pitchFamily="34" charset="-122"/>
                <a:cs typeface="Courier New" pitchFamily="34" charset="-120"/>
              </a:rPr>
              <a:t>copy space</a:t>
            </a:r>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 резервирует место под заголовок и кнопки — текст накладывается потом, не генерируется.</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77190" y="388691"/>
            <a:ext cx="1143402" cy="212027"/>
          </a:xfrm>
          <a:prstGeom prst="roundRect">
            <a:avLst>
              <a:gd name="adj" fmla="val 4487860"/>
            </a:avLst>
          </a:prstGeom>
          <a:solidFill>
            <a:srgbClr val="0ABAB5">
              <a:alpha val="10000"/>
            </a:srgbClr>
          </a:solidFill>
          <a:ln/>
        </p:spPr>
        <p:txBody>
          <a:bodyPr wrap="square" rtlCol="0" anchor="ctr"/>
          <a:lstStyle/>
          <a:p>
            <a:pPr indent="0" marL="0">
              <a:buNone/>
            </a:pPr>
            <a:endParaRPr lang="en-US" dirty="0"/>
          </a:p>
        </p:txBody>
      </p:sp>
      <p:sp>
        <p:nvSpPr>
          <p:cNvPr id="3" name="Text 1"/>
          <p:cNvSpPr/>
          <p:nvPr/>
        </p:nvSpPr>
        <p:spPr>
          <a:xfrm>
            <a:off x="400050" y="400050"/>
            <a:ext cx="1097682" cy="189309"/>
          </a:xfrm>
          <a:prstGeom prst="rect">
            <a:avLst/>
          </a:prstGeom>
          <a:noFill/>
          <a:ln/>
        </p:spPr>
        <p:txBody>
          <a:bodyPr wrap="none" lIns="0" tIns="0" rIns="0" bIns="0" rtlCol="0" anchor="ctr"/>
          <a:lstStyle/>
          <a:p>
            <a:pPr algn="ctr" indent="0" marL="0">
              <a:lnSpc>
                <a:spcPts val="928"/>
              </a:lnSpc>
              <a:buNone/>
            </a:pPr>
            <a:r>
              <a:rPr lang="en-US" sz="800" b="1" spc="50" kern="0" dirty="0">
                <a:solidFill>
                  <a:srgbClr val="07807C"/>
                </a:solidFill>
                <a:latin typeface="Carlito" pitchFamily="34" charset="0"/>
                <a:ea typeface="Carlito" pitchFamily="34" charset="-122"/>
                <a:cs typeface="Carlito" pitchFamily="34" charset="-120"/>
              </a:rPr>
              <a:t>КАНАЛЫ · БИЗНЕСУ</a:t>
            </a:r>
            <a:endParaRPr lang="en-US" sz="800" dirty="0"/>
          </a:p>
        </p:txBody>
      </p:sp>
      <p:sp>
        <p:nvSpPr>
          <p:cNvPr id="4" name="Text 2"/>
          <p:cNvSpPr/>
          <p:nvPr/>
        </p:nvSpPr>
        <p:spPr>
          <a:xfrm>
            <a:off x="400050" y="675084"/>
            <a:ext cx="8636000" cy="337060"/>
          </a:xfrm>
          <a:prstGeom prst="rect">
            <a:avLst/>
          </a:prstGeom>
          <a:noFill/>
          <a:ln/>
        </p:spPr>
        <p:txBody>
          <a:bodyPr wrap="square" lIns="0" tIns="0" rIns="0" bIns="0" rtlCol="0" anchor="t"/>
          <a:lstStyle/>
          <a:p>
            <a:pPr algn="l" indent="0" marL="0">
              <a:lnSpc>
                <a:spcPts val="2458"/>
              </a:lnSpc>
              <a:buNone/>
            </a:pPr>
            <a:r>
              <a:rPr lang="en-US" sz="2138" b="1" spc="-32" kern="0" dirty="0">
                <a:solidFill>
                  <a:srgbClr val="1A1A1A"/>
                </a:solidFill>
                <a:latin typeface="Carlito" pitchFamily="34" charset="0"/>
                <a:ea typeface="Carlito" pitchFamily="34" charset="-122"/>
                <a:cs typeface="Carlito" pitchFamily="34" charset="-120"/>
              </a:rPr>
              <a:t>Атмосферные интерьеры точек МСП</a:t>
            </a:r>
            <a:endParaRPr lang="en-US" sz="2138" dirty="0"/>
          </a:p>
        </p:txBody>
      </p:sp>
      <p:pic>
        <p:nvPicPr>
          <p:cNvPr id="5" name="Image 0" descr="/tmp/h2p-fit-1788292687144-nqat0v.png">    </p:cNvPr>
          <p:cNvPicPr>
            <a:picLocks noChangeAspect="1"/>
          </p:cNvPicPr>
          <p:nvPr/>
        </p:nvPicPr>
        <p:blipFill>
          <a:blip r:embed="rId1"/>
          <a:stretch>
            <a:fillRect/>
          </a:stretch>
        </p:blipFill>
        <p:spPr>
          <a:xfrm>
            <a:off x="400050" y="1115764"/>
            <a:ext cx="2828925" cy="3328541"/>
          </a:xfrm>
          <a:prstGeom prst="rect">
            <a:avLst/>
          </a:prstGeom>
        </p:spPr>
      </p:pic>
      <p:sp>
        <p:nvSpPr>
          <p:cNvPr id="6" name="Text 3"/>
          <p:cNvSpPr/>
          <p:nvPr/>
        </p:nvSpPr>
        <p:spPr>
          <a:xfrm>
            <a:off x="400050" y="4515743"/>
            <a:ext cx="2828925" cy="317962"/>
          </a:xfrm>
          <a:prstGeom prst="rect">
            <a:avLst/>
          </a:prstGeom>
          <a:noFill/>
          <a:ln/>
        </p:spPr>
        <p:txBody>
          <a:bodyPr wrap="square" lIns="0" tIns="0" rIns="0" bIns="0" rtlCol="0" anchor="t"/>
          <a:lstStyle/>
          <a:p>
            <a:pPr algn="l" indent="0" marL="0">
              <a:lnSpc>
                <a:spcPts val="897"/>
              </a:lnSpc>
              <a:buNone/>
            </a:pPr>
            <a:r>
              <a:rPr lang="en-US" sz="800" dirty="0">
                <a:solidFill>
                  <a:srgbClr val="888888"/>
                </a:solidFill>
                <a:latin typeface="Carlito" pitchFamily="34" charset="0"/>
                <a:ea typeface="Carlito" pitchFamily="34" charset="-122"/>
                <a:cs typeface="Carlito" pitchFamily="34" charset="-120"/>
              </a:rPr>
              <a:t>Так выглядит цель: тёплый интерьер, живые детали, никакого стерильного стока</a:t>
            </a:r>
            <a:endParaRPr lang="en-US" sz="800" dirty="0"/>
          </a:p>
        </p:txBody>
      </p:sp>
      <p:sp>
        <p:nvSpPr>
          <p:cNvPr id="7" name="Text 4"/>
          <p:cNvSpPr/>
          <p:nvPr/>
        </p:nvSpPr>
        <p:spPr>
          <a:xfrm>
            <a:off x="3400425" y="1153269"/>
            <a:ext cx="64294" cy="64294"/>
          </a:xfrm>
          <a:prstGeom prst="roundRect">
            <a:avLst>
              <a:gd name="adj" fmla="val 44444"/>
            </a:avLst>
          </a:prstGeom>
          <a:solidFill>
            <a:srgbClr val="0ABAB5"/>
          </a:solidFill>
          <a:ln/>
        </p:spPr>
        <p:txBody>
          <a:bodyPr wrap="square" rtlCol="0" anchor="ctr"/>
          <a:lstStyle/>
          <a:p>
            <a:pPr indent="0" marL="0">
              <a:buNone/>
            </a:pPr>
            <a:endParaRPr lang="en-US" dirty="0"/>
          </a:p>
        </p:txBody>
      </p:sp>
      <p:sp>
        <p:nvSpPr>
          <p:cNvPr id="8" name="Text 5"/>
          <p:cNvSpPr/>
          <p:nvPr/>
        </p:nvSpPr>
        <p:spPr>
          <a:xfrm>
            <a:off x="3529013" y="1115764"/>
            <a:ext cx="608464" cy="164592"/>
          </a:xfrm>
          <a:prstGeom prst="rect">
            <a:avLst/>
          </a:prstGeom>
          <a:noFill/>
          <a:ln/>
        </p:spPr>
        <p:txBody>
          <a:bodyPr wrap="none" lIns="0" tIns="0" rIns="0" bIns="0" rtlCol="0" anchor="t"/>
          <a:lstStyle/>
          <a:p>
            <a:pPr algn="l" indent="0" marL="0">
              <a:lnSpc>
                <a:spcPts val="1097"/>
              </a:lnSpc>
              <a:buNone/>
            </a:pPr>
            <a:r>
              <a:rPr lang="en-US" sz="800" b="1" spc="15" kern="0" dirty="0">
                <a:solidFill>
                  <a:srgbClr val="1A1A1A"/>
                </a:solidFill>
                <a:latin typeface="Carlito" pitchFamily="34" charset="0"/>
                <a:ea typeface="Carlito" pitchFamily="34" charset="-122"/>
                <a:cs typeface="Carlito" pitchFamily="34" charset="-120"/>
              </a:rPr>
              <a:t>Кофейня</a:t>
            </a:r>
            <a:endParaRPr lang="en-US" sz="800" dirty="0"/>
          </a:p>
        </p:txBody>
      </p:sp>
      <p:sp>
        <p:nvSpPr>
          <p:cNvPr id="9" name="Text 6"/>
          <p:cNvSpPr/>
          <p:nvPr/>
        </p:nvSpPr>
        <p:spPr>
          <a:xfrm>
            <a:off x="4018806" y="1181844"/>
            <a:ext cx="4725144" cy="7144"/>
          </a:xfrm>
          <a:prstGeom prst="rect">
            <a:avLst/>
          </a:prstGeom>
          <a:solidFill>
            <a:srgbClr val="1A1A1A">
              <a:alpha val="8000"/>
            </a:srgbClr>
          </a:solidFill>
          <a:ln/>
        </p:spPr>
        <p:txBody>
          <a:bodyPr wrap="square" rtlCol="0" anchor="ctr"/>
          <a:lstStyle/>
          <a:p>
            <a:pPr indent="0" marL="0">
              <a:buNone/>
            </a:pPr>
            <a:endParaRPr lang="en-US" dirty="0"/>
          </a:p>
        </p:txBody>
      </p:sp>
      <p:sp>
        <p:nvSpPr>
          <p:cNvPr id="10" name="Text 7"/>
          <p:cNvSpPr/>
          <p:nvPr/>
        </p:nvSpPr>
        <p:spPr>
          <a:xfrm>
            <a:off x="3400425" y="1312218"/>
            <a:ext cx="5343525" cy="748308"/>
          </a:xfrm>
          <a:prstGeom prst="roundRect">
            <a:avLst>
              <a:gd name="adj" fmla="val 15274"/>
            </a:avLst>
          </a:prstGeom>
          <a:solidFill>
            <a:srgbClr val="262023"/>
          </a:solidFill>
          <a:ln/>
        </p:spPr>
        <p:txBody>
          <a:bodyPr wrap="square" rtlCol="0" anchor="ctr"/>
          <a:lstStyle/>
          <a:p>
            <a:pPr indent="0" marL="0">
              <a:buNone/>
            </a:pPr>
            <a:endParaRPr lang="en-US" dirty="0"/>
          </a:p>
        </p:txBody>
      </p:sp>
      <p:sp>
        <p:nvSpPr>
          <p:cNvPr id="11" name="Text 8"/>
          <p:cNvSpPr/>
          <p:nvPr/>
        </p:nvSpPr>
        <p:spPr>
          <a:xfrm>
            <a:off x="3514725" y="1572964"/>
            <a:ext cx="5053645" cy="460858"/>
          </a:xfrm>
          <a:prstGeom prst="rect">
            <a:avLst/>
          </a:prstGeom>
          <a:noFill/>
          <a:ln/>
        </p:spPr>
        <p:txBody>
          <a:bodyPr wrap="square" lIns="114300" tIns="92869" rIns="114300" bIns="92869" rtlCol="0" anchor="t"/>
          <a:lstStyle/>
          <a:p>
            <a:pPr algn="l" indent="0" marL="0">
              <a:lnSpc>
                <a:spcPts val="1055"/>
              </a:lnSpc>
              <a:buNone/>
            </a:pPr>
            <a:r>
              <a:rPr lang="en-US" sz="800" dirty="0">
                <a:solidFill>
                  <a:srgbClr val="F8F8F8"/>
                </a:solidFill>
                <a:latin typeface="Courier New" pitchFamily="34" charset="0"/>
                <a:ea typeface="Courier New" pitchFamily="34" charset="-122"/>
                <a:cs typeface="Courier New" pitchFamily="34" charset="-120"/>
              </a:rPr>
              <a:t>Cozy neighborhood coffee shop interior, wooden tables, warm pendant lights, barista crafting latte art behind an espresso machine, inviting morning atmosphere, photorealistic, warm tones, --ar 4:5</a:t>
            </a:r>
            <a:endParaRPr lang="en-US" sz="800" dirty="0"/>
          </a:p>
        </p:txBody>
      </p:sp>
      <p:sp>
        <p:nvSpPr>
          <p:cNvPr id="12" name="Text 9"/>
          <p:cNvSpPr/>
          <p:nvPr/>
        </p:nvSpPr>
        <p:spPr>
          <a:xfrm>
            <a:off x="3514725" y="1405086"/>
            <a:ext cx="5114925" cy="164592"/>
          </a:xfrm>
          <a:prstGeom prst="rect">
            <a:avLst/>
          </a:prstGeom>
          <a:noFill/>
          <a:ln/>
        </p:spPr>
        <p:txBody>
          <a:bodyPr wrap="none" lIns="0" tIns="0" rIns="0" bIns="0" rtlCol="0" anchor="t"/>
          <a:lstStyle/>
          <a:p>
            <a:pPr algn="l" indent="0" marL="0">
              <a:lnSpc>
                <a:spcPts val="928"/>
              </a:lnSpc>
              <a:buNone/>
            </a:pPr>
            <a:r>
              <a:rPr lang="en-US" sz="800" b="1" spc="62" kern="0" dirty="0">
                <a:solidFill>
                  <a:srgbClr val="D4A854"/>
                </a:solidFill>
                <a:latin typeface="Carlito" pitchFamily="34" charset="0"/>
                <a:ea typeface="Carlito" pitchFamily="34" charset="-122"/>
                <a:cs typeface="Carlito" pitchFamily="34" charset="-120"/>
              </a:rPr>
              <a:t>EN</a:t>
            </a:r>
            <a:endParaRPr lang="en-US" sz="800" dirty="0"/>
          </a:p>
        </p:txBody>
      </p:sp>
      <p:sp>
        <p:nvSpPr>
          <p:cNvPr id="13" name="Text 10"/>
          <p:cNvSpPr/>
          <p:nvPr/>
        </p:nvSpPr>
        <p:spPr>
          <a:xfrm>
            <a:off x="3403997" y="2121247"/>
            <a:ext cx="5336381" cy="755452"/>
          </a:xfrm>
          <a:prstGeom prst="roundRect">
            <a:avLst>
              <a:gd name="adj" fmla="val 15130"/>
            </a:avLst>
          </a:prstGeom>
          <a:solidFill>
            <a:srgbClr val="F8F8F8"/>
          </a:solidFill>
          <a:ln w="7144">
            <a:solidFill>
              <a:srgbClr val="1A1A1A"/>
            </a:solidFill>
            <a:prstDash val="solid"/>
          </a:ln>
        </p:spPr>
        <p:txBody>
          <a:bodyPr wrap="square" rtlCol="0" anchor="ctr"/>
          <a:lstStyle/>
          <a:p>
            <a:pPr indent="0" marL="0">
              <a:buNone/>
            </a:pPr>
            <a:endParaRPr lang="en-US" dirty="0"/>
          </a:p>
        </p:txBody>
      </p:sp>
      <p:sp>
        <p:nvSpPr>
          <p:cNvPr id="14" name="Text 11"/>
          <p:cNvSpPr/>
          <p:nvPr/>
        </p:nvSpPr>
        <p:spPr>
          <a:xfrm>
            <a:off x="3521869" y="2385566"/>
            <a:ext cx="5053645" cy="460858"/>
          </a:xfrm>
          <a:prstGeom prst="rect">
            <a:avLst/>
          </a:prstGeom>
          <a:noFill/>
          <a:ln/>
        </p:spPr>
        <p:txBody>
          <a:bodyPr wrap="square" lIns="114300" tIns="92869" rIns="114300" bIns="92869" rtlCol="0" anchor="t"/>
          <a:lstStyle/>
          <a:p>
            <a:pPr algn="l" indent="0" marL="0">
              <a:lnSpc>
                <a:spcPts val="1055"/>
              </a:lnSpc>
              <a:buNone/>
            </a:pPr>
            <a:r>
              <a:rPr lang="en-US" sz="800" dirty="0">
                <a:solidFill>
                  <a:srgbClr val="1A1A1A"/>
                </a:solidFill>
                <a:latin typeface="Courier New" pitchFamily="34" charset="0"/>
                <a:ea typeface="Courier New" pitchFamily="34" charset="-122"/>
                <a:cs typeface="Courier New" pitchFamily="34" charset="-120"/>
              </a:rPr>
              <a:t>Уютный интерьер районной кофейни, деревянные столы, тёплые подвесные светильники, бариста рисует латте-арт за эспрессо-машиной, приглашающая утренняя атмосфера, фотореалистично, тёплые тона, --ar 4:5</a:t>
            </a:r>
            <a:endParaRPr lang="en-US" sz="800" dirty="0"/>
          </a:p>
        </p:txBody>
      </p:sp>
      <p:sp>
        <p:nvSpPr>
          <p:cNvPr id="15" name="Text 12"/>
          <p:cNvSpPr/>
          <p:nvPr/>
        </p:nvSpPr>
        <p:spPr>
          <a:xfrm>
            <a:off x="3521869" y="2217688"/>
            <a:ext cx="5100638" cy="164592"/>
          </a:xfrm>
          <a:prstGeom prst="rect">
            <a:avLst/>
          </a:prstGeom>
          <a:noFill/>
          <a:ln/>
        </p:spPr>
        <p:txBody>
          <a:bodyPr wrap="none" lIns="0" tIns="0" rIns="0" bIns="0" rtlCol="0" anchor="t"/>
          <a:lstStyle/>
          <a:p>
            <a:pPr algn="l" indent="0" marL="0">
              <a:lnSpc>
                <a:spcPts val="928"/>
              </a:lnSpc>
              <a:buNone/>
            </a:pPr>
            <a:r>
              <a:rPr lang="en-US" sz="800" b="1" spc="62" kern="0" dirty="0">
                <a:solidFill>
                  <a:srgbClr val="C92A6A"/>
                </a:solidFill>
                <a:latin typeface="Carlito" pitchFamily="34" charset="0"/>
                <a:ea typeface="Carlito" pitchFamily="34" charset="-122"/>
                <a:cs typeface="Carlito" pitchFamily="34" charset="-120"/>
              </a:rPr>
              <a:t>RU</a:t>
            </a:r>
            <a:endParaRPr lang="en-US" sz="800" dirty="0"/>
          </a:p>
        </p:txBody>
      </p:sp>
      <p:sp>
        <p:nvSpPr>
          <p:cNvPr id="16" name="Text 13"/>
          <p:cNvSpPr/>
          <p:nvPr/>
        </p:nvSpPr>
        <p:spPr>
          <a:xfrm>
            <a:off x="3400425" y="3016448"/>
            <a:ext cx="64294" cy="64294"/>
          </a:xfrm>
          <a:prstGeom prst="roundRect">
            <a:avLst>
              <a:gd name="adj" fmla="val 44444"/>
            </a:avLst>
          </a:prstGeom>
          <a:solidFill>
            <a:srgbClr val="0ABAB5"/>
          </a:solidFill>
          <a:ln/>
        </p:spPr>
        <p:txBody>
          <a:bodyPr wrap="square" rtlCol="0" anchor="ctr"/>
          <a:lstStyle/>
          <a:p>
            <a:pPr indent="0" marL="0">
              <a:buNone/>
            </a:pPr>
            <a:endParaRPr lang="en-US" dirty="0"/>
          </a:p>
        </p:txBody>
      </p:sp>
      <p:sp>
        <p:nvSpPr>
          <p:cNvPr id="17" name="Text 14"/>
          <p:cNvSpPr/>
          <p:nvPr/>
        </p:nvSpPr>
        <p:spPr>
          <a:xfrm>
            <a:off x="3529013" y="2978944"/>
            <a:ext cx="567123" cy="164592"/>
          </a:xfrm>
          <a:prstGeom prst="rect">
            <a:avLst/>
          </a:prstGeom>
          <a:noFill/>
          <a:ln/>
        </p:spPr>
        <p:txBody>
          <a:bodyPr wrap="none" lIns="0" tIns="0" rIns="0" bIns="0" rtlCol="0" anchor="t"/>
          <a:lstStyle/>
          <a:p>
            <a:pPr algn="l" indent="0" marL="0">
              <a:lnSpc>
                <a:spcPts val="1097"/>
              </a:lnSpc>
              <a:buNone/>
            </a:pPr>
            <a:r>
              <a:rPr lang="en-US" sz="800" b="1" spc="15" kern="0" dirty="0">
                <a:solidFill>
                  <a:srgbClr val="1A1A1A"/>
                </a:solidFill>
                <a:latin typeface="Carlito" pitchFamily="34" charset="0"/>
                <a:ea typeface="Carlito" pitchFamily="34" charset="-122"/>
                <a:cs typeface="Carlito" pitchFamily="34" charset="-120"/>
              </a:rPr>
              <a:t>Пекарня</a:t>
            </a:r>
            <a:endParaRPr lang="en-US" sz="800" dirty="0"/>
          </a:p>
        </p:txBody>
      </p:sp>
      <p:sp>
        <p:nvSpPr>
          <p:cNvPr id="18" name="Text 15"/>
          <p:cNvSpPr/>
          <p:nvPr/>
        </p:nvSpPr>
        <p:spPr>
          <a:xfrm>
            <a:off x="3989896" y="3045023"/>
            <a:ext cx="4754054" cy="7144"/>
          </a:xfrm>
          <a:prstGeom prst="rect">
            <a:avLst/>
          </a:prstGeom>
          <a:solidFill>
            <a:srgbClr val="1A1A1A">
              <a:alpha val="8000"/>
            </a:srgbClr>
          </a:solidFill>
          <a:ln/>
        </p:spPr>
        <p:txBody>
          <a:bodyPr wrap="square" rtlCol="0" anchor="ctr"/>
          <a:lstStyle/>
          <a:p>
            <a:pPr indent="0" marL="0">
              <a:buNone/>
            </a:pPr>
            <a:endParaRPr lang="en-US" dirty="0"/>
          </a:p>
        </p:txBody>
      </p:sp>
      <p:sp>
        <p:nvSpPr>
          <p:cNvPr id="19" name="Text 16"/>
          <p:cNvSpPr/>
          <p:nvPr/>
        </p:nvSpPr>
        <p:spPr>
          <a:xfrm>
            <a:off x="3400425" y="3175397"/>
            <a:ext cx="5343525" cy="748308"/>
          </a:xfrm>
          <a:prstGeom prst="roundRect">
            <a:avLst>
              <a:gd name="adj" fmla="val 15274"/>
            </a:avLst>
          </a:prstGeom>
          <a:solidFill>
            <a:srgbClr val="262023"/>
          </a:solidFill>
          <a:ln/>
        </p:spPr>
        <p:txBody>
          <a:bodyPr wrap="square" rtlCol="0" anchor="ctr"/>
          <a:lstStyle/>
          <a:p>
            <a:pPr indent="0" marL="0">
              <a:buNone/>
            </a:pPr>
            <a:endParaRPr lang="en-US" dirty="0"/>
          </a:p>
        </p:txBody>
      </p:sp>
      <p:sp>
        <p:nvSpPr>
          <p:cNvPr id="20" name="Text 17"/>
          <p:cNvSpPr/>
          <p:nvPr/>
        </p:nvSpPr>
        <p:spPr>
          <a:xfrm>
            <a:off x="3514725" y="3436144"/>
            <a:ext cx="5053645" cy="460858"/>
          </a:xfrm>
          <a:prstGeom prst="rect">
            <a:avLst/>
          </a:prstGeom>
          <a:noFill/>
          <a:ln/>
        </p:spPr>
        <p:txBody>
          <a:bodyPr wrap="square" lIns="114300" tIns="92869" rIns="114300" bIns="92869" rtlCol="0" anchor="t"/>
          <a:lstStyle/>
          <a:p>
            <a:pPr algn="l" indent="0" marL="0">
              <a:lnSpc>
                <a:spcPts val="1055"/>
              </a:lnSpc>
              <a:buNone/>
            </a:pPr>
            <a:r>
              <a:rPr lang="en-US" sz="800" dirty="0">
                <a:solidFill>
                  <a:srgbClr val="F8F8F8"/>
                </a:solidFill>
                <a:latin typeface="Courier New" pitchFamily="34" charset="0"/>
                <a:ea typeface="Courier New" pitchFamily="34" charset="-122"/>
                <a:cs typeface="Courier New" pitchFamily="34" charset="-120"/>
              </a:rPr>
              <a:t>Small artisan bakery display with fresh bread and pastries, baker in apron arranging croissants, golden morning light, flour dust in the air, photorealistic, warm cozy tones, --ar 4:5</a:t>
            </a:r>
            <a:endParaRPr lang="en-US" sz="800" dirty="0"/>
          </a:p>
        </p:txBody>
      </p:sp>
      <p:sp>
        <p:nvSpPr>
          <p:cNvPr id="21" name="Text 18"/>
          <p:cNvSpPr/>
          <p:nvPr/>
        </p:nvSpPr>
        <p:spPr>
          <a:xfrm>
            <a:off x="3514725" y="3268266"/>
            <a:ext cx="5114925" cy="164592"/>
          </a:xfrm>
          <a:prstGeom prst="rect">
            <a:avLst/>
          </a:prstGeom>
          <a:noFill/>
          <a:ln/>
        </p:spPr>
        <p:txBody>
          <a:bodyPr wrap="none" lIns="0" tIns="0" rIns="0" bIns="0" rtlCol="0" anchor="t"/>
          <a:lstStyle/>
          <a:p>
            <a:pPr algn="l" indent="0" marL="0">
              <a:lnSpc>
                <a:spcPts val="928"/>
              </a:lnSpc>
              <a:buNone/>
            </a:pPr>
            <a:r>
              <a:rPr lang="en-US" sz="800" b="1" spc="62" kern="0" dirty="0">
                <a:solidFill>
                  <a:srgbClr val="D4A854"/>
                </a:solidFill>
                <a:latin typeface="Carlito" pitchFamily="34" charset="0"/>
                <a:ea typeface="Carlito" pitchFamily="34" charset="-122"/>
                <a:cs typeface="Carlito" pitchFamily="34" charset="-120"/>
              </a:rPr>
              <a:t>EN</a:t>
            </a:r>
            <a:endParaRPr lang="en-US" sz="800" dirty="0"/>
          </a:p>
        </p:txBody>
      </p:sp>
      <p:sp>
        <p:nvSpPr>
          <p:cNvPr id="22" name="Text 19"/>
          <p:cNvSpPr/>
          <p:nvPr/>
        </p:nvSpPr>
        <p:spPr>
          <a:xfrm>
            <a:off x="3403997" y="3984427"/>
            <a:ext cx="5336381" cy="755452"/>
          </a:xfrm>
          <a:prstGeom prst="roundRect">
            <a:avLst>
              <a:gd name="adj" fmla="val 15130"/>
            </a:avLst>
          </a:prstGeom>
          <a:solidFill>
            <a:srgbClr val="F8F8F8"/>
          </a:solidFill>
          <a:ln w="7144">
            <a:solidFill>
              <a:srgbClr val="1A1A1A"/>
            </a:solidFill>
            <a:prstDash val="solid"/>
          </a:ln>
        </p:spPr>
        <p:txBody>
          <a:bodyPr wrap="square" rtlCol="0" anchor="ctr"/>
          <a:lstStyle/>
          <a:p>
            <a:pPr indent="0" marL="0">
              <a:buNone/>
            </a:pPr>
            <a:endParaRPr lang="en-US" dirty="0"/>
          </a:p>
        </p:txBody>
      </p:sp>
      <p:sp>
        <p:nvSpPr>
          <p:cNvPr id="23" name="Text 20"/>
          <p:cNvSpPr/>
          <p:nvPr/>
        </p:nvSpPr>
        <p:spPr>
          <a:xfrm>
            <a:off x="3521869" y="4248745"/>
            <a:ext cx="5053645" cy="460858"/>
          </a:xfrm>
          <a:prstGeom prst="rect">
            <a:avLst/>
          </a:prstGeom>
          <a:noFill/>
          <a:ln/>
        </p:spPr>
        <p:txBody>
          <a:bodyPr wrap="square" lIns="114300" tIns="92869" rIns="114300" bIns="92869" rtlCol="0" anchor="t"/>
          <a:lstStyle/>
          <a:p>
            <a:pPr algn="l" indent="0" marL="0">
              <a:lnSpc>
                <a:spcPts val="1055"/>
              </a:lnSpc>
              <a:buNone/>
            </a:pPr>
            <a:r>
              <a:rPr lang="en-US" sz="800" dirty="0">
                <a:solidFill>
                  <a:srgbClr val="1A1A1A"/>
                </a:solidFill>
                <a:latin typeface="Courier New" pitchFamily="34" charset="0"/>
                <a:ea typeface="Courier New" pitchFamily="34" charset="-122"/>
                <a:cs typeface="Courier New" pitchFamily="34" charset="-120"/>
              </a:rPr>
              <a:t>Витрина небольшой ремесленной пекарни со свежим хлебом и выпечкой, пекарь в фартуке раскладывает круассаны, золотой утренний свет, лёгкая мучная дымка в воздухе, фотореалистично, тёплые уютные тона, --ar 4:5</a:t>
            </a:r>
            <a:endParaRPr lang="en-US" sz="800" dirty="0"/>
          </a:p>
        </p:txBody>
      </p:sp>
      <p:sp>
        <p:nvSpPr>
          <p:cNvPr id="24" name="Text 21"/>
          <p:cNvSpPr/>
          <p:nvPr/>
        </p:nvSpPr>
        <p:spPr>
          <a:xfrm>
            <a:off x="3521869" y="4080867"/>
            <a:ext cx="5100638" cy="164592"/>
          </a:xfrm>
          <a:prstGeom prst="rect">
            <a:avLst/>
          </a:prstGeom>
          <a:noFill/>
          <a:ln/>
        </p:spPr>
        <p:txBody>
          <a:bodyPr wrap="none" lIns="0" tIns="0" rIns="0" bIns="0" rtlCol="0" anchor="t"/>
          <a:lstStyle/>
          <a:p>
            <a:pPr algn="l" indent="0" marL="0">
              <a:lnSpc>
                <a:spcPts val="928"/>
              </a:lnSpc>
              <a:buNone/>
            </a:pPr>
            <a:r>
              <a:rPr lang="en-US" sz="800" b="1" spc="62" kern="0" dirty="0">
                <a:solidFill>
                  <a:srgbClr val="C92A6A"/>
                </a:solidFill>
                <a:latin typeface="Carlito" pitchFamily="34" charset="0"/>
                <a:ea typeface="Carlito" pitchFamily="34" charset="-122"/>
                <a:cs typeface="Carlito" pitchFamily="34" charset="-120"/>
              </a:rPr>
              <a:t>RU</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00050" y="400050"/>
            <a:ext cx="1989646" cy="189309"/>
          </a:xfrm>
          <a:prstGeom prst="roundRect">
            <a:avLst>
              <a:gd name="adj" fmla="val 5026425"/>
            </a:avLst>
          </a:prstGeom>
          <a:solidFill>
            <a:srgbClr val="D4A854">
              <a:alpha val="14000"/>
            </a:srgbClr>
          </a:solidFill>
          <a:ln/>
        </p:spPr>
        <p:txBody>
          <a:bodyPr wrap="square" rtlCol="0" anchor="ctr"/>
          <a:lstStyle/>
          <a:p>
            <a:pPr indent="0" marL="0">
              <a:buNone/>
            </a:pPr>
            <a:endParaRPr lang="en-US" dirty="0"/>
          </a:p>
        </p:txBody>
      </p:sp>
      <p:sp>
        <p:nvSpPr>
          <p:cNvPr id="3" name="Text 1"/>
          <p:cNvSpPr/>
          <p:nvPr/>
        </p:nvSpPr>
        <p:spPr>
          <a:xfrm>
            <a:off x="400050" y="400050"/>
            <a:ext cx="1989646" cy="247602"/>
          </a:xfrm>
          <a:prstGeom prst="rect">
            <a:avLst/>
          </a:prstGeom>
          <a:noFill/>
          <a:ln/>
        </p:spPr>
        <p:txBody>
          <a:bodyPr wrap="none" lIns="100013" tIns="35719" rIns="100013" bIns="35719" rtlCol="0" anchor="t">
            <a:normAutofit/>
          </a:bodyPr>
          <a:lstStyle/>
          <a:p>
            <a:pPr algn="l" indent="0" marL="0">
              <a:lnSpc>
                <a:spcPts val="928"/>
              </a:lnSpc>
              <a:buNone/>
            </a:pPr>
            <a:r>
              <a:rPr lang="en-US" sz="800" b="1" spc="50" kern="0" dirty="0">
                <a:solidFill>
                  <a:srgbClr val="8A6A25"/>
                </a:solidFill>
                <a:latin typeface="Carlito" pitchFamily="34" charset="0"/>
                <a:ea typeface="Carlito" pitchFamily="34" charset="-122"/>
                <a:cs typeface="Carlito" pitchFamily="34" charset="-120"/>
              </a:rPr>
              <a:t>КАНАЛЫ · СОЦСЕТИ И АМБАССАДОРАМ</a:t>
            </a:r>
            <a:endParaRPr lang="en-US" sz="800" dirty="0"/>
          </a:p>
        </p:txBody>
      </p:sp>
      <p:sp>
        <p:nvSpPr>
          <p:cNvPr id="4" name="Text 2"/>
          <p:cNvSpPr/>
          <p:nvPr/>
        </p:nvSpPr>
        <p:spPr>
          <a:xfrm>
            <a:off x="400050" y="675084"/>
            <a:ext cx="8636000" cy="337060"/>
          </a:xfrm>
          <a:prstGeom prst="rect">
            <a:avLst/>
          </a:prstGeom>
          <a:noFill/>
          <a:ln/>
        </p:spPr>
        <p:txBody>
          <a:bodyPr wrap="none" lIns="0" tIns="0" rIns="0" bIns="0" rtlCol="0" anchor="t"/>
          <a:lstStyle/>
          <a:p>
            <a:pPr algn="l" indent="0" marL="0">
              <a:lnSpc>
                <a:spcPts val="2458"/>
              </a:lnSpc>
              <a:buNone/>
            </a:pPr>
            <a:r>
              <a:rPr lang="en-US" sz="2138" b="1" spc="-32" kern="0" dirty="0">
                <a:solidFill>
                  <a:srgbClr val="1A1A1A"/>
                </a:solidFill>
                <a:latin typeface="Carlito" pitchFamily="34" charset="0"/>
                <a:ea typeface="Carlito" pitchFamily="34" charset="-122"/>
                <a:cs typeface="Carlito" pitchFamily="34" charset="-120"/>
              </a:rPr>
              <a:t>Живые сцены: люди и район</a:t>
            </a:r>
            <a:endParaRPr lang="en-US" sz="2138" dirty="0"/>
          </a:p>
        </p:txBody>
      </p:sp>
      <p:sp>
        <p:nvSpPr>
          <p:cNvPr id="5" name="Text 3"/>
          <p:cNvSpPr/>
          <p:nvPr/>
        </p:nvSpPr>
        <p:spPr>
          <a:xfrm>
            <a:off x="400050" y="1153269"/>
            <a:ext cx="64294" cy="64294"/>
          </a:xfrm>
          <a:prstGeom prst="roundRect">
            <a:avLst>
              <a:gd name="adj" fmla="val 44444"/>
            </a:avLst>
          </a:prstGeom>
          <a:solidFill>
            <a:srgbClr val="D4A854"/>
          </a:solidFill>
          <a:ln/>
        </p:spPr>
        <p:txBody>
          <a:bodyPr wrap="square" rtlCol="0" anchor="ctr"/>
          <a:lstStyle/>
          <a:p>
            <a:pPr indent="0" marL="0">
              <a:buNone/>
            </a:pPr>
            <a:endParaRPr lang="en-US" dirty="0"/>
          </a:p>
        </p:txBody>
      </p:sp>
      <p:sp>
        <p:nvSpPr>
          <p:cNvPr id="6" name="Text 4"/>
          <p:cNvSpPr/>
          <p:nvPr/>
        </p:nvSpPr>
        <p:spPr>
          <a:xfrm>
            <a:off x="528638" y="1115764"/>
            <a:ext cx="937338" cy="164592"/>
          </a:xfrm>
          <a:prstGeom prst="rect">
            <a:avLst/>
          </a:prstGeom>
          <a:noFill/>
          <a:ln/>
        </p:spPr>
        <p:txBody>
          <a:bodyPr wrap="none" lIns="0" tIns="0" rIns="0" bIns="0" rtlCol="0" anchor="t"/>
          <a:lstStyle/>
          <a:p>
            <a:pPr algn="l" indent="0" marL="0">
              <a:lnSpc>
                <a:spcPts val="1097"/>
              </a:lnSpc>
              <a:buNone/>
            </a:pPr>
            <a:r>
              <a:rPr lang="en-US" sz="800" b="1" spc="15" kern="0" dirty="0">
                <a:solidFill>
                  <a:srgbClr val="1A1A1A"/>
                </a:solidFill>
                <a:latin typeface="Carlito" pitchFamily="34" charset="0"/>
                <a:ea typeface="Carlito" pitchFamily="34" charset="-122"/>
                <a:cs typeface="Carlito" pitchFamily="34" charset="-120"/>
              </a:rPr>
              <a:t>Соседи за кофе</a:t>
            </a:r>
            <a:endParaRPr lang="en-US" sz="800" dirty="0"/>
          </a:p>
        </p:txBody>
      </p:sp>
      <p:sp>
        <p:nvSpPr>
          <p:cNvPr id="7" name="Text 5"/>
          <p:cNvSpPr/>
          <p:nvPr/>
        </p:nvSpPr>
        <p:spPr>
          <a:xfrm>
            <a:off x="1342802" y="1181844"/>
            <a:ext cx="4400773" cy="7144"/>
          </a:xfrm>
          <a:prstGeom prst="rect">
            <a:avLst/>
          </a:prstGeom>
          <a:solidFill>
            <a:srgbClr val="1A1A1A">
              <a:alpha val="8000"/>
            </a:srgbClr>
          </a:solidFill>
          <a:ln/>
        </p:spPr>
        <p:txBody>
          <a:bodyPr wrap="square" rtlCol="0" anchor="ctr"/>
          <a:lstStyle/>
          <a:p>
            <a:pPr indent="0" marL="0">
              <a:buNone/>
            </a:pPr>
            <a:endParaRPr lang="en-US" dirty="0"/>
          </a:p>
        </p:txBody>
      </p:sp>
      <p:sp>
        <p:nvSpPr>
          <p:cNvPr id="8" name="Text 6"/>
          <p:cNvSpPr/>
          <p:nvPr/>
        </p:nvSpPr>
        <p:spPr>
          <a:xfrm>
            <a:off x="400050" y="1312218"/>
            <a:ext cx="5343525" cy="614363"/>
          </a:xfrm>
          <a:prstGeom prst="roundRect">
            <a:avLst>
              <a:gd name="adj" fmla="val 18605"/>
            </a:avLst>
          </a:prstGeom>
          <a:solidFill>
            <a:srgbClr val="262023"/>
          </a:solidFill>
          <a:ln/>
        </p:spPr>
        <p:txBody>
          <a:bodyPr wrap="square" rtlCol="0" anchor="ctr"/>
          <a:lstStyle/>
          <a:p>
            <a:pPr indent="0" marL="0">
              <a:buNone/>
            </a:pPr>
            <a:endParaRPr lang="en-US" dirty="0"/>
          </a:p>
        </p:txBody>
      </p:sp>
      <p:sp>
        <p:nvSpPr>
          <p:cNvPr id="9" name="Text 7"/>
          <p:cNvSpPr/>
          <p:nvPr/>
        </p:nvSpPr>
        <p:spPr>
          <a:xfrm>
            <a:off x="514350" y="1572964"/>
            <a:ext cx="4946042" cy="296266"/>
          </a:xfrm>
          <a:prstGeom prst="rect">
            <a:avLst/>
          </a:prstGeom>
          <a:noFill/>
          <a:ln/>
        </p:spPr>
        <p:txBody>
          <a:bodyPr wrap="square" lIns="114300" tIns="92869" rIns="114300" bIns="92869" rtlCol="0" anchor="t"/>
          <a:lstStyle/>
          <a:p>
            <a:pPr algn="l" indent="0" marL="0">
              <a:lnSpc>
                <a:spcPts val="1055"/>
              </a:lnSpc>
              <a:buNone/>
            </a:pPr>
            <a:r>
              <a:rPr lang="en-US" sz="703" dirty="0">
                <a:solidFill>
                  <a:srgbClr val="F8F8F8"/>
                </a:solidFill>
                <a:latin typeface="Courier New" pitchFamily="34" charset="0"/>
                <a:ea typeface="Courier New" pitchFamily="34" charset="-122"/>
                <a:cs typeface="Courier New" pitchFamily="34" charset="-120"/>
              </a:rPr>
              <a:t>Two neighbors chatting and laughing with coffee cups at a small cafe terrace on a tree-lined street, dappled sunlight, genuine candid moment, photorealistic documentary style, --ar 4:5</a:t>
            </a:r>
            <a:endParaRPr lang="en-US" sz="703" dirty="0"/>
          </a:p>
        </p:txBody>
      </p:sp>
      <p:sp>
        <p:nvSpPr>
          <p:cNvPr id="10" name="Text 8"/>
          <p:cNvSpPr/>
          <p:nvPr/>
        </p:nvSpPr>
        <p:spPr>
          <a:xfrm>
            <a:off x="514350" y="1405086"/>
            <a:ext cx="5114925" cy="164592"/>
          </a:xfrm>
          <a:prstGeom prst="rect">
            <a:avLst/>
          </a:prstGeom>
          <a:noFill/>
          <a:ln/>
        </p:spPr>
        <p:txBody>
          <a:bodyPr wrap="none" lIns="0" tIns="0" rIns="0" bIns="0" rtlCol="0" anchor="t"/>
          <a:lstStyle/>
          <a:p>
            <a:pPr algn="l" indent="0" marL="0">
              <a:lnSpc>
                <a:spcPts val="928"/>
              </a:lnSpc>
              <a:buNone/>
            </a:pPr>
            <a:r>
              <a:rPr lang="en-US" sz="800" b="1" spc="62" kern="0" dirty="0">
                <a:solidFill>
                  <a:srgbClr val="D4A854"/>
                </a:solidFill>
                <a:latin typeface="Carlito" pitchFamily="34" charset="0"/>
                <a:ea typeface="Carlito" pitchFamily="34" charset="-122"/>
                <a:cs typeface="Carlito" pitchFamily="34" charset="-120"/>
              </a:rPr>
              <a:t>EN</a:t>
            </a:r>
            <a:endParaRPr lang="en-US" sz="800" dirty="0"/>
          </a:p>
        </p:txBody>
      </p:sp>
      <p:sp>
        <p:nvSpPr>
          <p:cNvPr id="11" name="Text 9"/>
          <p:cNvSpPr/>
          <p:nvPr/>
        </p:nvSpPr>
        <p:spPr>
          <a:xfrm>
            <a:off x="403622" y="1987302"/>
            <a:ext cx="5336381" cy="755452"/>
          </a:xfrm>
          <a:prstGeom prst="roundRect">
            <a:avLst>
              <a:gd name="adj" fmla="val 15130"/>
            </a:avLst>
          </a:prstGeom>
          <a:solidFill>
            <a:srgbClr val="F8F8F8"/>
          </a:solidFill>
          <a:ln w="7144">
            <a:solidFill>
              <a:srgbClr val="1A1A1A"/>
            </a:solidFill>
            <a:prstDash val="solid"/>
          </a:ln>
        </p:spPr>
        <p:txBody>
          <a:bodyPr wrap="square" rtlCol="0" anchor="ctr"/>
          <a:lstStyle/>
          <a:p>
            <a:pPr indent="0" marL="0">
              <a:buNone/>
            </a:pPr>
            <a:endParaRPr lang="en-US" dirty="0"/>
          </a:p>
        </p:txBody>
      </p:sp>
      <p:sp>
        <p:nvSpPr>
          <p:cNvPr id="12" name="Text 10"/>
          <p:cNvSpPr/>
          <p:nvPr/>
        </p:nvSpPr>
        <p:spPr>
          <a:xfrm>
            <a:off x="521494" y="2251621"/>
            <a:ext cx="4892353" cy="460858"/>
          </a:xfrm>
          <a:prstGeom prst="rect">
            <a:avLst/>
          </a:prstGeom>
          <a:noFill/>
          <a:ln/>
        </p:spPr>
        <p:txBody>
          <a:bodyPr wrap="square" lIns="114300" tIns="92869" rIns="114300" bIns="92869" rtlCol="0" anchor="t"/>
          <a:lstStyle/>
          <a:p>
            <a:pPr algn="l" indent="0" marL="0">
              <a:lnSpc>
                <a:spcPts val="1055"/>
              </a:lnSpc>
              <a:buNone/>
            </a:pPr>
            <a:r>
              <a:rPr lang="en-US" sz="800" dirty="0">
                <a:solidFill>
                  <a:srgbClr val="1A1A1A"/>
                </a:solidFill>
                <a:latin typeface="Courier New" pitchFamily="34" charset="0"/>
                <a:ea typeface="Courier New" pitchFamily="34" charset="-122"/>
                <a:cs typeface="Courier New" pitchFamily="34" charset="-120"/>
              </a:rPr>
              <a:t>Двое соседей беседуют и смеются с чашками кофе на террасе маленького кафе на зелёной улице, пятнистый солнечный свет, искренний непостановочный момент, фотореалистичный документальный стиль, --ar 4:5</a:t>
            </a:r>
            <a:endParaRPr lang="en-US" sz="800" dirty="0"/>
          </a:p>
        </p:txBody>
      </p:sp>
      <p:sp>
        <p:nvSpPr>
          <p:cNvPr id="13" name="Text 11"/>
          <p:cNvSpPr/>
          <p:nvPr/>
        </p:nvSpPr>
        <p:spPr>
          <a:xfrm>
            <a:off x="521494" y="2083743"/>
            <a:ext cx="5100638" cy="164592"/>
          </a:xfrm>
          <a:prstGeom prst="rect">
            <a:avLst/>
          </a:prstGeom>
          <a:noFill/>
          <a:ln/>
        </p:spPr>
        <p:txBody>
          <a:bodyPr wrap="none" lIns="0" tIns="0" rIns="0" bIns="0" rtlCol="0" anchor="t"/>
          <a:lstStyle/>
          <a:p>
            <a:pPr algn="l" indent="0" marL="0">
              <a:lnSpc>
                <a:spcPts val="928"/>
              </a:lnSpc>
              <a:buNone/>
            </a:pPr>
            <a:r>
              <a:rPr lang="en-US" sz="800" b="1" spc="62" kern="0" dirty="0">
                <a:solidFill>
                  <a:srgbClr val="C92A6A"/>
                </a:solidFill>
                <a:latin typeface="Carlito" pitchFamily="34" charset="0"/>
                <a:ea typeface="Carlito" pitchFamily="34" charset="-122"/>
                <a:cs typeface="Carlito" pitchFamily="34" charset="-120"/>
              </a:rPr>
              <a:t>RU</a:t>
            </a:r>
            <a:endParaRPr lang="en-US" sz="800" dirty="0"/>
          </a:p>
        </p:txBody>
      </p:sp>
      <p:sp>
        <p:nvSpPr>
          <p:cNvPr id="14" name="Text 12"/>
          <p:cNvSpPr/>
          <p:nvPr/>
        </p:nvSpPr>
        <p:spPr>
          <a:xfrm>
            <a:off x="400050" y="3150394"/>
            <a:ext cx="64294" cy="64294"/>
          </a:xfrm>
          <a:prstGeom prst="roundRect">
            <a:avLst>
              <a:gd name="adj" fmla="val 44444"/>
            </a:avLst>
          </a:prstGeom>
          <a:solidFill>
            <a:srgbClr val="D4A854"/>
          </a:solidFill>
          <a:ln/>
        </p:spPr>
        <p:txBody>
          <a:bodyPr wrap="square" rtlCol="0" anchor="ctr"/>
          <a:lstStyle/>
          <a:p>
            <a:pPr indent="0" marL="0">
              <a:buNone/>
            </a:pPr>
            <a:endParaRPr lang="en-US" dirty="0"/>
          </a:p>
        </p:txBody>
      </p:sp>
      <p:sp>
        <p:nvSpPr>
          <p:cNvPr id="15" name="Text 13"/>
          <p:cNvSpPr/>
          <p:nvPr/>
        </p:nvSpPr>
        <p:spPr>
          <a:xfrm>
            <a:off x="528638" y="3112889"/>
            <a:ext cx="966360" cy="164592"/>
          </a:xfrm>
          <a:prstGeom prst="rect">
            <a:avLst/>
          </a:prstGeom>
          <a:noFill/>
          <a:ln/>
        </p:spPr>
        <p:txBody>
          <a:bodyPr wrap="none" lIns="0" tIns="0" rIns="0" bIns="0" rtlCol="0" anchor="t"/>
          <a:lstStyle/>
          <a:p>
            <a:pPr algn="l" indent="0" marL="0">
              <a:lnSpc>
                <a:spcPts val="1097"/>
              </a:lnSpc>
              <a:buNone/>
            </a:pPr>
            <a:r>
              <a:rPr lang="en-US" sz="800" b="1" spc="15" kern="0" dirty="0">
                <a:solidFill>
                  <a:srgbClr val="1A1A1A"/>
                </a:solidFill>
                <a:latin typeface="Carlito" pitchFamily="34" charset="0"/>
                <a:ea typeface="Carlito" pitchFamily="34" charset="-122"/>
                <a:cs typeface="Carlito" pitchFamily="34" charset="-120"/>
              </a:rPr>
              <a:t>Семья на рынке</a:t>
            </a:r>
            <a:endParaRPr lang="en-US" sz="800" dirty="0"/>
          </a:p>
        </p:txBody>
      </p:sp>
      <p:sp>
        <p:nvSpPr>
          <p:cNvPr id="16" name="Text 14"/>
          <p:cNvSpPr/>
          <p:nvPr/>
        </p:nvSpPr>
        <p:spPr>
          <a:xfrm>
            <a:off x="1366019" y="3178969"/>
            <a:ext cx="4377556" cy="7144"/>
          </a:xfrm>
          <a:prstGeom prst="rect">
            <a:avLst/>
          </a:prstGeom>
          <a:solidFill>
            <a:srgbClr val="1A1A1A">
              <a:alpha val="8000"/>
            </a:srgbClr>
          </a:solidFill>
          <a:ln/>
        </p:spPr>
        <p:txBody>
          <a:bodyPr wrap="square" rtlCol="0" anchor="ctr"/>
          <a:lstStyle/>
          <a:p>
            <a:pPr indent="0" marL="0">
              <a:buNone/>
            </a:pPr>
            <a:endParaRPr lang="en-US" dirty="0"/>
          </a:p>
        </p:txBody>
      </p:sp>
      <p:sp>
        <p:nvSpPr>
          <p:cNvPr id="17" name="Text 15"/>
          <p:cNvSpPr/>
          <p:nvPr/>
        </p:nvSpPr>
        <p:spPr>
          <a:xfrm>
            <a:off x="400050" y="3309342"/>
            <a:ext cx="5343525" cy="614363"/>
          </a:xfrm>
          <a:prstGeom prst="roundRect">
            <a:avLst>
              <a:gd name="adj" fmla="val 18605"/>
            </a:avLst>
          </a:prstGeom>
          <a:solidFill>
            <a:srgbClr val="262023"/>
          </a:solidFill>
          <a:ln/>
        </p:spPr>
        <p:txBody>
          <a:bodyPr wrap="square" rtlCol="0" anchor="ctr"/>
          <a:lstStyle/>
          <a:p>
            <a:pPr indent="0" marL="0">
              <a:buNone/>
            </a:pPr>
            <a:endParaRPr lang="en-US" dirty="0"/>
          </a:p>
        </p:txBody>
      </p:sp>
      <p:sp>
        <p:nvSpPr>
          <p:cNvPr id="18" name="Text 16"/>
          <p:cNvSpPr/>
          <p:nvPr/>
        </p:nvSpPr>
        <p:spPr>
          <a:xfrm>
            <a:off x="514350" y="3570089"/>
            <a:ext cx="5107335" cy="296266"/>
          </a:xfrm>
          <a:prstGeom prst="rect">
            <a:avLst/>
          </a:prstGeom>
          <a:noFill/>
          <a:ln/>
        </p:spPr>
        <p:txBody>
          <a:bodyPr wrap="square" lIns="114300" tIns="92869" rIns="114300" bIns="92869" rtlCol="0" anchor="t"/>
          <a:lstStyle/>
          <a:p>
            <a:pPr algn="l" indent="0" marL="0">
              <a:lnSpc>
                <a:spcPts val="1055"/>
              </a:lnSpc>
              <a:buNone/>
            </a:pPr>
            <a:r>
              <a:rPr lang="en-US" sz="703" dirty="0">
                <a:solidFill>
                  <a:srgbClr val="F8F8F8"/>
                </a:solidFill>
                <a:latin typeface="Courier New" pitchFamily="34" charset="0"/>
                <a:ea typeface="Courier New" pitchFamily="34" charset="-122"/>
                <a:cs typeface="Courier New" pitchFamily="34" charset="-120"/>
              </a:rPr>
              <a:t>A family choosing fresh vegetables at a local farmers market stall, vendor handing produce with a smile, vibrant colors, sunny weekend morning, photorealistic lifestyle photography, --ar 4:5</a:t>
            </a:r>
            <a:endParaRPr lang="en-US" sz="703" dirty="0"/>
          </a:p>
        </p:txBody>
      </p:sp>
      <p:sp>
        <p:nvSpPr>
          <p:cNvPr id="19" name="Text 17"/>
          <p:cNvSpPr/>
          <p:nvPr/>
        </p:nvSpPr>
        <p:spPr>
          <a:xfrm>
            <a:off x="514350" y="3402211"/>
            <a:ext cx="5114925" cy="164592"/>
          </a:xfrm>
          <a:prstGeom prst="rect">
            <a:avLst/>
          </a:prstGeom>
          <a:noFill/>
          <a:ln/>
        </p:spPr>
        <p:txBody>
          <a:bodyPr wrap="none" lIns="0" tIns="0" rIns="0" bIns="0" rtlCol="0" anchor="t"/>
          <a:lstStyle/>
          <a:p>
            <a:pPr algn="l" indent="0" marL="0">
              <a:lnSpc>
                <a:spcPts val="928"/>
              </a:lnSpc>
              <a:buNone/>
            </a:pPr>
            <a:r>
              <a:rPr lang="en-US" sz="800" b="1" spc="62" kern="0" dirty="0">
                <a:solidFill>
                  <a:srgbClr val="D4A854"/>
                </a:solidFill>
                <a:latin typeface="Carlito" pitchFamily="34" charset="0"/>
                <a:ea typeface="Carlito" pitchFamily="34" charset="-122"/>
                <a:cs typeface="Carlito" pitchFamily="34" charset="-120"/>
              </a:rPr>
              <a:t>EN</a:t>
            </a:r>
            <a:endParaRPr lang="en-US" sz="800" dirty="0"/>
          </a:p>
        </p:txBody>
      </p:sp>
      <p:sp>
        <p:nvSpPr>
          <p:cNvPr id="20" name="Text 18"/>
          <p:cNvSpPr/>
          <p:nvPr/>
        </p:nvSpPr>
        <p:spPr>
          <a:xfrm>
            <a:off x="403622" y="3984427"/>
            <a:ext cx="5336381" cy="755452"/>
          </a:xfrm>
          <a:prstGeom prst="roundRect">
            <a:avLst>
              <a:gd name="adj" fmla="val 15130"/>
            </a:avLst>
          </a:prstGeom>
          <a:solidFill>
            <a:srgbClr val="F8F8F8"/>
          </a:solidFill>
          <a:ln w="7144">
            <a:solidFill>
              <a:srgbClr val="1A1A1A"/>
            </a:solidFill>
            <a:prstDash val="solid"/>
          </a:ln>
        </p:spPr>
        <p:txBody>
          <a:bodyPr wrap="square" rtlCol="0" anchor="ctr"/>
          <a:lstStyle/>
          <a:p>
            <a:pPr indent="0" marL="0">
              <a:buNone/>
            </a:pPr>
            <a:endParaRPr lang="en-US" dirty="0"/>
          </a:p>
        </p:txBody>
      </p:sp>
      <p:sp>
        <p:nvSpPr>
          <p:cNvPr id="21" name="Text 19"/>
          <p:cNvSpPr/>
          <p:nvPr/>
        </p:nvSpPr>
        <p:spPr>
          <a:xfrm>
            <a:off x="521494" y="4248745"/>
            <a:ext cx="4999844" cy="460858"/>
          </a:xfrm>
          <a:prstGeom prst="rect">
            <a:avLst/>
          </a:prstGeom>
          <a:noFill/>
          <a:ln/>
        </p:spPr>
        <p:txBody>
          <a:bodyPr wrap="square" lIns="114300" tIns="92869" rIns="114300" bIns="92869" rtlCol="0" anchor="t"/>
          <a:lstStyle/>
          <a:p>
            <a:pPr algn="l" indent="0" marL="0">
              <a:lnSpc>
                <a:spcPts val="1055"/>
              </a:lnSpc>
              <a:buNone/>
            </a:pPr>
            <a:r>
              <a:rPr lang="en-US" sz="800" dirty="0">
                <a:solidFill>
                  <a:srgbClr val="1A1A1A"/>
                </a:solidFill>
                <a:latin typeface="Courier New" pitchFamily="34" charset="0"/>
                <a:ea typeface="Courier New" pitchFamily="34" charset="-122"/>
                <a:cs typeface="Courier New" pitchFamily="34" charset="-120"/>
              </a:rPr>
              <a:t>Семья выбирает свежие овощи на прилавке районного фермерского рынка, продавец с улыбкой передаёт продукцию, сочные цвета, солнечное выходное утро, фотореалистичная lifestyle-съёмка, --ar 4:5</a:t>
            </a:r>
            <a:endParaRPr lang="en-US" sz="800" dirty="0"/>
          </a:p>
        </p:txBody>
      </p:sp>
      <p:sp>
        <p:nvSpPr>
          <p:cNvPr id="22" name="Text 20"/>
          <p:cNvSpPr/>
          <p:nvPr/>
        </p:nvSpPr>
        <p:spPr>
          <a:xfrm>
            <a:off x="521494" y="4080867"/>
            <a:ext cx="5100638" cy="164592"/>
          </a:xfrm>
          <a:prstGeom prst="rect">
            <a:avLst/>
          </a:prstGeom>
          <a:noFill/>
          <a:ln/>
        </p:spPr>
        <p:txBody>
          <a:bodyPr wrap="none" lIns="0" tIns="0" rIns="0" bIns="0" rtlCol="0" anchor="t"/>
          <a:lstStyle/>
          <a:p>
            <a:pPr algn="l" indent="0" marL="0">
              <a:lnSpc>
                <a:spcPts val="928"/>
              </a:lnSpc>
              <a:buNone/>
            </a:pPr>
            <a:r>
              <a:rPr lang="en-US" sz="800" b="1" spc="62" kern="0" dirty="0">
                <a:solidFill>
                  <a:srgbClr val="C92A6A"/>
                </a:solidFill>
                <a:latin typeface="Carlito" pitchFamily="34" charset="0"/>
                <a:ea typeface="Carlito" pitchFamily="34" charset="-122"/>
                <a:cs typeface="Carlito" pitchFamily="34" charset="-120"/>
              </a:rPr>
              <a:t>RU</a:t>
            </a:r>
            <a:endParaRPr lang="en-US" sz="800" dirty="0"/>
          </a:p>
        </p:txBody>
      </p:sp>
      <p:pic>
        <p:nvPicPr>
          <p:cNvPr id="23" name="Image 0" descr="/tmp/h2p-fit-1788292687179-eop79z.png">    </p:cNvPr>
          <p:cNvPicPr>
            <a:picLocks noChangeAspect="1"/>
          </p:cNvPicPr>
          <p:nvPr/>
        </p:nvPicPr>
        <p:blipFill>
          <a:blip r:embed="rId1"/>
          <a:stretch>
            <a:fillRect/>
          </a:stretch>
        </p:blipFill>
        <p:spPr>
          <a:xfrm>
            <a:off x="5915025" y="1115764"/>
            <a:ext cx="2828925" cy="3442395"/>
          </a:xfrm>
          <a:prstGeom prst="rect">
            <a:avLst/>
          </a:prstGeom>
        </p:spPr>
      </p:pic>
      <p:sp>
        <p:nvSpPr>
          <p:cNvPr id="24" name="Text 21"/>
          <p:cNvSpPr/>
          <p:nvPr/>
        </p:nvSpPr>
        <p:spPr>
          <a:xfrm>
            <a:off x="5915025" y="4629596"/>
            <a:ext cx="2828925" cy="158981"/>
          </a:xfrm>
          <a:prstGeom prst="rect">
            <a:avLst/>
          </a:prstGeom>
          <a:noFill/>
          <a:ln/>
        </p:spPr>
        <p:txBody>
          <a:bodyPr wrap="square" lIns="0" tIns="0" rIns="0" bIns="0" rtlCol="0" anchor="t"/>
          <a:lstStyle/>
          <a:p>
            <a:pPr algn="l" indent="0" marL="0">
              <a:lnSpc>
                <a:spcPts val="897"/>
              </a:lnSpc>
              <a:buNone/>
            </a:pPr>
            <a:r>
              <a:rPr lang="en-US" sz="619" dirty="0">
                <a:solidFill>
                  <a:srgbClr val="888888"/>
                </a:solidFill>
                <a:latin typeface="Carlito" pitchFamily="34" charset="0"/>
                <a:ea typeface="Carlito" pitchFamily="34" charset="-122"/>
                <a:cs typeface="Carlito" pitchFamily="34" charset="-120"/>
              </a:rPr>
              <a:t>Рынок, терраса, двор — сцены, в которых житель узнаёт свой район</a:t>
            </a:r>
            <a:endParaRPr lang="en-US" sz="619"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28625" y="400050"/>
            <a:ext cx="8636000" cy="161877"/>
          </a:xfrm>
          <a:prstGeom prst="rect">
            <a:avLst/>
          </a:prstGeom>
          <a:noFill/>
          <a:ln/>
        </p:spPr>
        <p:txBody>
          <a:bodyPr wrap="none" lIns="0" tIns="0" rIns="0" bIns="0" rtlCol="0" anchor="t">
            <a:normAutofit/>
          </a:bodyPr>
          <a:lstStyle/>
          <a:p>
            <a:pPr algn="l" indent="0" marL="0">
              <a:lnSpc>
                <a:spcPts val="928"/>
              </a:lnSpc>
              <a:buNone/>
            </a:pPr>
            <a:r>
              <a:rPr lang="en-US" sz="800" b="1" spc="87" kern="0" dirty="0">
                <a:solidFill>
                  <a:srgbClr val="C92A6A"/>
                </a:solidFill>
                <a:latin typeface="Carlito" pitchFamily="34" charset="0"/>
                <a:ea typeface="Carlito" pitchFamily="34" charset="-122"/>
                <a:cs typeface="Carlito" pitchFamily="34" charset="-120"/>
              </a:rPr>
              <a:t>ТЕХНИКА</a:t>
            </a:r>
            <a:endParaRPr lang="en-US" sz="800" dirty="0"/>
          </a:p>
        </p:txBody>
      </p:sp>
      <p:sp>
        <p:nvSpPr>
          <p:cNvPr id="3" name="Text 1"/>
          <p:cNvSpPr/>
          <p:nvPr/>
        </p:nvSpPr>
        <p:spPr>
          <a:xfrm>
            <a:off x="428625" y="589359"/>
            <a:ext cx="8636000" cy="337060"/>
          </a:xfrm>
          <a:prstGeom prst="rect">
            <a:avLst/>
          </a:prstGeom>
          <a:noFill/>
          <a:ln/>
        </p:spPr>
        <p:txBody>
          <a:bodyPr wrap="none" lIns="0" tIns="0" rIns="0" bIns="0" rtlCol="0" anchor="t"/>
          <a:lstStyle/>
          <a:p>
            <a:pPr algn="l" indent="0" marL="0">
              <a:lnSpc>
                <a:spcPts val="2458"/>
              </a:lnSpc>
              <a:buNone/>
            </a:pPr>
            <a:r>
              <a:rPr lang="en-US" sz="2138" b="1" spc="-32" kern="0" dirty="0">
                <a:solidFill>
                  <a:srgbClr val="1A1A1A"/>
                </a:solidFill>
                <a:latin typeface="Carlito" pitchFamily="34" charset="0"/>
                <a:ea typeface="Carlito" pitchFamily="34" charset="-122"/>
                <a:cs typeface="Carlito" pitchFamily="34" charset="-120"/>
              </a:rPr>
              <a:t>Форматы и техпараметры</a:t>
            </a:r>
            <a:endParaRPr lang="en-US" sz="2138" dirty="0"/>
          </a:p>
        </p:txBody>
      </p:sp>
      <p:sp>
        <p:nvSpPr>
          <p:cNvPr id="4" name="Text 2"/>
          <p:cNvSpPr/>
          <p:nvPr/>
        </p:nvSpPr>
        <p:spPr>
          <a:xfrm>
            <a:off x="428625" y="1101477"/>
            <a:ext cx="1964531" cy="1257300"/>
          </a:xfrm>
          <a:prstGeom prst="roundRect">
            <a:avLst>
              <a:gd name="adj" fmla="val 9091"/>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5" name="Text 3"/>
          <p:cNvSpPr/>
          <p:nvPr/>
        </p:nvSpPr>
        <p:spPr>
          <a:xfrm>
            <a:off x="600075" y="1258639"/>
            <a:ext cx="1421606" cy="300895"/>
          </a:xfrm>
          <a:prstGeom prst="rect">
            <a:avLst/>
          </a:prstGeom>
          <a:noFill/>
          <a:ln/>
        </p:spPr>
        <p:txBody>
          <a:bodyPr wrap="none" lIns="0" tIns="0" rIns="0" bIns="0" rtlCol="0" anchor="t"/>
          <a:lstStyle/>
          <a:p>
            <a:pPr algn="l" indent="0" marL="0">
              <a:lnSpc>
                <a:spcPts val="2194"/>
              </a:lnSpc>
              <a:buNone/>
            </a:pPr>
            <a:r>
              <a:rPr lang="en-US" sz="1463" b="1" spc="-15" kern="0" dirty="0">
                <a:solidFill>
                  <a:srgbClr val="F64A8A"/>
                </a:solidFill>
                <a:latin typeface="Liberation Sans Narrow" pitchFamily="34" charset="0"/>
                <a:ea typeface="Liberation Sans Narrow" pitchFamily="34" charset="-122"/>
                <a:cs typeface="Liberation Sans Narrow" pitchFamily="34" charset="-120"/>
              </a:rPr>
              <a:t>--ar 16:9</a:t>
            </a:r>
            <a:endParaRPr lang="en-US" sz="1463" dirty="0"/>
          </a:p>
        </p:txBody>
      </p:sp>
      <p:sp>
        <p:nvSpPr>
          <p:cNvPr id="6" name="Text 4"/>
          <p:cNvSpPr/>
          <p:nvPr/>
        </p:nvSpPr>
        <p:spPr>
          <a:xfrm>
            <a:off x="2050256" y="1258639"/>
            <a:ext cx="171450" cy="171450"/>
          </a:xfrm>
          <a:prstGeom prst="rect">
            <a:avLst/>
          </a:prstGeom>
          <a:noFill/>
          <a:ln/>
        </p:spPr>
        <p:txBody>
          <a:bodyPr wrap="none" lIns="0" tIns="0" rIns="0" bIns="0" rtlCol="0" anchor="ctr"/>
          <a:lstStyle/>
          <a:p>
            <a:pPr algn="ctr" indent="0" marL="0">
              <a:buNone/>
            </a:pPr>
            <a:r>
              <a:rPr lang="en-US" sz="1688" dirty="0">
                <a:solidFill>
                  <a:srgbClr val="F64A8A"/>
                </a:solidFill>
                <a:latin typeface="Segoe UI Symbol" pitchFamily="34" charset="0"/>
                <a:ea typeface="Segoe UI Symbol" pitchFamily="34" charset="-122"/>
                <a:cs typeface="Segoe UI Symbol" pitchFamily="34" charset="-120"/>
              </a:rPr>
              <a:t>✦</a:t>
            </a:r>
            <a:endParaRPr lang="en-US" sz="1688" dirty="0"/>
          </a:p>
        </p:txBody>
      </p:sp>
      <p:sp>
        <p:nvSpPr>
          <p:cNvPr id="7" name="Text 5"/>
          <p:cNvSpPr/>
          <p:nvPr/>
        </p:nvSpPr>
        <p:spPr>
          <a:xfrm>
            <a:off x="600075" y="2062311"/>
            <a:ext cx="1621631" cy="139303"/>
          </a:xfrm>
          <a:prstGeom prst="rect">
            <a:avLst/>
          </a:prstGeom>
          <a:noFill/>
          <a:ln/>
        </p:spPr>
        <p:txBody>
          <a:bodyPr wrap="none" lIns="0" tIns="0" rIns="0" bIns="0" rtlCol="0" anchor="t"/>
          <a:lstStyle/>
          <a:p>
            <a:pPr algn="l" indent="0" marL="0">
              <a:lnSpc>
                <a:spcPts val="1097"/>
              </a:lnSpc>
              <a:buNone/>
            </a:pPr>
            <a:r>
              <a:rPr lang="en-US" sz="800" dirty="0">
                <a:solidFill>
                  <a:srgbClr val="888888"/>
                </a:solidFill>
                <a:latin typeface="Carlito" pitchFamily="34" charset="0"/>
                <a:ea typeface="Carlito" pitchFamily="34" charset="-122"/>
                <a:cs typeface="Carlito" pitchFamily="34" charset="-120"/>
              </a:rPr>
              <a:t>Баннер сайта</a:t>
            </a:r>
            <a:endParaRPr lang="en-US" sz="800" dirty="0"/>
          </a:p>
        </p:txBody>
      </p:sp>
      <p:sp>
        <p:nvSpPr>
          <p:cNvPr id="8" name="Text 6"/>
          <p:cNvSpPr/>
          <p:nvPr/>
        </p:nvSpPr>
        <p:spPr>
          <a:xfrm>
            <a:off x="2536031" y="1101477"/>
            <a:ext cx="1964531" cy="1257300"/>
          </a:xfrm>
          <a:prstGeom prst="roundRect">
            <a:avLst>
              <a:gd name="adj" fmla="val 9091"/>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9" name="Text 7"/>
          <p:cNvSpPr/>
          <p:nvPr/>
        </p:nvSpPr>
        <p:spPr>
          <a:xfrm>
            <a:off x="2707481" y="1258639"/>
            <a:ext cx="1421606" cy="300895"/>
          </a:xfrm>
          <a:prstGeom prst="rect">
            <a:avLst/>
          </a:prstGeom>
          <a:noFill/>
          <a:ln/>
        </p:spPr>
        <p:txBody>
          <a:bodyPr wrap="none" lIns="0" tIns="0" rIns="0" bIns="0" rtlCol="0" anchor="t"/>
          <a:lstStyle/>
          <a:p>
            <a:pPr algn="l" indent="0" marL="0">
              <a:lnSpc>
                <a:spcPts val="2194"/>
              </a:lnSpc>
              <a:buNone/>
            </a:pPr>
            <a:r>
              <a:rPr lang="en-US" sz="1463" b="1" spc="-15" kern="0" dirty="0">
                <a:solidFill>
                  <a:srgbClr val="07807C"/>
                </a:solidFill>
                <a:latin typeface="Liberation Sans Narrow" pitchFamily="34" charset="0"/>
                <a:ea typeface="Liberation Sans Narrow" pitchFamily="34" charset="-122"/>
                <a:cs typeface="Liberation Sans Narrow" pitchFamily="34" charset="-120"/>
              </a:rPr>
              <a:t>--ar 4:5</a:t>
            </a:r>
            <a:endParaRPr lang="en-US" sz="1463" dirty="0"/>
          </a:p>
        </p:txBody>
      </p:sp>
      <p:sp>
        <p:nvSpPr>
          <p:cNvPr id="10" name="Text 8"/>
          <p:cNvSpPr/>
          <p:nvPr/>
        </p:nvSpPr>
        <p:spPr>
          <a:xfrm>
            <a:off x="4157663" y="1258639"/>
            <a:ext cx="171450" cy="171450"/>
          </a:xfrm>
          <a:prstGeom prst="rect">
            <a:avLst/>
          </a:prstGeom>
          <a:noFill/>
          <a:ln/>
        </p:spPr>
        <p:txBody>
          <a:bodyPr wrap="none" lIns="0" tIns="0" rIns="0" bIns="0" rtlCol="0" anchor="ctr"/>
          <a:lstStyle/>
          <a:p>
            <a:pPr algn="ctr" indent="0" marL="0">
              <a:buNone/>
            </a:pPr>
            <a:r>
              <a:rPr lang="en-US" sz="1688" dirty="0">
                <a:solidFill>
                  <a:srgbClr val="07807C"/>
                </a:solidFill>
                <a:latin typeface="Segoe UI Symbol" pitchFamily="34" charset="0"/>
                <a:ea typeface="Segoe UI Symbol" pitchFamily="34" charset="-122"/>
                <a:cs typeface="Segoe UI Symbol" pitchFamily="34" charset="-120"/>
              </a:rPr>
              <a:t>✦</a:t>
            </a:r>
            <a:endParaRPr lang="en-US" sz="1688" dirty="0"/>
          </a:p>
        </p:txBody>
      </p:sp>
      <p:sp>
        <p:nvSpPr>
          <p:cNvPr id="11" name="Text 9"/>
          <p:cNvSpPr/>
          <p:nvPr/>
        </p:nvSpPr>
        <p:spPr>
          <a:xfrm>
            <a:off x="2707481" y="2062311"/>
            <a:ext cx="1621631" cy="139303"/>
          </a:xfrm>
          <a:prstGeom prst="rect">
            <a:avLst/>
          </a:prstGeom>
          <a:noFill/>
          <a:ln/>
        </p:spPr>
        <p:txBody>
          <a:bodyPr wrap="none" lIns="0" tIns="0" rIns="0" bIns="0" rtlCol="0" anchor="t"/>
          <a:lstStyle/>
          <a:p>
            <a:pPr algn="l" indent="0" marL="0">
              <a:lnSpc>
                <a:spcPts val="1097"/>
              </a:lnSpc>
              <a:buNone/>
            </a:pPr>
            <a:r>
              <a:rPr lang="en-US" sz="800" dirty="0">
                <a:solidFill>
                  <a:srgbClr val="888888"/>
                </a:solidFill>
                <a:latin typeface="Carlito" pitchFamily="34" charset="0"/>
                <a:ea typeface="Carlito" pitchFamily="34" charset="-122"/>
                <a:cs typeface="Carlito" pitchFamily="34" charset="-120"/>
              </a:rPr>
              <a:t>Пост ленты</a:t>
            </a:r>
            <a:endParaRPr lang="en-US" sz="800" dirty="0"/>
          </a:p>
        </p:txBody>
      </p:sp>
      <p:sp>
        <p:nvSpPr>
          <p:cNvPr id="12" name="Text 10"/>
          <p:cNvSpPr/>
          <p:nvPr/>
        </p:nvSpPr>
        <p:spPr>
          <a:xfrm>
            <a:off x="4643438" y="1101477"/>
            <a:ext cx="1964531" cy="1257300"/>
          </a:xfrm>
          <a:prstGeom prst="roundRect">
            <a:avLst>
              <a:gd name="adj" fmla="val 9091"/>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3" name="Text 11"/>
          <p:cNvSpPr/>
          <p:nvPr/>
        </p:nvSpPr>
        <p:spPr>
          <a:xfrm>
            <a:off x="4814888" y="1258639"/>
            <a:ext cx="1421606" cy="300895"/>
          </a:xfrm>
          <a:prstGeom prst="rect">
            <a:avLst/>
          </a:prstGeom>
          <a:noFill/>
          <a:ln/>
        </p:spPr>
        <p:txBody>
          <a:bodyPr wrap="none" lIns="0" tIns="0" rIns="0" bIns="0" rtlCol="0" anchor="t"/>
          <a:lstStyle/>
          <a:p>
            <a:pPr algn="l" indent="0" marL="0">
              <a:lnSpc>
                <a:spcPts val="2194"/>
              </a:lnSpc>
              <a:buNone/>
            </a:pPr>
            <a:r>
              <a:rPr lang="en-US" sz="1463" b="1" spc="-15" kern="0" dirty="0">
                <a:solidFill>
                  <a:srgbClr val="8A6A25"/>
                </a:solidFill>
                <a:latin typeface="Liberation Sans Narrow" pitchFamily="34" charset="0"/>
                <a:ea typeface="Liberation Sans Narrow" pitchFamily="34" charset="-122"/>
                <a:cs typeface="Liberation Sans Narrow" pitchFamily="34" charset="-120"/>
              </a:rPr>
              <a:t>--ar 9:16</a:t>
            </a:r>
            <a:endParaRPr lang="en-US" sz="1463" dirty="0"/>
          </a:p>
        </p:txBody>
      </p:sp>
      <p:sp>
        <p:nvSpPr>
          <p:cNvPr id="14" name="Text 12"/>
          <p:cNvSpPr/>
          <p:nvPr/>
        </p:nvSpPr>
        <p:spPr>
          <a:xfrm>
            <a:off x="6265069" y="1258639"/>
            <a:ext cx="171450" cy="171450"/>
          </a:xfrm>
          <a:prstGeom prst="rect">
            <a:avLst/>
          </a:prstGeom>
          <a:noFill/>
          <a:ln/>
        </p:spPr>
        <p:txBody>
          <a:bodyPr wrap="none" lIns="0" tIns="0" rIns="0" bIns="0" rtlCol="0" anchor="ctr"/>
          <a:lstStyle/>
          <a:p>
            <a:pPr algn="ctr" indent="0" marL="0">
              <a:buNone/>
            </a:pPr>
            <a:r>
              <a:rPr lang="en-US" sz="1688" dirty="0">
                <a:solidFill>
                  <a:srgbClr val="8A6A25"/>
                </a:solidFill>
                <a:latin typeface="Segoe UI Symbol" pitchFamily="34" charset="0"/>
                <a:ea typeface="Segoe UI Symbol" pitchFamily="34" charset="-122"/>
                <a:cs typeface="Segoe UI Symbol" pitchFamily="34" charset="-120"/>
              </a:rPr>
              <a:t>▯</a:t>
            </a:r>
            <a:endParaRPr lang="en-US" sz="1688" dirty="0"/>
          </a:p>
        </p:txBody>
      </p:sp>
      <p:sp>
        <p:nvSpPr>
          <p:cNvPr id="15" name="Text 13"/>
          <p:cNvSpPr/>
          <p:nvPr/>
        </p:nvSpPr>
        <p:spPr>
          <a:xfrm>
            <a:off x="4814888" y="2062311"/>
            <a:ext cx="1621631" cy="139303"/>
          </a:xfrm>
          <a:prstGeom prst="rect">
            <a:avLst/>
          </a:prstGeom>
          <a:noFill/>
          <a:ln/>
        </p:spPr>
        <p:txBody>
          <a:bodyPr wrap="none" lIns="0" tIns="0" rIns="0" bIns="0" rtlCol="0" anchor="t"/>
          <a:lstStyle/>
          <a:p>
            <a:pPr algn="l" indent="0" marL="0">
              <a:lnSpc>
                <a:spcPts val="1097"/>
              </a:lnSpc>
              <a:buNone/>
            </a:pPr>
            <a:r>
              <a:rPr lang="en-US" sz="800" dirty="0">
                <a:solidFill>
                  <a:srgbClr val="888888"/>
                </a:solidFill>
                <a:latin typeface="Carlito" pitchFamily="34" charset="0"/>
                <a:ea typeface="Carlito" pitchFamily="34" charset="-122"/>
                <a:cs typeface="Carlito" pitchFamily="34" charset="-120"/>
              </a:rPr>
              <a:t>Сторис и клипы</a:t>
            </a:r>
            <a:endParaRPr lang="en-US" sz="800" dirty="0"/>
          </a:p>
        </p:txBody>
      </p:sp>
      <p:sp>
        <p:nvSpPr>
          <p:cNvPr id="16" name="Text 14"/>
          <p:cNvSpPr/>
          <p:nvPr/>
        </p:nvSpPr>
        <p:spPr>
          <a:xfrm>
            <a:off x="6750844" y="1101477"/>
            <a:ext cx="1964531" cy="1257300"/>
          </a:xfrm>
          <a:prstGeom prst="roundRect">
            <a:avLst>
              <a:gd name="adj" fmla="val 9091"/>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7" name="Text 15"/>
          <p:cNvSpPr/>
          <p:nvPr/>
        </p:nvSpPr>
        <p:spPr>
          <a:xfrm>
            <a:off x="6922294" y="1258639"/>
            <a:ext cx="1421606" cy="300895"/>
          </a:xfrm>
          <a:prstGeom prst="rect">
            <a:avLst/>
          </a:prstGeom>
          <a:noFill/>
          <a:ln/>
        </p:spPr>
        <p:txBody>
          <a:bodyPr wrap="none" lIns="0" tIns="0" rIns="0" bIns="0" rtlCol="0" anchor="t"/>
          <a:lstStyle/>
          <a:p>
            <a:pPr algn="l" indent="0" marL="0">
              <a:lnSpc>
                <a:spcPts val="2194"/>
              </a:lnSpc>
              <a:buNone/>
            </a:pPr>
            <a:r>
              <a:rPr lang="en-US" sz="1463" b="1" spc="-15" kern="0" dirty="0">
                <a:solidFill>
                  <a:srgbClr val="C92A6A"/>
                </a:solidFill>
                <a:latin typeface="Liberation Sans Narrow" pitchFamily="34" charset="0"/>
                <a:ea typeface="Liberation Sans Narrow" pitchFamily="34" charset="-122"/>
                <a:cs typeface="Liberation Sans Narrow" pitchFamily="34" charset="-120"/>
              </a:rPr>
              <a:t>--ar 3:1</a:t>
            </a:r>
            <a:endParaRPr lang="en-US" sz="1463" dirty="0"/>
          </a:p>
        </p:txBody>
      </p:sp>
      <p:sp>
        <p:nvSpPr>
          <p:cNvPr id="18" name="Text 16"/>
          <p:cNvSpPr/>
          <p:nvPr/>
        </p:nvSpPr>
        <p:spPr>
          <a:xfrm>
            <a:off x="8372475" y="1258639"/>
            <a:ext cx="171450" cy="171450"/>
          </a:xfrm>
          <a:prstGeom prst="rect">
            <a:avLst/>
          </a:prstGeom>
          <a:noFill/>
          <a:ln/>
        </p:spPr>
        <p:txBody>
          <a:bodyPr wrap="none" lIns="0" tIns="0" rIns="0" bIns="0" rtlCol="0" anchor="ctr"/>
          <a:lstStyle/>
          <a:p>
            <a:pPr algn="ctr" indent="0" marL="0">
              <a:buNone/>
            </a:pPr>
            <a:r>
              <a:rPr lang="en-US" sz="1688" dirty="0">
                <a:solidFill>
                  <a:srgbClr val="C92A6A"/>
                </a:solidFill>
                <a:latin typeface="Segoe UI Symbol" pitchFamily="34" charset="0"/>
                <a:ea typeface="Segoe UI Symbol" pitchFamily="34" charset="-122"/>
                <a:cs typeface="Segoe UI Symbol" pitchFamily="34" charset="-120"/>
              </a:rPr>
              <a:t>✦</a:t>
            </a:r>
            <a:endParaRPr lang="en-US" sz="1688" dirty="0"/>
          </a:p>
        </p:txBody>
      </p:sp>
      <p:sp>
        <p:nvSpPr>
          <p:cNvPr id="19" name="Text 17"/>
          <p:cNvSpPr/>
          <p:nvPr/>
        </p:nvSpPr>
        <p:spPr>
          <a:xfrm>
            <a:off x="6922294" y="2062311"/>
            <a:ext cx="1621631" cy="139303"/>
          </a:xfrm>
          <a:prstGeom prst="rect">
            <a:avLst/>
          </a:prstGeom>
          <a:noFill/>
          <a:ln/>
        </p:spPr>
        <p:txBody>
          <a:bodyPr wrap="none" lIns="0" tIns="0" rIns="0" bIns="0" rtlCol="0" anchor="t"/>
          <a:lstStyle/>
          <a:p>
            <a:pPr algn="l" indent="0" marL="0">
              <a:lnSpc>
                <a:spcPts val="1097"/>
              </a:lnSpc>
              <a:buNone/>
            </a:pPr>
            <a:r>
              <a:rPr lang="en-US" sz="800" dirty="0">
                <a:solidFill>
                  <a:srgbClr val="888888"/>
                </a:solidFill>
                <a:latin typeface="Carlito" pitchFamily="34" charset="0"/>
                <a:ea typeface="Carlito" pitchFamily="34" charset="-122"/>
                <a:cs typeface="Carlito" pitchFamily="34" charset="-120"/>
              </a:rPr>
              <a:t>Обложка TG / VK</a:t>
            </a:r>
            <a:endParaRPr lang="en-US" sz="800" dirty="0"/>
          </a:p>
        </p:txBody>
      </p:sp>
      <p:sp>
        <p:nvSpPr>
          <p:cNvPr id="20" name="Text 18"/>
          <p:cNvSpPr/>
          <p:nvPr/>
        </p:nvSpPr>
        <p:spPr>
          <a:xfrm>
            <a:off x="428625" y="2530227"/>
            <a:ext cx="4071938" cy="1464915"/>
          </a:xfrm>
          <a:prstGeom prst="roundRect">
            <a:avLst>
              <a:gd name="adj" fmla="val 7803"/>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1" name="Text 19"/>
          <p:cNvSpPr/>
          <p:nvPr/>
        </p:nvSpPr>
        <p:spPr>
          <a:xfrm>
            <a:off x="614363" y="2687389"/>
            <a:ext cx="3700463" cy="164592"/>
          </a:xfrm>
          <a:prstGeom prst="rect">
            <a:avLst/>
          </a:prstGeom>
          <a:noFill/>
          <a:ln/>
        </p:spPr>
        <p:txBody>
          <a:bodyPr wrap="none" lIns="0" tIns="0" rIns="0" bIns="0" rtlCol="0" anchor="t"/>
          <a:lstStyle/>
          <a:p>
            <a:pPr algn="l" indent="0" marL="0">
              <a:lnSpc>
                <a:spcPts val="928"/>
              </a:lnSpc>
              <a:buNone/>
            </a:pPr>
            <a:r>
              <a:rPr lang="en-US" sz="800" b="1" spc="62" kern="0" dirty="0">
                <a:solidFill>
                  <a:srgbClr val="C92A6A"/>
                </a:solidFill>
                <a:latin typeface="Carlito" pitchFamily="34" charset="0"/>
                <a:ea typeface="Carlito" pitchFamily="34" charset="-122"/>
                <a:cs typeface="Carlito" pitchFamily="34" charset="-120"/>
              </a:rPr>
              <a:t>Ключи качества · EN</a:t>
            </a:r>
            <a:endParaRPr lang="en-US" sz="800" dirty="0"/>
          </a:p>
        </p:txBody>
      </p:sp>
      <p:sp>
        <p:nvSpPr>
          <p:cNvPr id="22" name="Text 20"/>
          <p:cNvSpPr/>
          <p:nvPr/>
        </p:nvSpPr>
        <p:spPr>
          <a:xfrm>
            <a:off x="614363" y="2890986"/>
            <a:ext cx="3700463" cy="946993"/>
          </a:xfrm>
          <a:prstGeom prst="rect">
            <a:avLst/>
          </a:prstGeom>
          <a:noFill/>
          <a:ln/>
        </p:spPr>
        <p:txBody>
          <a:bodyPr wrap="square" lIns="0" tIns="0" rIns="0" bIns="0" rtlCol="0" anchor="t"/>
          <a:lstStyle/>
          <a:p>
            <a:pPr algn="l" indent="0" marL="0">
              <a:lnSpc>
                <a:spcPts val="1243"/>
              </a:lnSpc>
              <a:buNone/>
            </a:pPr>
            <a:r>
              <a:rPr lang="en-US" sz="800" dirty="0">
                <a:solidFill>
                  <a:srgbClr val="1A1A1A"/>
                </a:solidFill>
                <a:latin typeface="Courier New" pitchFamily="34" charset="0"/>
                <a:ea typeface="Courier New" pitchFamily="34" charset="-122"/>
                <a:cs typeface="Courier New" pitchFamily="34" charset="-120"/>
              </a:rPr>
              <a:t>photorealistic,</a:t>
            </a:r>
            <a:endParaRPr lang="en-US" sz="800" dirty="0"/>
          </a:p>
          <a:p>
            <a:pPr algn="l" indent="0" marL="0">
              <a:lnSpc>
                <a:spcPts val="1243"/>
              </a:lnSpc>
              <a:buNone/>
            </a:pPr>
            <a:r>
              <a:rPr lang="en-US" sz="800" dirty="0">
                <a:solidFill>
                  <a:srgbClr val="1A1A1A"/>
                </a:solidFill>
                <a:latin typeface="Liberation Sans Narrow" pitchFamily="34" charset="0"/>
                <a:ea typeface="Liberation Sans Narrow" pitchFamily="34" charset="-122"/>
                <a:cs typeface="Liberation Sans Narrow" pitchFamily="34" charset="-120"/>
              </a:rPr>
              <a:t>8k,</a:t>
            </a:r>
            <a:endParaRPr lang="en-US" sz="800" dirty="0"/>
          </a:p>
          <a:p>
            <a:pPr algn="l" indent="0" marL="0">
              <a:lnSpc>
                <a:spcPts val="1243"/>
              </a:lnSpc>
              <a:buNone/>
            </a:pPr>
            <a:r>
              <a:rPr lang="en-US" sz="800" dirty="0">
                <a:solidFill>
                  <a:srgbClr val="1A1A1A"/>
                </a:solidFill>
                <a:latin typeface="Courier New" pitchFamily="34" charset="0"/>
                <a:ea typeface="Courier New" pitchFamily="34" charset="-122"/>
                <a:cs typeface="Courier New" pitchFamily="34" charset="-120"/>
              </a:rPr>
              <a:t>natural skin texture,</a:t>
            </a:r>
            <a:endParaRPr lang="en-US" sz="800" dirty="0"/>
          </a:p>
          <a:p>
            <a:pPr algn="l" indent="0" marL="0">
              <a:lnSpc>
                <a:spcPts val="1243"/>
              </a:lnSpc>
              <a:buNone/>
            </a:pPr>
            <a:r>
              <a:rPr lang="en-US" sz="800" dirty="0">
                <a:solidFill>
                  <a:srgbClr val="1A1A1A"/>
                </a:solidFill>
                <a:latin typeface="Courier New" pitchFamily="34" charset="0"/>
                <a:ea typeface="Courier New" pitchFamily="34" charset="-122"/>
                <a:cs typeface="Courier New" pitchFamily="34" charset="-120"/>
              </a:rPr>
              <a:t>editorial photography,</a:t>
            </a:r>
            <a:endParaRPr lang="en-US" sz="800" dirty="0"/>
          </a:p>
          <a:p>
            <a:pPr algn="l" indent="0" marL="0">
              <a:lnSpc>
                <a:spcPts val="1243"/>
              </a:lnSpc>
              <a:buNone/>
            </a:pPr>
            <a:r>
              <a:rPr lang="en-US" sz="800" dirty="0">
                <a:solidFill>
                  <a:srgbClr val="1A1A1A"/>
                </a:solidFill>
                <a:latin typeface="Liberation Sans Narrow" pitchFamily="34" charset="0"/>
                <a:ea typeface="Liberation Sans Narrow" pitchFamily="34" charset="-122"/>
                <a:cs typeface="Liberation Sans Narrow" pitchFamily="34" charset="-120"/>
              </a:rPr>
              <a:t>shot on 35mm,</a:t>
            </a:r>
            <a:endParaRPr lang="en-US" sz="800" dirty="0"/>
          </a:p>
          <a:p>
            <a:pPr algn="l" indent="0" marL="0">
              <a:lnSpc>
                <a:spcPts val="1243"/>
              </a:lnSpc>
              <a:buNone/>
            </a:pPr>
            <a:r>
              <a:rPr lang="en-US" sz="800" dirty="0">
                <a:solidFill>
                  <a:srgbClr val="1A1A1A"/>
                </a:solidFill>
                <a:latin typeface="Courier New" pitchFamily="34" charset="0"/>
                <a:ea typeface="Courier New" pitchFamily="34" charset="-122"/>
                <a:cs typeface="Courier New" pitchFamily="34" charset="-120"/>
              </a:rPr>
              <a:t>soft bokeh</a:t>
            </a:r>
            <a:endParaRPr lang="en-US" sz="800" dirty="0"/>
          </a:p>
        </p:txBody>
      </p:sp>
      <p:sp>
        <p:nvSpPr>
          <p:cNvPr id="23" name="Text 21"/>
          <p:cNvSpPr/>
          <p:nvPr/>
        </p:nvSpPr>
        <p:spPr>
          <a:xfrm>
            <a:off x="4643438" y="2530227"/>
            <a:ext cx="4071938" cy="1464915"/>
          </a:xfrm>
          <a:prstGeom prst="roundRect">
            <a:avLst>
              <a:gd name="adj" fmla="val 7803"/>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4" name="Text 22"/>
          <p:cNvSpPr/>
          <p:nvPr/>
        </p:nvSpPr>
        <p:spPr>
          <a:xfrm>
            <a:off x="4829175" y="2687389"/>
            <a:ext cx="3810190" cy="164592"/>
          </a:xfrm>
          <a:prstGeom prst="rect">
            <a:avLst/>
          </a:prstGeom>
          <a:noFill/>
          <a:ln/>
        </p:spPr>
        <p:txBody>
          <a:bodyPr wrap="square" lIns="0" tIns="0" rIns="0" bIns="0" rtlCol="0" anchor="t"/>
          <a:lstStyle/>
          <a:p>
            <a:pPr algn="l" indent="0" marL="0">
              <a:lnSpc>
                <a:spcPts val="928"/>
              </a:lnSpc>
              <a:buNone/>
            </a:pPr>
            <a:r>
              <a:rPr lang="en-US" sz="800" b="1" spc="62" kern="0" dirty="0">
                <a:solidFill>
                  <a:srgbClr val="C92A6A"/>
                </a:solidFill>
                <a:latin typeface="Carlito" pitchFamily="34" charset="0"/>
                <a:ea typeface="Carlito" pitchFamily="34" charset="-122"/>
                <a:cs typeface="Carlito" pitchFamily="34" charset="-120"/>
              </a:rPr>
              <a:t>Негатив-промт (что исключить)</a:t>
            </a:r>
            <a:endParaRPr lang="en-US" sz="800" dirty="0"/>
          </a:p>
        </p:txBody>
      </p:sp>
      <p:sp>
        <p:nvSpPr>
          <p:cNvPr id="25" name="Text 23"/>
          <p:cNvSpPr/>
          <p:nvPr/>
        </p:nvSpPr>
        <p:spPr>
          <a:xfrm>
            <a:off x="4829175" y="2890986"/>
            <a:ext cx="3700463" cy="946993"/>
          </a:xfrm>
          <a:prstGeom prst="rect">
            <a:avLst/>
          </a:prstGeom>
          <a:noFill/>
          <a:ln/>
        </p:spPr>
        <p:txBody>
          <a:bodyPr wrap="square" lIns="0" tIns="0" rIns="0" bIns="0" rtlCol="0" anchor="t"/>
          <a:lstStyle/>
          <a:p>
            <a:pPr algn="l" indent="0" marL="0">
              <a:lnSpc>
                <a:spcPts val="1463"/>
              </a:lnSpc>
              <a:buNone/>
            </a:pPr>
            <a:r>
              <a:rPr lang="en-US" sz="800" dirty="0">
                <a:solidFill>
                  <a:srgbClr val="1A1A1A"/>
                </a:solidFill>
                <a:latin typeface="Courier New" pitchFamily="34" charset="0"/>
                <a:ea typeface="Courier New" pitchFamily="34" charset="-122"/>
                <a:cs typeface="Courier New" pitchFamily="34" charset="-120"/>
              </a:rPr>
              <a:t>no text,</a:t>
            </a:r>
            <a:endParaRPr lang="en-US" sz="800" dirty="0"/>
          </a:p>
          <a:p>
            <a:pPr algn="l" indent="0" marL="0">
              <a:lnSpc>
                <a:spcPts val="1463"/>
              </a:lnSpc>
              <a:buNone/>
            </a:pPr>
            <a:r>
              <a:rPr lang="en-US" sz="800" dirty="0">
                <a:solidFill>
                  <a:srgbClr val="1A1A1A"/>
                </a:solidFill>
                <a:latin typeface="Courier New" pitchFamily="34" charset="0"/>
                <a:ea typeface="Courier New" pitchFamily="34" charset="-122"/>
                <a:cs typeface="Courier New" pitchFamily="34" charset="-120"/>
              </a:rPr>
              <a:t>no watermarks,</a:t>
            </a:r>
            <a:endParaRPr lang="en-US" sz="800" dirty="0"/>
          </a:p>
          <a:p>
            <a:pPr algn="l" indent="0" marL="0">
              <a:lnSpc>
                <a:spcPts val="1463"/>
              </a:lnSpc>
              <a:buNone/>
            </a:pPr>
            <a:r>
              <a:rPr lang="en-US" sz="800" dirty="0">
                <a:solidFill>
                  <a:srgbClr val="1A1A1A"/>
                </a:solidFill>
                <a:latin typeface="Courier New" pitchFamily="34" charset="0"/>
                <a:ea typeface="Courier New" pitchFamily="34" charset="-122"/>
                <a:cs typeface="Courier New" pitchFamily="34" charset="-120"/>
              </a:rPr>
              <a:t>no logos,</a:t>
            </a:r>
            <a:endParaRPr lang="en-US" sz="800" dirty="0"/>
          </a:p>
          <a:p>
            <a:pPr algn="l" indent="0" marL="0">
              <a:lnSpc>
                <a:spcPts val="1463"/>
              </a:lnSpc>
              <a:buNone/>
            </a:pPr>
            <a:r>
              <a:rPr lang="en-US" sz="800" dirty="0">
                <a:solidFill>
                  <a:srgbClr val="1A1A1A"/>
                </a:solidFill>
                <a:latin typeface="Courier New" pitchFamily="34" charset="0"/>
                <a:ea typeface="Courier New" pitchFamily="34" charset="-122"/>
                <a:cs typeface="Courier New" pitchFamily="34" charset="-120"/>
              </a:rPr>
              <a:t>no distorted hands,</a:t>
            </a:r>
            <a:endParaRPr lang="en-US" sz="800" dirty="0"/>
          </a:p>
          <a:p>
            <a:pPr algn="l" indent="0" marL="0">
              <a:lnSpc>
                <a:spcPts val="1463"/>
              </a:lnSpc>
              <a:buNone/>
            </a:pPr>
            <a:r>
              <a:rPr lang="en-US" sz="800" dirty="0">
                <a:solidFill>
                  <a:srgbClr val="1A1A1A"/>
                </a:solidFill>
                <a:latin typeface="Courier New" pitchFamily="34" charset="0"/>
                <a:ea typeface="Courier New" pitchFamily="34" charset="-122"/>
                <a:cs typeface="Courier New" pitchFamily="34" charset="-120"/>
              </a:rPr>
              <a:t>no fake money</a:t>
            </a:r>
            <a:endParaRPr lang="en-US" sz="800" dirty="0"/>
          </a:p>
        </p:txBody>
      </p:sp>
      <p:sp>
        <p:nvSpPr>
          <p:cNvPr id="26" name="Text 24"/>
          <p:cNvSpPr/>
          <p:nvPr/>
        </p:nvSpPr>
        <p:spPr>
          <a:xfrm>
            <a:off x="428625" y="4189140"/>
            <a:ext cx="8286750" cy="554310"/>
          </a:xfrm>
          <a:prstGeom prst="roundRect">
            <a:avLst>
              <a:gd name="adj" fmla="val 20620"/>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7" name="Text 25"/>
          <p:cNvSpPr/>
          <p:nvPr/>
        </p:nvSpPr>
        <p:spPr>
          <a:xfrm>
            <a:off x="585788" y="4317727"/>
            <a:ext cx="157163" cy="157163"/>
          </a:xfrm>
          <a:prstGeom prst="rect">
            <a:avLst/>
          </a:prstGeom>
          <a:noFill/>
          <a:ln/>
        </p:spPr>
        <p:txBody>
          <a:bodyPr wrap="none" lIns="0" tIns="0" rIns="0" bIns="0" rtlCol="0" anchor="ctr"/>
          <a:lstStyle/>
          <a:p>
            <a:pPr algn="ctr" indent="0" marL="0">
              <a:buNone/>
            </a:pPr>
            <a:r>
              <a:rPr lang="en-US" sz="1547" dirty="0">
                <a:solidFill>
                  <a:srgbClr val="C92A6A"/>
                </a:solidFill>
                <a:latin typeface="Segoe UI Symbol" pitchFamily="34" charset="0"/>
                <a:ea typeface="Segoe UI Symbol" pitchFamily="34" charset="-122"/>
                <a:cs typeface="Segoe UI Symbol" pitchFamily="34" charset="-120"/>
              </a:rPr>
              <a:t>ⓘ</a:t>
            </a:r>
            <a:endParaRPr lang="en-US" sz="1547" dirty="0"/>
          </a:p>
        </p:txBody>
      </p:sp>
      <p:sp>
        <p:nvSpPr>
          <p:cNvPr id="28" name="Text 26"/>
          <p:cNvSpPr/>
          <p:nvPr/>
        </p:nvSpPr>
        <p:spPr>
          <a:xfrm>
            <a:off x="828675" y="4317727"/>
            <a:ext cx="7729538" cy="297135"/>
          </a:xfrm>
          <a:prstGeom prst="rect">
            <a:avLst/>
          </a:prstGeom>
          <a:noFill/>
          <a:ln/>
        </p:spPr>
        <p:txBody>
          <a:bodyPr wrap="square" lIns="0" tIns="0" rIns="0" bIns="0" rtlCol="0" anchor="t"/>
          <a:lstStyle/>
          <a:p>
            <a:pPr algn="l" indent="0" marL="0">
              <a:lnSpc>
                <a:spcPts val="1170"/>
              </a:lnSpc>
              <a:buNone/>
            </a:pPr>
            <a:r>
              <a:rPr lang="en-US" sz="800" dirty="0">
                <a:solidFill>
                  <a:srgbClr val="1A1A1A"/>
                </a:solidFill>
                <a:latin typeface="Carlito" pitchFamily="34" charset="0"/>
                <a:ea typeface="Carlito" pitchFamily="34" charset="-122"/>
                <a:cs typeface="Carlito" pitchFamily="34" charset="-120"/>
              </a:rPr>
              <a:t>Платформы: Midjourney понимает </a:t>
            </a:r>
            <a:pPr algn="l" indent="0" marL="0">
              <a:lnSpc>
                <a:spcPts val="1170"/>
              </a:lnSpc>
              <a:buNone/>
            </a:pPr>
            <a:r>
              <a:rPr lang="en-US" sz="800" dirty="0">
                <a:solidFill>
                  <a:srgbClr val="1A1A1A"/>
                </a:solidFill>
                <a:latin typeface="Courier New" pitchFamily="34" charset="0"/>
                <a:ea typeface="Courier New" pitchFamily="34" charset="-122"/>
                <a:cs typeface="Courier New" pitchFamily="34" charset="-120"/>
              </a:rPr>
              <a:t>--ar</a:t>
            </a:r>
            <a:pPr algn="l" indent="0" marL="0">
              <a:lnSpc>
                <a:spcPts val="1170"/>
              </a:lnSpc>
              <a:buNone/>
            </a:pPr>
            <a:r>
              <a:rPr lang="en-US" sz="800" dirty="0">
                <a:solidFill>
                  <a:srgbClr val="1A1A1A"/>
                </a:solidFill>
                <a:latin typeface="Carlito" pitchFamily="34" charset="0"/>
                <a:ea typeface="Carlito" pitchFamily="34" charset="-122"/>
                <a:cs typeface="Carlito" pitchFamily="34" charset="-120"/>
              </a:rPr>
              <a:t> и </a:t>
            </a:r>
            <a:pPr algn="l" indent="0" marL="0">
              <a:lnSpc>
                <a:spcPts val="1170"/>
              </a:lnSpc>
              <a:buNone/>
            </a:pPr>
            <a:r>
              <a:rPr lang="en-US" sz="800" dirty="0">
                <a:solidFill>
                  <a:srgbClr val="1A1A1A"/>
                </a:solidFill>
                <a:latin typeface="Courier New" pitchFamily="34" charset="0"/>
                <a:ea typeface="Courier New" pitchFamily="34" charset="-122"/>
                <a:cs typeface="Courier New" pitchFamily="34" charset="-120"/>
              </a:rPr>
              <a:t>--style raw</a:t>
            </a:r>
            <a:pPr algn="l" indent="0" marL="0">
              <a:lnSpc>
                <a:spcPts val="1170"/>
              </a:lnSpc>
              <a:buNone/>
            </a:pPr>
            <a:r>
              <a:rPr lang="en-US" sz="800" dirty="0">
                <a:solidFill>
                  <a:srgbClr val="1A1A1A"/>
                </a:solidFill>
                <a:latin typeface="Carlito" pitchFamily="34" charset="0"/>
                <a:ea typeface="Carlito" pitchFamily="34" charset="-122"/>
                <a:cs typeface="Carlito" pitchFamily="34" charset="-120"/>
              </a:rPr>
              <a:t>; во Flux и DALL-E формат пишем словами — </a:t>
            </a:r>
            <a:pPr algn="l" indent="0" marL="0">
              <a:lnSpc>
                <a:spcPts val="1170"/>
              </a:lnSpc>
              <a:buNone/>
            </a:pPr>
            <a:r>
              <a:rPr lang="en-US" sz="800" dirty="0">
                <a:solidFill>
                  <a:srgbClr val="1A1A1A"/>
                </a:solidFill>
                <a:latin typeface="Liberation Sans Narrow" pitchFamily="34" charset="0"/>
                <a:ea typeface="Liberation Sans Narrow" pitchFamily="34" charset="-122"/>
                <a:cs typeface="Liberation Sans Narrow" pitchFamily="34" charset="-120"/>
              </a:rPr>
              <a:t>wide 16:9 banner</a:t>
            </a:r>
            <a:pPr algn="l" indent="0" marL="0">
              <a:lnSpc>
                <a:spcPts val="1170"/>
              </a:lnSpc>
              <a:buNone/>
            </a:pPr>
            <a:r>
              <a:rPr lang="en-US" sz="800" dirty="0">
                <a:solidFill>
                  <a:srgbClr val="1A1A1A"/>
                </a:solidFill>
                <a:latin typeface="Carlito" pitchFamily="34" charset="0"/>
                <a:ea typeface="Carlito" pitchFamily="34" charset="-122"/>
                <a:cs typeface="Carlito" pitchFamily="34" charset="-120"/>
              </a:rPr>
              <a:t>, </a:t>
            </a:r>
            <a:pPr algn="l" indent="0" marL="0">
              <a:lnSpc>
                <a:spcPts val="1170"/>
              </a:lnSpc>
              <a:buNone/>
            </a:pPr>
            <a:r>
              <a:rPr lang="en-US" sz="800" dirty="0">
                <a:solidFill>
                  <a:srgbClr val="1A1A1A"/>
                </a:solidFill>
                <a:latin typeface="Liberation Sans Narrow" pitchFamily="34" charset="0"/>
                <a:ea typeface="Liberation Sans Narrow" pitchFamily="34" charset="-122"/>
                <a:cs typeface="Liberation Sans Narrow" pitchFamily="34" charset="-120"/>
              </a:rPr>
              <a:t>vertical 9:16 story</a:t>
            </a:r>
            <a:pPr algn="l" indent="0" marL="0">
              <a:lnSpc>
                <a:spcPts val="1170"/>
              </a:lnSpc>
              <a:buNone/>
            </a:pPr>
            <a:r>
              <a:rPr lang="en-US" sz="800" dirty="0">
                <a:solidFill>
                  <a:srgbClr val="1A1A1A"/>
                </a:solidFill>
                <a:latin typeface="Carlito" pitchFamily="34" charset="0"/>
                <a:ea typeface="Carlito" pitchFamily="34" charset="-122"/>
                <a:cs typeface="Carlito" pitchFamily="34" charset="-120"/>
              </a:rPr>
              <a:t>. Текст и логотип LOVII накладываются поверх чистой подложки — в генерацию их не просим.</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28625" y="400050"/>
            <a:ext cx="8636000" cy="161877"/>
          </a:xfrm>
          <a:prstGeom prst="rect">
            <a:avLst/>
          </a:prstGeom>
          <a:noFill/>
          <a:ln/>
        </p:spPr>
        <p:txBody>
          <a:bodyPr wrap="none" lIns="0" tIns="0" rIns="0" bIns="0" rtlCol="0" anchor="t">
            <a:normAutofit/>
          </a:bodyPr>
          <a:lstStyle/>
          <a:p>
            <a:pPr algn="l" indent="0" marL="0">
              <a:lnSpc>
                <a:spcPts val="928"/>
              </a:lnSpc>
              <a:buNone/>
            </a:pPr>
            <a:r>
              <a:rPr lang="en-US" sz="800" b="1" spc="87" kern="0" dirty="0">
                <a:solidFill>
                  <a:srgbClr val="C92A6A"/>
                </a:solidFill>
                <a:latin typeface="Carlito" pitchFamily="34" charset="0"/>
                <a:ea typeface="Carlito" pitchFamily="34" charset="-122"/>
                <a:cs typeface="Carlito" pitchFamily="34" charset="-120"/>
              </a:rPr>
              <a:t>КОНТРОЛЬ</a:t>
            </a:r>
            <a:endParaRPr lang="en-US" sz="800" dirty="0"/>
          </a:p>
        </p:txBody>
      </p:sp>
      <p:sp>
        <p:nvSpPr>
          <p:cNvPr id="3" name="Text 1"/>
          <p:cNvSpPr/>
          <p:nvPr/>
        </p:nvSpPr>
        <p:spPr>
          <a:xfrm>
            <a:off x="428625" y="589359"/>
            <a:ext cx="8636000" cy="337060"/>
          </a:xfrm>
          <a:prstGeom prst="rect">
            <a:avLst/>
          </a:prstGeom>
          <a:noFill/>
          <a:ln/>
        </p:spPr>
        <p:txBody>
          <a:bodyPr wrap="square" lIns="0" tIns="0" rIns="0" bIns="0" rtlCol="0" anchor="t"/>
          <a:lstStyle/>
          <a:p>
            <a:pPr algn="l" indent="0" marL="0">
              <a:lnSpc>
                <a:spcPts val="2458"/>
              </a:lnSpc>
              <a:buNone/>
            </a:pPr>
            <a:r>
              <a:rPr lang="en-US" sz="2138" b="1" spc="-32" kern="0" dirty="0">
                <a:solidFill>
                  <a:srgbClr val="1A1A1A"/>
                </a:solidFill>
                <a:latin typeface="Carlito" pitchFamily="34" charset="0"/>
                <a:ea typeface="Carlito" pitchFamily="34" charset="-122"/>
                <a:cs typeface="Carlito" pitchFamily="34" charset="-120"/>
              </a:rPr>
              <a:t>Чек-лист качества промта: 8 проверок перед генерацией</a:t>
            </a:r>
            <a:endParaRPr lang="en-US" sz="2138" dirty="0"/>
          </a:p>
        </p:txBody>
      </p:sp>
      <p:sp>
        <p:nvSpPr>
          <p:cNvPr id="4" name="Text 2"/>
          <p:cNvSpPr/>
          <p:nvPr/>
        </p:nvSpPr>
        <p:spPr>
          <a:xfrm>
            <a:off x="428625" y="1782142"/>
            <a:ext cx="4057650" cy="1651992"/>
          </a:xfrm>
          <a:prstGeom prst="roundRect">
            <a:avLst>
              <a:gd name="adj" fmla="val 6919"/>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5" name="Text 3"/>
          <p:cNvSpPr/>
          <p:nvPr/>
        </p:nvSpPr>
        <p:spPr>
          <a:xfrm>
            <a:off x="614363" y="1929482"/>
            <a:ext cx="157163" cy="157163"/>
          </a:xfrm>
          <a:prstGeom prst="rect">
            <a:avLst/>
          </a:prstGeom>
          <a:noFill/>
          <a:ln/>
        </p:spPr>
        <p:txBody>
          <a:bodyPr wrap="none" lIns="0" tIns="0" rIns="0" bIns="0" rtlCol="0" anchor="ctr"/>
          <a:lstStyle/>
          <a:p>
            <a:pPr algn="ctr" indent="0" marL="0">
              <a:buNone/>
            </a:pPr>
            <a:r>
              <a:rPr lang="en-US" sz="1547" dirty="0">
                <a:solidFill>
                  <a:srgbClr val="0ABAB5"/>
                </a:solidFill>
                <a:latin typeface="Segoe UI Symbol" pitchFamily="34" charset="0"/>
                <a:ea typeface="Segoe UI Symbol" pitchFamily="34" charset="-122"/>
                <a:cs typeface="Segoe UI Symbol" pitchFamily="34" charset="-120"/>
              </a:rPr>
              <a:t>✓</a:t>
            </a:r>
            <a:endParaRPr lang="en-US" sz="1547" dirty="0"/>
          </a:p>
        </p:txBody>
      </p:sp>
      <p:sp>
        <p:nvSpPr>
          <p:cNvPr id="6" name="Text 4"/>
          <p:cNvSpPr/>
          <p:nvPr/>
        </p:nvSpPr>
        <p:spPr>
          <a:xfrm>
            <a:off x="871538" y="1925017"/>
            <a:ext cx="3429000" cy="179380"/>
          </a:xfrm>
          <a:prstGeom prst="rect">
            <a:avLst/>
          </a:prstGeom>
          <a:noFill/>
          <a:ln/>
        </p:spPr>
        <p:txBody>
          <a:bodyPr wrap="none" lIns="0" tIns="0" rIns="0" bIns="0" rtlCol="0" anchor="t"/>
          <a:lstStyle/>
          <a:p>
            <a:pPr algn="l" indent="0" marL="0">
              <a:lnSpc>
                <a:spcPts val="1308"/>
              </a:lnSpc>
              <a:buNone/>
            </a:pPr>
            <a:r>
              <a:rPr lang="en-US" sz="872" dirty="0">
                <a:solidFill>
                  <a:srgbClr val="1A1A1A"/>
                </a:solidFill>
                <a:latin typeface="Carlito" pitchFamily="34" charset="0"/>
                <a:ea typeface="Carlito" pitchFamily="34" charset="-122"/>
                <a:cs typeface="Carlito" pitchFamily="34" charset="-120"/>
              </a:rPr>
              <a:t>Субъект и действие названы в первых словах промта</a:t>
            </a:r>
            <a:endParaRPr lang="en-US" sz="872" dirty="0"/>
          </a:p>
        </p:txBody>
      </p:sp>
      <p:sp>
        <p:nvSpPr>
          <p:cNvPr id="7" name="Shape 5"/>
          <p:cNvSpPr/>
          <p:nvPr/>
        </p:nvSpPr>
        <p:spPr>
          <a:xfrm>
            <a:off x="614363" y="2180406"/>
            <a:ext cx="3686175" cy="0"/>
          </a:xfrm>
          <a:prstGeom prst="line">
            <a:avLst/>
          </a:prstGeom>
          <a:noFill/>
          <a:ln w="7144">
            <a:solidFill>
              <a:srgbClr val="1A1A1A"/>
            </a:solidFill>
            <a:prstDash val="solid"/>
          </a:ln>
        </p:spPr>
      </p:sp>
      <p:sp>
        <p:nvSpPr>
          <p:cNvPr id="8" name="Text 6"/>
          <p:cNvSpPr/>
          <p:nvPr/>
        </p:nvSpPr>
        <p:spPr>
          <a:xfrm>
            <a:off x="614363" y="2274168"/>
            <a:ext cx="157163" cy="157163"/>
          </a:xfrm>
          <a:prstGeom prst="rect">
            <a:avLst/>
          </a:prstGeom>
          <a:noFill/>
          <a:ln/>
        </p:spPr>
        <p:txBody>
          <a:bodyPr wrap="none" lIns="0" tIns="0" rIns="0" bIns="0" rtlCol="0" anchor="ctr"/>
          <a:lstStyle/>
          <a:p>
            <a:pPr algn="ctr" indent="0" marL="0">
              <a:buNone/>
            </a:pPr>
            <a:r>
              <a:rPr lang="en-US" sz="1547" dirty="0">
                <a:solidFill>
                  <a:srgbClr val="0ABAB5"/>
                </a:solidFill>
                <a:latin typeface="Segoe UI Symbol" pitchFamily="34" charset="0"/>
                <a:ea typeface="Segoe UI Symbol" pitchFamily="34" charset="-122"/>
                <a:cs typeface="Segoe UI Symbol" pitchFamily="34" charset="-120"/>
              </a:rPr>
              <a:t>✓</a:t>
            </a:r>
            <a:endParaRPr lang="en-US" sz="1547" dirty="0"/>
          </a:p>
        </p:txBody>
      </p:sp>
      <p:sp>
        <p:nvSpPr>
          <p:cNvPr id="9" name="Text 7"/>
          <p:cNvSpPr/>
          <p:nvPr/>
        </p:nvSpPr>
        <p:spPr>
          <a:xfrm>
            <a:off x="871538" y="2269703"/>
            <a:ext cx="3429000" cy="166092"/>
          </a:xfrm>
          <a:prstGeom prst="rect">
            <a:avLst/>
          </a:prstGeom>
          <a:noFill/>
          <a:ln/>
        </p:spPr>
        <p:txBody>
          <a:bodyPr wrap="none" lIns="0" tIns="0" rIns="0" bIns="0" rtlCol="0" anchor="t"/>
          <a:lstStyle/>
          <a:p>
            <a:pPr algn="l" indent="0" marL="0">
              <a:lnSpc>
                <a:spcPts val="1308"/>
              </a:lnSpc>
              <a:buNone/>
            </a:pPr>
            <a:r>
              <a:rPr lang="en-US" sz="872" dirty="0">
                <a:solidFill>
                  <a:srgbClr val="1A1A1A"/>
                </a:solidFill>
                <a:latin typeface="Carlito" pitchFamily="34" charset="0"/>
                <a:ea typeface="Carlito" pitchFamily="34" charset="-122"/>
                <a:cs typeface="Carlito" pitchFamily="34" charset="-120"/>
              </a:rPr>
              <a:t>Сцена привязана к району: кафе, пекарня, рынок, двор</a:t>
            </a:r>
            <a:endParaRPr lang="en-US" sz="872" dirty="0"/>
          </a:p>
        </p:txBody>
      </p:sp>
      <p:sp>
        <p:nvSpPr>
          <p:cNvPr id="10" name="Shape 8"/>
          <p:cNvSpPr/>
          <p:nvPr/>
        </p:nvSpPr>
        <p:spPr>
          <a:xfrm>
            <a:off x="614363" y="2525092"/>
            <a:ext cx="3686175" cy="0"/>
          </a:xfrm>
          <a:prstGeom prst="line">
            <a:avLst/>
          </a:prstGeom>
          <a:noFill/>
          <a:ln w="7144">
            <a:solidFill>
              <a:srgbClr val="1A1A1A"/>
            </a:solidFill>
            <a:prstDash val="solid"/>
          </a:ln>
        </p:spPr>
      </p:sp>
      <p:sp>
        <p:nvSpPr>
          <p:cNvPr id="11" name="Text 9"/>
          <p:cNvSpPr/>
          <p:nvPr/>
        </p:nvSpPr>
        <p:spPr>
          <a:xfrm>
            <a:off x="614363" y="2701900"/>
            <a:ext cx="157163" cy="157163"/>
          </a:xfrm>
          <a:prstGeom prst="rect">
            <a:avLst/>
          </a:prstGeom>
          <a:noFill/>
          <a:ln/>
        </p:spPr>
        <p:txBody>
          <a:bodyPr wrap="none" lIns="0" tIns="0" rIns="0" bIns="0" rtlCol="0" anchor="ctr"/>
          <a:lstStyle/>
          <a:p>
            <a:pPr algn="ctr" indent="0" marL="0">
              <a:buNone/>
            </a:pPr>
            <a:r>
              <a:rPr lang="en-US" sz="1547" dirty="0">
                <a:solidFill>
                  <a:srgbClr val="0ABAB5"/>
                </a:solidFill>
                <a:latin typeface="Segoe UI Symbol" pitchFamily="34" charset="0"/>
                <a:ea typeface="Segoe UI Symbol" pitchFamily="34" charset="-122"/>
                <a:cs typeface="Segoe UI Symbol" pitchFamily="34" charset="-120"/>
              </a:rPr>
              <a:t>✓</a:t>
            </a:r>
            <a:endParaRPr lang="en-US" sz="1547" dirty="0"/>
          </a:p>
        </p:txBody>
      </p:sp>
      <p:sp>
        <p:nvSpPr>
          <p:cNvPr id="12" name="Text 10"/>
          <p:cNvSpPr/>
          <p:nvPr/>
        </p:nvSpPr>
        <p:spPr>
          <a:xfrm>
            <a:off x="871538" y="2614389"/>
            <a:ext cx="3429000" cy="332184"/>
          </a:xfrm>
          <a:prstGeom prst="rect">
            <a:avLst/>
          </a:prstGeom>
          <a:noFill/>
          <a:ln/>
        </p:spPr>
        <p:txBody>
          <a:bodyPr wrap="square" lIns="0" tIns="0" rIns="0" bIns="0" rtlCol="0" anchor="t"/>
          <a:lstStyle/>
          <a:p>
            <a:pPr algn="l" indent="0" marL="0">
              <a:lnSpc>
                <a:spcPts val="1308"/>
              </a:lnSpc>
              <a:buNone/>
            </a:pPr>
            <a:r>
              <a:rPr lang="en-US" sz="872" dirty="0">
                <a:solidFill>
                  <a:srgbClr val="1A1A1A"/>
                </a:solidFill>
                <a:latin typeface="Carlito" pitchFamily="34" charset="0"/>
                <a:ea typeface="Carlito" pitchFamily="34" charset="-122"/>
                <a:cs typeface="Carlito" pitchFamily="34" charset="-120"/>
              </a:rPr>
              <a:t>Свет описан словами: </a:t>
            </a:r>
            <a:pPr algn="l" indent="0" marL="0">
              <a:lnSpc>
                <a:spcPts val="1308"/>
              </a:lnSpc>
              <a:buNone/>
            </a:pPr>
            <a:r>
              <a:rPr lang="en-US" sz="800" dirty="0">
                <a:solidFill>
                  <a:srgbClr val="1A1A1A"/>
                </a:solidFill>
                <a:latin typeface="Courier New" pitchFamily="34" charset="0"/>
                <a:ea typeface="Courier New" pitchFamily="34" charset="-122"/>
                <a:cs typeface="Courier New" pitchFamily="34" charset="-120"/>
              </a:rPr>
              <a:t>golden hour, soft daylight, morning light</a:t>
            </a:r>
            <a:endParaRPr lang="en-US" sz="872" dirty="0"/>
          </a:p>
        </p:txBody>
      </p:sp>
      <p:sp>
        <p:nvSpPr>
          <p:cNvPr id="13" name="Shape 11"/>
          <p:cNvSpPr/>
          <p:nvPr/>
        </p:nvSpPr>
        <p:spPr>
          <a:xfrm>
            <a:off x="614363" y="3035871"/>
            <a:ext cx="3686175" cy="0"/>
          </a:xfrm>
          <a:prstGeom prst="line">
            <a:avLst/>
          </a:prstGeom>
          <a:noFill/>
          <a:ln w="7144">
            <a:solidFill>
              <a:srgbClr val="1A1A1A"/>
            </a:solidFill>
            <a:prstDash val="solid"/>
          </a:ln>
        </p:spPr>
      </p:sp>
      <p:sp>
        <p:nvSpPr>
          <p:cNvPr id="14" name="Text 12"/>
          <p:cNvSpPr/>
          <p:nvPr/>
        </p:nvSpPr>
        <p:spPr>
          <a:xfrm>
            <a:off x="614363" y="3129632"/>
            <a:ext cx="157163" cy="157163"/>
          </a:xfrm>
          <a:prstGeom prst="rect">
            <a:avLst/>
          </a:prstGeom>
          <a:noFill/>
          <a:ln/>
        </p:spPr>
        <p:txBody>
          <a:bodyPr wrap="none" lIns="0" tIns="0" rIns="0" bIns="0" rtlCol="0" anchor="ctr"/>
          <a:lstStyle/>
          <a:p>
            <a:pPr algn="ctr" indent="0" marL="0">
              <a:buNone/>
            </a:pPr>
            <a:r>
              <a:rPr lang="en-US" sz="1547" dirty="0">
                <a:solidFill>
                  <a:srgbClr val="0ABAB5"/>
                </a:solidFill>
                <a:latin typeface="Segoe UI Symbol" pitchFamily="34" charset="0"/>
                <a:ea typeface="Segoe UI Symbol" pitchFamily="34" charset="-122"/>
                <a:cs typeface="Segoe UI Symbol" pitchFamily="34" charset="-120"/>
              </a:rPr>
              <a:t>✓</a:t>
            </a:r>
            <a:endParaRPr lang="en-US" sz="1547" dirty="0"/>
          </a:p>
        </p:txBody>
      </p:sp>
      <p:sp>
        <p:nvSpPr>
          <p:cNvPr id="15" name="Text 13"/>
          <p:cNvSpPr/>
          <p:nvPr/>
        </p:nvSpPr>
        <p:spPr>
          <a:xfrm>
            <a:off x="871538" y="3125167"/>
            <a:ext cx="3429000" cy="166092"/>
          </a:xfrm>
          <a:prstGeom prst="rect">
            <a:avLst/>
          </a:prstGeom>
          <a:noFill/>
          <a:ln/>
        </p:spPr>
        <p:txBody>
          <a:bodyPr wrap="square" lIns="0" tIns="0" rIns="0" bIns="0" rtlCol="0" anchor="t"/>
          <a:lstStyle/>
          <a:p>
            <a:pPr algn="l" indent="0" marL="0">
              <a:lnSpc>
                <a:spcPts val="1308"/>
              </a:lnSpc>
              <a:buNone/>
            </a:pPr>
            <a:r>
              <a:rPr lang="en-US" sz="872" dirty="0">
                <a:solidFill>
                  <a:srgbClr val="1A1A1A"/>
                </a:solidFill>
                <a:latin typeface="Carlito" pitchFamily="34" charset="0"/>
                <a:ea typeface="Carlito" pitchFamily="34" charset="-122"/>
                <a:cs typeface="Carlito" pitchFamily="34" charset="-120"/>
              </a:rPr>
              <a:t>Тон роли соответствует разделу: pink / tiffany / gold / plum / ink</a:t>
            </a:r>
            <a:endParaRPr lang="en-US" sz="872" dirty="0"/>
          </a:p>
        </p:txBody>
      </p:sp>
      <p:sp>
        <p:nvSpPr>
          <p:cNvPr id="16" name="Text 14"/>
          <p:cNvSpPr/>
          <p:nvPr/>
        </p:nvSpPr>
        <p:spPr>
          <a:xfrm>
            <a:off x="4657725" y="1782142"/>
            <a:ext cx="4057650" cy="1651992"/>
          </a:xfrm>
          <a:prstGeom prst="roundRect">
            <a:avLst>
              <a:gd name="adj" fmla="val 6919"/>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7" name="Text 15"/>
          <p:cNvSpPr/>
          <p:nvPr/>
        </p:nvSpPr>
        <p:spPr>
          <a:xfrm>
            <a:off x="4843463" y="1950244"/>
            <a:ext cx="157163" cy="157163"/>
          </a:xfrm>
          <a:prstGeom prst="rect">
            <a:avLst/>
          </a:prstGeom>
          <a:noFill/>
          <a:ln/>
        </p:spPr>
        <p:txBody>
          <a:bodyPr wrap="none" lIns="0" tIns="0" rIns="0" bIns="0" rtlCol="0" anchor="ctr"/>
          <a:lstStyle/>
          <a:p>
            <a:pPr algn="ctr" indent="0" marL="0">
              <a:buNone/>
            </a:pPr>
            <a:r>
              <a:rPr lang="en-US" sz="1547" dirty="0">
                <a:solidFill>
                  <a:srgbClr val="0ABAB5"/>
                </a:solidFill>
                <a:latin typeface="Segoe UI Symbol" pitchFamily="34" charset="0"/>
                <a:ea typeface="Segoe UI Symbol" pitchFamily="34" charset="-122"/>
                <a:cs typeface="Segoe UI Symbol" pitchFamily="34" charset="-120"/>
              </a:rPr>
              <a:t>✓</a:t>
            </a:r>
            <a:endParaRPr lang="en-US" sz="1547" dirty="0"/>
          </a:p>
        </p:txBody>
      </p:sp>
      <p:sp>
        <p:nvSpPr>
          <p:cNvPr id="18" name="Text 16"/>
          <p:cNvSpPr/>
          <p:nvPr/>
        </p:nvSpPr>
        <p:spPr>
          <a:xfrm>
            <a:off x="5100638" y="1945779"/>
            <a:ext cx="3429000" cy="179380"/>
          </a:xfrm>
          <a:prstGeom prst="rect">
            <a:avLst/>
          </a:prstGeom>
          <a:noFill/>
          <a:ln/>
        </p:spPr>
        <p:txBody>
          <a:bodyPr wrap="none" lIns="0" tIns="0" rIns="0" bIns="0" rtlCol="0" anchor="t"/>
          <a:lstStyle/>
          <a:p>
            <a:pPr algn="l" indent="0" marL="0">
              <a:lnSpc>
                <a:spcPts val="1308"/>
              </a:lnSpc>
              <a:buNone/>
            </a:pPr>
            <a:r>
              <a:rPr lang="en-US" sz="872" dirty="0">
                <a:solidFill>
                  <a:srgbClr val="1A1A1A"/>
                </a:solidFill>
                <a:latin typeface="Carlito" pitchFamily="34" charset="0"/>
                <a:ea typeface="Carlito" pitchFamily="34" charset="-122"/>
                <a:cs typeface="Carlito" pitchFamily="34" charset="-120"/>
              </a:rPr>
              <a:t>Формат кадра задан: </a:t>
            </a:r>
            <a:pPr algn="l" indent="0" marL="0">
              <a:lnSpc>
                <a:spcPts val="1308"/>
              </a:lnSpc>
              <a:buNone/>
            </a:pPr>
            <a:r>
              <a:rPr lang="en-US" sz="800" dirty="0">
                <a:solidFill>
                  <a:srgbClr val="1A1A1A"/>
                </a:solidFill>
                <a:latin typeface="Liberation Sans Narrow" pitchFamily="34" charset="0"/>
                <a:ea typeface="Liberation Sans Narrow" pitchFamily="34" charset="-122"/>
                <a:cs typeface="Liberation Sans Narrow" pitchFamily="34" charset="-120"/>
              </a:rPr>
              <a:t>--ar 16:9</a:t>
            </a:r>
            <a:pPr algn="l" indent="0" marL="0">
              <a:lnSpc>
                <a:spcPts val="1308"/>
              </a:lnSpc>
              <a:buNone/>
            </a:pPr>
            <a:r>
              <a:rPr lang="en-US" sz="872" dirty="0">
                <a:solidFill>
                  <a:srgbClr val="1A1A1A"/>
                </a:solidFill>
                <a:latin typeface="Carlito" pitchFamily="34" charset="0"/>
                <a:ea typeface="Carlito" pitchFamily="34" charset="-122"/>
                <a:cs typeface="Carlito" pitchFamily="34" charset="-120"/>
              </a:rPr>
              <a:t>, </a:t>
            </a:r>
            <a:pPr algn="l" indent="0" marL="0">
              <a:lnSpc>
                <a:spcPts val="1308"/>
              </a:lnSpc>
              <a:buNone/>
            </a:pPr>
            <a:r>
              <a:rPr lang="en-US" sz="800" dirty="0">
                <a:solidFill>
                  <a:srgbClr val="1A1A1A"/>
                </a:solidFill>
                <a:latin typeface="Liberation Sans Narrow" pitchFamily="34" charset="0"/>
                <a:ea typeface="Liberation Sans Narrow" pitchFamily="34" charset="-122"/>
                <a:cs typeface="Liberation Sans Narrow" pitchFamily="34" charset="-120"/>
              </a:rPr>
              <a:t>4:5</a:t>
            </a:r>
            <a:pPr algn="l" indent="0" marL="0">
              <a:lnSpc>
                <a:spcPts val="1308"/>
              </a:lnSpc>
              <a:buNone/>
            </a:pPr>
            <a:r>
              <a:rPr lang="en-US" sz="872" dirty="0">
                <a:solidFill>
                  <a:srgbClr val="1A1A1A"/>
                </a:solidFill>
                <a:latin typeface="Carlito" pitchFamily="34" charset="0"/>
                <a:ea typeface="Carlito" pitchFamily="34" charset="-122"/>
                <a:cs typeface="Carlito" pitchFamily="34" charset="-120"/>
              </a:rPr>
              <a:t> или </a:t>
            </a:r>
            <a:pPr algn="l" indent="0" marL="0">
              <a:lnSpc>
                <a:spcPts val="1308"/>
              </a:lnSpc>
              <a:buNone/>
            </a:pPr>
            <a:r>
              <a:rPr lang="en-US" sz="800" dirty="0">
                <a:solidFill>
                  <a:srgbClr val="1A1A1A"/>
                </a:solidFill>
                <a:latin typeface="Liberation Sans Narrow" pitchFamily="34" charset="0"/>
                <a:ea typeface="Liberation Sans Narrow" pitchFamily="34" charset="-122"/>
                <a:cs typeface="Liberation Sans Narrow" pitchFamily="34" charset="-120"/>
              </a:rPr>
              <a:t>9:16</a:t>
            </a:r>
            <a:endParaRPr lang="en-US" sz="872" dirty="0"/>
          </a:p>
        </p:txBody>
      </p:sp>
      <p:sp>
        <p:nvSpPr>
          <p:cNvPr id="19" name="Shape 17"/>
          <p:cNvSpPr/>
          <p:nvPr/>
        </p:nvSpPr>
        <p:spPr>
          <a:xfrm>
            <a:off x="4843463" y="2221929"/>
            <a:ext cx="3686175" cy="0"/>
          </a:xfrm>
          <a:prstGeom prst="line">
            <a:avLst/>
          </a:prstGeom>
          <a:noFill/>
          <a:ln w="7144">
            <a:solidFill>
              <a:srgbClr val="1A1A1A"/>
            </a:solidFill>
            <a:prstDash val="solid"/>
          </a:ln>
        </p:spPr>
      </p:sp>
      <p:sp>
        <p:nvSpPr>
          <p:cNvPr id="20" name="Text 18"/>
          <p:cNvSpPr/>
          <p:nvPr/>
        </p:nvSpPr>
        <p:spPr>
          <a:xfrm>
            <a:off x="4843463" y="2336453"/>
            <a:ext cx="157163" cy="157163"/>
          </a:xfrm>
          <a:prstGeom prst="rect">
            <a:avLst/>
          </a:prstGeom>
          <a:noFill/>
          <a:ln/>
        </p:spPr>
        <p:txBody>
          <a:bodyPr wrap="none" lIns="0" tIns="0" rIns="0" bIns="0" rtlCol="0" anchor="ctr"/>
          <a:lstStyle/>
          <a:p>
            <a:pPr algn="ctr" indent="0" marL="0">
              <a:buNone/>
            </a:pPr>
            <a:r>
              <a:rPr lang="en-US" sz="1547" dirty="0">
                <a:solidFill>
                  <a:srgbClr val="0ABAB5"/>
                </a:solidFill>
                <a:latin typeface="Segoe UI Symbol" pitchFamily="34" charset="0"/>
                <a:ea typeface="Segoe UI Symbol" pitchFamily="34" charset="-122"/>
                <a:cs typeface="Segoe UI Symbol" pitchFamily="34" charset="-120"/>
              </a:rPr>
              <a:t>✓</a:t>
            </a:r>
            <a:endParaRPr lang="en-US" sz="1547" dirty="0"/>
          </a:p>
        </p:txBody>
      </p:sp>
      <p:sp>
        <p:nvSpPr>
          <p:cNvPr id="21" name="Text 19"/>
          <p:cNvSpPr/>
          <p:nvPr/>
        </p:nvSpPr>
        <p:spPr>
          <a:xfrm>
            <a:off x="5100638" y="2331988"/>
            <a:ext cx="3429000" cy="179380"/>
          </a:xfrm>
          <a:prstGeom prst="rect">
            <a:avLst/>
          </a:prstGeom>
          <a:noFill/>
          <a:ln/>
        </p:spPr>
        <p:txBody>
          <a:bodyPr wrap="none" lIns="0" tIns="0" rIns="0" bIns="0" rtlCol="0" anchor="t"/>
          <a:lstStyle/>
          <a:p>
            <a:pPr algn="l" indent="0" marL="0">
              <a:lnSpc>
                <a:spcPts val="1308"/>
              </a:lnSpc>
              <a:buNone/>
            </a:pPr>
            <a:r>
              <a:rPr lang="en-US" sz="872" dirty="0">
                <a:solidFill>
                  <a:srgbClr val="1A1A1A"/>
                </a:solidFill>
                <a:latin typeface="Carlito" pitchFamily="34" charset="0"/>
                <a:ea typeface="Carlito" pitchFamily="34" charset="-122"/>
                <a:cs typeface="Carlito" pitchFamily="34" charset="-120"/>
              </a:rPr>
              <a:t>Для баннера прописан </a:t>
            </a:r>
            <a:pPr algn="l" indent="0" marL="0">
              <a:lnSpc>
                <a:spcPts val="1308"/>
              </a:lnSpc>
              <a:buNone/>
            </a:pPr>
            <a:r>
              <a:rPr lang="en-US" sz="800" dirty="0">
                <a:solidFill>
                  <a:srgbClr val="1A1A1A"/>
                </a:solidFill>
                <a:latin typeface="Courier New" pitchFamily="34" charset="0"/>
                <a:ea typeface="Courier New" pitchFamily="34" charset="-122"/>
                <a:cs typeface="Courier New" pitchFamily="34" charset="-120"/>
              </a:rPr>
              <a:t>copy space</a:t>
            </a:r>
            <a:endParaRPr lang="en-US" sz="872" dirty="0"/>
          </a:p>
        </p:txBody>
      </p:sp>
      <p:sp>
        <p:nvSpPr>
          <p:cNvPr id="22" name="Shape 20"/>
          <p:cNvSpPr/>
          <p:nvPr/>
        </p:nvSpPr>
        <p:spPr>
          <a:xfrm>
            <a:off x="4843463" y="2608138"/>
            <a:ext cx="3686175" cy="0"/>
          </a:xfrm>
          <a:prstGeom prst="line">
            <a:avLst/>
          </a:prstGeom>
          <a:noFill/>
          <a:ln w="7144">
            <a:solidFill>
              <a:srgbClr val="1A1A1A"/>
            </a:solidFill>
            <a:prstDash val="solid"/>
          </a:ln>
        </p:spPr>
      </p:sp>
      <p:sp>
        <p:nvSpPr>
          <p:cNvPr id="23" name="Text 21"/>
          <p:cNvSpPr/>
          <p:nvPr/>
        </p:nvSpPr>
        <p:spPr>
          <a:xfrm>
            <a:off x="4843463" y="2722662"/>
            <a:ext cx="157163" cy="157163"/>
          </a:xfrm>
          <a:prstGeom prst="rect">
            <a:avLst/>
          </a:prstGeom>
          <a:noFill/>
          <a:ln/>
        </p:spPr>
        <p:txBody>
          <a:bodyPr wrap="none" lIns="0" tIns="0" rIns="0" bIns="0" rtlCol="0" anchor="ctr"/>
          <a:lstStyle/>
          <a:p>
            <a:pPr algn="ctr" indent="0" marL="0">
              <a:buNone/>
            </a:pPr>
            <a:r>
              <a:rPr lang="en-US" sz="1547" dirty="0">
                <a:solidFill>
                  <a:srgbClr val="0ABAB5"/>
                </a:solidFill>
                <a:latin typeface="Segoe UI Symbol" pitchFamily="34" charset="0"/>
                <a:ea typeface="Segoe UI Symbol" pitchFamily="34" charset="-122"/>
                <a:cs typeface="Segoe UI Symbol" pitchFamily="34" charset="-120"/>
              </a:rPr>
              <a:t>✓</a:t>
            </a:r>
            <a:endParaRPr lang="en-US" sz="1547" dirty="0"/>
          </a:p>
        </p:txBody>
      </p:sp>
      <p:sp>
        <p:nvSpPr>
          <p:cNvPr id="24" name="Text 22"/>
          <p:cNvSpPr/>
          <p:nvPr/>
        </p:nvSpPr>
        <p:spPr>
          <a:xfrm>
            <a:off x="5100638" y="2718197"/>
            <a:ext cx="3429000" cy="179380"/>
          </a:xfrm>
          <a:prstGeom prst="rect">
            <a:avLst/>
          </a:prstGeom>
          <a:noFill/>
          <a:ln/>
        </p:spPr>
        <p:txBody>
          <a:bodyPr wrap="none" lIns="0" tIns="0" rIns="0" bIns="0" rtlCol="0" anchor="t"/>
          <a:lstStyle/>
          <a:p>
            <a:pPr algn="l" indent="0" marL="0">
              <a:lnSpc>
                <a:spcPts val="1308"/>
              </a:lnSpc>
              <a:buNone/>
            </a:pPr>
            <a:r>
              <a:rPr lang="en-US" sz="872" dirty="0">
                <a:solidFill>
                  <a:srgbClr val="1A1A1A"/>
                </a:solidFill>
                <a:latin typeface="Carlito" pitchFamily="34" charset="0"/>
                <a:ea typeface="Carlito" pitchFamily="34" charset="-122"/>
                <a:cs typeface="Carlito" pitchFamily="34" charset="-120"/>
              </a:rPr>
              <a:t>Запрещённое убрано: деньги, купюры, чужие логотипы</a:t>
            </a:r>
            <a:endParaRPr lang="en-US" sz="872" dirty="0"/>
          </a:p>
        </p:txBody>
      </p:sp>
      <p:sp>
        <p:nvSpPr>
          <p:cNvPr id="25" name="Shape 23"/>
          <p:cNvSpPr/>
          <p:nvPr/>
        </p:nvSpPr>
        <p:spPr>
          <a:xfrm>
            <a:off x="4843463" y="2994347"/>
            <a:ext cx="3686175" cy="0"/>
          </a:xfrm>
          <a:prstGeom prst="line">
            <a:avLst/>
          </a:prstGeom>
          <a:noFill/>
          <a:ln w="7144">
            <a:solidFill>
              <a:srgbClr val="1A1A1A"/>
            </a:solidFill>
            <a:prstDash val="solid"/>
          </a:ln>
        </p:spPr>
      </p:sp>
      <p:sp>
        <p:nvSpPr>
          <p:cNvPr id="26" name="Text 24"/>
          <p:cNvSpPr/>
          <p:nvPr/>
        </p:nvSpPr>
        <p:spPr>
          <a:xfrm>
            <a:off x="4843463" y="3108871"/>
            <a:ext cx="157163" cy="157163"/>
          </a:xfrm>
          <a:prstGeom prst="rect">
            <a:avLst/>
          </a:prstGeom>
          <a:noFill/>
          <a:ln/>
        </p:spPr>
        <p:txBody>
          <a:bodyPr wrap="none" lIns="0" tIns="0" rIns="0" bIns="0" rtlCol="0" anchor="ctr"/>
          <a:lstStyle/>
          <a:p>
            <a:pPr algn="ctr" indent="0" marL="0">
              <a:buNone/>
            </a:pPr>
            <a:r>
              <a:rPr lang="en-US" sz="1547" dirty="0">
                <a:solidFill>
                  <a:srgbClr val="0ABAB5"/>
                </a:solidFill>
                <a:latin typeface="Segoe UI Symbol" pitchFamily="34" charset="0"/>
                <a:ea typeface="Segoe UI Symbol" pitchFamily="34" charset="-122"/>
                <a:cs typeface="Segoe UI Symbol" pitchFamily="34" charset="-120"/>
              </a:rPr>
              <a:t>✓</a:t>
            </a:r>
            <a:endParaRPr lang="en-US" sz="1547" dirty="0"/>
          </a:p>
        </p:txBody>
      </p:sp>
      <p:sp>
        <p:nvSpPr>
          <p:cNvPr id="27" name="Text 25"/>
          <p:cNvSpPr/>
          <p:nvPr/>
        </p:nvSpPr>
        <p:spPr>
          <a:xfrm>
            <a:off x="5100638" y="3104406"/>
            <a:ext cx="3429000" cy="179380"/>
          </a:xfrm>
          <a:prstGeom prst="rect">
            <a:avLst/>
          </a:prstGeom>
          <a:noFill/>
          <a:ln/>
        </p:spPr>
        <p:txBody>
          <a:bodyPr wrap="none" lIns="0" tIns="0" rIns="0" bIns="0" rtlCol="0" anchor="t"/>
          <a:lstStyle/>
          <a:p>
            <a:pPr algn="l" indent="0" marL="0">
              <a:lnSpc>
                <a:spcPts val="1308"/>
              </a:lnSpc>
              <a:buNone/>
            </a:pPr>
            <a:r>
              <a:rPr lang="en-US" sz="872" dirty="0">
                <a:solidFill>
                  <a:srgbClr val="1A1A1A"/>
                </a:solidFill>
                <a:latin typeface="Carlito" pitchFamily="34" charset="0"/>
                <a:ea typeface="Carlito" pitchFamily="34" charset="-122"/>
                <a:cs typeface="Carlito" pitchFamily="34" charset="-120"/>
              </a:rPr>
              <a:t>Канон-цифры не искажены и не нарисованы в кадре</a:t>
            </a:r>
            <a:endParaRPr lang="en-US" sz="872" dirty="0"/>
          </a:p>
        </p:txBody>
      </p:sp>
      <p:sp>
        <p:nvSpPr>
          <p:cNvPr id="28" name="Text 26"/>
          <p:cNvSpPr/>
          <p:nvPr/>
        </p:nvSpPr>
        <p:spPr>
          <a:xfrm>
            <a:off x="428625" y="4314825"/>
            <a:ext cx="8286750" cy="428625"/>
          </a:xfrm>
          <a:prstGeom prst="roundRect">
            <a:avLst>
              <a:gd name="adj" fmla="val 26667"/>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9" name="Text 27"/>
          <p:cNvSpPr/>
          <p:nvPr/>
        </p:nvSpPr>
        <p:spPr>
          <a:xfrm>
            <a:off x="585788" y="4443413"/>
            <a:ext cx="171450" cy="171450"/>
          </a:xfrm>
          <a:prstGeom prst="rect">
            <a:avLst/>
          </a:prstGeom>
          <a:noFill/>
          <a:ln/>
        </p:spPr>
        <p:txBody>
          <a:bodyPr wrap="none" lIns="0" tIns="0" rIns="0" bIns="0" rtlCol="0" anchor="ctr"/>
          <a:lstStyle/>
          <a:p>
            <a:pPr algn="ctr" indent="0" marL="0">
              <a:buNone/>
            </a:pPr>
            <a:r>
              <a:rPr lang="en-US" sz="1688" dirty="0">
                <a:solidFill>
                  <a:srgbClr val="0ABAB5"/>
                </a:solidFill>
                <a:latin typeface="Segoe UI Symbol" pitchFamily="34" charset="0"/>
                <a:ea typeface="Segoe UI Symbol" pitchFamily="34" charset="-122"/>
                <a:cs typeface="Segoe UI Symbol" pitchFamily="34" charset="-120"/>
              </a:rPr>
              <a:t>✓</a:t>
            </a:r>
            <a:endParaRPr lang="en-US" sz="1688" dirty="0"/>
          </a:p>
        </p:txBody>
      </p:sp>
      <p:sp>
        <p:nvSpPr>
          <p:cNvPr id="30" name="Text 28"/>
          <p:cNvSpPr/>
          <p:nvPr/>
        </p:nvSpPr>
        <p:spPr>
          <a:xfrm>
            <a:off x="842963" y="4446091"/>
            <a:ext cx="7715250" cy="168771"/>
          </a:xfrm>
          <a:prstGeom prst="rect">
            <a:avLst/>
          </a:prstGeom>
          <a:noFill/>
          <a:ln/>
        </p:spPr>
        <p:txBody>
          <a:bodyPr wrap="square" lIns="0" tIns="0" rIns="0" bIns="0" rtlCol="0" anchor="t"/>
          <a:lstStyle/>
          <a:p>
            <a:pPr algn="l" indent="0" marL="0">
              <a:lnSpc>
                <a:spcPts val="1308"/>
              </a:lnSpc>
              <a:buNone/>
            </a:pPr>
            <a:r>
              <a:rPr lang="en-US" sz="872" b="1" dirty="0">
                <a:solidFill>
                  <a:srgbClr val="1A1A1A"/>
                </a:solidFill>
                <a:latin typeface="Carlito" pitchFamily="34" charset="0"/>
                <a:ea typeface="Carlito" pitchFamily="34" charset="-122"/>
                <a:cs typeface="Carlito" pitchFamily="34" charset="-120"/>
              </a:rPr>
              <a:t>Прошли все 8</a:t>
            </a:r>
            <a:pPr algn="l" indent="0" marL="0">
              <a:lnSpc>
                <a:spcPts val="1308"/>
              </a:lnSpc>
              <a:buNone/>
            </a:pPr>
            <a:r>
              <a:rPr lang="en-US" sz="872" dirty="0">
                <a:solidFill>
                  <a:srgbClr val="1A1A1A"/>
                </a:solidFill>
                <a:latin typeface="Carlito" pitchFamily="34" charset="0"/>
                <a:ea typeface="Carlito" pitchFamily="34" charset="-122"/>
                <a:cs typeface="Carlito" pitchFamily="34" charset="-120"/>
              </a:rPr>
              <a:t> — генерируйте 4 варианта, выбирайте лучший и только потом накладывайте текст и логотип платформы.</a:t>
            </a:r>
            <a:endParaRPr lang="en-US" sz="872"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28625" y="400050"/>
            <a:ext cx="8636000" cy="161877"/>
          </a:xfrm>
          <a:prstGeom prst="rect">
            <a:avLst/>
          </a:prstGeom>
          <a:noFill/>
          <a:ln/>
        </p:spPr>
        <p:txBody>
          <a:bodyPr wrap="none" lIns="0" tIns="0" rIns="0" bIns="0" rtlCol="0" anchor="t">
            <a:normAutofit/>
          </a:bodyPr>
          <a:lstStyle/>
          <a:p>
            <a:pPr algn="l" indent="0" marL="0">
              <a:lnSpc>
                <a:spcPts val="928"/>
              </a:lnSpc>
              <a:buNone/>
            </a:pPr>
            <a:r>
              <a:rPr lang="en-US" sz="800" b="1" spc="87" kern="0" dirty="0">
                <a:solidFill>
                  <a:srgbClr val="C92A6A"/>
                </a:solidFill>
                <a:latin typeface="Carlito" pitchFamily="34" charset="0"/>
                <a:ea typeface="Carlito" pitchFamily="34" charset="-122"/>
                <a:cs typeface="Carlito" pitchFamily="34" charset="-120"/>
              </a:rPr>
              <a:t>ОХРАННОЕ</a:t>
            </a:r>
            <a:endParaRPr lang="en-US" sz="800" dirty="0"/>
          </a:p>
        </p:txBody>
      </p:sp>
      <p:sp>
        <p:nvSpPr>
          <p:cNvPr id="3" name="Text 1"/>
          <p:cNvSpPr/>
          <p:nvPr/>
        </p:nvSpPr>
        <p:spPr>
          <a:xfrm>
            <a:off x="428625" y="589359"/>
            <a:ext cx="8636000" cy="337060"/>
          </a:xfrm>
          <a:prstGeom prst="rect">
            <a:avLst/>
          </a:prstGeom>
          <a:noFill/>
          <a:ln/>
        </p:spPr>
        <p:txBody>
          <a:bodyPr wrap="square" lIns="0" tIns="0" rIns="0" bIns="0" rtlCol="0" anchor="t"/>
          <a:lstStyle/>
          <a:p>
            <a:pPr algn="l" indent="0" marL="0">
              <a:lnSpc>
                <a:spcPts val="2458"/>
              </a:lnSpc>
              <a:buNone/>
            </a:pPr>
            <a:r>
              <a:rPr lang="en-US" sz="2138" b="1" spc="-32" kern="0" dirty="0">
                <a:solidFill>
                  <a:srgbClr val="1A1A1A"/>
                </a:solidFill>
                <a:latin typeface="Carlito" pitchFamily="34" charset="0"/>
                <a:ea typeface="Carlito" pitchFamily="34" charset="-122"/>
                <a:cs typeface="Carlito" pitchFamily="34" charset="-120"/>
              </a:rPr>
              <a:t>Стоп-лист: что нельзя генерировать никогда</a:t>
            </a:r>
            <a:endParaRPr lang="en-US" sz="2138" dirty="0"/>
          </a:p>
        </p:txBody>
      </p:sp>
      <p:sp>
        <p:nvSpPr>
          <p:cNvPr id="4" name="Text 2"/>
          <p:cNvSpPr/>
          <p:nvPr/>
        </p:nvSpPr>
        <p:spPr>
          <a:xfrm>
            <a:off x="432197" y="1497285"/>
            <a:ext cx="1957388" cy="1250156"/>
          </a:xfrm>
          <a:prstGeom prst="roundRect">
            <a:avLst>
              <a:gd name="adj" fmla="val 9143"/>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5" name="Text 3"/>
          <p:cNvSpPr/>
          <p:nvPr/>
        </p:nvSpPr>
        <p:spPr>
          <a:xfrm>
            <a:off x="578644" y="1643732"/>
            <a:ext cx="285750" cy="285750"/>
          </a:xfrm>
          <a:prstGeom prst="roundRect">
            <a:avLst>
              <a:gd name="adj" fmla="val 40000"/>
            </a:avLst>
          </a:prstGeom>
          <a:solidFill>
            <a:srgbClr val="C92A6A">
              <a:alpha val="10000"/>
            </a:srgbClr>
          </a:solidFill>
          <a:ln/>
        </p:spPr>
        <p:txBody>
          <a:bodyPr wrap="square" rtlCol="0" anchor="ctr"/>
          <a:lstStyle/>
          <a:p>
            <a:pPr indent="0" marL="0">
              <a:buNone/>
            </a:pPr>
            <a:endParaRPr lang="en-US" dirty="0"/>
          </a:p>
        </p:txBody>
      </p:sp>
      <p:sp>
        <p:nvSpPr>
          <p:cNvPr id="6" name="Text 4"/>
          <p:cNvSpPr/>
          <p:nvPr/>
        </p:nvSpPr>
        <p:spPr>
          <a:xfrm>
            <a:off x="607576" y="1672664"/>
            <a:ext cx="227886" cy="227886"/>
          </a:xfrm>
          <a:prstGeom prst="rect">
            <a:avLst/>
          </a:prstGeom>
          <a:noFill/>
          <a:ln/>
        </p:spPr>
        <p:txBody>
          <a:bodyPr wrap="none" lIns="0" tIns="0" rIns="0" bIns="0" rtlCol="0" anchor="ctr"/>
          <a:lstStyle/>
          <a:p>
            <a:pPr algn="ctr" indent="0" marL="0">
              <a:buNone/>
            </a:pPr>
            <a:r>
              <a:rPr lang="en-US" sz="1547" dirty="0">
                <a:solidFill>
                  <a:srgbClr val="C92A6A"/>
                </a:solidFill>
                <a:latin typeface="Segoe UI Symbol" pitchFamily="34" charset="0"/>
                <a:ea typeface="Segoe UI Symbol" pitchFamily="34" charset="-122"/>
                <a:cs typeface="Segoe UI Symbol" pitchFamily="34" charset="-120"/>
              </a:rPr>
              <a:t>⊘</a:t>
            </a:r>
            <a:endParaRPr lang="en-US" sz="1547" dirty="0"/>
          </a:p>
        </p:txBody>
      </p:sp>
      <p:sp>
        <p:nvSpPr>
          <p:cNvPr id="7" name="Text 5"/>
          <p:cNvSpPr/>
          <p:nvPr/>
        </p:nvSpPr>
        <p:spPr>
          <a:xfrm>
            <a:off x="578644" y="2015207"/>
            <a:ext cx="1664494" cy="585788"/>
          </a:xfrm>
          <a:prstGeom prst="rect">
            <a:avLst/>
          </a:prstGeom>
          <a:noFill/>
          <a:ln/>
        </p:spPr>
        <p:txBody>
          <a:bodyPr wrap="squar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Обещания вывода баллов и „гарантированного дохода“ на картинке — P0-запрет канона платформы</a:t>
            </a:r>
            <a:endParaRPr lang="en-US" sz="800" dirty="0"/>
          </a:p>
        </p:txBody>
      </p:sp>
      <p:sp>
        <p:nvSpPr>
          <p:cNvPr id="8" name="Text 6"/>
          <p:cNvSpPr/>
          <p:nvPr/>
        </p:nvSpPr>
        <p:spPr>
          <a:xfrm>
            <a:off x="2539603" y="1497285"/>
            <a:ext cx="1957388" cy="1250156"/>
          </a:xfrm>
          <a:prstGeom prst="roundRect">
            <a:avLst>
              <a:gd name="adj" fmla="val 9143"/>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9" name="Text 7"/>
          <p:cNvSpPr/>
          <p:nvPr/>
        </p:nvSpPr>
        <p:spPr>
          <a:xfrm>
            <a:off x="2686050" y="1643732"/>
            <a:ext cx="285750" cy="285750"/>
          </a:xfrm>
          <a:prstGeom prst="roundRect">
            <a:avLst>
              <a:gd name="adj" fmla="val 40000"/>
            </a:avLst>
          </a:prstGeom>
          <a:solidFill>
            <a:srgbClr val="C92A6A">
              <a:alpha val="10000"/>
            </a:srgbClr>
          </a:solidFill>
          <a:ln/>
        </p:spPr>
        <p:txBody>
          <a:bodyPr wrap="square" rtlCol="0" anchor="ctr"/>
          <a:lstStyle/>
          <a:p>
            <a:pPr indent="0" marL="0">
              <a:buNone/>
            </a:pPr>
            <a:endParaRPr lang="en-US" dirty="0"/>
          </a:p>
        </p:txBody>
      </p:sp>
      <p:sp>
        <p:nvSpPr>
          <p:cNvPr id="10" name="Text 8"/>
          <p:cNvSpPr/>
          <p:nvPr/>
        </p:nvSpPr>
        <p:spPr>
          <a:xfrm>
            <a:off x="2714982" y="1672664"/>
            <a:ext cx="227886" cy="227886"/>
          </a:xfrm>
          <a:prstGeom prst="rect">
            <a:avLst/>
          </a:prstGeom>
          <a:noFill/>
          <a:ln/>
        </p:spPr>
        <p:txBody>
          <a:bodyPr wrap="none" lIns="0" tIns="0" rIns="0" bIns="0" rtlCol="0" anchor="ctr"/>
          <a:lstStyle/>
          <a:p>
            <a:pPr algn="ctr" indent="0" marL="0">
              <a:buNone/>
            </a:pPr>
            <a:r>
              <a:rPr lang="en-US" sz="1547" dirty="0">
                <a:solidFill>
                  <a:srgbClr val="C92A6A"/>
                </a:solidFill>
                <a:latin typeface="Segoe UI Symbol" pitchFamily="34" charset="0"/>
                <a:ea typeface="Segoe UI Symbol" pitchFamily="34" charset="-122"/>
                <a:cs typeface="Segoe UI Symbol" pitchFamily="34" charset="-120"/>
              </a:rPr>
              <a:t>⊘</a:t>
            </a:r>
            <a:endParaRPr lang="en-US" sz="1547" dirty="0"/>
          </a:p>
        </p:txBody>
      </p:sp>
      <p:sp>
        <p:nvSpPr>
          <p:cNvPr id="11" name="Text 9"/>
          <p:cNvSpPr/>
          <p:nvPr/>
        </p:nvSpPr>
        <p:spPr>
          <a:xfrm>
            <a:off x="2686050" y="2015207"/>
            <a:ext cx="1664494" cy="329184"/>
          </a:xfrm>
          <a:prstGeom prst="rect">
            <a:avLst/>
          </a:prstGeom>
          <a:noFill/>
          <a:ln/>
        </p:spPr>
        <p:txBody>
          <a:bodyPr wrap="squar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Фейковые купюры, монеты, „дождь из денег“ — подрывает честность LOVII</a:t>
            </a:r>
            <a:endParaRPr lang="en-US" sz="800" dirty="0"/>
          </a:p>
        </p:txBody>
      </p:sp>
      <p:sp>
        <p:nvSpPr>
          <p:cNvPr id="12" name="Text 10"/>
          <p:cNvSpPr/>
          <p:nvPr/>
        </p:nvSpPr>
        <p:spPr>
          <a:xfrm>
            <a:off x="4647009" y="1497285"/>
            <a:ext cx="1957388" cy="1250156"/>
          </a:xfrm>
          <a:prstGeom prst="roundRect">
            <a:avLst>
              <a:gd name="adj" fmla="val 9143"/>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3" name="Text 11"/>
          <p:cNvSpPr/>
          <p:nvPr/>
        </p:nvSpPr>
        <p:spPr>
          <a:xfrm>
            <a:off x="4793456" y="1643732"/>
            <a:ext cx="285750" cy="285750"/>
          </a:xfrm>
          <a:prstGeom prst="roundRect">
            <a:avLst>
              <a:gd name="adj" fmla="val 40000"/>
            </a:avLst>
          </a:prstGeom>
          <a:solidFill>
            <a:srgbClr val="C92A6A">
              <a:alpha val="10000"/>
            </a:srgbClr>
          </a:solidFill>
          <a:ln/>
        </p:spPr>
        <p:txBody>
          <a:bodyPr wrap="square" rtlCol="0" anchor="ctr"/>
          <a:lstStyle/>
          <a:p>
            <a:pPr indent="0" marL="0">
              <a:buNone/>
            </a:pPr>
            <a:endParaRPr lang="en-US" dirty="0"/>
          </a:p>
        </p:txBody>
      </p:sp>
      <p:sp>
        <p:nvSpPr>
          <p:cNvPr id="14" name="Text 12"/>
          <p:cNvSpPr/>
          <p:nvPr/>
        </p:nvSpPr>
        <p:spPr>
          <a:xfrm>
            <a:off x="4822388" y="1672664"/>
            <a:ext cx="227886" cy="227886"/>
          </a:xfrm>
          <a:prstGeom prst="rect">
            <a:avLst/>
          </a:prstGeom>
          <a:noFill/>
          <a:ln/>
        </p:spPr>
        <p:txBody>
          <a:bodyPr wrap="none" lIns="0" tIns="0" rIns="0" bIns="0" rtlCol="0" anchor="ctr"/>
          <a:lstStyle/>
          <a:p>
            <a:pPr algn="ctr" indent="0" marL="0">
              <a:buNone/>
            </a:pPr>
            <a:r>
              <a:rPr lang="en-US" sz="1547" dirty="0">
                <a:solidFill>
                  <a:srgbClr val="C92A6A"/>
                </a:solidFill>
                <a:latin typeface="Segoe UI Symbol" pitchFamily="34" charset="0"/>
                <a:ea typeface="Segoe UI Symbol" pitchFamily="34" charset="-122"/>
                <a:cs typeface="Segoe UI Symbol" pitchFamily="34" charset="-120"/>
              </a:rPr>
              <a:t>⊘</a:t>
            </a:r>
            <a:endParaRPr lang="en-US" sz="1547" dirty="0"/>
          </a:p>
        </p:txBody>
      </p:sp>
      <p:sp>
        <p:nvSpPr>
          <p:cNvPr id="15" name="Text 13"/>
          <p:cNvSpPr/>
          <p:nvPr/>
        </p:nvSpPr>
        <p:spPr>
          <a:xfrm>
            <a:off x="4793456" y="2015207"/>
            <a:ext cx="1664494" cy="493776"/>
          </a:xfrm>
          <a:prstGeom prst="rect">
            <a:avLst/>
          </a:prstGeom>
          <a:noFill/>
          <a:ln/>
        </p:spPr>
        <p:txBody>
          <a:bodyPr wrap="squar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Чужие логотипы и товарные знаки: банки, агрегаторы, платёжные системы</a:t>
            </a:r>
            <a:endParaRPr lang="en-US" sz="800" dirty="0"/>
          </a:p>
        </p:txBody>
      </p:sp>
      <p:sp>
        <p:nvSpPr>
          <p:cNvPr id="16" name="Text 14"/>
          <p:cNvSpPr/>
          <p:nvPr/>
        </p:nvSpPr>
        <p:spPr>
          <a:xfrm>
            <a:off x="6754416" y="1497285"/>
            <a:ext cx="1957388" cy="1250156"/>
          </a:xfrm>
          <a:prstGeom prst="roundRect">
            <a:avLst>
              <a:gd name="adj" fmla="val 9143"/>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7" name="Text 15"/>
          <p:cNvSpPr/>
          <p:nvPr/>
        </p:nvSpPr>
        <p:spPr>
          <a:xfrm>
            <a:off x="6900863" y="1643732"/>
            <a:ext cx="285750" cy="285750"/>
          </a:xfrm>
          <a:prstGeom prst="roundRect">
            <a:avLst>
              <a:gd name="adj" fmla="val 40000"/>
            </a:avLst>
          </a:prstGeom>
          <a:solidFill>
            <a:srgbClr val="C92A6A">
              <a:alpha val="10000"/>
            </a:srgbClr>
          </a:solidFill>
          <a:ln/>
        </p:spPr>
        <p:txBody>
          <a:bodyPr wrap="square" rtlCol="0" anchor="ctr"/>
          <a:lstStyle/>
          <a:p>
            <a:pPr indent="0" marL="0">
              <a:buNone/>
            </a:pPr>
            <a:endParaRPr lang="en-US" dirty="0"/>
          </a:p>
        </p:txBody>
      </p:sp>
      <p:sp>
        <p:nvSpPr>
          <p:cNvPr id="18" name="Text 16"/>
          <p:cNvSpPr/>
          <p:nvPr/>
        </p:nvSpPr>
        <p:spPr>
          <a:xfrm>
            <a:off x="6929795" y="1672664"/>
            <a:ext cx="227886" cy="227886"/>
          </a:xfrm>
          <a:prstGeom prst="rect">
            <a:avLst/>
          </a:prstGeom>
          <a:noFill/>
          <a:ln/>
        </p:spPr>
        <p:txBody>
          <a:bodyPr wrap="none" lIns="0" tIns="0" rIns="0" bIns="0" rtlCol="0" anchor="ctr"/>
          <a:lstStyle/>
          <a:p>
            <a:pPr algn="ctr" indent="0" marL="0">
              <a:buNone/>
            </a:pPr>
            <a:r>
              <a:rPr lang="en-US" sz="1547" dirty="0">
                <a:solidFill>
                  <a:srgbClr val="C92A6A"/>
                </a:solidFill>
                <a:latin typeface="Segoe UI Symbol" pitchFamily="34" charset="0"/>
                <a:ea typeface="Segoe UI Symbol" pitchFamily="34" charset="-122"/>
                <a:cs typeface="Segoe UI Symbol" pitchFamily="34" charset="-120"/>
              </a:rPr>
              <a:t>⊘</a:t>
            </a:r>
            <a:endParaRPr lang="en-US" sz="1547" dirty="0"/>
          </a:p>
        </p:txBody>
      </p:sp>
      <p:sp>
        <p:nvSpPr>
          <p:cNvPr id="19" name="Text 17"/>
          <p:cNvSpPr/>
          <p:nvPr/>
        </p:nvSpPr>
        <p:spPr>
          <a:xfrm>
            <a:off x="6900863" y="2015207"/>
            <a:ext cx="1664494" cy="493776"/>
          </a:xfrm>
          <a:prstGeom prst="rect">
            <a:avLst/>
          </a:prstGeom>
          <a:noFill/>
          <a:ln/>
        </p:spPr>
        <p:txBody>
          <a:bodyPr wrap="squar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Текст и цифры внутри генерации — кириллица ломается; только наложение поверх</a:t>
            </a:r>
            <a:endParaRPr lang="en-US" sz="800" dirty="0"/>
          </a:p>
        </p:txBody>
      </p:sp>
      <p:sp>
        <p:nvSpPr>
          <p:cNvPr id="20" name="Text 18"/>
          <p:cNvSpPr/>
          <p:nvPr/>
        </p:nvSpPr>
        <p:spPr>
          <a:xfrm>
            <a:off x="432197" y="2897460"/>
            <a:ext cx="1957388" cy="1250156"/>
          </a:xfrm>
          <a:prstGeom prst="roundRect">
            <a:avLst>
              <a:gd name="adj" fmla="val 9143"/>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1" name="Text 19"/>
          <p:cNvSpPr/>
          <p:nvPr/>
        </p:nvSpPr>
        <p:spPr>
          <a:xfrm>
            <a:off x="578644" y="3043907"/>
            <a:ext cx="285750" cy="285750"/>
          </a:xfrm>
          <a:prstGeom prst="roundRect">
            <a:avLst>
              <a:gd name="adj" fmla="val 40000"/>
            </a:avLst>
          </a:prstGeom>
          <a:solidFill>
            <a:srgbClr val="C92A6A">
              <a:alpha val="10000"/>
            </a:srgbClr>
          </a:solidFill>
          <a:ln/>
        </p:spPr>
        <p:txBody>
          <a:bodyPr wrap="square" rtlCol="0" anchor="ctr"/>
          <a:lstStyle/>
          <a:p>
            <a:pPr indent="0" marL="0">
              <a:buNone/>
            </a:pPr>
            <a:endParaRPr lang="en-US" dirty="0"/>
          </a:p>
        </p:txBody>
      </p:sp>
      <p:sp>
        <p:nvSpPr>
          <p:cNvPr id="22" name="Text 20"/>
          <p:cNvSpPr/>
          <p:nvPr/>
        </p:nvSpPr>
        <p:spPr>
          <a:xfrm>
            <a:off x="607576" y="3072839"/>
            <a:ext cx="227886" cy="227886"/>
          </a:xfrm>
          <a:prstGeom prst="rect">
            <a:avLst/>
          </a:prstGeom>
          <a:noFill/>
          <a:ln/>
        </p:spPr>
        <p:txBody>
          <a:bodyPr wrap="none" lIns="0" tIns="0" rIns="0" bIns="0" rtlCol="0" anchor="ctr"/>
          <a:lstStyle/>
          <a:p>
            <a:pPr algn="ctr" indent="0" marL="0">
              <a:buNone/>
            </a:pPr>
            <a:r>
              <a:rPr lang="en-US" sz="1547" dirty="0">
                <a:solidFill>
                  <a:srgbClr val="C92A6A"/>
                </a:solidFill>
                <a:latin typeface="Segoe UI Symbol" pitchFamily="34" charset="0"/>
                <a:ea typeface="Segoe UI Symbol" pitchFamily="34" charset="-122"/>
                <a:cs typeface="Segoe UI Symbol" pitchFamily="34" charset="-120"/>
              </a:rPr>
              <a:t>⊘</a:t>
            </a:r>
            <a:endParaRPr lang="en-US" sz="1547" dirty="0"/>
          </a:p>
        </p:txBody>
      </p:sp>
      <p:sp>
        <p:nvSpPr>
          <p:cNvPr id="23" name="Text 21"/>
          <p:cNvSpPr/>
          <p:nvPr/>
        </p:nvSpPr>
        <p:spPr>
          <a:xfrm>
            <a:off x="578644" y="3415382"/>
            <a:ext cx="1664494" cy="493776"/>
          </a:xfrm>
          <a:prstGeom prst="rect">
            <a:avLst/>
          </a:prstGeom>
          <a:noFill/>
          <a:ln/>
        </p:spPr>
        <p:txBody>
          <a:bodyPr wrap="squar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Холодный агрегаторский стиль: стерильный неон, корпоративный сток, безликие улыбки</a:t>
            </a:r>
            <a:endParaRPr lang="en-US" sz="800" dirty="0"/>
          </a:p>
        </p:txBody>
      </p:sp>
      <p:sp>
        <p:nvSpPr>
          <p:cNvPr id="24" name="Text 22"/>
          <p:cNvSpPr/>
          <p:nvPr/>
        </p:nvSpPr>
        <p:spPr>
          <a:xfrm>
            <a:off x="2539603" y="2897460"/>
            <a:ext cx="1957388" cy="1250156"/>
          </a:xfrm>
          <a:prstGeom prst="roundRect">
            <a:avLst>
              <a:gd name="adj" fmla="val 9143"/>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5" name="Text 23"/>
          <p:cNvSpPr/>
          <p:nvPr/>
        </p:nvSpPr>
        <p:spPr>
          <a:xfrm>
            <a:off x="2686050" y="3043907"/>
            <a:ext cx="285750" cy="285750"/>
          </a:xfrm>
          <a:prstGeom prst="roundRect">
            <a:avLst>
              <a:gd name="adj" fmla="val 40000"/>
            </a:avLst>
          </a:prstGeom>
          <a:solidFill>
            <a:srgbClr val="C92A6A">
              <a:alpha val="10000"/>
            </a:srgbClr>
          </a:solidFill>
          <a:ln/>
        </p:spPr>
        <p:txBody>
          <a:bodyPr wrap="square" rtlCol="0" anchor="ctr"/>
          <a:lstStyle/>
          <a:p>
            <a:pPr indent="0" marL="0">
              <a:buNone/>
            </a:pPr>
            <a:endParaRPr lang="en-US" dirty="0"/>
          </a:p>
        </p:txBody>
      </p:sp>
      <p:sp>
        <p:nvSpPr>
          <p:cNvPr id="26" name="Text 24"/>
          <p:cNvSpPr/>
          <p:nvPr/>
        </p:nvSpPr>
        <p:spPr>
          <a:xfrm>
            <a:off x="2714982" y="3072839"/>
            <a:ext cx="227886" cy="227886"/>
          </a:xfrm>
          <a:prstGeom prst="rect">
            <a:avLst/>
          </a:prstGeom>
          <a:noFill/>
          <a:ln/>
        </p:spPr>
        <p:txBody>
          <a:bodyPr wrap="none" lIns="0" tIns="0" rIns="0" bIns="0" rtlCol="0" anchor="ctr"/>
          <a:lstStyle/>
          <a:p>
            <a:pPr algn="ctr" indent="0" marL="0">
              <a:buNone/>
            </a:pPr>
            <a:r>
              <a:rPr lang="en-US" sz="1547" dirty="0">
                <a:solidFill>
                  <a:srgbClr val="C92A6A"/>
                </a:solidFill>
                <a:latin typeface="Segoe UI Symbol" pitchFamily="34" charset="0"/>
                <a:ea typeface="Segoe UI Symbol" pitchFamily="34" charset="-122"/>
                <a:cs typeface="Segoe UI Symbol" pitchFamily="34" charset="-120"/>
              </a:rPr>
              <a:t>⊘</a:t>
            </a:r>
            <a:endParaRPr lang="en-US" sz="1547" dirty="0"/>
          </a:p>
        </p:txBody>
      </p:sp>
      <p:sp>
        <p:nvSpPr>
          <p:cNvPr id="27" name="Text 25"/>
          <p:cNvSpPr/>
          <p:nvPr/>
        </p:nvSpPr>
        <p:spPr>
          <a:xfrm>
            <a:off x="2686050" y="3415382"/>
            <a:ext cx="1664494" cy="493776"/>
          </a:xfrm>
          <a:prstGeom prst="rect">
            <a:avLst/>
          </a:prstGeom>
          <a:noFill/>
          <a:ln/>
        </p:spPr>
        <p:txBody>
          <a:bodyPr wrap="squar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Узнаваемые лица реальных людей и брендированные вывески без разрешения</a:t>
            </a:r>
            <a:endParaRPr lang="en-US" sz="800" dirty="0"/>
          </a:p>
        </p:txBody>
      </p:sp>
      <p:sp>
        <p:nvSpPr>
          <p:cNvPr id="28" name="Text 26"/>
          <p:cNvSpPr/>
          <p:nvPr/>
        </p:nvSpPr>
        <p:spPr>
          <a:xfrm>
            <a:off x="4647009" y="2897460"/>
            <a:ext cx="1957388" cy="1250156"/>
          </a:xfrm>
          <a:prstGeom prst="roundRect">
            <a:avLst>
              <a:gd name="adj" fmla="val 9143"/>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9" name="Text 27"/>
          <p:cNvSpPr/>
          <p:nvPr/>
        </p:nvSpPr>
        <p:spPr>
          <a:xfrm>
            <a:off x="4793456" y="3043907"/>
            <a:ext cx="285750" cy="285750"/>
          </a:xfrm>
          <a:prstGeom prst="roundRect">
            <a:avLst>
              <a:gd name="adj" fmla="val 40000"/>
            </a:avLst>
          </a:prstGeom>
          <a:solidFill>
            <a:srgbClr val="C92A6A">
              <a:alpha val="10000"/>
            </a:srgbClr>
          </a:solidFill>
          <a:ln/>
        </p:spPr>
        <p:txBody>
          <a:bodyPr wrap="square" rtlCol="0" anchor="ctr"/>
          <a:lstStyle/>
          <a:p>
            <a:pPr indent="0" marL="0">
              <a:buNone/>
            </a:pPr>
            <a:endParaRPr lang="en-US" dirty="0"/>
          </a:p>
        </p:txBody>
      </p:sp>
      <p:sp>
        <p:nvSpPr>
          <p:cNvPr id="30" name="Text 28"/>
          <p:cNvSpPr/>
          <p:nvPr/>
        </p:nvSpPr>
        <p:spPr>
          <a:xfrm>
            <a:off x="4822388" y="3072839"/>
            <a:ext cx="227886" cy="227886"/>
          </a:xfrm>
          <a:prstGeom prst="rect">
            <a:avLst/>
          </a:prstGeom>
          <a:noFill/>
          <a:ln/>
        </p:spPr>
        <p:txBody>
          <a:bodyPr wrap="none" lIns="0" tIns="0" rIns="0" bIns="0" rtlCol="0" anchor="ctr"/>
          <a:lstStyle/>
          <a:p>
            <a:pPr algn="ctr" indent="0" marL="0">
              <a:buNone/>
            </a:pPr>
            <a:r>
              <a:rPr lang="en-US" sz="1547" dirty="0">
                <a:solidFill>
                  <a:srgbClr val="C92A6A"/>
                </a:solidFill>
                <a:latin typeface="Segoe UI Symbol" pitchFamily="34" charset="0"/>
                <a:ea typeface="Segoe UI Symbol" pitchFamily="34" charset="-122"/>
                <a:cs typeface="Segoe UI Symbol" pitchFamily="34" charset="-120"/>
              </a:rPr>
              <a:t>⊘</a:t>
            </a:r>
            <a:endParaRPr lang="en-US" sz="1547" dirty="0"/>
          </a:p>
        </p:txBody>
      </p:sp>
      <p:sp>
        <p:nvSpPr>
          <p:cNvPr id="31" name="Text 29"/>
          <p:cNvSpPr/>
          <p:nvPr/>
        </p:nvSpPr>
        <p:spPr>
          <a:xfrm>
            <a:off x="4793456" y="3415382"/>
            <a:ext cx="1664494" cy="493776"/>
          </a:xfrm>
          <a:prstGeom prst="rect">
            <a:avLst/>
          </a:prstGeom>
          <a:noFill/>
          <a:ln/>
        </p:spPr>
        <p:txBody>
          <a:bodyPr wrap="squar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Искажение канон-цифр: 40/40/20, 1 балл = 1 ₽, тарифы СТАРТ 0% / БАЗОВЫЙ 10% / PRO 4–7%</a:t>
            </a:r>
            <a:endParaRPr lang="en-US" sz="800" dirty="0"/>
          </a:p>
        </p:txBody>
      </p:sp>
      <p:sp>
        <p:nvSpPr>
          <p:cNvPr id="32" name="Text 30"/>
          <p:cNvSpPr/>
          <p:nvPr/>
        </p:nvSpPr>
        <p:spPr>
          <a:xfrm>
            <a:off x="6754416" y="2897460"/>
            <a:ext cx="1957388" cy="1250156"/>
          </a:xfrm>
          <a:prstGeom prst="roundRect">
            <a:avLst>
              <a:gd name="adj" fmla="val 9143"/>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33" name="Text 31"/>
          <p:cNvSpPr/>
          <p:nvPr/>
        </p:nvSpPr>
        <p:spPr>
          <a:xfrm>
            <a:off x="6900863" y="3043907"/>
            <a:ext cx="285750" cy="285750"/>
          </a:xfrm>
          <a:prstGeom prst="roundRect">
            <a:avLst>
              <a:gd name="adj" fmla="val 40000"/>
            </a:avLst>
          </a:prstGeom>
          <a:solidFill>
            <a:srgbClr val="C92A6A">
              <a:alpha val="10000"/>
            </a:srgbClr>
          </a:solidFill>
          <a:ln/>
        </p:spPr>
        <p:txBody>
          <a:bodyPr wrap="square" rtlCol="0" anchor="ctr"/>
          <a:lstStyle/>
          <a:p>
            <a:pPr indent="0" marL="0">
              <a:buNone/>
            </a:pPr>
            <a:endParaRPr lang="en-US" dirty="0"/>
          </a:p>
        </p:txBody>
      </p:sp>
      <p:sp>
        <p:nvSpPr>
          <p:cNvPr id="34" name="Text 32"/>
          <p:cNvSpPr/>
          <p:nvPr/>
        </p:nvSpPr>
        <p:spPr>
          <a:xfrm>
            <a:off x="6929795" y="3072839"/>
            <a:ext cx="227886" cy="227886"/>
          </a:xfrm>
          <a:prstGeom prst="rect">
            <a:avLst/>
          </a:prstGeom>
          <a:noFill/>
          <a:ln/>
        </p:spPr>
        <p:txBody>
          <a:bodyPr wrap="none" lIns="0" tIns="0" rIns="0" bIns="0" rtlCol="0" anchor="ctr"/>
          <a:lstStyle/>
          <a:p>
            <a:pPr algn="ctr" indent="0" marL="0">
              <a:buNone/>
            </a:pPr>
            <a:r>
              <a:rPr lang="en-US" sz="1547" dirty="0">
                <a:solidFill>
                  <a:srgbClr val="C92A6A"/>
                </a:solidFill>
                <a:latin typeface="Segoe UI Symbol" pitchFamily="34" charset="0"/>
                <a:ea typeface="Segoe UI Symbol" pitchFamily="34" charset="-122"/>
                <a:cs typeface="Segoe UI Symbol" pitchFamily="34" charset="-120"/>
              </a:rPr>
              <a:t>⊘</a:t>
            </a:r>
            <a:endParaRPr lang="en-US" sz="1547" dirty="0"/>
          </a:p>
        </p:txBody>
      </p:sp>
      <p:sp>
        <p:nvSpPr>
          <p:cNvPr id="35" name="Text 33"/>
          <p:cNvSpPr/>
          <p:nvPr/>
        </p:nvSpPr>
        <p:spPr>
          <a:xfrm>
            <a:off x="6900863" y="3415382"/>
            <a:ext cx="1664494" cy="493776"/>
          </a:xfrm>
          <a:prstGeom prst="rect">
            <a:avLst/>
          </a:prstGeom>
          <a:noFill/>
          <a:ln/>
        </p:spPr>
        <p:txBody>
          <a:bodyPr wrap="squar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Логотип LOVII, перерисованный нейросетью, — только оригиналы из репозитория lovii-site</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929438" y="-1071562"/>
            <a:ext cx="3143250" cy="3143250"/>
          </a:xfrm>
          <a:prstGeom prst="rect">
            <a:avLst/>
          </a:prstGeom>
        </p:spPr>
      </p:pic>
      <p:sp>
        <p:nvSpPr>
          <p:cNvPr id="3" name="Text 0"/>
          <p:cNvSpPr/>
          <p:nvPr/>
        </p:nvSpPr>
        <p:spPr>
          <a:xfrm>
            <a:off x="6929438" y="-1071562"/>
            <a:ext cx="3143250" cy="3143250"/>
          </a:xfrm>
          <a:prstGeom prst="roundRect">
            <a:avLst>
              <a:gd name="adj" fmla="val 302727"/>
            </a:avLst>
          </a:prstGeom>
          <a:solidFill>
            <a:srgbClr val="F64A8A">
              <a:alpha val="0"/>
            </a:srgbClr>
          </a:solidFill>
          <a:ln/>
        </p:spPr>
        <p:txBody>
          <a:bodyPr wrap="square" rtlCol="0" anchor="ctr"/>
          <a:lstStyle/>
          <a:p>
            <a:pPr indent="0" marL="0">
              <a:buNone/>
            </a:pPr>
            <a:endParaRPr lang="en-US" dirty="0"/>
          </a:p>
        </p:txBody>
      </p:sp>
      <p:pic>
        <p:nvPicPr>
          <p:cNvPr id="4" name="Image 1" descr="preencoded.png">    </p:cNvPr>
          <p:cNvPicPr>
            <a:picLocks noChangeAspect="1"/>
          </p:cNvPicPr>
          <p:nvPr/>
        </p:nvPicPr>
        <p:blipFill>
          <a:blip r:embed="rId2"/>
          <a:stretch>
            <a:fillRect/>
          </a:stretch>
        </p:blipFill>
        <p:spPr>
          <a:xfrm>
            <a:off x="-1000125" y="3000375"/>
            <a:ext cx="3286125" cy="3286125"/>
          </a:xfrm>
          <a:prstGeom prst="rect">
            <a:avLst/>
          </a:prstGeom>
        </p:spPr>
      </p:pic>
      <p:sp>
        <p:nvSpPr>
          <p:cNvPr id="5" name="Text 1"/>
          <p:cNvSpPr/>
          <p:nvPr/>
        </p:nvSpPr>
        <p:spPr>
          <a:xfrm>
            <a:off x="-1000125" y="3000375"/>
            <a:ext cx="3286125" cy="3286125"/>
          </a:xfrm>
          <a:prstGeom prst="roundRect">
            <a:avLst>
              <a:gd name="adj" fmla="val 289565"/>
            </a:avLst>
          </a:prstGeom>
          <a:solidFill>
            <a:srgbClr val="0ABAB5">
              <a:alpha val="0"/>
            </a:srgbClr>
          </a:solidFill>
          <a:ln/>
        </p:spPr>
        <p:txBody>
          <a:bodyPr wrap="square" rtlCol="0" anchor="ctr"/>
          <a:lstStyle/>
          <a:p>
            <a:pPr indent="0" marL="0">
              <a:buNone/>
            </a:pPr>
            <a:endParaRPr lang="en-US" dirty="0"/>
          </a:p>
        </p:txBody>
      </p:sp>
      <p:sp>
        <p:nvSpPr>
          <p:cNvPr id="6" name="Text 2"/>
          <p:cNvSpPr/>
          <p:nvPr/>
        </p:nvSpPr>
        <p:spPr>
          <a:xfrm>
            <a:off x="4271516" y="371475"/>
            <a:ext cx="834158"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C92A6A"/>
                </a:solidFill>
                <a:latin typeface="Carlito" pitchFamily="34" charset="0"/>
                <a:ea typeface="Carlito" pitchFamily="34" charset="-122"/>
                <a:cs typeface="Carlito" pitchFamily="34" charset="-120"/>
              </a:rPr>
              <a:t>ШПАРГАЛКА</a:t>
            </a:r>
            <a:endParaRPr lang="en-US" sz="800" dirty="0"/>
          </a:p>
        </p:txBody>
      </p:sp>
      <p:sp>
        <p:nvSpPr>
          <p:cNvPr id="7" name="Text 3"/>
          <p:cNvSpPr/>
          <p:nvPr/>
        </p:nvSpPr>
        <p:spPr>
          <a:xfrm>
            <a:off x="1113403" y="589359"/>
            <a:ext cx="6917083" cy="458214"/>
          </a:xfrm>
          <a:prstGeom prst="rect">
            <a:avLst/>
          </a:prstGeom>
          <a:noFill/>
          <a:ln/>
        </p:spPr>
        <p:txBody>
          <a:bodyPr wrap="square" lIns="0" tIns="0" rIns="0" bIns="0" rtlCol="0" anchor="t"/>
          <a:lstStyle/>
          <a:p>
            <a:pPr algn="ctr" indent="0" marL="0">
              <a:lnSpc>
                <a:spcPts val="3341"/>
              </a:lnSpc>
              <a:buNone/>
            </a:pPr>
            <a:r>
              <a:rPr lang="en-US" sz="3038" b="1" spc="-61" kern="0" dirty="0">
                <a:solidFill>
                  <a:srgbClr val="1A1A1A"/>
                </a:solidFill>
                <a:latin typeface="Carlito" pitchFamily="34" charset="0"/>
                <a:ea typeface="Carlito" pitchFamily="34" charset="-122"/>
                <a:cs typeface="Carlito" pitchFamily="34" charset="-120"/>
              </a:rPr>
              <a:t>Промт LOVII собирается </a:t>
            </a:r>
            <a:pPr algn="ctr" indent="0" marL="0">
              <a:lnSpc>
                <a:spcPts val="3341"/>
              </a:lnSpc>
              <a:buNone/>
            </a:pPr>
            <a:r>
              <a:rPr lang="en-US" sz="3038" b="1" spc="-61" kern="0" dirty="0">
                <a:solidFill>
                  <a:srgbClr val="F64A8A"/>
                </a:solidFill>
                <a:latin typeface="Carlito" pitchFamily="34" charset="0"/>
                <a:ea typeface="Carlito" pitchFamily="34" charset="-122"/>
                <a:cs typeface="Carlito" pitchFamily="34" charset="-120"/>
              </a:rPr>
              <a:t>за минуту</a:t>
            </a:r>
            <a:endParaRPr lang="en-US" sz="3038" dirty="0"/>
          </a:p>
        </p:txBody>
      </p:sp>
      <p:sp>
        <p:nvSpPr>
          <p:cNvPr id="8" name="Text 4"/>
          <p:cNvSpPr/>
          <p:nvPr/>
        </p:nvSpPr>
        <p:spPr>
          <a:xfrm>
            <a:off x="517922" y="1504429"/>
            <a:ext cx="1775222" cy="678656"/>
          </a:xfrm>
          <a:prstGeom prst="roundRect">
            <a:avLst>
              <a:gd name="adj" fmla="val 16842"/>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9" name="Text 5"/>
          <p:cNvSpPr/>
          <p:nvPr/>
        </p:nvSpPr>
        <p:spPr>
          <a:xfrm>
            <a:off x="650081" y="1613929"/>
            <a:ext cx="1510903" cy="133302"/>
          </a:xfrm>
          <a:prstGeom prst="rect">
            <a:avLst/>
          </a:prstGeom>
          <a:noFill/>
          <a:ln/>
        </p:spPr>
        <p:txBody>
          <a:bodyPr wrap="none" lIns="0" tIns="0" rIns="0" bIns="0" rtlCol="0" anchor="t">
            <a:normAutofit/>
          </a:bodyPr>
          <a:lstStyle/>
          <a:p>
            <a:pPr algn="l" indent="0" marL="0">
              <a:lnSpc>
                <a:spcPts val="928"/>
              </a:lnSpc>
              <a:buNone/>
            </a:pPr>
            <a:r>
              <a:rPr lang="en-US" sz="800" b="1" spc="87" kern="0" dirty="0">
                <a:solidFill>
                  <a:srgbClr val="C92A6A"/>
                </a:solidFill>
                <a:latin typeface="Liberation Sans Narrow" pitchFamily="34" charset="0"/>
                <a:ea typeface="Liberation Sans Narrow" pitchFamily="34" charset="-122"/>
                <a:cs typeface="Liberation Sans Narrow" pitchFamily="34" charset="-120"/>
              </a:rPr>
              <a:t>01</a:t>
            </a:r>
            <a:endParaRPr lang="en-US" sz="800" dirty="0"/>
          </a:p>
        </p:txBody>
      </p:sp>
      <p:sp>
        <p:nvSpPr>
          <p:cNvPr id="10" name="Text 6"/>
          <p:cNvSpPr/>
          <p:nvPr/>
        </p:nvSpPr>
        <p:spPr>
          <a:xfrm>
            <a:off x="650081" y="1774664"/>
            <a:ext cx="1601557" cy="304837"/>
          </a:xfrm>
          <a:prstGeom prst="rect">
            <a:avLst/>
          </a:prstGeom>
          <a:noFill/>
          <a:ln/>
        </p:spPr>
        <p:txBody>
          <a:bodyPr wrap="square" lIns="0" tIns="0" rIns="0" bIns="0" rtlCol="0" anchor="t"/>
          <a:lstStyle/>
          <a:p>
            <a:pPr algn="l" indent="0" marL="0">
              <a:lnSpc>
                <a:spcPts val="1177"/>
              </a:lnSpc>
              <a:buNone/>
            </a:pPr>
            <a:r>
              <a:rPr lang="en-US" sz="872" b="1" dirty="0">
                <a:solidFill>
                  <a:srgbClr val="1A1A1A"/>
                </a:solidFill>
                <a:latin typeface="Carlito" pitchFamily="34" charset="0"/>
                <a:ea typeface="Carlito" pitchFamily="34" charset="-122"/>
                <a:cs typeface="Carlito" pitchFamily="34" charset="-120"/>
              </a:rPr>
              <a:t>Идея бренда: тепло + локальность + честность</a:t>
            </a:r>
            <a:endParaRPr lang="en-US" sz="872" dirty="0"/>
          </a:p>
        </p:txBody>
      </p:sp>
      <p:sp>
        <p:nvSpPr>
          <p:cNvPr id="11" name="Text 7"/>
          <p:cNvSpPr/>
          <p:nvPr/>
        </p:nvSpPr>
        <p:spPr>
          <a:xfrm>
            <a:off x="2368153" y="1750888"/>
            <a:ext cx="185738" cy="185738"/>
          </a:xfrm>
          <a:prstGeom prst="rect">
            <a:avLst/>
          </a:prstGeom>
          <a:noFill/>
          <a:ln/>
        </p:spPr>
        <p:txBody>
          <a:bodyPr wrap="none" lIns="0" tIns="0" rIns="0" bIns="0" rtlCol="0" anchor="ctr"/>
          <a:lstStyle/>
          <a:p>
            <a:pPr algn="ctr" indent="0" marL="0">
              <a:buNone/>
            </a:pPr>
            <a:r>
              <a:rPr lang="en-US" sz="1828" dirty="0">
                <a:solidFill>
                  <a:srgbClr val="F64A8A"/>
                </a:solidFill>
                <a:latin typeface="Segoe UI Symbol" pitchFamily="34" charset="0"/>
                <a:ea typeface="Segoe UI Symbol" pitchFamily="34" charset="-122"/>
                <a:cs typeface="Segoe UI Symbol" pitchFamily="34" charset="-120"/>
              </a:rPr>
              <a:t>→</a:t>
            </a:r>
            <a:endParaRPr lang="en-US" sz="1828" dirty="0"/>
          </a:p>
        </p:txBody>
      </p:sp>
      <p:sp>
        <p:nvSpPr>
          <p:cNvPr id="12" name="Text 8"/>
          <p:cNvSpPr/>
          <p:nvPr/>
        </p:nvSpPr>
        <p:spPr>
          <a:xfrm>
            <a:off x="2628900" y="1504429"/>
            <a:ext cx="1775222" cy="678656"/>
          </a:xfrm>
          <a:prstGeom prst="roundRect">
            <a:avLst>
              <a:gd name="adj" fmla="val 16842"/>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3" name="Text 9"/>
          <p:cNvSpPr/>
          <p:nvPr/>
        </p:nvSpPr>
        <p:spPr>
          <a:xfrm>
            <a:off x="2761059" y="1688604"/>
            <a:ext cx="1510903" cy="133302"/>
          </a:xfrm>
          <a:prstGeom prst="rect">
            <a:avLst/>
          </a:prstGeom>
          <a:noFill/>
          <a:ln/>
        </p:spPr>
        <p:txBody>
          <a:bodyPr wrap="none" lIns="0" tIns="0" rIns="0" bIns="0" rtlCol="0" anchor="t">
            <a:normAutofit/>
          </a:bodyPr>
          <a:lstStyle/>
          <a:p>
            <a:pPr algn="l" indent="0" marL="0">
              <a:lnSpc>
                <a:spcPts val="928"/>
              </a:lnSpc>
              <a:buNone/>
            </a:pPr>
            <a:r>
              <a:rPr lang="en-US" sz="800" b="1" spc="87" kern="0" dirty="0">
                <a:solidFill>
                  <a:srgbClr val="C92A6A"/>
                </a:solidFill>
                <a:latin typeface="Liberation Sans Narrow" pitchFamily="34" charset="0"/>
                <a:ea typeface="Liberation Sans Narrow" pitchFamily="34" charset="-122"/>
                <a:cs typeface="Liberation Sans Narrow" pitchFamily="34" charset="-120"/>
              </a:rPr>
              <a:t>02</a:t>
            </a:r>
            <a:endParaRPr lang="en-US" sz="800" dirty="0"/>
          </a:p>
        </p:txBody>
      </p:sp>
      <p:sp>
        <p:nvSpPr>
          <p:cNvPr id="14" name="Text 10"/>
          <p:cNvSpPr/>
          <p:nvPr/>
        </p:nvSpPr>
        <p:spPr>
          <a:xfrm>
            <a:off x="2761059" y="1849338"/>
            <a:ext cx="1510903" cy="161417"/>
          </a:xfrm>
          <a:prstGeom prst="rect">
            <a:avLst/>
          </a:prstGeom>
          <a:noFill/>
          <a:ln/>
        </p:spPr>
        <p:txBody>
          <a:bodyPr wrap="none" lIns="0" tIns="0" rIns="0" bIns="0" rtlCol="0" anchor="t"/>
          <a:lstStyle/>
          <a:p>
            <a:pPr algn="l" indent="0" marL="0">
              <a:lnSpc>
                <a:spcPts val="1177"/>
              </a:lnSpc>
              <a:buNone/>
            </a:pPr>
            <a:r>
              <a:rPr lang="en-US" sz="872" b="1" dirty="0">
                <a:solidFill>
                  <a:srgbClr val="1A1A1A"/>
                </a:solidFill>
                <a:latin typeface="Carlito" pitchFamily="34" charset="0"/>
                <a:ea typeface="Carlito" pitchFamily="34" charset="-122"/>
                <a:cs typeface="Carlito" pitchFamily="34" charset="-120"/>
              </a:rPr>
              <a:t>Субъект и сцена района</a:t>
            </a:r>
            <a:endParaRPr lang="en-US" sz="872" dirty="0"/>
          </a:p>
        </p:txBody>
      </p:sp>
      <p:sp>
        <p:nvSpPr>
          <p:cNvPr id="15" name="Text 11"/>
          <p:cNvSpPr/>
          <p:nvPr/>
        </p:nvSpPr>
        <p:spPr>
          <a:xfrm>
            <a:off x="4479131" y="1750888"/>
            <a:ext cx="185738" cy="185738"/>
          </a:xfrm>
          <a:prstGeom prst="rect">
            <a:avLst/>
          </a:prstGeom>
          <a:noFill/>
          <a:ln/>
        </p:spPr>
        <p:txBody>
          <a:bodyPr wrap="none" lIns="0" tIns="0" rIns="0" bIns="0" rtlCol="0" anchor="ctr"/>
          <a:lstStyle/>
          <a:p>
            <a:pPr algn="ctr" indent="0" marL="0">
              <a:buNone/>
            </a:pPr>
            <a:r>
              <a:rPr lang="en-US" sz="1828" dirty="0">
                <a:solidFill>
                  <a:srgbClr val="F64A8A"/>
                </a:solidFill>
                <a:latin typeface="Segoe UI Symbol" pitchFamily="34" charset="0"/>
                <a:ea typeface="Segoe UI Symbol" pitchFamily="34" charset="-122"/>
                <a:cs typeface="Segoe UI Symbol" pitchFamily="34" charset="-120"/>
              </a:rPr>
              <a:t>→</a:t>
            </a:r>
            <a:endParaRPr lang="en-US" sz="1828" dirty="0"/>
          </a:p>
        </p:txBody>
      </p:sp>
      <p:sp>
        <p:nvSpPr>
          <p:cNvPr id="16" name="Text 12"/>
          <p:cNvSpPr/>
          <p:nvPr/>
        </p:nvSpPr>
        <p:spPr>
          <a:xfrm>
            <a:off x="4739878" y="1504429"/>
            <a:ext cx="1775222" cy="678656"/>
          </a:xfrm>
          <a:prstGeom prst="roundRect">
            <a:avLst>
              <a:gd name="adj" fmla="val 16842"/>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7" name="Text 13"/>
          <p:cNvSpPr/>
          <p:nvPr/>
        </p:nvSpPr>
        <p:spPr>
          <a:xfrm>
            <a:off x="4872038" y="1688604"/>
            <a:ext cx="1510903" cy="133302"/>
          </a:xfrm>
          <a:prstGeom prst="rect">
            <a:avLst/>
          </a:prstGeom>
          <a:noFill/>
          <a:ln/>
        </p:spPr>
        <p:txBody>
          <a:bodyPr wrap="none" lIns="0" tIns="0" rIns="0" bIns="0" rtlCol="0" anchor="t">
            <a:normAutofit/>
          </a:bodyPr>
          <a:lstStyle/>
          <a:p>
            <a:pPr algn="l" indent="0" marL="0">
              <a:lnSpc>
                <a:spcPts val="928"/>
              </a:lnSpc>
              <a:buNone/>
            </a:pPr>
            <a:r>
              <a:rPr lang="en-US" sz="800" b="1" spc="87" kern="0" dirty="0">
                <a:solidFill>
                  <a:srgbClr val="C92A6A"/>
                </a:solidFill>
                <a:latin typeface="Liberation Sans Narrow" pitchFamily="34" charset="0"/>
                <a:ea typeface="Liberation Sans Narrow" pitchFamily="34" charset="-122"/>
                <a:cs typeface="Liberation Sans Narrow" pitchFamily="34" charset="-120"/>
              </a:rPr>
              <a:t>03</a:t>
            </a:r>
            <a:endParaRPr lang="en-US" sz="800" dirty="0"/>
          </a:p>
        </p:txBody>
      </p:sp>
      <p:sp>
        <p:nvSpPr>
          <p:cNvPr id="18" name="Text 14"/>
          <p:cNvSpPr/>
          <p:nvPr/>
        </p:nvSpPr>
        <p:spPr>
          <a:xfrm>
            <a:off x="4872038" y="1849338"/>
            <a:ext cx="1510903" cy="161417"/>
          </a:xfrm>
          <a:prstGeom prst="rect">
            <a:avLst/>
          </a:prstGeom>
          <a:noFill/>
          <a:ln/>
        </p:spPr>
        <p:txBody>
          <a:bodyPr wrap="none" lIns="0" tIns="0" rIns="0" bIns="0" rtlCol="0" anchor="t"/>
          <a:lstStyle/>
          <a:p>
            <a:pPr algn="l" indent="0" marL="0">
              <a:lnSpc>
                <a:spcPts val="1177"/>
              </a:lnSpc>
              <a:buNone/>
            </a:pPr>
            <a:r>
              <a:rPr lang="en-US" sz="872" b="1" dirty="0">
                <a:solidFill>
                  <a:srgbClr val="1A1A1A"/>
                </a:solidFill>
                <a:latin typeface="Carlito" pitchFamily="34" charset="0"/>
                <a:ea typeface="Carlito" pitchFamily="34" charset="-122"/>
                <a:cs typeface="Carlito" pitchFamily="34" charset="-120"/>
              </a:rPr>
              <a:t>Свет и тон роли</a:t>
            </a:r>
            <a:endParaRPr lang="en-US" sz="872" dirty="0"/>
          </a:p>
        </p:txBody>
      </p:sp>
      <p:sp>
        <p:nvSpPr>
          <p:cNvPr id="19" name="Text 15"/>
          <p:cNvSpPr/>
          <p:nvPr/>
        </p:nvSpPr>
        <p:spPr>
          <a:xfrm>
            <a:off x="6590109" y="1750888"/>
            <a:ext cx="185738" cy="185738"/>
          </a:xfrm>
          <a:prstGeom prst="rect">
            <a:avLst/>
          </a:prstGeom>
          <a:noFill/>
          <a:ln/>
        </p:spPr>
        <p:txBody>
          <a:bodyPr wrap="none" lIns="0" tIns="0" rIns="0" bIns="0" rtlCol="0" anchor="ctr"/>
          <a:lstStyle/>
          <a:p>
            <a:pPr algn="ctr" indent="0" marL="0">
              <a:buNone/>
            </a:pPr>
            <a:r>
              <a:rPr lang="en-US" sz="1828" dirty="0">
                <a:solidFill>
                  <a:srgbClr val="F64A8A"/>
                </a:solidFill>
                <a:latin typeface="Segoe UI Symbol" pitchFamily="34" charset="0"/>
                <a:ea typeface="Segoe UI Symbol" pitchFamily="34" charset="-122"/>
                <a:cs typeface="Segoe UI Symbol" pitchFamily="34" charset="-120"/>
              </a:rPr>
              <a:t>→</a:t>
            </a:r>
            <a:endParaRPr lang="en-US" sz="1828" dirty="0"/>
          </a:p>
        </p:txBody>
      </p:sp>
      <p:sp>
        <p:nvSpPr>
          <p:cNvPr id="20" name="Text 16"/>
          <p:cNvSpPr/>
          <p:nvPr/>
        </p:nvSpPr>
        <p:spPr>
          <a:xfrm>
            <a:off x="6850856" y="1504429"/>
            <a:ext cx="1775222" cy="678656"/>
          </a:xfrm>
          <a:prstGeom prst="roundRect">
            <a:avLst>
              <a:gd name="adj" fmla="val 16842"/>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1" name="Text 17"/>
          <p:cNvSpPr/>
          <p:nvPr/>
        </p:nvSpPr>
        <p:spPr>
          <a:xfrm>
            <a:off x="6983016" y="1688604"/>
            <a:ext cx="1510903" cy="133302"/>
          </a:xfrm>
          <a:prstGeom prst="rect">
            <a:avLst/>
          </a:prstGeom>
          <a:noFill/>
          <a:ln/>
        </p:spPr>
        <p:txBody>
          <a:bodyPr wrap="none" lIns="0" tIns="0" rIns="0" bIns="0" rtlCol="0" anchor="t">
            <a:normAutofit/>
          </a:bodyPr>
          <a:lstStyle/>
          <a:p>
            <a:pPr algn="l" indent="0" marL="0">
              <a:lnSpc>
                <a:spcPts val="928"/>
              </a:lnSpc>
              <a:buNone/>
            </a:pPr>
            <a:r>
              <a:rPr lang="en-US" sz="800" b="1" spc="87" kern="0" dirty="0">
                <a:solidFill>
                  <a:srgbClr val="C92A6A"/>
                </a:solidFill>
                <a:latin typeface="Liberation Sans Narrow" pitchFamily="34" charset="0"/>
                <a:ea typeface="Liberation Sans Narrow" pitchFamily="34" charset="-122"/>
                <a:cs typeface="Liberation Sans Narrow" pitchFamily="34" charset="-120"/>
              </a:rPr>
              <a:t>04</a:t>
            </a:r>
            <a:endParaRPr lang="en-US" sz="800" dirty="0"/>
          </a:p>
        </p:txBody>
      </p:sp>
      <p:sp>
        <p:nvSpPr>
          <p:cNvPr id="22" name="Text 18"/>
          <p:cNvSpPr/>
          <p:nvPr/>
        </p:nvSpPr>
        <p:spPr>
          <a:xfrm>
            <a:off x="6983016" y="1849338"/>
            <a:ext cx="1510903" cy="161417"/>
          </a:xfrm>
          <a:prstGeom prst="rect">
            <a:avLst/>
          </a:prstGeom>
          <a:noFill/>
          <a:ln/>
        </p:spPr>
        <p:txBody>
          <a:bodyPr wrap="none" lIns="0" tIns="0" rIns="0" bIns="0" rtlCol="0" anchor="t"/>
          <a:lstStyle/>
          <a:p>
            <a:pPr algn="l" indent="0" marL="0">
              <a:lnSpc>
                <a:spcPts val="1177"/>
              </a:lnSpc>
              <a:buNone/>
            </a:pPr>
            <a:r>
              <a:rPr lang="en-US" sz="872" b="1" dirty="0">
                <a:solidFill>
                  <a:srgbClr val="1A1A1A"/>
                </a:solidFill>
                <a:latin typeface="Carlito" pitchFamily="34" charset="0"/>
                <a:ea typeface="Carlito" pitchFamily="34" charset="-122"/>
                <a:cs typeface="Carlito" pitchFamily="34" charset="-120"/>
              </a:rPr>
              <a:t>Формат и </a:t>
            </a:r>
            <a:pPr algn="l" indent="0" marL="0">
              <a:lnSpc>
                <a:spcPts val="1177"/>
              </a:lnSpc>
              <a:buNone/>
            </a:pPr>
            <a:r>
              <a:rPr lang="en-US" sz="872" b="1" dirty="0">
                <a:solidFill>
                  <a:srgbClr val="1A1A1A"/>
                </a:solidFill>
                <a:latin typeface="Courier New" pitchFamily="34" charset="0"/>
                <a:ea typeface="Courier New" pitchFamily="34" charset="-122"/>
                <a:cs typeface="Courier New" pitchFamily="34" charset="-120"/>
              </a:rPr>
              <a:t>copy space</a:t>
            </a:r>
            <a:endParaRPr lang="en-US" sz="872" dirty="0"/>
          </a:p>
        </p:txBody>
      </p:sp>
      <p:sp>
        <p:nvSpPr>
          <p:cNvPr id="23" name="Text 19"/>
          <p:cNvSpPr/>
          <p:nvPr/>
        </p:nvSpPr>
        <p:spPr>
          <a:xfrm>
            <a:off x="514350" y="2673883"/>
            <a:ext cx="2609813" cy="1239441"/>
          </a:xfrm>
          <a:prstGeom prst="roundRect">
            <a:avLst>
              <a:gd name="adj" fmla="val 9222"/>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4" name="Text 20"/>
          <p:cNvSpPr/>
          <p:nvPr/>
        </p:nvSpPr>
        <p:spPr>
          <a:xfrm>
            <a:off x="671513" y="2831046"/>
            <a:ext cx="300038" cy="300038"/>
          </a:xfrm>
          <a:prstGeom prst="roundRect">
            <a:avLst>
              <a:gd name="adj" fmla="val 38095"/>
            </a:avLst>
          </a:prstGeom>
          <a:solidFill>
            <a:srgbClr val="F64A8A">
              <a:alpha val="10000"/>
            </a:srgbClr>
          </a:solidFill>
          <a:ln/>
        </p:spPr>
        <p:txBody>
          <a:bodyPr wrap="square" rtlCol="0" anchor="ctr"/>
          <a:lstStyle/>
          <a:p>
            <a:pPr indent="0" marL="0">
              <a:buNone/>
            </a:pPr>
            <a:endParaRPr lang="en-US" dirty="0"/>
          </a:p>
        </p:txBody>
      </p:sp>
      <p:sp>
        <p:nvSpPr>
          <p:cNvPr id="25" name="Text 21"/>
          <p:cNvSpPr/>
          <p:nvPr/>
        </p:nvSpPr>
        <p:spPr>
          <a:xfrm>
            <a:off x="707588" y="2867122"/>
            <a:ext cx="227886" cy="227886"/>
          </a:xfrm>
          <a:prstGeom prst="rect">
            <a:avLst/>
          </a:prstGeom>
          <a:noFill/>
          <a:ln/>
        </p:spPr>
        <p:txBody>
          <a:bodyPr wrap="none" lIns="0" tIns="0" rIns="0" bIns="0" rtlCol="0" anchor="ctr"/>
          <a:lstStyle/>
          <a:p>
            <a:pPr algn="ctr" indent="0" marL="0">
              <a:buNone/>
            </a:pPr>
            <a:r>
              <a:rPr lang="en-US" sz="1547" dirty="0">
                <a:solidFill>
                  <a:srgbClr val="C92A6A"/>
                </a:solidFill>
                <a:latin typeface="Segoe UI Symbol" pitchFamily="34" charset="0"/>
                <a:ea typeface="Segoe UI Symbol" pitchFamily="34" charset="-122"/>
                <a:cs typeface="Segoe UI Symbol" pitchFamily="34" charset="-120"/>
              </a:rPr>
              <a:t>✓</a:t>
            </a:r>
            <a:endParaRPr lang="en-US" sz="1547" dirty="0"/>
          </a:p>
        </p:txBody>
      </p:sp>
      <p:sp>
        <p:nvSpPr>
          <p:cNvPr id="26" name="Text 22"/>
          <p:cNvSpPr/>
          <p:nvPr/>
        </p:nvSpPr>
        <p:spPr>
          <a:xfrm>
            <a:off x="671513" y="3202521"/>
            <a:ext cx="2295488" cy="219885"/>
          </a:xfrm>
          <a:prstGeom prst="rect">
            <a:avLst/>
          </a:prstGeom>
          <a:noFill/>
          <a:ln/>
        </p:spPr>
        <p:txBody>
          <a:bodyPr wrap="none" lIns="0" tIns="0" rIns="0" bIns="0" rtlCol="0" anchor="t"/>
          <a:lstStyle/>
          <a:p>
            <a:pPr algn="l" indent="0" marL="0">
              <a:lnSpc>
                <a:spcPts val="1603"/>
              </a:lnSpc>
              <a:buNone/>
            </a:pPr>
            <a:r>
              <a:rPr lang="en-US" sz="1069" b="1" dirty="0">
                <a:solidFill>
                  <a:srgbClr val="1A1A1A"/>
                </a:solidFill>
                <a:latin typeface="Carlito" pitchFamily="34" charset="0"/>
                <a:ea typeface="Carlito" pitchFamily="34" charset="-122"/>
                <a:cs typeface="Carlito" pitchFamily="34" charset="-120"/>
              </a:rPr>
              <a:t>Проверь по чек-листу</a:t>
            </a:r>
            <a:endParaRPr lang="en-US" sz="1069" dirty="0"/>
          </a:p>
        </p:txBody>
      </p:sp>
      <p:sp>
        <p:nvSpPr>
          <p:cNvPr id="27" name="Text 23"/>
          <p:cNvSpPr/>
          <p:nvPr/>
        </p:nvSpPr>
        <p:spPr>
          <a:xfrm>
            <a:off x="671513" y="3477555"/>
            <a:ext cx="2405216" cy="164592"/>
          </a:xfrm>
          <a:prstGeom prst="rect">
            <a:avLst/>
          </a:prstGeom>
          <a:noFill/>
          <a:ln/>
        </p:spPr>
        <p:txBody>
          <a:bodyPr wrap="square" lIns="0" tIns="0" rIns="0" bIns="0" rtlCol="0" anchor="t"/>
          <a:lstStyle/>
          <a:p>
            <a:pPr algn="l" indent="0" marL="0">
              <a:lnSpc>
                <a:spcPts val="1097"/>
              </a:lnSpc>
              <a:buNone/>
            </a:pPr>
            <a:r>
              <a:rPr lang="en-US" sz="800" dirty="0">
                <a:solidFill>
                  <a:srgbClr val="888888"/>
                </a:solidFill>
                <a:latin typeface="Carlito" pitchFamily="34" charset="0"/>
                <a:ea typeface="Carlito" pitchFamily="34" charset="-122"/>
                <a:cs typeface="Carlito" pitchFamily="34" charset="-120"/>
              </a:rPr>
              <a:t>8 пунктов качества перед каждой генерацией</a:t>
            </a:r>
            <a:endParaRPr lang="en-US" sz="800" dirty="0"/>
          </a:p>
        </p:txBody>
      </p:sp>
      <p:sp>
        <p:nvSpPr>
          <p:cNvPr id="28" name="Text 24"/>
          <p:cNvSpPr/>
          <p:nvPr/>
        </p:nvSpPr>
        <p:spPr>
          <a:xfrm>
            <a:off x="3267038" y="2673883"/>
            <a:ext cx="2609924" cy="1239441"/>
          </a:xfrm>
          <a:prstGeom prst="roundRect">
            <a:avLst>
              <a:gd name="adj" fmla="val 9222"/>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9" name="Text 25"/>
          <p:cNvSpPr/>
          <p:nvPr/>
        </p:nvSpPr>
        <p:spPr>
          <a:xfrm>
            <a:off x="3424200" y="2831046"/>
            <a:ext cx="300038" cy="300038"/>
          </a:xfrm>
          <a:prstGeom prst="roundRect">
            <a:avLst>
              <a:gd name="adj" fmla="val 38095"/>
            </a:avLst>
          </a:prstGeom>
          <a:solidFill>
            <a:srgbClr val="D4A854">
              <a:alpha val="14000"/>
            </a:srgbClr>
          </a:solidFill>
          <a:ln/>
        </p:spPr>
        <p:txBody>
          <a:bodyPr wrap="square" rtlCol="0" anchor="ctr"/>
          <a:lstStyle/>
          <a:p>
            <a:pPr indent="0" marL="0">
              <a:buNone/>
            </a:pPr>
            <a:endParaRPr lang="en-US" dirty="0"/>
          </a:p>
        </p:txBody>
      </p:sp>
      <p:sp>
        <p:nvSpPr>
          <p:cNvPr id="30" name="Text 26"/>
          <p:cNvSpPr/>
          <p:nvPr/>
        </p:nvSpPr>
        <p:spPr>
          <a:xfrm>
            <a:off x="3460276" y="2867122"/>
            <a:ext cx="227886" cy="227886"/>
          </a:xfrm>
          <a:prstGeom prst="rect">
            <a:avLst/>
          </a:prstGeom>
          <a:noFill/>
          <a:ln/>
        </p:spPr>
        <p:txBody>
          <a:bodyPr wrap="none" lIns="0" tIns="0" rIns="0" bIns="0" rtlCol="0" anchor="ctr"/>
          <a:lstStyle/>
          <a:p>
            <a:pPr algn="ctr" indent="0" marL="0">
              <a:buNone/>
            </a:pPr>
            <a:r>
              <a:rPr lang="en-US" sz="1547" dirty="0">
                <a:solidFill>
                  <a:srgbClr val="8A6A25"/>
                </a:solidFill>
                <a:latin typeface="Segoe UI Symbol" pitchFamily="34" charset="0"/>
                <a:ea typeface="Segoe UI Symbol" pitchFamily="34" charset="-122"/>
                <a:cs typeface="Segoe UI Symbol" pitchFamily="34" charset="-120"/>
              </a:rPr>
              <a:t>◎</a:t>
            </a:r>
            <a:endParaRPr lang="en-US" sz="1547" dirty="0"/>
          </a:p>
        </p:txBody>
      </p:sp>
      <p:sp>
        <p:nvSpPr>
          <p:cNvPr id="31" name="Text 27"/>
          <p:cNvSpPr/>
          <p:nvPr/>
        </p:nvSpPr>
        <p:spPr>
          <a:xfrm>
            <a:off x="3424200" y="3202521"/>
            <a:ext cx="2295599" cy="219885"/>
          </a:xfrm>
          <a:prstGeom prst="rect">
            <a:avLst/>
          </a:prstGeom>
          <a:noFill/>
          <a:ln/>
        </p:spPr>
        <p:txBody>
          <a:bodyPr wrap="none" lIns="0" tIns="0" rIns="0" bIns="0" rtlCol="0" anchor="t"/>
          <a:lstStyle/>
          <a:p>
            <a:pPr algn="l" indent="0" marL="0">
              <a:lnSpc>
                <a:spcPts val="1603"/>
              </a:lnSpc>
              <a:buNone/>
            </a:pPr>
            <a:r>
              <a:rPr lang="en-US" sz="1069" b="1" dirty="0">
                <a:solidFill>
                  <a:srgbClr val="1A1A1A"/>
                </a:solidFill>
                <a:latin typeface="Carlito" pitchFamily="34" charset="0"/>
                <a:ea typeface="Carlito" pitchFamily="34" charset="-122"/>
                <a:cs typeface="Carlito" pitchFamily="34" charset="-120"/>
              </a:rPr>
              <a:t>Сверь цифры с каноном</a:t>
            </a:r>
            <a:endParaRPr lang="en-US" sz="1069" dirty="0"/>
          </a:p>
        </p:txBody>
      </p:sp>
      <p:sp>
        <p:nvSpPr>
          <p:cNvPr id="32" name="Text 28"/>
          <p:cNvSpPr/>
          <p:nvPr/>
        </p:nvSpPr>
        <p:spPr>
          <a:xfrm>
            <a:off x="3424200" y="3477555"/>
            <a:ext cx="2295599" cy="278606"/>
          </a:xfrm>
          <a:prstGeom prst="rect">
            <a:avLst/>
          </a:prstGeom>
          <a:noFill/>
          <a:ln/>
        </p:spPr>
        <p:txBody>
          <a:bodyPr wrap="square" lIns="0" tIns="0" rIns="0" bIns="0" rtlCol="0" anchor="t"/>
          <a:lstStyle/>
          <a:p>
            <a:pPr algn="l" indent="0" marL="0">
              <a:lnSpc>
                <a:spcPts val="1097"/>
              </a:lnSpc>
              <a:buNone/>
            </a:pPr>
            <a:r>
              <a:rPr lang="en-US" sz="800" dirty="0">
                <a:solidFill>
                  <a:srgbClr val="888888"/>
                </a:solidFill>
                <a:latin typeface="Carlito" pitchFamily="34" charset="0"/>
                <a:ea typeface="Carlito" pitchFamily="34" charset="-122"/>
                <a:cs typeface="Carlito" pitchFamily="34" charset="-120"/>
              </a:rPr>
              <a:t>40/40/20 · 1 балл = 1 ₽ · СТАРТ 0% / 10% / PRO 4–7%</a:t>
            </a:r>
            <a:endParaRPr lang="en-US" sz="800" dirty="0"/>
          </a:p>
        </p:txBody>
      </p:sp>
      <p:sp>
        <p:nvSpPr>
          <p:cNvPr id="33" name="Text 29"/>
          <p:cNvSpPr/>
          <p:nvPr/>
        </p:nvSpPr>
        <p:spPr>
          <a:xfrm>
            <a:off x="6019837" y="2673883"/>
            <a:ext cx="2609813" cy="1239441"/>
          </a:xfrm>
          <a:prstGeom prst="roundRect">
            <a:avLst>
              <a:gd name="adj" fmla="val 9222"/>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34" name="Text 30"/>
          <p:cNvSpPr/>
          <p:nvPr/>
        </p:nvSpPr>
        <p:spPr>
          <a:xfrm>
            <a:off x="6177000" y="2831046"/>
            <a:ext cx="300038" cy="300038"/>
          </a:xfrm>
          <a:prstGeom prst="roundRect">
            <a:avLst>
              <a:gd name="adj" fmla="val 38095"/>
            </a:avLst>
          </a:prstGeom>
          <a:solidFill>
            <a:srgbClr val="0ABAB5">
              <a:alpha val="10000"/>
            </a:srgbClr>
          </a:solidFill>
          <a:ln/>
        </p:spPr>
        <p:txBody>
          <a:bodyPr wrap="square" rtlCol="0" anchor="ctr"/>
          <a:lstStyle/>
          <a:p>
            <a:pPr indent="0" marL="0">
              <a:buNone/>
            </a:pPr>
            <a:endParaRPr lang="en-US" dirty="0"/>
          </a:p>
        </p:txBody>
      </p:sp>
      <p:sp>
        <p:nvSpPr>
          <p:cNvPr id="35" name="Text 31"/>
          <p:cNvSpPr/>
          <p:nvPr/>
        </p:nvSpPr>
        <p:spPr>
          <a:xfrm>
            <a:off x="6213076" y="2867122"/>
            <a:ext cx="227886" cy="227886"/>
          </a:xfrm>
          <a:prstGeom prst="rect">
            <a:avLst/>
          </a:prstGeom>
          <a:noFill/>
          <a:ln/>
        </p:spPr>
        <p:txBody>
          <a:bodyPr wrap="none" lIns="0" tIns="0" rIns="0" bIns="0" rtlCol="0" anchor="ctr"/>
          <a:lstStyle/>
          <a:p>
            <a:pPr algn="ctr" indent="0" marL="0">
              <a:buNone/>
            </a:pPr>
            <a:r>
              <a:rPr lang="en-US" sz="1547" dirty="0">
                <a:solidFill>
                  <a:srgbClr val="07807C"/>
                </a:solidFill>
                <a:latin typeface="Segoe UI Symbol" pitchFamily="34" charset="0"/>
                <a:ea typeface="Segoe UI Symbol" pitchFamily="34" charset="-122"/>
                <a:cs typeface="Segoe UI Symbol" pitchFamily="34" charset="-120"/>
              </a:rPr>
              <a:t>✎</a:t>
            </a:r>
            <a:endParaRPr lang="en-US" sz="1547" dirty="0"/>
          </a:p>
        </p:txBody>
      </p:sp>
      <p:sp>
        <p:nvSpPr>
          <p:cNvPr id="36" name="Text 32"/>
          <p:cNvSpPr/>
          <p:nvPr/>
        </p:nvSpPr>
        <p:spPr>
          <a:xfrm>
            <a:off x="6177000" y="3202521"/>
            <a:ext cx="2295488" cy="219885"/>
          </a:xfrm>
          <a:prstGeom prst="rect">
            <a:avLst/>
          </a:prstGeom>
          <a:noFill/>
          <a:ln/>
        </p:spPr>
        <p:txBody>
          <a:bodyPr wrap="none" lIns="0" tIns="0" rIns="0" bIns="0" rtlCol="0" anchor="t"/>
          <a:lstStyle/>
          <a:p>
            <a:pPr algn="l" indent="0" marL="0">
              <a:lnSpc>
                <a:spcPts val="1603"/>
              </a:lnSpc>
              <a:buNone/>
            </a:pPr>
            <a:r>
              <a:rPr lang="en-US" sz="1069" b="1" dirty="0">
                <a:solidFill>
                  <a:srgbClr val="1A1A1A"/>
                </a:solidFill>
                <a:latin typeface="Carlito" pitchFamily="34" charset="0"/>
                <a:ea typeface="Carlito" pitchFamily="34" charset="-122"/>
                <a:cs typeface="Carlito" pitchFamily="34" charset="-120"/>
              </a:rPr>
              <a:t>Текст — только наложением</a:t>
            </a:r>
            <a:endParaRPr lang="en-US" sz="1069" dirty="0"/>
          </a:p>
        </p:txBody>
      </p:sp>
      <p:sp>
        <p:nvSpPr>
          <p:cNvPr id="37" name="Text 33"/>
          <p:cNvSpPr/>
          <p:nvPr/>
        </p:nvSpPr>
        <p:spPr>
          <a:xfrm>
            <a:off x="6177000" y="3477555"/>
            <a:ext cx="2405216" cy="164592"/>
          </a:xfrm>
          <a:prstGeom prst="rect">
            <a:avLst/>
          </a:prstGeom>
          <a:noFill/>
          <a:ln/>
        </p:spPr>
        <p:txBody>
          <a:bodyPr wrap="square" lIns="0" tIns="0" rIns="0" bIns="0" rtlCol="0" anchor="t"/>
          <a:lstStyle/>
          <a:p>
            <a:pPr algn="l" indent="0" marL="0">
              <a:lnSpc>
                <a:spcPts val="1097"/>
              </a:lnSpc>
              <a:buNone/>
            </a:pPr>
            <a:r>
              <a:rPr lang="en-US" sz="800" dirty="0">
                <a:solidFill>
                  <a:srgbClr val="888888"/>
                </a:solidFill>
                <a:latin typeface="Carlito" pitchFamily="34" charset="0"/>
                <a:ea typeface="Carlito" pitchFamily="34" charset="-122"/>
                <a:cs typeface="Carlito" pitchFamily="34" charset="-120"/>
              </a:rPr>
              <a:t>в генерации не просим ни слова, ни логотипа</a:t>
            </a:r>
            <a:endParaRPr lang="en-US" sz="800" dirty="0"/>
          </a:p>
        </p:txBody>
      </p:sp>
      <p:sp>
        <p:nvSpPr>
          <p:cNvPr id="38" name="Text 34"/>
          <p:cNvSpPr/>
          <p:nvPr/>
        </p:nvSpPr>
        <p:spPr>
          <a:xfrm>
            <a:off x="2740298" y="4400550"/>
            <a:ext cx="3663293" cy="219885"/>
          </a:xfrm>
          <a:prstGeom prst="rect">
            <a:avLst/>
          </a:prstGeom>
          <a:noFill/>
          <a:ln/>
        </p:spPr>
        <p:txBody>
          <a:bodyPr wrap="square" lIns="0" tIns="0" rIns="0" bIns="0" rtlCol="0" anchor="t"/>
          <a:lstStyle/>
          <a:p>
            <a:pPr algn="ctr" indent="0" marL="0">
              <a:lnSpc>
                <a:spcPts val="1603"/>
              </a:lnSpc>
              <a:buNone/>
            </a:pPr>
            <a:r>
              <a:rPr lang="en-US" sz="1069" b="1" dirty="0">
                <a:solidFill>
                  <a:srgbClr val="1A1A1A"/>
                </a:solidFill>
                <a:latin typeface="Carlito" pitchFamily="34" charset="0"/>
                <a:ea typeface="Carlito" pitchFamily="34" charset="-122"/>
                <a:cs typeface="Carlito" pitchFamily="34" charset="-120"/>
              </a:rPr>
              <a:t>Материалы для амбассадоров · lovii.ru · hello@lovii.ru</a:t>
            </a:r>
            <a:endParaRPr lang="en-US" sz="1069" dirty="0"/>
          </a:p>
        </p:txBody>
      </p:sp>
      <p:sp>
        <p:nvSpPr>
          <p:cNvPr id="39" name="Text 35"/>
          <p:cNvSpPr/>
          <p:nvPr/>
        </p:nvSpPr>
        <p:spPr>
          <a:xfrm>
            <a:off x="3005844" y="4661297"/>
            <a:ext cx="3132088" cy="164592"/>
          </a:xfrm>
          <a:prstGeom prst="rect">
            <a:avLst/>
          </a:prstGeom>
          <a:noFill/>
          <a:ln/>
        </p:spPr>
        <p:txBody>
          <a:bodyPr wrap="square" lIns="0" tIns="0" rIns="0" bIns="0" rtlCol="0" anchor="t"/>
          <a:lstStyle/>
          <a:p>
            <a:pPr algn="ctr" indent="0" marL="0">
              <a:lnSpc>
                <a:spcPts val="1097"/>
              </a:lnSpc>
              <a:buNone/>
            </a:pPr>
            <a:r>
              <a:rPr lang="en-US" sz="731" dirty="0">
                <a:solidFill>
                  <a:srgbClr val="888888"/>
                </a:solidFill>
                <a:latin typeface="Carlito" pitchFamily="34" charset="0"/>
                <a:ea typeface="Carlito" pitchFamily="34" charset="-122"/>
                <a:cs typeface="Carlito" pitchFamily="34" charset="-120"/>
              </a:rPr>
              <a:t>LOVII — платформа локальной экономики. Район зарабатывает вместе.</a:t>
            </a:r>
            <a:endParaRPr lang="en-US" sz="73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2026-09-01T19:58:08Z</dcterms:created>
  <dcterms:modified xsi:type="dcterms:W3CDTF">2026-09-01T19:58:08Z</dcterms:modified>
</cp:coreProperties>
</file>