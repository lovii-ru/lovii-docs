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вечер, дорогие соседи! Как здорово видеть столько знакомых лиц — спасибо, что нашли время прийти. Сегодня я расскажу про LOVII, и обещаю: никакой сложной финансовой науки, всё очень просто и по-человечески. Суть помещается в одну фразу: ваш район возвращает вам часть каждой покупки баллами. Платите в кофейне, на рынке, в цветочном магазине — как обычно, по QR, — и обратно падают баллы. Один балл равен одному рублю, никаких пересчётов и скрытых курсов. В большинстве мест района возвращается 6,84 процента покупки, а в акционных категориях и во время районных событий — до 9,3. И самое приятное: для вас программа полностью бесплатна. Сегодня разберём, как всё устроено, где тратить баллы и почему они никогда не сгорают. Поехали!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Знакомьтесь — LOVII. Если объяснять совсем просто, это большая бонусная карта всего нашего района, только вместо пластика — приложение в смартфоне. Как это работает? Мы, представители района, договорились с местными магазинами, кафе и сервисами: часть стоимости каждой вашей покупки возвращается вам баллами. Вы при этом платите как обычно — по QR, ничего в своих привычках менять не нужно, а район говорит вам спасибо. Смотрите, в чём удобство. Первое: программа работает именно в местных магазинах, кафе и сервисах — в наших, районных. Второе: баллы тратятся здесь же, в своём районе — за соседней дверью, а не где-то в интернете. Третье: всё живёт в одном приложении на смартфоне — ничего не нужно носить с собой, кроме телефона, который и так всегда в кармане. Дальше разберём каждое правило по полочкам.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теперь — главное правило, ради которого всё затевалось. Всё честно: один балл равен одному рублю. Не девяносто копеек, не «курс уточняйте в приложении» — ровно рубль. Эта формула не меняется, запомните её — она будет с нами на протяжении всей встречи. Как это выглядит в жизни? Накопили пятьсот баллов — значит, у вас пятьсот рублей на покупки в районе: кофе, продукты, цветы — что захотите. Подчеркну особо: никаких курсов, коэффициентов и скрытых правил — я сама когда-то настороженно относилась к подобным программам, поэтому говорю сразу и прямо. И ещё одна хорошая новость: баллы не сгорают — совсем. Можно копить без спешки: хоть к отпуску, хоть к празднику. Вот и вся математика. Дальше — самый интересный вопрос: сколько именно баллов возвращается от каждой покупки?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Логичный вопрос: сколько именно возвращается? Запомните две цифры. Первая — 6,84 процента: столько баллами возвращается в большинстве мест района — в вашей кофейне, пекарне, на рынке у дома. Вторая — 9,3 процента: такой возврат действует в акционных категориях и во время событий района, когда точки делают программу щедрее. Теперь бытовой пример, чтобы цифры ожили. Кофе за триста рублей — это около двадцати-двадцати восьми баллов. Мелочь, скажете? А теперь возьмите обеды на работе: за месяц таких покупок набегают сотни баллов — и это ваши деньги, которые вернулись в ваш кошелёк. Одна честная оговорка: точный процент зависит от категории точки и промо-программ района. Но порядок всегда один — от 6,84 до 9,3 процента каждой покупки. Приятный бонус к привычным тратам, согласитесь.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многих сразу возникает тревога: а вдруг всё пропадёт, как в купонных сервисах — не успел, и баллы сгорели? Спокойно: здесь всё иначе, без суеты. Во-первых, у баллов нет срока годности: они не сгорают ни в конце месяца, ни в конце года. Во-вторых, нет условий: не нужно «успеть потратить», следить за акциями и ловить нужный день. В-третьих, всё видно всегда: баланс и вся история начислений — прямо в приложении, прозрачные, как чек. Чем это отличается от привычных купонных сервисов? Там вы бежите за скидкой, а здесь район просто благодарит вас за обычные покупки. Так что копите к отпуску, к празднику или просто так — баллы подождут. Ваше накопление — это ваше, и никакая дата его не отберёт.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где тратить накопленное? Ответ простой: там, где вы и так ходите каждый день. Первая категория — кофейни и пекарни: утренний кофе по дороге, булочка к вечеру. Вторая — цветы и подарки: букет соседке на день рождения, подарок семье на праздник. Третья — рынки и продукты: овощи, фрукты, сыр — всё самое свежее и местное. Обратите внимание: это не абстрактные магазины из интернета, а конкретные места нашего района, куда мы заглядываем каждую неделю. И список точек растёт каждую неделю — представители района постоянно договариваются с новыми владельцами. Поэтому я настоятельно предлагаю после нашей встречи открыть карту в приложении и найти свои любимые места — уверен, многие из них уже там. А каких точек не хватает — подсказывайте, добавим!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частый вопрос: а сложно ли платить? Нет! Сценарий ровно тот же, к которому вы привыкли с обычной QR-оплатой в супермаркете. Шаг первый: открываете QR-код из приложения и показываете его на кассе — всё как обычно. Шаг второй: оплачиваете — платёж проходит мгновенно, ровно как в приложении любого банка, никаких ожиданий и подтверждений по телефону. Шаг третий: баллы падают на ваш счёт сразу после покупки — не через неделю, не в следующем расчётном периоде, а сразу. Обратите внимание: никаких карт, стикеров и бумажных купонов носить не нужно — только смартфон, который и так всегда с вами. Всё, три шага и привычная схема — только теперь каждая покупка ещё и возвращает баллы в ваш районный кошелёк.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Друзья, теперь — вопрос, который мне задавали чаще всего: а в чём подвох? Отвечаю честно: подвоха нет. Смотрите на экран — 0 ₽. Для нас, жителей, LOVII полностью бесплатен: никаких платных подписок, никаких скрытых комиссий и никакой платы за обслуживание. Логично спросить: на чём тогда зарабатывают? Очень просто — комиссию за сервис платит магазин, а не покупатель. Магазину это выгодно: он получает соседей, которые заходят снова и снова. И ещё две гарантии. Первая: цены в точках с LOVII не выше, чем без него — вы не переплачиваете ни копейки. Вторая: заработать на нас баллами нельзя — курс один балл за рубль закреплён правилами программы. То есть вы ничего не вносите и ничего не теряете — только возвращаете часть своих же денег. Просто, тепло и по-соседски.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вот что мне нравится больше всего. Перед вами круг денег — проследите его вместе со мной. Шаг первый: вы платите по QR, как привыкли. Шаг второй: магазин платит платформе умеренную комиссию — примерно ~10%, тогда как агрегаторам пришлось бы отдавать 20–45%. Почувствуйте разницу. Шаг третий: часть этой комиссии возвращается вам баллами — тем самым кэшбэком, о котором мы говорили. И шаг четвёртый: вы тратите эти баллы в том же районе — в кофейне, на рынке, в цветочном. Так деньги ходят по кругу рядом с домом, а не уплывают большим сервисам. Это и есть локальная экономика. Ваша личная выгода и польза району — одно и то же движение: каждая ваша покупка делает наш район чуть сильнее.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Отлично, с цифрами и правилами разобрались. Переходим ко второй части — она называется «Жизнь района». Здесь будет меньше таблиц и больше живого. Сначала я расскажу историю одного обычного дня: покажу на примере, как баллы начисляются за утренний кофе, обед и вечерний букет — по-моему, это самая наглядная часть. Затем поговорим о безопасности: я знаю, многих волнует, где лежат деньги и кто за всё отвечает, — отвечу спокойно и без юридических сложностей. Дальше будет честное сравнение с привычным банковским кэшбэком. И в финале — FAQ: ответы на вопросы, которые соседи задают чаще всего, и разбор популярных мифов. Если что-то из этого вам особенно интересно — держите это в голове, скоро вернёмся к этому подробно. Поехали!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цифры ожили, расскажу историю нашего соседа — назовём его Андреем. Утро: кофе у дома за 300 ₽ — и примерно 21 балл падает на счёт. День: обед в столовой у метро за 400 ₽ — ещё 27 баллов. Вечер: зашёл к цветочнице, взял букет к ужину за 900 ₽ — целых 62 балла. Заметьте: Андрей ничего особенного не делал. Просто жил обычный день и платил по QR, как обычно платит картой. Итог дня — ≈110 баллов, то есть около ста десяти рублей, которые вернулись в его кошелёк. И они не сгорят: спокойно подождут выходных, когда он пойдёт за продуктами. Суммы, конечно, примерные — у каждого свои покупки. Но принцип, надеюсь, понятен: обычный день — и баллы капают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честное сравнение — с обычным кэшбэком банка. Сразу скажу: мы ничуть не против банков, у каждого есть карта, и это нормально. Но разница в удобстве заметная. Смотрите: банковские проценты копятся месяцами, тратить их можно только на ограниченный список, а условия банк может поменять в одностороннем порядке. Баллы LOVII работают иначе: начисление приходит сразу после покупки, тратить их можно сегодня же — в соседних магазинах, и курс всегда один: 1 балл = 1 ₽, без коэффициентов и мелкого шрифта. Поэтому правильный вывод такой: баллы района — это не замена банковской карте, а приятный бонус к привычным покупкам. Пользуетесь картой — пожалуйста. Просто район за те же покупки ещё и доплачивает баллами.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ещё одна важная тема — безопасность. Спокойно и без юридических подробностей, вот четыре факта. Первое: все расчёты идут через настоящий банк — договор с банком подписан, никакой самодельной схемы нет. Второе: средства учитываются на номинальных счетах по ст. 860.1 — это стандартная банковская практика, такая же, как в привычных платёжных приложениях. Третье: оператор платформы — ООО «АКСИОМА», российское юридическое лицо, к которому можно обратиться с любым вопросом. Четвёртое: платежи проходят по защищённому каналу эквайринга. А главное — баллы не «внутренняя валюта» из ниоткуда: 1 балл = 1 ₽, и это обязательство платформы, закреплённое правилами программы. Мне кажется, это серьёзный повод доверять: всё устроено скучно и надёжно — как и должно быть с деньгами.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финальный штрих — как начать. Потребуется примерно три минуты. Шаг первый: установите приложение LOVII — ссылка на lovii.ru, записывайте. Шаг второй: короткая регистрация — нужен только номер телефона и код из СМС; никаких анкет, сканов и документов. Шаг третий: приходите в магазин района и сканируйте QR — первый кэшбэк придёт уже с первой покупки, ждать не придётся. Всё! Заводить новые карты не надо, придумывать пароли не надо, бумажные купоны — точно в прошлом. Предлагаю не откладывать: достаньте телефоны прямо сейчас, пока мы здесь, — установите приложение, и я помогу, если что-то не получится. А завтра утренний кофе уже можно будет купить с баллами на счету. Договорились?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вот что важно: район буквально оживает на глазах. Каждую неделю к программе присоединяются новые точки — кофейни, пекарни, цветочные, рынки, салоны и сервисы. Наши представители ходят по району и договариваются с владельцами лично, поэтому список растёт постоянно. Все новые места сразу появляются на карте в приложении — откройте её и посмотрите, что уже принимает баллы рядом с вашим домом. И небольшая просьба: если вы не видите в списке свою любимую кофейню или магазинчик, просто скажите им про LOVII. Владельцы прислушиваются к постоянным гостям, а мы подключаем быстро. Чем больше точек принимает баллы, тем проще и копить, и тратить их рядом с домом. Запомните три вещи: рост еженедельный, карта обновляется в приложении, а любимую кофейню можно подсказать — это самый короткий путь к тому, чтобы район стал ещё выгоднее для всех нас.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честно о том, чем баллы НЕ являются — это важно проговорить, чтобы ни у кого не было иллюзий. Первое: баллы нельзя купить. Они появляются только одним способом — за реальные покупки в магазинах района; отдельно «заработать» или приобрести их невозможно. Второе: это не вклад. По баллам не капают проценты, они не растут сами по себе, и никакого дохода с них получить нельзя — это просто возврат части ваших покупок. И третье: курс всегда один — 1 балл равен одному рублю, никаких «рыночных котировок» и плавающих курсов не существует. LOVII — это программа лояльности, а не финансовый продукт. Мы сознательно сделали всё простым и прозрачным: покупаете — получаете баллы — тратите их здесь же. Если услышите разговоры про «инвестиции в баллы», знайте: это слухи, и правила программы говорят об обратном.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собрали вопросы, которые соседи задают чаще всего, и ответим прямо. Да, для вас всё бесплатно: ни подписок, ни комиссий — за сервис платит магазин. Нет, баллы не сгорят: накопили — значит ваше, пользуйтесь спокойно, хоть через полгода. Вывести их деньгами нельзя, и это честно: баллы тратятся покупками в своём районе — на кофе, продукты, цветы. Банк подойдёт любой: вы платите по QR из приложения LOVII, а карта нужна лишь для пополнения, как обычно. И про приватность: ваши покупки видит только та точка, где вы купили, — эти данные нужны, чтобы начислить вам баллы, и больше никому они не передаются. Если остались вопросы — задавайте лично, я рядом, и на сайте всё расписано подробно. Самое главное запомните три слова: бесплатно, не сгорают, тратятся в районе.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Поговорим о трёх самых живучих мифах — спокойно и по фактам. Миф первый: «это пирамида». Но посмотрите, откуда берутся деньги: их дают магазины — за сервис и за то, что жители возвращаются в район. Жители ничего не вносят, вкладываться не нужно, а значит, схемой это быть не может. Миф второй: «баллы обесценятся». Курс закреплён правилами программы: 1 балл равен 1 рублю и не меняется — ни от сезона, ни от «спроса», ни от разговоров. Миф третий: «это ненадолго, потом закроются». Здесь ответом служит инфраструктура, которая уже работает: договор с банком подписан, платежи идут через защищённый эквайринг, а точки района уже принимают оплату. Это не обещания на бумаге, а действующая система, которой пользуются ваши соседи. Если останется скепсис — приходите после встречи, покажем всё как есть, без маркетинга.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теперь — интерактивная пауза. Предлагаю не просто слушать, а попробовать руками. Демо-режим LOVII уже открыт: зайдите со смартфона на lovii.ru и войдите в демо. Там видно, как выглядит приложение, как начисляются баллы и как проходит оплата по QR. Это тренировка: никаких настоящих платежей, деньги не списываются, платить ничего не нужно — просто потренируйтесь с экраном, привыкнете за минуту. Откройте демо прямо сейчас, я подожду… Получается? Отлично! И ещё: покажите эту страницу соседу или соседке — вместе разберётесь быстрее, а если что-то не заработает, поднимите руку, я подойду и помогу. Моя цель простая: чтобы каждый из вас ушёл с этой встречи, уже попробовав демо своими руками. Кто готов? Открываем lovii.ru — и пробуем QR прямо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последний штрих — самый тёплый. Сила этой программы в нас самих. Чем больше соседей пользуется LOVII, тем выгоднее магазинам давать кэшбэк и тем больше районных акций появляется: больше поводов вернуться баллами за ваши же покупки. Экономика простая: больше жителей — больше акций — больше пользы каждому из нас. Как помочь? Совсем немного усилий. Поделитесь ссылкой lovii.ru в чате дома — одно сообщение, а эффект на весь подъезд. Покажите на кассе, как вы платите по QR, — соседи рядом увидят, что это просто и быстро. И расскажите владельцу любимого места про LOVII — кстати, это работает: многие точки подключились именно после таких разговоров с постоянными гостями. Локальная экономика начинается с одного сообщения в чате дома. Отправьте его сегодня вечером — и район скажет вам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 — всего три глагола: сканируйте, платите, копите. Сканируете QR на кассе любимого места, платите как обычно смартфоном — и часть каждой покупки возвращается вам баллами. Один балл равен одному рублю, без курсов и коэффициентов. Для вас программа бесплатна, баллы не сгорают и тратятся здесь же, в своём районе. Ваш район уже возвращает деньги соседям — присоединяйтесь, на это нужно три минуты: откройте lovii.ru, короткая регистрация по телефону — и первая же покупка принесёт первый кэшбэк. Давайте сделаем это сегодня, прямо после встречи: кто-то зайдёт в демо, кто-то сразу оплатит по QR в кофейне внизу. Спасибо большое, что пришли! Если остались вопросы — я здесь, подойду и помогу каждому. Уютного района и приятных покупок — пусть баллы копятся сами собой, просто от того, что вы живёте здесь.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50156" y="-1357312"/>
            <a:ext cx="3357563" cy="3357563"/>
          </a:xfrm>
          <a:prstGeom prst="roundRect">
            <a:avLst>
              <a:gd name="adj" fmla="val 2836595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814387" y="3900488"/>
            <a:ext cx="2128838" cy="2128838"/>
          </a:xfrm>
          <a:prstGeom prst="roundRect">
            <a:avLst>
              <a:gd name="adj" fmla="val 4473824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86188" y="1085850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00513" y="742950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64A8A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h2p-fit-1788306194946-l7iwd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350" y="457200"/>
            <a:ext cx="1717960" cy="189309"/>
          </a:xfrm>
          <a:prstGeom prst="roundRect">
            <a:avLst>
              <a:gd name="adj" fmla="val 5026425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7238" y="507206"/>
            <a:ext cx="1375060" cy="119703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· ДЛЯ ЖИТЕЛЕЙ РАЙОНА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4363" y="5018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514350" y="860822"/>
            <a:ext cx="5029200" cy="1337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038" b="1" spc="-7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район</a:t>
            </a:r>
            <a:endParaRPr lang="en-US" sz="3038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sz="3038" b="1" spc="-76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возвращает</a:t>
            </a:r>
            <a:endParaRPr lang="en-US" sz="3038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sz="3038" b="1" spc="-76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вам деньги</a:t>
            </a:r>
            <a:endParaRPr lang="en-US" sz="3038" dirty="0"/>
          </a:p>
        </p:txBody>
      </p:sp>
      <p:sp>
        <p:nvSpPr>
          <p:cNvPr id="11" name="Text 8"/>
          <p:cNvSpPr/>
          <p:nvPr/>
        </p:nvSpPr>
        <p:spPr>
          <a:xfrm>
            <a:off x="514350" y="2270261"/>
            <a:ext cx="4000500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Копите баллы в любимых магазинах района — и тратьте их там же. </a:t>
            </a:r>
            <a:pPr algn="l" indent="0" marL="0">
              <a:lnSpc>
                <a:spcPts val="1657"/>
              </a:lnSpc>
              <a:buNone/>
            </a:pPr>
            <a:r>
              <a:rPr lang="en-US" sz="1069" b="1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баллы не сгорают</a:t>
            </a:r>
            <a:endParaRPr lang="en-US" sz="1069" dirty="0"/>
          </a:p>
        </p:txBody>
      </p:sp>
      <p:sp>
        <p:nvSpPr>
          <p:cNvPr id="12" name="Text 9"/>
          <p:cNvSpPr/>
          <p:nvPr/>
        </p:nvSpPr>
        <p:spPr>
          <a:xfrm>
            <a:off x="514350" y="2919450"/>
            <a:ext cx="1655564" cy="189309"/>
          </a:xfrm>
          <a:prstGeom prst="roundRect">
            <a:avLst>
              <a:gd name="adj" fmla="val 5026425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57238" y="2969456"/>
            <a:ext cx="144839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67A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КЭШБЭК БАЛЛАМИ 6,84–9,3%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4363" y="29640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67A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5" name="Text 12"/>
          <p:cNvSpPr/>
          <p:nvPr/>
        </p:nvSpPr>
        <p:spPr>
          <a:xfrm>
            <a:off x="2241352" y="2908091"/>
            <a:ext cx="1321482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84239" y="2969456"/>
            <a:ext cx="111431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ДЛЯ ВАС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341364" y="29640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18" name="Text 15"/>
          <p:cNvSpPr/>
          <p:nvPr/>
        </p:nvSpPr>
        <p:spPr>
          <a:xfrm>
            <a:off x="3634271" y="2908091"/>
            <a:ext cx="1033611" cy="212027"/>
          </a:xfrm>
          <a:prstGeom prst="roundRect">
            <a:avLst>
              <a:gd name="adj" fmla="val 4487860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877159" y="2969456"/>
            <a:ext cx="120919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ПЛАТЁЖ ПО QR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34284" y="29640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1" name="Text 18"/>
          <p:cNvSpPr/>
          <p:nvPr/>
        </p:nvSpPr>
        <p:spPr>
          <a:xfrm>
            <a:off x="514350" y="46880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692944" y="4675584"/>
            <a:ext cx="43934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 · ООО «АКСИОМА»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6563" y="-1643062"/>
            <a:ext cx="3714750" cy="3714750"/>
          </a:xfrm>
          <a:prstGeom prst="roundRect">
            <a:avLst>
              <a:gd name="adj" fmla="val 2563846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92981" y="3864769"/>
            <a:ext cx="2414588" cy="2414588"/>
          </a:xfrm>
          <a:prstGeom prst="roundRect">
            <a:avLst>
              <a:gd name="adj" fmla="val 3944378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43838" y="685800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2456" y="1214438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64A8A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29213" y="2540273"/>
            <a:ext cx="34147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9213" y="3190354"/>
            <a:ext cx="341471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075" y="385763"/>
            <a:ext cx="8543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ЗНАКОМСТВО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0075" y="589359"/>
            <a:ext cx="8543925" cy="32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— программа лояльности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вашего района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600075" y="1799555"/>
            <a:ext cx="4286250" cy="2131516"/>
          </a:xfrm>
          <a:prstGeom prst="roundRect">
            <a:avLst>
              <a:gd name="adj" fmla="val 5362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2195140"/>
            <a:ext cx="6312117" cy="143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1"/>
              </a:lnSpc>
              <a:buNone/>
            </a:pPr>
            <a:r>
              <a:rPr lang="en-US" sz="10688" dirty="0">
                <a:solidFill>
                  <a:srgbClr val="F64A8A">
                    <a:alpha val="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favorite</a:t>
            </a:r>
            <a:endParaRPr lang="en-US" sz="10688" dirty="0"/>
          </a:p>
        </p:txBody>
      </p:sp>
      <p:sp>
        <p:nvSpPr>
          <p:cNvPr id="12" name="Text 10"/>
          <p:cNvSpPr/>
          <p:nvPr/>
        </p:nvSpPr>
        <p:spPr>
          <a:xfrm>
            <a:off x="914400" y="2099593"/>
            <a:ext cx="414338" cy="414338"/>
          </a:xfrm>
          <a:prstGeom prst="roundRect">
            <a:avLst>
              <a:gd name="adj" fmla="val 22986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A1A1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6192" y="215138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2109" dirty="0"/>
          </a:p>
        </p:txBody>
      </p:sp>
      <p:sp>
        <p:nvSpPr>
          <p:cNvPr id="14" name="Text 12"/>
          <p:cNvSpPr/>
          <p:nvPr/>
        </p:nvSpPr>
        <p:spPr>
          <a:xfrm>
            <a:off x="914400" y="2671093"/>
            <a:ext cx="365760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181" dirty="0">
                <a:solidFill>
                  <a:srgbClr val="1A1A1A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договорились с магазинами района: часть стоимости каждой вашей покупки </a:t>
            </a:r>
            <a:pPr algn="l" indent="0" marL="0">
              <a:lnSpc>
                <a:spcPts val="1890"/>
              </a:lnSpc>
              <a:buNone/>
            </a:pPr>
            <a:r>
              <a:rPr lang="en-US" sz="1181" b="1" dirty="0">
                <a:solidFill>
                  <a:srgbClr val="C92A6A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возвращается вам баллами</a:t>
            </a:r>
            <a:pPr algn="l" indent="0" marL="0">
              <a:lnSpc>
                <a:spcPts val="1890"/>
              </a:lnSpc>
              <a:buNone/>
            </a:pPr>
            <a:r>
              <a:rPr lang="en-US" sz="1181" dirty="0">
                <a:solidFill>
                  <a:srgbClr val="1A1A1A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Вы платите как обычно — по QR, а район говорит вам </a:t>
            </a:r>
            <a:pPr algn="l" indent="0" marL="0">
              <a:lnSpc>
                <a:spcPts val="1890"/>
              </a:lnSpc>
              <a:buNone/>
            </a:pPr>
            <a:r>
              <a:rPr lang="en-US" sz="1181" b="1" dirty="0">
                <a:solidFill>
                  <a:srgbClr val="1A1A1A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спасибо</a:t>
            </a:r>
            <a:endParaRPr lang="en-US" sz="1181" dirty="0"/>
          </a:p>
        </p:txBody>
      </p:sp>
      <p:sp>
        <p:nvSpPr>
          <p:cNvPr id="15" name="Text 13"/>
          <p:cNvSpPr/>
          <p:nvPr/>
        </p:nvSpPr>
        <p:spPr>
          <a:xfrm>
            <a:off x="5129213" y="2036638"/>
            <a:ext cx="357188" cy="357188"/>
          </a:xfrm>
          <a:prstGeom prst="roundRect">
            <a:avLst>
              <a:gd name="adj" fmla="val 26663963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78326" y="2085752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758" dirty="0"/>
          </a:p>
        </p:txBody>
      </p:sp>
      <p:sp>
        <p:nvSpPr>
          <p:cNvPr id="17" name="Text 15"/>
          <p:cNvSpPr/>
          <p:nvPr/>
        </p:nvSpPr>
        <p:spPr>
          <a:xfrm>
            <a:off x="5600700" y="2036638"/>
            <a:ext cx="315773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РЯДОМ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00700" y="2200945"/>
            <a:ext cx="2714442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в местных магазинах, кафе и сервисах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5129213" y="2686720"/>
            <a:ext cx="357188" cy="357188"/>
          </a:xfrm>
          <a:prstGeom prst="roundRect">
            <a:avLst>
              <a:gd name="adj" fmla="val 26663963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78326" y="2735833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758" dirty="0"/>
          </a:p>
        </p:txBody>
      </p:sp>
      <p:sp>
        <p:nvSpPr>
          <p:cNvPr id="21" name="Text 19"/>
          <p:cNvSpPr/>
          <p:nvPr/>
        </p:nvSpPr>
        <p:spPr>
          <a:xfrm>
            <a:off x="5600700" y="2686720"/>
            <a:ext cx="286422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ТРАТИТСЯ РЯДОМ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00700" y="2851026"/>
            <a:ext cx="2462129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тратятся здесь же — в своём районе</a:t>
            </a:r>
            <a:endParaRPr lang="en-US" sz="872" dirty="0"/>
          </a:p>
        </p:txBody>
      </p:sp>
      <p:sp>
        <p:nvSpPr>
          <p:cNvPr id="23" name="Text 21"/>
          <p:cNvSpPr/>
          <p:nvPr/>
        </p:nvSpPr>
        <p:spPr>
          <a:xfrm>
            <a:off x="5129213" y="3336801"/>
            <a:ext cx="357188" cy="357188"/>
          </a:xfrm>
          <a:prstGeom prst="roundRect">
            <a:avLst>
              <a:gd name="adj" fmla="val 26663963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8326" y="3385914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758" dirty="0"/>
          </a:p>
        </p:txBody>
      </p:sp>
      <p:sp>
        <p:nvSpPr>
          <p:cNvPr id="25" name="Text 23"/>
          <p:cNvSpPr/>
          <p:nvPr/>
        </p:nvSpPr>
        <p:spPr>
          <a:xfrm>
            <a:off x="5600700" y="3336801"/>
            <a:ext cx="258472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ВСЕГДА С ВАМИ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00700" y="3501107"/>
            <a:ext cx="2221871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Всё в одном приложении на смартфоне</a:t>
            </a:r>
            <a:endParaRPr lang="en-US" sz="8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428750"/>
            <a:ext cx="3429000" cy="3429000"/>
          </a:xfrm>
          <a:prstGeom prst="roundRect">
            <a:avLst>
              <a:gd name="adj" fmla="val 2777500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08081" y="-992981"/>
            <a:ext cx="2700338" cy="2700338"/>
          </a:xfrm>
          <a:prstGeom prst="roundRect">
            <a:avLst>
              <a:gd name="adj" fmla="val 3526983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5125" y="4286250"/>
            <a:ext cx="1571625" cy="1571625"/>
          </a:xfrm>
          <a:prstGeom prst="roundRect">
            <a:avLst>
              <a:gd name="adj" fmla="val 6060000"/>
            </a:avLst>
          </a:prstGeom>
          <a:solidFill>
            <a:srgbClr val="0ABAB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72338" y="1528763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F64A8A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28750" y="2286000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0075" y="4264819"/>
            <a:ext cx="794385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3704" y="400050"/>
            <a:ext cx="12247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ГЛАВНОЕ ПРАВИЛО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603647"/>
            <a:ext cx="8595248" cy="28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Всё честно: 1 балл = 1 ₽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2280754" y="1977703"/>
            <a:ext cx="5727976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304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</a:t>
            </a:r>
            <a:pPr algn="l" indent="0" marL="0">
              <a:lnSpc>
                <a:spcPts val="6750"/>
              </a:lnSpc>
              <a:buNone/>
            </a:pPr>
            <a:r>
              <a:rPr lang="en-US" sz="6750" b="1" spc="-304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₽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2856085" y="3006403"/>
            <a:ext cx="3431719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Единственный курс в программе — и он не меняется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00075" y="4454128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5259" y="449931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617" dirty="0"/>
          </a:p>
        </p:txBody>
      </p:sp>
      <p:sp>
        <p:nvSpPr>
          <p:cNvPr id="14" name="Text 12"/>
          <p:cNvSpPr/>
          <p:nvPr/>
        </p:nvSpPr>
        <p:spPr>
          <a:xfrm>
            <a:off x="1028700" y="4468416"/>
            <a:ext cx="207637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Накопили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500 баллов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у вас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 ₽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покупки в районе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3319388" y="4454128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64572" y="449931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7" name="Text 15"/>
          <p:cNvSpPr/>
          <p:nvPr/>
        </p:nvSpPr>
        <p:spPr>
          <a:xfrm>
            <a:off x="3748013" y="4468416"/>
            <a:ext cx="207648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Никаких курсов, коэффициентов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скрытых правил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6038813" y="4454128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3997" y="449931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20" name="Text 18"/>
          <p:cNvSpPr/>
          <p:nvPr/>
        </p:nvSpPr>
        <p:spPr>
          <a:xfrm>
            <a:off x="6467438" y="4468416"/>
            <a:ext cx="207637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не сгорают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копите без спешки</a:t>
            </a:r>
            <a:endParaRPr lang="en-US" sz="8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4" y="-1278731"/>
            <a:ext cx="2986088" cy="2986088"/>
          </a:xfrm>
          <a:prstGeom prst="roundRect">
            <a:avLst>
              <a:gd name="adj" fmla="val 3189473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714375" y="4143375"/>
            <a:ext cx="1857375" cy="1857375"/>
          </a:xfrm>
          <a:prstGeom prst="roundRect">
            <a:avLst>
              <a:gd name="adj" fmla="val 5127692"/>
            </a:avLst>
          </a:prstGeom>
          <a:solidFill>
            <a:srgbClr val="0ABAB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65231" y="857250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075" y="385763"/>
            <a:ext cx="8543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ВОЗВРАЩАЕТСЯ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0075" y="589359"/>
            <a:ext cx="8543925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9,3%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каждой покупки — вам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600075" y="1072902"/>
            <a:ext cx="3879056" cy="1610134"/>
          </a:xfrm>
          <a:prstGeom prst="roundRect">
            <a:avLst>
              <a:gd name="adj" fmla="val 709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1290005"/>
            <a:ext cx="6014680" cy="115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6"/>
              </a:lnSpc>
              <a:buNone/>
            </a:pPr>
            <a:r>
              <a:rPr lang="en-US" sz="8438" dirty="0">
                <a:solidFill>
                  <a:srgbClr val="FFFFFF">
                    <a:alpha val="7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storefront</a:t>
            </a:r>
            <a:endParaRPr lang="en-US" sz="8438" dirty="0"/>
          </a:p>
        </p:txBody>
      </p:sp>
      <p:sp>
        <p:nvSpPr>
          <p:cNvPr id="9" name="Text 7"/>
          <p:cNvSpPr/>
          <p:nvPr/>
        </p:nvSpPr>
        <p:spPr>
          <a:xfrm>
            <a:off x="871538" y="1315789"/>
            <a:ext cx="3336131" cy="6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16"/>
              </a:lnSpc>
              <a:buNone/>
            </a:pPr>
            <a:r>
              <a:rPr lang="en-US" sz="5175" b="1" spc="-207" kern="0" dirty="0">
                <a:solidFill>
                  <a:srgbClr val="0ABAB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6,84%</a:t>
            </a:r>
            <a:endParaRPr lang="en-US" sz="5175" dirty="0"/>
          </a:p>
        </p:txBody>
      </p:sp>
      <p:sp>
        <p:nvSpPr>
          <p:cNvPr id="10" name="Text 8"/>
          <p:cNvSpPr/>
          <p:nvPr/>
        </p:nvSpPr>
        <p:spPr>
          <a:xfrm>
            <a:off x="871538" y="2054386"/>
            <a:ext cx="3000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возвращается баллами в большинстве мест района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4664869" y="1072902"/>
            <a:ext cx="3879056" cy="1610134"/>
          </a:xfrm>
          <a:prstGeom prst="roundRect">
            <a:avLst>
              <a:gd name="adj" fmla="val 709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36335" y="1290005"/>
            <a:ext cx="7607665" cy="115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6"/>
              </a:lnSpc>
              <a:buNone/>
            </a:pPr>
            <a:r>
              <a:rPr lang="en-US" sz="8438" dirty="0">
                <a:solidFill>
                  <a:srgbClr val="FFFFFF">
                    <a:alpha val="7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celebration</a:t>
            </a:r>
            <a:endParaRPr lang="en-US" sz="8438" dirty="0"/>
          </a:p>
        </p:txBody>
      </p:sp>
      <p:sp>
        <p:nvSpPr>
          <p:cNvPr id="13" name="Text 11"/>
          <p:cNvSpPr/>
          <p:nvPr/>
        </p:nvSpPr>
        <p:spPr>
          <a:xfrm>
            <a:off x="4936331" y="1315789"/>
            <a:ext cx="3336131" cy="6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16"/>
              </a:lnSpc>
              <a:buNone/>
            </a:pPr>
            <a:r>
              <a:rPr lang="en-US" sz="5175" b="1" spc="-207" kern="0" dirty="0">
                <a:solidFill>
                  <a:srgbClr val="F64A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9,3%</a:t>
            </a:r>
            <a:endParaRPr lang="en-US" sz="5175" dirty="0"/>
          </a:p>
        </p:txBody>
      </p:sp>
      <p:sp>
        <p:nvSpPr>
          <p:cNvPr id="14" name="Text 12"/>
          <p:cNvSpPr/>
          <p:nvPr/>
        </p:nvSpPr>
        <p:spPr>
          <a:xfrm>
            <a:off x="4936331" y="2054386"/>
            <a:ext cx="324040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акционных категориях и событиях района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00075" y="2840199"/>
            <a:ext cx="7943850" cy="628650"/>
          </a:xfrm>
          <a:prstGeom prst="roundRect">
            <a:avLst>
              <a:gd name="adj" fmla="val 18182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4388" y="2983074"/>
            <a:ext cx="342900" cy="342900"/>
          </a:xfrm>
          <a:prstGeom prst="roundRect">
            <a:avLst>
              <a:gd name="adj" fmla="val 27775000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1536" y="303022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1285875" y="3063441"/>
            <a:ext cx="7043738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Кофе за 300 ₽ → около 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C92A6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20–28 баллов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Обеды на работе за месяц — 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сотни баллов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3100611" y="470594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055" dirty="0"/>
          </a:p>
        </p:txBody>
      </p:sp>
      <p:sp>
        <p:nvSpPr>
          <p:cNvPr id="20" name="Text 18"/>
          <p:cNvSpPr/>
          <p:nvPr/>
        </p:nvSpPr>
        <p:spPr>
          <a:xfrm>
            <a:off x="3264917" y="4689872"/>
            <a:ext cx="5279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Проценты зависят от категории точки и промо-программ района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4437" y="-1571625"/>
            <a:ext cx="3571875" cy="3571875"/>
          </a:xfrm>
          <a:prstGeom prst="roundRect">
            <a:avLst>
              <a:gd name="adj" fmla="val 2666400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93831" y="3936206"/>
            <a:ext cx="2271713" cy="2271713"/>
          </a:xfrm>
          <a:prstGeom prst="roundRect">
            <a:avLst>
              <a:gd name="adj" fmla="val 4192452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625" y="785813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65269" y="1357313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64A8A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1496" y="385763"/>
            <a:ext cx="7788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СУЕТЫ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89359"/>
            <a:ext cx="859536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Накопили — </a:t>
            </a:r>
            <a:pPr algn="ctr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значит ваше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2297385" y="987177"/>
            <a:ext cx="4549229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— как деньги в кошельке: лежат спокойно и ждут, когда понадобятся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00075" y="2166900"/>
            <a:ext cx="2524088" cy="1360996"/>
          </a:xfrm>
          <a:prstGeom prst="roundRect">
            <a:avLst>
              <a:gd name="adj" fmla="val 839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381213"/>
            <a:ext cx="371475" cy="371475"/>
          </a:xfrm>
          <a:prstGeom prst="roundRect">
            <a:avLst>
              <a:gd name="adj" fmla="val 25638462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1178" y="243229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828" dirty="0"/>
          </a:p>
        </p:txBody>
      </p:sp>
      <p:sp>
        <p:nvSpPr>
          <p:cNvPr id="12" name="Text 10"/>
          <p:cNvSpPr/>
          <p:nvPr/>
        </p:nvSpPr>
        <p:spPr>
          <a:xfrm>
            <a:off x="800100" y="2881275"/>
            <a:ext cx="21240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срока годности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800100" y="3142022"/>
            <a:ext cx="2233766" cy="17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LOVII не сгорают в конце месяца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3309900" y="2081175"/>
            <a:ext cx="2524088" cy="1532558"/>
          </a:xfrm>
          <a:prstGeom prst="roundRect">
            <a:avLst>
              <a:gd name="adj" fmla="val 745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09925" y="2295488"/>
            <a:ext cx="371475" cy="371475"/>
          </a:xfrm>
          <a:prstGeom prst="roundRect">
            <a:avLst>
              <a:gd name="adj" fmla="val 25638462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61003" y="234656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28" dirty="0"/>
          </a:p>
        </p:txBody>
      </p:sp>
      <p:sp>
        <p:nvSpPr>
          <p:cNvPr id="17" name="Text 15"/>
          <p:cNvSpPr/>
          <p:nvPr/>
        </p:nvSpPr>
        <p:spPr>
          <a:xfrm>
            <a:off x="3509925" y="2795550"/>
            <a:ext cx="21240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условий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3509925" y="3056297"/>
            <a:ext cx="2124038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нужно «успеть потратить» и следить за акциями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6019726" y="2081175"/>
            <a:ext cx="2524199" cy="1532558"/>
          </a:xfrm>
          <a:prstGeom prst="roundRect">
            <a:avLst>
              <a:gd name="adj" fmla="val 7458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9751" y="2295488"/>
            <a:ext cx="371475" cy="371475"/>
          </a:xfrm>
          <a:prstGeom prst="roundRect">
            <a:avLst>
              <a:gd name="adj" fmla="val 25638462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70828" y="234656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828" dirty="0"/>
          </a:p>
        </p:txBody>
      </p:sp>
      <p:sp>
        <p:nvSpPr>
          <p:cNvPr id="22" name="Text 20"/>
          <p:cNvSpPr/>
          <p:nvPr/>
        </p:nvSpPr>
        <p:spPr>
          <a:xfrm>
            <a:off x="6219751" y="2795550"/>
            <a:ext cx="212414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Видно всегда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6219751" y="3056297"/>
            <a:ext cx="2124149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Баланс в приложении, история начислений прозрачна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2455664" y="4457700"/>
            <a:ext cx="4232560" cy="357188"/>
          </a:xfrm>
          <a:prstGeom prst="roundRect">
            <a:avLst>
              <a:gd name="adj" fmla="val 26663963"/>
            </a:avLst>
          </a:prstGeom>
          <a:solidFill>
            <a:srgbClr val="D4A854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55689" y="456842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336" dirty="0"/>
          </a:p>
        </p:txBody>
      </p:sp>
      <p:sp>
        <p:nvSpPr>
          <p:cNvPr id="26" name="Text 24"/>
          <p:cNvSpPr/>
          <p:nvPr/>
        </p:nvSpPr>
        <p:spPr>
          <a:xfrm>
            <a:off x="2862858" y="4550569"/>
            <a:ext cx="36253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Копите к отпуску, празднику или просто так — баллы подождут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9456" y="-1350169"/>
            <a:ext cx="3128963" cy="3128963"/>
          </a:xfrm>
          <a:prstGeom prst="roundRect">
            <a:avLst>
              <a:gd name="adj" fmla="val 3043835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785812" y="4071938"/>
            <a:ext cx="2000250" cy="2000250"/>
          </a:xfrm>
          <a:prstGeom prst="roundRect">
            <a:avLst>
              <a:gd name="adj" fmla="val 4761429"/>
            </a:avLst>
          </a:prstGeom>
          <a:solidFill>
            <a:srgbClr val="0ABAB5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07981" y="742950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075" y="371475"/>
            <a:ext cx="60070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МЕСТА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0075" y="575072"/>
            <a:ext cx="4129813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Тратьте там, где и так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ходите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5972175" y="515689"/>
            <a:ext cx="25717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Кофе, букет или корзина с рынка — за привычные покупки возвращаются баллы</a:t>
            </a:r>
            <a:endParaRPr lang="en-US" sz="900" dirty="0"/>
          </a:p>
        </p:txBody>
      </p:sp>
      <p:pic>
        <p:nvPicPr>
          <p:cNvPr id="8" name="Image 0" descr="/tmp/h2p-fit-1788306194697-j909t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058614"/>
            <a:ext cx="2524088" cy="2057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1A">
                <a:alpha val="10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00075" y="323388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828675" y="3216027"/>
            <a:ext cx="22954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Кофейни и пекарни</a:t>
            </a:r>
            <a:endParaRPr lang="en-US" sz="1013" dirty="0"/>
          </a:p>
        </p:txBody>
      </p:sp>
      <p:pic>
        <p:nvPicPr>
          <p:cNvPr id="11" name="Image 1" descr="/tmp/h2p-fit-1788306194069-klq63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00" y="1058614"/>
            <a:ext cx="2524088" cy="2057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1A">
                <a:alpha val="10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3309900" y="323388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13" name="Text 9"/>
          <p:cNvSpPr/>
          <p:nvPr/>
        </p:nvSpPr>
        <p:spPr>
          <a:xfrm>
            <a:off x="3538500" y="3216027"/>
            <a:ext cx="22954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Цветы и подарки</a:t>
            </a:r>
            <a:endParaRPr lang="en-US" sz="1013" dirty="0"/>
          </a:p>
        </p:txBody>
      </p:sp>
      <p:pic>
        <p:nvPicPr>
          <p:cNvPr id="14" name="Image 2" descr="/tmp/h2p-fit-1788306193996-8uy4m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26" y="1058614"/>
            <a:ext cx="2524199" cy="2057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1A1A1A">
                <a:alpha val="10000"/>
              </a:srgbClr>
            </a:outerShdw>
          </a:effectLst>
        </p:spPr>
      </p:pic>
      <p:sp>
        <p:nvSpPr>
          <p:cNvPr id="15" name="Text 10"/>
          <p:cNvSpPr/>
          <p:nvPr/>
        </p:nvSpPr>
        <p:spPr>
          <a:xfrm>
            <a:off x="6019726" y="323388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547" dirty="0"/>
          </a:p>
        </p:txBody>
      </p:sp>
      <p:sp>
        <p:nvSpPr>
          <p:cNvPr id="16" name="Text 11"/>
          <p:cNvSpPr/>
          <p:nvPr/>
        </p:nvSpPr>
        <p:spPr>
          <a:xfrm>
            <a:off x="6248326" y="3216027"/>
            <a:ext cx="229559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Рынки и продукты</a:t>
            </a:r>
            <a:endParaRPr lang="en-US" sz="1013" dirty="0"/>
          </a:p>
        </p:txBody>
      </p:sp>
      <p:sp>
        <p:nvSpPr>
          <p:cNvPr id="17" name="Text 12"/>
          <p:cNvSpPr/>
          <p:nvPr/>
        </p:nvSpPr>
        <p:spPr>
          <a:xfrm>
            <a:off x="2141897" y="4491633"/>
            <a:ext cx="4860094" cy="337542"/>
          </a:xfrm>
          <a:prstGeom prst="roundRect">
            <a:avLst>
              <a:gd name="adj" fmla="val 28215889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2327635" y="459253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336" dirty="0"/>
          </a:p>
        </p:txBody>
      </p:sp>
      <p:sp>
        <p:nvSpPr>
          <p:cNvPr id="19" name="Text 14"/>
          <p:cNvSpPr/>
          <p:nvPr/>
        </p:nvSpPr>
        <p:spPr>
          <a:xfrm>
            <a:off x="2534803" y="4577358"/>
            <a:ext cx="42814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точек района растёт каждую неделю — смотрите карту в приложении</a:t>
            </a:r>
            <a:endParaRPr lang="en-US" sz="8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500187"/>
            <a:ext cx="3286125" cy="3286125"/>
          </a:xfrm>
          <a:prstGeom prst="roundRect">
            <a:avLst>
              <a:gd name="adj" fmla="val 2898261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50956" y="3864769"/>
            <a:ext cx="2414588" cy="2414588"/>
          </a:xfrm>
          <a:prstGeom prst="roundRect">
            <a:avLst>
              <a:gd name="adj" fmla="val 3944378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2356" y="857250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93831" y="685800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0ABAB5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0075" y="385763"/>
            <a:ext cx="8543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0075" y="589359"/>
            <a:ext cx="8543925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Платить — как обычно, только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выгоднее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600075" y="972889"/>
            <a:ext cx="794385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Знакомый сценарий QR-оплаты — баллы приходят сами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03647" y="2131182"/>
            <a:ext cx="2431219" cy="1350392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2320714"/>
            <a:ext cx="4316083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F64A8A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qr_code_2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792956" y="233477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2956" y="233477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2956" y="2663391"/>
            <a:ext cx="2052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Откройте QR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792956" y="2934853"/>
            <a:ext cx="2162328" cy="18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Покажите код из приложения на кассе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3095588" y="2706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3356335" y="2131182"/>
            <a:ext cx="2431331" cy="1350392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55237" y="2320714"/>
            <a:ext cx="240407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0ABAB5">
                    <a:alpha val="1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bolt</a:t>
            </a:r>
            <a:endParaRPr lang="en-US" sz="6750" dirty="0"/>
          </a:p>
        </p:txBody>
      </p:sp>
      <p:sp>
        <p:nvSpPr>
          <p:cNvPr id="18" name="Text 16"/>
          <p:cNvSpPr/>
          <p:nvPr/>
        </p:nvSpPr>
        <p:spPr>
          <a:xfrm>
            <a:off x="3545644" y="233477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45644" y="233477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45644" y="2663391"/>
            <a:ext cx="2052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Оплатите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545644" y="2934853"/>
            <a:ext cx="2052712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Платёж проходит мгновенно, как обычное приложение банка</a:t>
            </a:r>
            <a:endParaRPr lang="en-US" sz="872" dirty="0"/>
          </a:p>
        </p:txBody>
      </p:sp>
      <p:sp>
        <p:nvSpPr>
          <p:cNvPr id="22" name="Text 20"/>
          <p:cNvSpPr/>
          <p:nvPr/>
        </p:nvSpPr>
        <p:spPr>
          <a:xfrm>
            <a:off x="5848387" y="2706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6109134" y="2131182"/>
            <a:ext cx="2431219" cy="1350392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61902" y="2320714"/>
            <a:ext cx="3982098" cy="95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D4A854">
                    <a:alpha val="1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savings</a:t>
            </a:r>
            <a:endParaRPr lang="en-US" sz="6750" dirty="0"/>
          </a:p>
        </p:txBody>
      </p:sp>
      <p:sp>
        <p:nvSpPr>
          <p:cNvPr id="25" name="Text 23"/>
          <p:cNvSpPr/>
          <p:nvPr/>
        </p:nvSpPr>
        <p:spPr>
          <a:xfrm>
            <a:off x="6298443" y="233477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98443" y="233477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98443" y="2663391"/>
            <a:ext cx="2052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Получите баллы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298443" y="2934853"/>
            <a:ext cx="2052600" cy="34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Кэшбэк падает на счёт сразу после покупки</a:t>
            </a:r>
            <a:endParaRPr lang="en-US" sz="872" dirty="0"/>
          </a:p>
        </p:txBody>
      </p:sp>
      <p:sp>
        <p:nvSpPr>
          <p:cNvPr id="29" name="Text 27"/>
          <p:cNvSpPr/>
          <p:nvPr/>
        </p:nvSpPr>
        <p:spPr>
          <a:xfrm>
            <a:off x="2412690" y="4457700"/>
            <a:ext cx="4318620" cy="357188"/>
          </a:xfrm>
          <a:prstGeom prst="roundRect">
            <a:avLst>
              <a:gd name="adj" fmla="val 26663963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612715" y="456842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336" dirty="0"/>
          </a:p>
        </p:txBody>
      </p:sp>
      <p:sp>
        <p:nvSpPr>
          <p:cNvPr id="31" name="Text 29"/>
          <p:cNvSpPr/>
          <p:nvPr/>
        </p:nvSpPr>
        <p:spPr>
          <a:xfrm>
            <a:off x="2819884" y="4550569"/>
            <a:ext cx="37114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Никаких карт, стикеров и бумажных купонов — только смартфон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0813" y="-1714500"/>
            <a:ext cx="3857625" cy="3857625"/>
          </a:xfrm>
          <a:prstGeom prst="roundRect">
            <a:avLst>
              <a:gd name="adj" fmla="val 2468889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21544" y="3721894"/>
            <a:ext cx="2557463" cy="2557463"/>
          </a:xfrm>
          <a:prstGeom prst="roundRect">
            <a:avLst>
              <a:gd name="adj" fmla="val 3724022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6144" y="792956"/>
            <a:ext cx="2271713" cy="2271713"/>
          </a:xfrm>
          <a:prstGeom prst="roundRect">
            <a:avLst>
              <a:gd name="adj" fmla="val 4192452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3050" y="985838"/>
            <a:ext cx="100013" cy="100013"/>
          </a:xfrm>
          <a:prstGeom prst="roundRect">
            <a:avLst>
              <a:gd name="adj" fmla="val 95228095"/>
            </a:avLst>
          </a:prstGeom>
          <a:solidFill>
            <a:srgbClr val="0ABAB5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72388" y="1785938"/>
            <a:ext cx="71438" cy="71438"/>
          </a:xfrm>
          <a:prstGeom prst="roundRect">
            <a:avLst>
              <a:gd name="adj" fmla="val 133319067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0075" y="4264819"/>
            <a:ext cx="7943850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8278" y="385763"/>
            <a:ext cx="4277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589359"/>
            <a:ext cx="8595248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жителей LOVII — </a:t>
            </a:r>
            <a:pPr algn="ctr" indent="0" marL="0">
              <a:lnSpc>
                <a:spcPts val="2458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</a:t>
            </a:r>
            <a:endParaRPr lang="en-US" sz="2138" dirty="0"/>
          </a:p>
        </p:txBody>
      </p:sp>
      <p:sp>
        <p:nvSpPr>
          <p:cNvPr id="10" name="Text 8"/>
          <p:cNvSpPr/>
          <p:nvPr/>
        </p:nvSpPr>
        <p:spPr>
          <a:xfrm>
            <a:off x="3341663" y="987177"/>
            <a:ext cx="2460562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Сколько это стоит вам? Ровно ничего.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3969916" y="1961294"/>
            <a:ext cx="1902586" cy="93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7200" b="1" spc="-360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431777" y="2958517"/>
            <a:ext cx="4280446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 платных подписок, скрытых комиссий и платы за обслуживание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3553904" y="3943350"/>
            <a:ext cx="2036192" cy="189309"/>
          </a:xfrm>
          <a:prstGeom prst="roundRect">
            <a:avLst>
              <a:gd name="adj" fmla="val 5026425"/>
            </a:avLst>
          </a:prstGeom>
          <a:solidFill>
            <a:srgbClr val="1A1A1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96792" y="3993356"/>
            <a:ext cx="4747133" cy="119703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ЧАСТЫЙ ВОПРОС: «В ЧЁМ ПОДВОХ?»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3917" y="398799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600075" y="4439841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5259" y="4485025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617" dirty="0"/>
          </a:p>
        </p:txBody>
      </p:sp>
      <p:sp>
        <p:nvSpPr>
          <p:cNvPr id="18" name="Text 16"/>
          <p:cNvSpPr/>
          <p:nvPr/>
        </p:nvSpPr>
        <p:spPr>
          <a:xfrm>
            <a:off x="1028700" y="4454128"/>
            <a:ext cx="207637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Комиссию за сервис платит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магазин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не покупатель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3319388" y="4439841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64572" y="4485025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17" dirty="0"/>
          </a:p>
        </p:txBody>
      </p:sp>
      <p:sp>
        <p:nvSpPr>
          <p:cNvPr id="21" name="Text 19"/>
          <p:cNvSpPr/>
          <p:nvPr/>
        </p:nvSpPr>
        <p:spPr>
          <a:xfrm>
            <a:off x="3748013" y="4454128"/>
            <a:ext cx="207648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Цены в точках с LOVII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выше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чем без него</a:t>
            </a:r>
            <a:endParaRPr lang="en-US" sz="872" dirty="0"/>
          </a:p>
        </p:txBody>
      </p:sp>
      <p:sp>
        <p:nvSpPr>
          <p:cNvPr id="22" name="Text 20"/>
          <p:cNvSpPr/>
          <p:nvPr/>
        </p:nvSpPr>
        <p:spPr>
          <a:xfrm>
            <a:off x="6038813" y="4439841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83997" y="4485025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17" dirty="0"/>
          </a:p>
        </p:txBody>
      </p:sp>
      <p:sp>
        <p:nvSpPr>
          <p:cNvPr id="24" name="Text 22"/>
          <p:cNvSpPr/>
          <p:nvPr/>
        </p:nvSpPr>
        <p:spPr>
          <a:xfrm>
            <a:off x="6467438" y="4454128"/>
            <a:ext cx="207637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Заработать на вас баллами нельзя: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закреплён правилами</a:t>
            </a:r>
            <a:endParaRPr lang="en-US" sz="87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857250"/>
            <a:ext cx="3714750" cy="3714750"/>
          </a:xfrm>
          <a:prstGeom prst="roundRect">
            <a:avLst>
              <a:gd name="adj" fmla="val 2563846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778669" y="4079081"/>
            <a:ext cx="1843088" cy="1843088"/>
          </a:xfrm>
          <a:prstGeom prst="roundRect">
            <a:avLst>
              <a:gd name="adj" fmla="val 5167440"/>
            </a:avLst>
          </a:prstGeom>
          <a:noFill/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86713" y="500063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F64A8A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71475"/>
            <a:ext cx="85725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СМЫСЛ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71500" y="560784"/>
            <a:ext cx="85725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Ваша покупка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остаётся в районе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571500" y="936166"/>
            <a:ext cx="800100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Проследите путь одной покупки — от QR до новых баллов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75072" y="1417253"/>
            <a:ext cx="3721894" cy="973894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5806" y="179698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5806" y="1796988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0131" y="1757697"/>
            <a:ext cx="30861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1A1A1A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0131" y="1891643"/>
            <a:ext cx="2940368" cy="171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платите по QR</a:t>
            </a:r>
            <a:endParaRPr lang="en-US" sz="928" dirty="0"/>
          </a:p>
        </p:txBody>
      </p:sp>
      <p:sp>
        <p:nvSpPr>
          <p:cNvPr id="13" name="Text 11"/>
          <p:cNvSpPr/>
          <p:nvPr/>
        </p:nvSpPr>
        <p:spPr>
          <a:xfrm>
            <a:off x="3950494" y="181127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4395907" y="1728107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391" dirty="0"/>
          </a:p>
        </p:txBody>
      </p:sp>
      <p:sp>
        <p:nvSpPr>
          <p:cNvPr id="15" name="Text 13"/>
          <p:cNvSpPr/>
          <p:nvPr/>
        </p:nvSpPr>
        <p:spPr>
          <a:xfrm>
            <a:off x="4847034" y="1417253"/>
            <a:ext cx="3721894" cy="973894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07769" y="1796988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D4A854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07769" y="1796988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A6A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22094" y="1682911"/>
            <a:ext cx="30861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1A1A1A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СЕРВИС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22094" y="1816857"/>
            <a:ext cx="2800350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Магазин платит умеренную комиссию 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~10%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20–45%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агрегаторам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2456" y="181127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828" dirty="0"/>
          </a:p>
        </p:txBody>
      </p:sp>
      <p:sp>
        <p:nvSpPr>
          <p:cNvPr id="21" name="Text 19"/>
          <p:cNvSpPr/>
          <p:nvPr/>
        </p:nvSpPr>
        <p:spPr>
          <a:xfrm>
            <a:off x="2259925" y="2709144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2391" dirty="0"/>
          </a:p>
        </p:txBody>
      </p:sp>
      <p:sp>
        <p:nvSpPr>
          <p:cNvPr id="22" name="Text 20"/>
          <p:cNvSpPr/>
          <p:nvPr/>
        </p:nvSpPr>
        <p:spPr>
          <a:xfrm>
            <a:off x="4307681" y="2477988"/>
            <a:ext cx="528638" cy="814388"/>
          </a:xfrm>
          <a:prstGeom prst="roundRect">
            <a:avLst>
              <a:gd name="adj" fmla="val 18016199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solid"/>
          </a:ln>
          <a:effectLst>
            <a:outerShdw sx="100000" sy="100000" kx="0" ky="0" algn="bl" rotWithShape="0" blurRad="190500" dist="57150" dir="5400000">
              <a:srgbClr val="F64A8A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64844" y="265122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2109" dirty="0"/>
          </a:p>
        </p:txBody>
      </p:sp>
      <p:sp>
        <p:nvSpPr>
          <p:cNvPr id="24" name="Text 22"/>
          <p:cNvSpPr/>
          <p:nvPr/>
        </p:nvSpPr>
        <p:spPr>
          <a:xfrm>
            <a:off x="4314825" y="2894112"/>
            <a:ext cx="51435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КРУГ ДЕНЕГ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31888" y="2709144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2391" dirty="0"/>
          </a:p>
        </p:txBody>
      </p:sp>
      <p:sp>
        <p:nvSpPr>
          <p:cNvPr id="26" name="Text 24"/>
          <p:cNvSpPr/>
          <p:nvPr/>
        </p:nvSpPr>
        <p:spPr>
          <a:xfrm>
            <a:off x="575072" y="3379329"/>
            <a:ext cx="3721894" cy="973894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5806" y="3759064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C92A6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5806" y="3759064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0131" y="3719773"/>
            <a:ext cx="30861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1A1A1A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ТРАТА БАЛЛОВ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0131" y="3853718"/>
            <a:ext cx="3024378" cy="171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тратите баллы в том же районе</a:t>
            </a:r>
            <a:endParaRPr lang="en-US" sz="928" dirty="0"/>
          </a:p>
        </p:txBody>
      </p:sp>
      <p:sp>
        <p:nvSpPr>
          <p:cNvPr id="31" name="Text 29"/>
          <p:cNvSpPr/>
          <p:nvPr/>
        </p:nvSpPr>
        <p:spPr>
          <a:xfrm>
            <a:off x="3950494" y="377335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828" dirty="0"/>
          </a:p>
        </p:txBody>
      </p:sp>
      <p:sp>
        <p:nvSpPr>
          <p:cNvPr id="32" name="Text 30"/>
          <p:cNvSpPr/>
          <p:nvPr/>
        </p:nvSpPr>
        <p:spPr>
          <a:xfrm>
            <a:off x="4395907" y="3690182"/>
            <a:ext cx="35218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2391" dirty="0"/>
          </a:p>
        </p:txBody>
      </p:sp>
      <p:sp>
        <p:nvSpPr>
          <p:cNvPr id="33" name="Text 31"/>
          <p:cNvSpPr/>
          <p:nvPr/>
        </p:nvSpPr>
        <p:spPr>
          <a:xfrm>
            <a:off x="4847034" y="3379329"/>
            <a:ext cx="3721894" cy="973894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07769" y="3759064"/>
            <a:ext cx="214313" cy="214313"/>
          </a:xfrm>
          <a:prstGeom prst="roundRect">
            <a:avLst>
              <a:gd name="adj" fmla="val 4439990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07769" y="3759064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780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22094" y="3719773"/>
            <a:ext cx="3086100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1A1A1A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КЭШБЭК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2094" y="3853718"/>
            <a:ext cx="3024378" cy="171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Часть возвращается вам баллами</a:t>
            </a:r>
            <a:endParaRPr lang="en-US" sz="928" dirty="0"/>
          </a:p>
        </p:txBody>
      </p:sp>
      <p:sp>
        <p:nvSpPr>
          <p:cNvPr id="38" name="Text 36"/>
          <p:cNvSpPr/>
          <p:nvPr/>
        </p:nvSpPr>
        <p:spPr>
          <a:xfrm>
            <a:off x="8222456" y="377335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39" name="Text 37"/>
          <p:cNvSpPr/>
          <p:nvPr/>
        </p:nvSpPr>
        <p:spPr>
          <a:xfrm>
            <a:off x="2396617" y="46693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40" name="Text 38"/>
          <p:cNvSpPr/>
          <p:nvPr/>
        </p:nvSpPr>
        <p:spPr>
          <a:xfrm>
            <a:off x="2610929" y="4652367"/>
            <a:ext cx="5961571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ходят по кругу рядом с домом — </a:t>
            </a:r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и есть локальная экономика</a:t>
            </a:r>
            <a:endParaRPr lang="en-US" sz="92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210" y="600075"/>
            <a:ext cx="3367792" cy="200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5"/>
              </a:lnSpc>
              <a:buNone/>
            </a:pPr>
            <a:r>
              <a:rPr lang="en-US" sz="14625" b="1" spc="-731" kern="0" dirty="0">
                <a:solidFill>
                  <a:srgbClr val="F64A8A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25" dirty="0"/>
          </a:p>
        </p:txBody>
      </p:sp>
      <p:sp>
        <p:nvSpPr>
          <p:cNvPr id="3" name="Text 1"/>
          <p:cNvSpPr/>
          <p:nvPr/>
        </p:nvSpPr>
        <p:spPr>
          <a:xfrm>
            <a:off x="6500813" y="2786063"/>
            <a:ext cx="4000500" cy="4000500"/>
          </a:xfrm>
          <a:prstGeom prst="roundRect">
            <a:avLst>
              <a:gd name="adj" fmla="val 2380714"/>
            </a:avLst>
          </a:prstGeom>
          <a:solidFill>
            <a:srgbClr val="0ABAB5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36519" y="664369"/>
            <a:ext cx="1628775" cy="1628775"/>
          </a:xfrm>
          <a:prstGeom prst="roundRect">
            <a:avLst>
              <a:gd name="adj" fmla="val 5847368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15113" y="1528763"/>
            <a:ext cx="128588" cy="128588"/>
          </a:xfrm>
          <a:prstGeom prst="roundRect">
            <a:avLst>
              <a:gd name="adj" fmla="val 74066379"/>
            </a:avLst>
          </a:prstGeom>
          <a:solidFill>
            <a:srgbClr val="F64A8A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86738" y="3257550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D4A854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2940" y="1545309"/>
            <a:ext cx="911007" cy="212027"/>
          </a:xfrm>
          <a:prstGeom prst="roundRect">
            <a:avLst>
              <a:gd name="adj" fmla="val 4487860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556668"/>
            <a:ext cx="8652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 02 / 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003152"/>
            <a:ext cx="400050" cy="35719"/>
          </a:xfrm>
          <a:prstGeom prst="roundRect">
            <a:avLst>
              <a:gd name="adj" fmla="val 2639982"/>
            </a:avLst>
          </a:prstGeom>
          <a:solidFill>
            <a:srgbClr val="F64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2210321"/>
            <a:ext cx="8458200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76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Жизнь района</a:t>
            </a:r>
            <a:endParaRPr lang="en-US" sz="3038" dirty="0"/>
          </a:p>
        </p:txBody>
      </p:sp>
      <p:sp>
        <p:nvSpPr>
          <p:cNvPr id="11" name="Text 9"/>
          <p:cNvSpPr/>
          <p:nvPr/>
        </p:nvSpPr>
        <p:spPr>
          <a:xfrm>
            <a:off x="685800" y="2743870"/>
            <a:ext cx="4937760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Истории, безопасность и ответы на вопросы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85800" y="3286795"/>
            <a:ext cx="300038" cy="300038"/>
          </a:xfrm>
          <a:prstGeom prst="roundRect">
            <a:avLst>
              <a:gd name="adj" fmla="val 31742804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7055" y="332805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77" dirty="0"/>
          </a:p>
        </p:txBody>
      </p:sp>
      <p:sp>
        <p:nvSpPr>
          <p:cNvPr id="14" name="Text 12"/>
          <p:cNvSpPr/>
          <p:nvPr/>
        </p:nvSpPr>
        <p:spPr>
          <a:xfrm>
            <a:off x="1071563" y="3353767"/>
            <a:ext cx="59578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Истории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1808485" y="3286795"/>
            <a:ext cx="300038" cy="300038"/>
          </a:xfrm>
          <a:prstGeom prst="roundRect">
            <a:avLst>
              <a:gd name="adj" fmla="val 31742804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49740" y="332805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77" dirty="0"/>
          </a:p>
        </p:txBody>
      </p:sp>
      <p:sp>
        <p:nvSpPr>
          <p:cNvPr id="17" name="Text 15"/>
          <p:cNvSpPr/>
          <p:nvPr/>
        </p:nvSpPr>
        <p:spPr>
          <a:xfrm>
            <a:off x="2194247" y="3353767"/>
            <a:ext cx="90030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3233886" y="3286795"/>
            <a:ext cx="300038" cy="300038"/>
          </a:xfrm>
          <a:prstGeom prst="roundRect">
            <a:avLst>
              <a:gd name="adj" fmla="val 31742804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75141" y="332805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77" dirty="0"/>
          </a:p>
        </p:txBody>
      </p:sp>
      <p:sp>
        <p:nvSpPr>
          <p:cNvPr id="20" name="Text 18"/>
          <p:cNvSpPr/>
          <p:nvPr/>
        </p:nvSpPr>
        <p:spPr>
          <a:xfrm>
            <a:off x="3619649" y="3353767"/>
            <a:ext cx="120563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Вопросы и ответы</a:t>
            </a:r>
            <a:endParaRPr lang="en-US" sz="8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8306199569-1qlf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8" y="185738"/>
            <a:ext cx="3929063" cy="4772025"/>
          </a:xfrm>
          <a:prstGeom prst="rect">
            <a:avLst/>
          </a:prstGeom>
          <a:effectLst>
            <a:outerShdw sx="100000" sy="100000" kx="0" ky="0" algn="bl" rotWithShape="0" blurRad="285750" dist="95250" dir="5400000">
              <a:srgbClr val="1A1A1A">
                <a:alpha val="12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486275" y="357188"/>
            <a:ext cx="4657725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486275" y="546497"/>
            <a:ext cx="4652010" cy="29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856" b="1" spc="-37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Обычный день района — </a:t>
            </a:r>
            <a:pPr algn="l" indent="0" marL="0">
              <a:lnSpc>
                <a:spcPts val="2135"/>
              </a:lnSpc>
              <a:buNone/>
            </a:pPr>
            <a:r>
              <a:rPr lang="en-US" sz="1856" b="1" spc="-37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LOVII</a:t>
            </a:r>
            <a:endParaRPr lang="en-US" sz="1856" dirty="0"/>
          </a:p>
        </p:txBody>
      </p:sp>
      <p:sp>
        <p:nvSpPr>
          <p:cNvPr id="5" name="Text 2"/>
          <p:cNvSpPr/>
          <p:nvPr/>
        </p:nvSpPr>
        <p:spPr>
          <a:xfrm>
            <a:off x="4486275" y="874663"/>
            <a:ext cx="45674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Платим как обычно — баллы приходят сами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07719" y="1303288"/>
            <a:ext cx="14288" cy="3234779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493419" y="1238994"/>
            <a:ext cx="242888" cy="242888"/>
          </a:xfrm>
          <a:prstGeom prst="roundRect">
            <a:avLst>
              <a:gd name="adj" fmla="val 39211684"/>
            </a:avLst>
          </a:prstGeom>
          <a:solidFill>
            <a:srgbClr val="FFFFFF"/>
          </a:solidFill>
          <a:ln w="14288">
            <a:solidFill>
              <a:srgbClr val="D4A85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21637" y="126721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☀</a:t>
            </a:r>
            <a:endParaRPr lang="en-US" sz="1266" dirty="0"/>
          </a:p>
        </p:txBody>
      </p:sp>
      <p:sp>
        <p:nvSpPr>
          <p:cNvPr id="9" name="Text 6"/>
          <p:cNvSpPr/>
          <p:nvPr/>
        </p:nvSpPr>
        <p:spPr>
          <a:xfrm>
            <a:off x="4857750" y="1277615"/>
            <a:ext cx="3857625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Утро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кофе у дома: 300 ₽ →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~21 балл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93419" y="2229631"/>
            <a:ext cx="242888" cy="242888"/>
          </a:xfrm>
          <a:prstGeom prst="roundRect">
            <a:avLst>
              <a:gd name="adj" fmla="val 39211684"/>
            </a:avLst>
          </a:prstGeom>
          <a:solidFill>
            <a:srgbClr val="FFFFFF"/>
          </a:solidFill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21637" y="225784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266" dirty="0"/>
          </a:p>
        </p:txBody>
      </p:sp>
      <p:sp>
        <p:nvSpPr>
          <p:cNvPr id="12" name="Text 9"/>
          <p:cNvSpPr/>
          <p:nvPr/>
        </p:nvSpPr>
        <p:spPr>
          <a:xfrm>
            <a:off x="4857750" y="2268252"/>
            <a:ext cx="3857625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обед в столовой у метро: 400 ₽ →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~27 баллов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93419" y="3220269"/>
            <a:ext cx="242888" cy="242888"/>
          </a:xfrm>
          <a:prstGeom prst="roundRect">
            <a:avLst>
              <a:gd name="adj" fmla="val 39211684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21637" y="32484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4857750" y="3258889"/>
            <a:ext cx="3857625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Вечер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букет к ужину: 900 ₽ →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C92A6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~62 балла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86275" y="4277990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C92A6A"/>
          </a:solidFill>
          <a:ln/>
          <a:effectLst>
            <a:outerShdw sx="100000" sy="100000" kx="0" ky="0" algn="bl" rotWithShape="0" blurRad="114300" dist="38100" dir="5400000">
              <a:srgbClr val="C92A6A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21637" y="431335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4861322" y="4207334"/>
            <a:ext cx="3850481" cy="398599"/>
          </a:xfrm>
          <a:prstGeom prst="roundRect">
            <a:avLst>
              <a:gd name="adj" fmla="val 28675"/>
            </a:avLst>
          </a:prstGeom>
          <a:solidFill>
            <a:srgbClr val="F64A8A">
              <a:alpha val="6000"/>
            </a:srgbClr>
          </a:solidFill>
          <a:ln w="7144">
            <a:solidFill>
              <a:srgbClr val="F64A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93481" y="4296631"/>
            <a:ext cx="3586163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2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Итог дня</a:t>
            </a:r>
            <a:pPr algn="l" indent="0" marL="0">
              <a:lnSpc>
                <a:spcPts val="1732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732"/>
              </a:lnSpc>
              <a:buNone/>
            </a:pPr>
            <a:r>
              <a:rPr lang="en-US" sz="1238" b="1" dirty="0">
                <a:solidFill>
                  <a:srgbClr val="C92A6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≈110 баллов</a:t>
            </a:r>
            <a:pPr algn="l" indent="0" marL="0">
              <a:lnSpc>
                <a:spcPts val="1732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не сгорят и подождут выходных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86275" y="4738092"/>
            <a:ext cx="4567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Суммы в примере — ориентировочные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6879" y="-642937"/>
            <a:ext cx="1607121" cy="216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dirty="0">
                <a:solidFill>
                  <a:srgbClr val="F64A8A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-992981" y="3936206"/>
            <a:ext cx="2271713" cy="2271713"/>
          </a:xfrm>
          <a:prstGeom prst="roundRect">
            <a:avLst>
              <a:gd name="adj" fmla="val 4192452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357188"/>
            <a:ext cx="85725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546497"/>
            <a:ext cx="85725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баллы района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удобнее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571500" y="907591"/>
            <a:ext cx="8001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 по трём пунктам: скорость, место траты, курс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221916"/>
            <a:ext cx="3871913" cy="3135771"/>
          </a:xfrm>
          <a:prstGeom prst="roundRect">
            <a:avLst>
              <a:gd name="adj" fmla="val 364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1404082"/>
            <a:ext cx="300038" cy="300038"/>
          </a:xfrm>
          <a:prstGeom prst="roundRect">
            <a:avLst>
              <a:gd name="adj" fmla="val 31742804"/>
            </a:avLst>
          </a:prstGeom>
          <a:solidFill>
            <a:srgbClr val="1A1A1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601" y="14401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1164431" y="1393366"/>
            <a:ext cx="1685132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Обычный кэшбэк банка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1164431" y="1596963"/>
            <a:ext cx="2005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1A1A1A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ПРИВЫЧНЫЙ СЦЕНАРИЙ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1525" y="1829135"/>
            <a:ext cx="3471863" cy="7144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525" y="19708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00125" y="1964866"/>
            <a:ext cx="3243263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Проценты копятся месяцами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771525" y="22258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1000125" y="2219809"/>
            <a:ext cx="3243263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Тратить можно на ограниченный список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771525" y="24807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A1A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00125" y="2474751"/>
            <a:ext cx="3243263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Условия меняются банком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4707731" y="1229060"/>
            <a:ext cx="3857625" cy="3121484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solid"/>
          </a:ln>
          <a:effectLst>
            <a:outerShdw sx="100000" sy="100000" kx="0" ky="0" algn="bl" rotWithShape="0" blurRad="304800" dist="114300" dir="5400000">
              <a:srgbClr val="F64A8A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4900" y="1418369"/>
            <a:ext cx="300038" cy="300038"/>
          </a:xfrm>
          <a:prstGeom prst="roundRect">
            <a:avLst>
              <a:gd name="adj" fmla="val 31742804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0976" y="145444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307806" y="1407654"/>
            <a:ext cx="100038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LOVII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5307806" y="1611250"/>
            <a:ext cx="11585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LOVII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4900" y="1843422"/>
            <a:ext cx="3443288" cy="7144"/>
          </a:xfrm>
          <a:prstGeom prst="rect">
            <a:avLst/>
          </a:prstGeom>
          <a:solidFill>
            <a:srgbClr val="F64A8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4900" y="19851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5143500" y="1979154"/>
            <a:ext cx="3214688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Начисление </a:t>
            </a:r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сразу после покупки</a:t>
            </a:r>
            <a:endParaRPr lang="en-US" sz="872" dirty="0"/>
          </a:p>
        </p:txBody>
      </p:sp>
      <p:sp>
        <p:nvSpPr>
          <p:cNvPr id="27" name="Text 25"/>
          <p:cNvSpPr/>
          <p:nvPr/>
        </p:nvSpPr>
        <p:spPr>
          <a:xfrm>
            <a:off x="4914900" y="224012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5143500" y="2234096"/>
            <a:ext cx="3214688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Трата в соседних магазинах — </a:t>
            </a:r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сегодня</a:t>
            </a:r>
            <a:endParaRPr lang="en-US" sz="872" dirty="0"/>
          </a:p>
        </p:txBody>
      </p:sp>
      <p:sp>
        <p:nvSpPr>
          <p:cNvPr id="29" name="Text 27"/>
          <p:cNvSpPr/>
          <p:nvPr/>
        </p:nvSpPr>
        <p:spPr>
          <a:xfrm>
            <a:off x="4914900" y="24950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5143500" y="2489039"/>
            <a:ext cx="3214688" cy="16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A1A1A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без коэффициентов</a:t>
            </a:r>
            <a:endParaRPr lang="en-US" sz="872" dirty="0"/>
          </a:p>
        </p:txBody>
      </p:sp>
      <p:sp>
        <p:nvSpPr>
          <p:cNvPr id="31" name="Text 29"/>
          <p:cNvSpPr/>
          <p:nvPr/>
        </p:nvSpPr>
        <p:spPr>
          <a:xfrm>
            <a:off x="4407694" y="2625440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FFFFF"/>
          </a:solidFill>
          <a:ln w="14288">
            <a:solidFill>
              <a:srgbClr val="1A1A1A"/>
            </a:solidFill>
            <a:prstDash val="solid"/>
          </a:ln>
          <a:effectLst>
            <a:outerShdw sx="100000" sy="100000" kx="0" ky="0" algn="bl" rotWithShape="0" blurRad="133350" dist="38100" dir="5400000">
              <a:srgbClr val="1A1A1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05251" y="2714737"/>
            <a:ext cx="2239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79798" y="4500563"/>
            <a:ext cx="5584292" cy="328613"/>
          </a:xfrm>
          <a:prstGeom prst="roundRect">
            <a:avLst>
              <a:gd name="adj" fmla="val 2895648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965536" y="45934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06" dirty="0"/>
          </a:p>
        </p:txBody>
      </p:sp>
      <p:sp>
        <p:nvSpPr>
          <p:cNvPr id="35" name="Text 33"/>
          <p:cNvSpPr/>
          <p:nvPr/>
        </p:nvSpPr>
        <p:spPr>
          <a:xfrm>
            <a:off x="2179848" y="4579144"/>
            <a:ext cx="49985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района — это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замена банковской карте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приятный бонус к привычным покупкам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3429000"/>
            <a:ext cx="3000375" cy="3000375"/>
          </a:xfrm>
          <a:prstGeom prst="roundRect">
            <a:avLst>
              <a:gd name="adj" fmla="val 3174286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8144" y="-707231"/>
            <a:ext cx="1771650" cy="1771650"/>
          </a:xfrm>
          <a:prstGeom prst="roundRect">
            <a:avLst>
              <a:gd name="adj" fmla="val 5375806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00963" y="1071563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0ABAB5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71475"/>
            <a:ext cx="85725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ДОВЕРИЕ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71500" y="560784"/>
            <a:ext cx="85725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Ваши деньги —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 банковскими правилами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571500" y="936166"/>
            <a:ext cx="800100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Коротко о том, как устроены платежи и защита средств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571500" y="2149487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6684" y="219467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617" dirty="0"/>
          </a:p>
        </p:txBody>
      </p:sp>
      <p:sp>
        <p:nvSpPr>
          <p:cNvPr id="10" name="Text 8"/>
          <p:cNvSpPr/>
          <p:nvPr/>
        </p:nvSpPr>
        <p:spPr>
          <a:xfrm>
            <a:off x="1014413" y="2230971"/>
            <a:ext cx="4414838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Расчёты идут через банк: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2635262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0ABAB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6684" y="2680447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17" dirty="0"/>
          </a:p>
        </p:txBody>
      </p:sp>
      <p:sp>
        <p:nvSpPr>
          <p:cNvPr id="13" name="Text 11"/>
          <p:cNvSpPr/>
          <p:nvPr/>
        </p:nvSpPr>
        <p:spPr>
          <a:xfrm>
            <a:off x="1014413" y="2716746"/>
            <a:ext cx="4414838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Средства учитываются на номинальных счетах по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ст. 860.1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" y="3121037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684" y="3166222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617" dirty="0"/>
          </a:p>
        </p:txBody>
      </p:sp>
      <p:sp>
        <p:nvSpPr>
          <p:cNvPr id="16" name="Text 14"/>
          <p:cNvSpPr/>
          <p:nvPr/>
        </p:nvSpPr>
        <p:spPr>
          <a:xfrm>
            <a:off x="1014413" y="3202521"/>
            <a:ext cx="4414838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Оператор платформы —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ООО «АКСИОМА»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российское юрлицо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" y="3606812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C92A6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6684" y="3651997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17" dirty="0"/>
          </a:p>
        </p:txBody>
      </p:sp>
      <p:sp>
        <p:nvSpPr>
          <p:cNvPr id="19" name="Text 17"/>
          <p:cNvSpPr/>
          <p:nvPr/>
        </p:nvSpPr>
        <p:spPr>
          <a:xfrm>
            <a:off x="1014413" y="3688296"/>
            <a:ext cx="4414838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Платежи по </a:t>
            </a:r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1A1A1A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защищённому каналу эквайринга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43575" y="1284424"/>
            <a:ext cx="2828925" cy="3516176"/>
          </a:xfrm>
          <a:prstGeom prst="roundRect">
            <a:avLst>
              <a:gd name="adj" fmla="val 4040"/>
            </a:avLst>
          </a:prstGeom>
          <a:solidFill>
            <a:srgbClr val="C92A6A"/>
          </a:solidFill>
          <a:ln/>
          <a:effectLst>
            <a:outerShdw sx="100000" sy="100000" kx="0" ky="0" algn="bl" rotWithShape="0" blurRad="323850" dist="133350" dir="5400000">
              <a:srgbClr val="C92A6A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00938" y="784361"/>
            <a:ext cx="1571625" cy="1571625"/>
          </a:xfrm>
          <a:prstGeom prst="roundRect">
            <a:avLst>
              <a:gd name="adj" fmla="val 606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50669" y="4064794"/>
            <a:ext cx="1128713" cy="1128713"/>
          </a:xfrm>
          <a:prstGeom prst="roundRect">
            <a:avLst>
              <a:gd name="adj" fmla="val 8437971"/>
            </a:avLst>
          </a:prstGeom>
          <a:noFill/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57888" y="2287451"/>
            <a:ext cx="428625" cy="428625"/>
          </a:xfrm>
          <a:prstGeom prst="roundRect">
            <a:avLst>
              <a:gd name="adj" fmla="val 22220000"/>
            </a:avLst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16823" y="234638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5" name="Text 23"/>
          <p:cNvSpPr/>
          <p:nvPr/>
        </p:nvSpPr>
        <p:spPr>
          <a:xfrm>
            <a:off x="5957888" y="2858951"/>
            <a:ext cx="2400300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1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5957888" y="3266145"/>
            <a:ext cx="2400300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не «внутренняя валюта», а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FFFFFF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обязательство платформы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>
                    <a:alpha val="93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закреплённое правилами программы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43000" y="-1571625"/>
            <a:ext cx="3286125" cy="3286125"/>
          </a:xfrm>
          <a:prstGeom prst="roundRect">
            <a:avLst>
              <a:gd name="adj" fmla="val 2898261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65269" y="3936206"/>
            <a:ext cx="2128838" cy="2128838"/>
          </a:xfrm>
          <a:prstGeom prst="roundRect">
            <a:avLst>
              <a:gd name="adj" fmla="val 4473824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86650" y="857250"/>
            <a:ext cx="85725" cy="85725"/>
          </a:xfrm>
          <a:prstGeom prst="roundRect">
            <a:avLst>
              <a:gd name="adj" fmla="val 111100000"/>
            </a:avLst>
          </a:prstGeom>
          <a:solidFill>
            <a:srgbClr val="F64A8A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1563" y="1428750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D4A854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7405" y="385763"/>
            <a:ext cx="494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589359"/>
            <a:ext cx="859536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минуты</a:t>
            </a:r>
            <a:pPr algn="ctr" indent="0" marL="0">
              <a:lnSpc>
                <a:spcPts val="2394"/>
              </a:lnSpc>
              <a:buNone/>
            </a:pPr>
            <a:r>
              <a:rPr lang="en-US" sz="2138" b="1" spc="-43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и вы в программе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2622761" y="964741"/>
            <a:ext cx="3898478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Установите приложение, зарегистрируйтесь — и платите как обычно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75072" y="2047242"/>
            <a:ext cx="2393156" cy="15242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0094" y="2250839"/>
            <a:ext cx="271463" cy="271463"/>
          </a:xfrm>
          <a:prstGeom prst="roundRect">
            <a:avLst>
              <a:gd name="adj" fmla="val 3505257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0094" y="2250839"/>
            <a:ext cx="17002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4594" y="2222264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04599" y="226226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750094" y="2665177"/>
            <a:ext cx="21528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Установите приложение LOVII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750094" y="2898688"/>
            <a:ext cx="20431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ссылка на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C92A6A">
                    <a:alpha val="6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lovii.ru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016448" y="265401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17" name="Text 15"/>
          <p:cNvSpPr/>
          <p:nvPr/>
        </p:nvSpPr>
        <p:spPr>
          <a:xfrm>
            <a:off x="3375422" y="2047242"/>
            <a:ext cx="2393156" cy="15242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0444" y="2250839"/>
            <a:ext cx="271463" cy="271463"/>
          </a:xfrm>
          <a:prstGeom prst="roundRect">
            <a:avLst>
              <a:gd name="adj" fmla="val 3505257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50444" y="2250839"/>
            <a:ext cx="17002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4944" y="2222264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04949" y="226226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3550444" y="2665177"/>
            <a:ext cx="2043113" cy="38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Пройдите короткую регистрацию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3550444" y="3075050"/>
            <a:ext cx="20431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 и код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5816798" y="265401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25" name="Text 23"/>
          <p:cNvSpPr/>
          <p:nvPr/>
        </p:nvSpPr>
        <p:spPr>
          <a:xfrm>
            <a:off x="6175772" y="2047242"/>
            <a:ext cx="2393156" cy="1524298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 w="7144">
            <a:solidFill>
              <a:srgbClr val="F64A8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0794" y="2250839"/>
            <a:ext cx="271463" cy="271463"/>
          </a:xfrm>
          <a:prstGeom prst="roundRect">
            <a:avLst>
              <a:gd name="adj" fmla="val 3505257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0794" y="2250839"/>
            <a:ext cx="17002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65294" y="2222264"/>
            <a:ext cx="328613" cy="328613"/>
          </a:xfrm>
          <a:prstGeom prst="roundRect">
            <a:avLst>
              <a:gd name="adj" fmla="val 28982565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05299" y="226226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6350794" y="2665177"/>
            <a:ext cx="2043113" cy="38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069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Сканируйте QR в магазине района</a:t>
            </a:r>
            <a:endParaRPr lang="en-US" sz="1069" dirty="0"/>
          </a:p>
        </p:txBody>
      </p:sp>
      <p:sp>
        <p:nvSpPr>
          <p:cNvPr id="31" name="Text 29"/>
          <p:cNvSpPr/>
          <p:nvPr/>
        </p:nvSpPr>
        <p:spPr>
          <a:xfrm>
            <a:off x="6350794" y="3075050"/>
            <a:ext cx="20431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первый кэшбэк придёт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C92A6A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первой покупки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2685269" y="4471988"/>
            <a:ext cx="3773351" cy="342900"/>
          </a:xfrm>
          <a:prstGeom prst="roundRect">
            <a:avLst>
              <a:gd name="adj" fmla="val 277500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85294" y="45720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4" name="Text 32"/>
          <p:cNvSpPr/>
          <p:nvPr/>
        </p:nvSpPr>
        <p:spPr>
          <a:xfrm>
            <a:off x="3099606" y="4557713"/>
            <a:ext cx="3158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Заведение карт, пароли и бумажные купоны —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прошлом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313" y="-1214437"/>
            <a:ext cx="3143250" cy="3143250"/>
          </a:xfrm>
          <a:prstGeom prst="roundRect">
            <a:avLst>
              <a:gd name="adj" fmla="val 302727"/>
            </a:avLst>
          </a:prstGeom>
          <a:solidFill>
            <a:srgbClr val="0ABAB5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28687" y="3786188"/>
            <a:ext cx="2357438" cy="2357438"/>
          </a:xfrm>
          <a:prstGeom prst="roundRect">
            <a:avLst>
              <a:gd name="adj" fmla="val 403636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42862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РАЙОН ОЖИВАЕТ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5775" y="646509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Ваши любимые места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уже подключаются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85775" y="1250491"/>
            <a:ext cx="4078858" cy="474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1A1A1A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Каждую неделю новые точки района начинают принимать LOVII: кофейни, пекарни, цветочные, рынки, салоны, сервисы.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485775" y="4027289"/>
            <a:ext cx="4078858" cy="687586"/>
          </a:xfrm>
          <a:prstGeom prst="roundRect">
            <a:avLst>
              <a:gd name="adj" fmla="val 16623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1513" y="425678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14413" y="4198739"/>
            <a:ext cx="3364483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8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Представители района договариваются с владельцами лично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4896817" y="1211200"/>
            <a:ext cx="3757836" cy="1085738"/>
          </a:xfrm>
          <a:prstGeom prst="roundRect">
            <a:avLst>
              <a:gd name="adj" fmla="val 1052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1839" y="1561133"/>
            <a:ext cx="385763" cy="385763"/>
          </a:xfrm>
          <a:prstGeom prst="roundRect">
            <a:avLst>
              <a:gd name="adj" fmla="val 2466663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24882" y="1614175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898" dirty="0"/>
          </a:p>
        </p:txBody>
      </p:sp>
      <p:sp>
        <p:nvSpPr>
          <p:cNvPr id="13" name="Text 11"/>
          <p:cNvSpPr/>
          <p:nvPr/>
        </p:nvSpPr>
        <p:spPr>
          <a:xfrm>
            <a:off x="5586189" y="1671191"/>
            <a:ext cx="2900586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Карта точек обновляется в приложении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6817" y="2418383"/>
            <a:ext cx="3757836" cy="1085738"/>
          </a:xfrm>
          <a:prstGeom prst="roundRect">
            <a:avLst>
              <a:gd name="adj" fmla="val 1052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1839" y="2768315"/>
            <a:ext cx="385763" cy="385763"/>
          </a:xfrm>
          <a:prstGeom prst="roundRect">
            <a:avLst>
              <a:gd name="adj" fmla="val 2466663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24882" y="2821357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898" dirty="0"/>
          </a:p>
        </p:txBody>
      </p:sp>
      <p:sp>
        <p:nvSpPr>
          <p:cNvPr id="17" name="Text 15"/>
          <p:cNvSpPr/>
          <p:nvPr/>
        </p:nvSpPr>
        <p:spPr>
          <a:xfrm>
            <a:off x="5586189" y="2878373"/>
            <a:ext cx="2900586" cy="17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Новое место = новый повод зайти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6817" y="3625565"/>
            <a:ext cx="3757836" cy="1085738"/>
          </a:xfrm>
          <a:prstGeom prst="roundRect">
            <a:avLst>
              <a:gd name="adj" fmla="val 1052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1839" y="3975497"/>
            <a:ext cx="385763" cy="385763"/>
          </a:xfrm>
          <a:prstGeom prst="roundRect">
            <a:avLst>
              <a:gd name="adj" fmla="val 2466663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24882" y="4028539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898" dirty="0"/>
          </a:p>
        </p:txBody>
      </p:sp>
      <p:sp>
        <p:nvSpPr>
          <p:cNvPr id="21" name="Text 19"/>
          <p:cNvSpPr/>
          <p:nvPr/>
        </p:nvSpPr>
        <p:spPr>
          <a:xfrm>
            <a:off x="5586189" y="4002732"/>
            <a:ext cx="2893442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видели любимую кофейню в списке? Скажите ей про LOVII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71562" y="1748768"/>
            <a:ext cx="2714625" cy="2714625"/>
          </a:xfrm>
          <a:prstGeom prst="roundRect">
            <a:avLst>
              <a:gd name="adj" fmla="val 350526"/>
            </a:avLst>
          </a:prstGeom>
          <a:solidFill>
            <a:srgbClr val="C92A6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15250" y="-1000125"/>
            <a:ext cx="2286000" cy="2286000"/>
          </a:xfrm>
          <a:prstGeom prst="roundRect">
            <a:avLst>
              <a:gd name="adj" fmla="val 416250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86197" y="805235"/>
            <a:ext cx="65716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ЧЕСТНО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1023119"/>
            <a:ext cx="859536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— </a:t>
            </a:r>
            <a:pPr algn="ctr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долги и не инвестиции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2015841" y="1412788"/>
            <a:ext cx="51123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простых правила — без мелкого шрифта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35831" y="1916423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5831" y="1916423"/>
            <a:ext cx="3786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1393031" y="195928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2109" dirty="0"/>
          </a:p>
        </p:txBody>
      </p:sp>
      <p:sp>
        <p:nvSpPr>
          <p:cNvPr id="10" name="Text 8"/>
          <p:cNvSpPr/>
          <p:nvPr/>
        </p:nvSpPr>
        <p:spPr>
          <a:xfrm>
            <a:off x="1764506" y="1975358"/>
            <a:ext cx="6443663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начисляются за покупки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их нельзя «купить» или «заработать» отдельно</a:t>
            </a:r>
            <a:endParaRPr lang="en-US" sz="956" dirty="0"/>
          </a:p>
        </p:txBody>
      </p:sp>
      <p:sp>
        <p:nvSpPr>
          <p:cNvPr id="11" name="Shape 9"/>
          <p:cNvSpPr/>
          <p:nvPr/>
        </p:nvSpPr>
        <p:spPr>
          <a:xfrm>
            <a:off x="892969" y="2370051"/>
            <a:ext cx="735806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5831" y="2523641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5831" y="2523641"/>
            <a:ext cx="3786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1393031" y="256650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2109" dirty="0"/>
          </a:p>
        </p:txBody>
      </p:sp>
      <p:sp>
        <p:nvSpPr>
          <p:cNvPr id="15" name="Text 13"/>
          <p:cNvSpPr/>
          <p:nvPr/>
        </p:nvSpPr>
        <p:spPr>
          <a:xfrm>
            <a:off x="1764506" y="2582577"/>
            <a:ext cx="64436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баллам не начисляются проценты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это не вклад</a:t>
            </a:r>
            <a:endParaRPr lang="en-US" sz="956" dirty="0"/>
          </a:p>
        </p:txBody>
      </p:sp>
      <p:sp>
        <p:nvSpPr>
          <p:cNvPr id="16" name="Shape 14"/>
          <p:cNvSpPr/>
          <p:nvPr/>
        </p:nvSpPr>
        <p:spPr>
          <a:xfrm>
            <a:off x="892969" y="2977269"/>
            <a:ext cx="7358063" cy="0"/>
          </a:xfrm>
          <a:prstGeom prst="line">
            <a:avLst/>
          </a:prstGeom>
          <a:noFill/>
          <a:ln w="7144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831" y="3130860"/>
            <a:ext cx="300038" cy="300038"/>
          </a:xfrm>
          <a:prstGeom prst="roundRect">
            <a:avLst>
              <a:gd name="adj" fmla="val 317142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5831" y="3130860"/>
            <a:ext cx="3786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1393031" y="317372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2109" dirty="0"/>
          </a:p>
        </p:txBody>
      </p:sp>
      <p:sp>
        <p:nvSpPr>
          <p:cNvPr id="20" name="Text 18"/>
          <p:cNvSpPr/>
          <p:nvPr/>
        </p:nvSpPr>
        <p:spPr>
          <a:xfrm>
            <a:off x="1764506" y="3189796"/>
            <a:ext cx="64436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Курс всегда один: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C92A6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A1A1A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никаких «рыночных котировок»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892969" y="3780941"/>
            <a:ext cx="7358063" cy="557213"/>
          </a:xfrm>
          <a:prstGeom prst="roundRect">
            <a:avLst>
              <a:gd name="adj" fmla="val 20513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90960" y="395239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23" name="Text 21"/>
          <p:cNvSpPr/>
          <p:nvPr/>
        </p:nvSpPr>
        <p:spPr>
          <a:xfrm>
            <a:off x="2119573" y="3968911"/>
            <a:ext cx="5888571" cy="19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7"/>
              </a:lnSpc>
              <a:buNone/>
            </a:pPr>
            <a:r>
              <a:rPr lang="en-US" sz="984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 — </a:t>
            </a:r>
            <a:pPr algn="l" indent="0" marL="0">
              <a:lnSpc>
                <a:spcPts val="1427"/>
              </a:lnSpc>
              <a:buNone/>
            </a:pPr>
            <a:r>
              <a:rPr lang="en-US" sz="984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лояльности</a:t>
            </a:r>
            <a:pPr algn="l" indent="0" marL="0">
              <a:lnSpc>
                <a:spcPts val="1427"/>
              </a:lnSpc>
              <a:buNone/>
            </a:pPr>
            <a:r>
              <a:rPr lang="en-US" sz="984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а не финансовый продукт. Всё просто и прозрачно</a:t>
            </a:r>
            <a:endParaRPr lang="en-US" sz="98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3032" y="-642937"/>
            <a:ext cx="1670968" cy="2777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64A8A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20250" dirty="0"/>
          </a:p>
        </p:txBody>
      </p:sp>
      <p:sp>
        <p:nvSpPr>
          <p:cNvPr id="3" name="Text 1"/>
          <p:cNvSpPr/>
          <p:nvPr/>
        </p:nvSpPr>
        <p:spPr>
          <a:xfrm>
            <a:off x="485775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FAQ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85775" y="617934"/>
            <a:ext cx="8581073" cy="32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Спрашивают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соседи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89347" y="1125475"/>
            <a:ext cx="4014788" cy="1114313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8656" y="150130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77" dirty="0"/>
          </a:p>
        </p:txBody>
      </p:sp>
      <p:sp>
        <p:nvSpPr>
          <p:cNvPr id="7" name="Text 5"/>
          <p:cNvSpPr/>
          <p:nvPr/>
        </p:nvSpPr>
        <p:spPr>
          <a:xfrm>
            <a:off x="900113" y="1487909"/>
            <a:ext cx="34147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платно?</a:t>
            </a:r>
            <a:endParaRPr lang="en-US" sz="928" dirty="0"/>
          </a:p>
        </p:txBody>
      </p:sp>
      <p:sp>
        <p:nvSpPr>
          <p:cNvPr id="8" name="Text 6"/>
          <p:cNvSpPr/>
          <p:nvPr/>
        </p:nvSpPr>
        <p:spPr>
          <a:xfrm>
            <a:off x="678656" y="1721867"/>
            <a:ext cx="3636169" cy="167807"/>
          </a:xfrm>
          <a:prstGeom prst="rect">
            <a:avLst/>
          </a:prstGeom>
          <a:noFill/>
          <a:ln/>
        </p:spPr>
        <p:txBody>
          <a:bodyPr wrap="square" lIns="221456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для жителей бесплатно; комиссию платит магазин.</a:t>
            </a:r>
            <a:endParaRPr lang="en-US" sz="816" dirty="0"/>
          </a:p>
        </p:txBody>
      </p:sp>
      <p:sp>
        <p:nvSpPr>
          <p:cNvPr id="9" name="Text 7"/>
          <p:cNvSpPr/>
          <p:nvPr/>
        </p:nvSpPr>
        <p:spPr>
          <a:xfrm>
            <a:off x="4639866" y="1125475"/>
            <a:ext cx="4014788" cy="1114313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50130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77" dirty="0"/>
          </a:p>
        </p:txBody>
      </p:sp>
      <p:sp>
        <p:nvSpPr>
          <p:cNvPr id="11" name="Text 9"/>
          <p:cNvSpPr/>
          <p:nvPr/>
        </p:nvSpPr>
        <p:spPr>
          <a:xfrm>
            <a:off x="5050631" y="1487909"/>
            <a:ext cx="34147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сгорят, если не потратить?</a:t>
            </a:r>
            <a:endParaRPr lang="en-US" sz="928" dirty="0"/>
          </a:p>
        </p:txBody>
      </p:sp>
      <p:sp>
        <p:nvSpPr>
          <p:cNvPr id="12" name="Text 10"/>
          <p:cNvSpPr/>
          <p:nvPr/>
        </p:nvSpPr>
        <p:spPr>
          <a:xfrm>
            <a:off x="4829175" y="1721867"/>
            <a:ext cx="3636169" cy="167807"/>
          </a:xfrm>
          <a:prstGeom prst="rect">
            <a:avLst/>
          </a:prstGeom>
          <a:noFill/>
          <a:ln/>
        </p:spPr>
        <p:txBody>
          <a:bodyPr wrap="none" lIns="221456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баллы не сгорают.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489347" y="2375520"/>
            <a:ext cx="4014788" cy="1114313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8656" y="2751348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77" dirty="0"/>
          </a:p>
        </p:txBody>
      </p:sp>
      <p:sp>
        <p:nvSpPr>
          <p:cNvPr id="15" name="Text 13"/>
          <p:cNvSpPr/>
          <p:nvPr/>
        </p:nvSpPr>
        <p:spPr>
          <a:xfrm>
            <a:off x="900113" y="2737954"/>
            <a:ext cx="34147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Можно вывести баллы деньгами?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678656" y="2971912"/>
            <a:ext cx="3636169" cy="167807"/>
          </a:xfrm>
          <a:prstGeom prst="rect">
            <a:avLst/>
          </a:prstGeom>
          <a:noFill/>
          <a:ln/>
        </p:spPr>
        <p:txBody>
          <a:bodyPr wrap="square" lIns="221456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баллы тратятся покупками в районе.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4639866" y="2375520"/>
            <a:ext cx="4014788" cy="1114313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9175" y="267366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77" dirty="0"/>
          </a:p>
        </p:txBody>
      </p:sp>
      <p:sp>
        <p:nvSpPr>
          <p:cNvPr id="19" name="Text 17"/>
          <p:cNvSpPr/>
          <p:nvPr/>
        </p:nvSpPr>
        <p:spPr>
          <a:xfrm>
            <a:off x="5050631" y="2660266"/>
            <a:ext cx="341471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Мой банк подходит?</a:t>
            </a:r>
            <a:endParaRPr lang="en-US" sz="928" dirty="0"/>
          </a:p>
        </p:txBody>
      </p:sp>
      <p:sp>
        <p:nvSpPr>
          <p:cNvPr id="20" name="Text 18"/>
          <p:cNvSpPr/>
          <p:nvPr/>
        </p:nvSpPr>
        <p:spPr>
          <a:xfrm>
            <a:off x="4829175" y="2894223"/>
            <a:ext cx="3636169" cy="335613"/>
          </a:xfrm>
          <a:prstGeom prst="rect">
            <a:avLst/>
          </a:prstGeom>
          <a:noFill/>
          <a:ln/>
        </p:spPr>
        <p:txBody>
          <a:bodyPr wrap="square" lIns="221456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Платите по QR из приложения LOVII, карта нужна любая для пополнения.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89347" y="3625565"/>
            <a:ext cx="8165306" cy="1114313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8656" y="4107656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77" dirty="0"/>
          </a:p>
        </p:txBody>
      </p:sp>
      <p:sp>
        <p:nvSpPr>
          <p:cNvPr id="23" name="Text 21"/>
          <p:cNvSpPr/>
          <p:nvPr/>
        </p:nvSpPr>
        <p:spPr>
          <a:xfrm>
            <a:off x="900113" y="4094262"/>
            <a:ext cx="2581684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Кто видит мои покупки?</a:t>
            </a:r>
            <a:endParaRPr lang="en-US" sz="928" dirty="0"/>
          </a:p>
        </p:txBody>
      </p:sp>
      <p:sp>
        <p:nvSpPr>
          <p:cNvPr id="24" name="Shape 22"/>
          <p:cNvSpPr/>
          <p:nvPr/>
        </p:nvSpPr>
        <p:spPr>
          <a:xfrm>
            <a:off x="3706825" y="4102298"/>
            <a:ext cx="0" cy="160734"/>
          </a:xfrm>
          <a:prstGeom prst="line">
            <a:avLst/>
          </a:prstGeom>
          <a:noFill/>
          <a:ln w="21431">
            <a:solidFill>
              <a:srgbClr val="F6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6109" y="4102298"/>
            <a:ext cx="4769234" cy="173593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1A1A">
                    <a:alpha val="7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точка, где вы купили: данные нужны для начисления баллов.</a:t>
            </a:r>
            <a:endParaRPr lang="en-US" sz="8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25" y="3429000"/>
            <a:ext cx="3000375" cy="3000375"/>
          </a:xfrm>
          <a:prstGeom prst="roundRect">
            <a:avLst>
              <a:gd name="adj" fmla="val 317143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857250" y="-1000125"/>
            <a:ext cx="2143125" cy="2143125"/>
          </a:xfrm>
          <a:prstGeom prst="roundRect">
            <a:avLst>
              <a:gd name="adj" fmla="val 444000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МИФЫ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5775" y="617934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мифа —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как на самом деле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89347" y="1111188"/>
            <a:ext cx="8165306" cy="1128601"/>
          </a:xfrm>
          <a:prstGeom prst="roundRect">
            <a:avLst>
              <a:gd name="adj" fmla="val 1012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546845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1A1A1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9372" y="157184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B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1021556" y="1527758"/>
            <a:ext cx="236333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1556" y="1668847"/>
            <a:ext cx="1550936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A1A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очередная пирамида»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84997" y="158256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12" name="Text 10"/>
          <p:cNvSpPr/>
          <p:nvPr/>
        </p:nvSpPr>
        <p:spPr>
          <a:xfrm>
            <a:off x="4385035" y="1214772"/>
            <a:ext cx="4151747" cy="921432"/>
          </a:xfrm>
          <a:prstGeom prst="roundRect">
            <a:avLst>
              <a:gd name="adj" fmla="val 12405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13622" y="1546845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38625" y="157184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4870810" y="1527758"/>
            <a:ext cx="3537384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ПРАВДА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70810" y="1668847"/>
            <a:ext cx="3488717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дают магазины за сервис — жители ничего не вносят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347" y="2361233"/>
            <a:ext cx="8165306" cy="1128601"/>
          </a:xfrm>
          <a:prstGeom prst="roundRect">
            <a:avLst>
              <a:gd name="adj" fmla="val 1012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4369" y="2796890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1A1A1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9372" y="28218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B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021556" y="2777803"/>
            <a:ext cx="1895058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21556" y="2918892"/>
            <a:ext cx="1388130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A1A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«Баллы обесценятся»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84997" y="283260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23" name="Text 21"/>
          <p:cNvSpPr/>
          <p:nvPr/>
        </p:nvSpPr>
        <p:spPr>
          <a:xfrm>
            <a:off x="4385035" y="2464817"/>
            <a:ext cx="4151747" cy="921432"/>
          </a:xfrm>
          <a:prstGeom prst="roundRect">
            <a:avLst>
              <a:gd name="adj" fmla="val 12405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13622" y="2796890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38625" y="28218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4870810" y="2777803"/>
            <a:ext cx="3354543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ПРАВДА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0810" y="2918892"/>
            <a:ext cx="2647175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Курс закреплён: 1 балл = 1 ₽ и не меняется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347" y="3611277"/>
            <a:ext cx="8165306" cy="1128601"/>
          </a:xfrm>
          <a:prstGeom prst="roundRect">
            <a:avLst>
              <a:gd name="adj" fmla="val 10128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4369" y="404693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1A1A1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9372" y="40719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B6B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1021556" y="4027847"/>
            <a:ext cx="296287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21556" y="4168936"/>
            <a:ext cx="1999937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1A1A1A">
                    <a:alpha val="6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надолго — потом закроются»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84997" y="408265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34" name="Text 32"/>
          <p:cNvSpPr/>
          <p:nvPr/>
        </p:nvSpPr>
        <p:spPr>
          <a:xfrm>
            <a:off x="4385035" y="3714862"/>
            <a:ext cx="4151747" cy="921432"/>
          </a:xfrm>
          <a:prstGeom prst="roundRect">
            <a:avLst>
              <a:gd name="adj" fmla="val 12405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13622" y="4046934"/>
            <a:ext cx="257175" cy="257175"/>
          </a:xfrm>
          <a:prstGeom prst="roundRect">
            <a:avLst>
              <a:gd name="adj" fmla="val 37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38625" y="407193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4870810" y="3950717"/>
            <a:ext cx="3537384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7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ПРАВДА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70810" y="4091806"/>
            <a:ext cx="3537384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 с банком подписан, эквайринг работает, точки уже принимают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0125" y="3571875"/>
            <a:ext cx="2714625" cy="2714625"/>
          </a:xfrm>
          <a:prstGeom prst="roundRect">
            <a:avLst>
              <a:gd name="adj" fmla="val 350526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57750" y="-928687"/>
            <a:ext cx="1857375" cy="1857375"/>
          </a:xfrm>
          <a:prstGeom prst="roundRect">
            <a:avLst>
              <a:gd name="adj" fmla="val 512308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1453083"/>
            <a:ext cx="60690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ПРАКТИКА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85775" y="1670968"/>
            <a:ext cx="4808804" cy="66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Попробуйте прямо сейчас — </a:t>
            </a:r>
            <a:pPr algn="l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открыто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85775" y="2446958"/>
            <a:ext cx="4371640" cy="42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1A1A1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Демо-режим LOVII уже работает: можно посмотреть интерфейс, увидеть, как начисляются баллы, и потренироваться с QR — </a:t>
            </a:r>
            <a:pPr algn="l" indent="0" marL="0">
              <a:lnSpc>
                <a:spcPts val="1549"/>
              </a:lnSpc>
              <a:buNone/>
            </a:pPr>
            <a:r>
              <a:rPr lang="en-US" sz="956" b="1" dirty="0">
                <a:solidFill>
                  <a:srgbClr val="C92A6A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настоящих платежей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485775" y="3027534"/>
            <a:ext cx="1335881" cy="354216"/>
          </a:xfrm>
          <a:prstGeom prst="roundRect">
            <a:avLst>
              <a:gd name="adj" fmla="val 2686348"/>
            </a:avLst>
          </a:prstGeom>
          <a:solidFill>
            <a:srgbClr val="F8F8F8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4356" y="3111773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356" y="3111773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1531" y="3126953"/>
            <a:ext cx="85010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Откройте lovii.ru</a:t>
            </a:r>
            <a:endParaRPr lang="en-US" sz="816" dirty="0"/>
          </a:p>
        </p:txBody>
      </p:sp>
      <p:sp>
        <p:nvSpPr>
          <p:cNvPr id="11" name="Text 9"/>
          <p:cNvSpPr/>
          <p:nvPr/>
        </p:nvSpPr>
        <p:spPr>
          <a:xfrm>
            <a:off x="1907381" y="3027534"/>
            <a:ext cx="1307083" cy="354216"/>
          </a:xfrm>
          <a:prstGeom prst="roundRect">
            <a:avLst>
              <a:gd name="adj" fmla="val 2686348"/>
            </a:avLst>
          </a:prstGeom>
          <a:solidFill>
            <a:srgbClr val="F8F8F8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85963" y="3111773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85963" y="3111773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43138" y="3126953"/>
            <a:ext cx="821308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Войдите в демо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3300189" y="3027534"/>
            <a:ext cx="1289112" cy="354216"/>
          </a:xfrm>
          <a:prstGeom prst="roundRect">
            <a:avLst>
              <a:gd name="adj" fmla="val 2686348"/>
            </a:avLst>
          </a:prstGeom>
          <a:solidFill>
            <a:srgbClr val="F8F8F8"/>
          </a:solidFill>
          <a:ln w="7144">
            <a:solidFill>
              <a:srgbClr val="1A1A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8771" y="3111773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C92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8771" y="3111773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35946" y="3126953"/>
            <a:ext cx="803337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Попробуйте QR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485775" y="354754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336" dirty="0"/>
          </a:p>
        </p:txBody>
      </p:sp>
      <p:sp>
        <p:nvSpPr>
          <p:cNvPr id="20" name="Text 18"/>
          <p:cNvSpPr/>
          <p:nvPr/>
        </p:nvSpPr>
        <p:spPr>
          <a:xfrm>
            <a:off x="685800" y="3540398"/>
            <a:ext cx="4171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 смартфона — можно попробовать прямо на этой встрече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0315" y="428625"/>
            <a:ext cx="3457910" cy="4286250"/>
          </a:xfrm>
          <a:prstGeom prst="roundRect">
            <a:avLst>
              <a:gd name="adj" fmla="val 3305"/>
            </a:avLst>
          </a:prstGeom>
          <a:solidFill>
            <a:srgbClr val="F8F8F8"/>
          </a:solidFill>
          <a:ln/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48239" y="1359098"/>
            <a:ext cx="12317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ДЕМО-РЕЖИМ LOVII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07683" y="1641277"/>
            <a:ext cx="1643063" cy="1643063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4288">
            <a:solidFill>
              <a:srgbClr val="F64A8A"/>
            </a:solidFill>
            <a:prstDash val="dash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18066" y="1851660"/>
            <a:ext cx="1222296" cy="1222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64A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857652" y="3462933"/>
            <a:ext cx="214312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Покажите эту страницу соседу — разберётесь вместе</a:t>
            </a:r>
            <a:endParaRPr lang="en-US" sz="8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28687" y="-1071562"/>
            <a:ext cx="2428875" cy="2428875"/>
          </a:xfrm>
          <a:prstGeom prst="roundRect">
            <a:avLst>
              <a:gd name="adj" fmla="val 391765"/>
            </a:avLst>
          </a:prstGeom>
          <a:solidFill>
            <a:srgbClr val="0ABAB5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6625" y="3500438"/>
            <a:ext cx="2857500" cy="2857500"/>
          </a:xfrm>
          <a:prstGeom prst="roundRect">
            <a:avLst>
              <a:gd name="adj" fmla="val 333000"/>
            </a:avLst>
          </a:prstGeom>
          <a:solidFill>
            <a:srgbClr val="F64A8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110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СОСЕДИ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03647"/>
            <a:ext cx="8595360" cy="66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Чем больше район в программе — </a:t>
            </a:r>
            <a:pPr algn="ctr" indent="0" marL="0">
              <a:lnSpc>
                <a:spcPts val="2437"/>
              </a:lnSpc>
              <a:buNone/>
            </a:pPr>
            <a:r>
              <a:rPr lang="en-US" sz="2138" b="1" spc="-21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тем он богаче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1357313" y="1336774"/>
            <a:ext cx="6429375" cy="39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1A1A1A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Когда в LOVII входит больше жителей, магазинам выгоднее давать кэшбэк, а районных акций становится больше. Поделитесь с теми, кто живёт рядом</a:t>
            </a:r>
            <a:endParaRPr lang="en-US" sz="928" dirty="0"/>
          </a:p>
        </p:txBody>
      </p:sp>
      <p:sp>
        <p:nvSpPr>
          <p:cNvPr id="7" name="Text 5"/>
          <p:cNvSpPr/>
          <p:nvPr/>
        </p:nvSpPr>
        <p:spPr>
          <a:xfrm>
            <a:off x="575072" y="1919883"/>
            <a:ext cx="2555007" cy="2198489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45407" y="2574317"/>
            <a:ext cx="414338" cy="414338"/>
          </a:xfrm>
          <a:prstGeom prst="roundRect">
            <a:avLst>
              <a:gd name="adj" fmla="val 2296549"/>
            </a:avLst>
          </a:prstGeom>
          <a:solidFill>
            <a:srgbClr val="F64A8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02378" y="2631289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C92A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2039" dirty="0"/>
          </a:p>
        </p:txBody>
      </p:sp>
      <p:sp>
        <p:nvSpPr>
          <p:cNvPr id="10" name="Text 8"/>
          <p:cNvSpPr/>
          <p:nvPr/>
        </p:nvSpPr>
        <p:spPr>
          <a:xfrm>
            <a:off x="1101538" y="3088667"/>
            <a:ext cx="150207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Поделитесь ссылкой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1357693" y="3313695"/>
            <a:ext cx="989653" cy="16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 в чат дома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3294385" y="1919883"/>
            <a:ext cx="2555118" cy="2198489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64720" y="2574317"/>
            <a:ext cx="414338" cy="414338"/>
          </a:xfrm>
          <a:prstGeom prst="roundRect">
            <a:avLst>
              <a:gd name="adj" fmla="val 2296549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21691" y="2631289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07807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039" dirty="0"/>
          </a:p>
        </p:txBody>
      </p:sp>
      <p:sp>
        <p:nvSpPr>
          <p:cNvPr id="15" name="Text 13"/>
          <p:cNvSpPr/>
          <p:nvPr/>
        </p:nvSpPr>
        <p:spPr>
          <a:xfrm>
            <a:off x="3917387" y="3088667"/>
            <a:ext cx="13091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Покажите на кассе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3959380" y="3313695"/>
            <a:ext cx="1225129" cy="16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вы платите по QR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6013810" y="1919883"/>
            <a:ext cx="2555007" cy="2198489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144">
            <a:solidFill>
              <a:srgbClr val="1A1A1A"/>
            </a:solidFill>
            <a:prstDash val="solid"/>
          </a:ln>
          <a:effectLst>
            <a:outerShdw sx="100000" sy="100000" kx="0" ky="0" algn="bl" rotWithShape="0" blurRad="28575" dist="9525" dir="5400000">
              <a:srgbClr val="1A1A1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84144" y="2574317"/>
            <a:ext cx="414338" cy="414338"/>
          </a:xfrm>
          <a:prstGeom prst="roundRect">
            <a:avLst>
              <a:gd name="adj" fmla="val 2296549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41116" y="2631289"/>
            <a:ext cx="30039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39" dirty="0">
                <a:solidFill>
                  <a:srgbClr val="8A6A2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2039" dirty="0"/>
          </a:p>
        </p:txBody>
      </p:sp>
      <p:sp>
        <p:nvSpPr>
          <p:cNvPr id="20" name="Text 18"/>
          <p:cNvSpPr/>
          <p:nvPr/>
        </p:nvSpPr>
        <p:spPr>
          <a:xfrm>
            <a:off x="6562433" y="3088667"/>
            <a:ext cx="145776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Расскажите владельцу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6584941" y="3313695"/>
            <a:ext cx="1412744" cy="16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любимого места про LOVII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571500" y="4321969"/>
            <a:ext cx="8001000" cy="435769"/>
          </a:xfrm>
          <a:prstGeom prst="roundRect">
            <a:avLst>
              <a:gd name="adj" fmla="val 26229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01888" y="4471988"/>
            <a:ext cx="3940113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экономика начинается с </a:t>
            </a:r>
            <a:pPr algn="ctr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одного сообщения в чате дома</a:t>
            </a:r>
            <a:endParaRPr lang="en-US" sz="92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75" y="-451507"/>
            <a:ext cx="5429250" cy="5429250"/>
          </a:xfrm>
          <a:prstGeom prst="roundRect">
            <a:avLst>
              <a:gd name="adj" fmla="val 175263"/>
            </a:avLst>
          </a:prstGeom>
          <a:solidFill>
            <a:srgbClr val="F64A8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79469" y="3078956"/>
            <a:ext cx="1271588" cy="1271588"/>
          </a:xfrm>
          <a:prstGeom prst="roundRect">
            <a:avLst>
              <a:gd name="adj" fmla="val 748314"/>
            </a:avLst>
          </a:prstGeom>
          <a:noFill/>
          <a:ln w="14288">
            <a:solidFill>
              <a:srgbClr val="0ABAB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5813" y="857250"/>
            <a:ext cx="500063" cy="500063"/>
          </a:xfrm>
          <a:prstGeom prst="roundRect">
            <a:avLst>
              <a:gd name="adj" fmla="val 1902855"/>
            </a:avLst>
          </a:prstGeom>
          <a:solidFill>
            <a:srgbClr val="D4A85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1577876"/>
            <a:ext cx="8595248" cy="44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Сканируйте. Платите. </a:t>
            </a:r>
            <a:pPr algn="ctr" indent="0" marL="0">
              <a:lnSpc>
                <a:spcPts val="3281"/>
              </a:lnSpc>
              <a:buNone/>
            </a:pPr>
            <a:r>
              <a:rPr lang="en-US" sz="3038" b="1" spc="-61" kern="0" dirty="0">
                <a:solidFill>
                  <a:srgbClr val="F64A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Копите.</a:t>
            </a:r>
            <a:endParaRPr lang="en-US" sz="3038" dirty="0"/>
          </a:p>
        </p:txBody>
      </p:sp>
      <p:sp>
        <p:nvSpPr>
          <p:cNvPr id="6" name="Text 4"/>
          <p:cNvSpPr/>
          <p:nvPr/>
        </p:nvSpPr>
        <p:spPr>
          <a:xfrm>
            <a:off x="2058516" y="2165896"/>
            <a:ext cx="5026856" cy="227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1A1A1A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Ваш район уже возвращает деньги соседям — присоединяйтесь за три минуты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3558034" y="2661940"/>
            <a:ext cx="2027932" cy="471488"/>
          </a:xfrm>
          <a:prstGeom prst="roundRect">
            <a:avLst>
              <a:gd name="adj" fmla="val 2018180"/>
            </a:avLst>
          </a:prstGeom>
          <a:solidFill>
            <a:srgbClr val="F64A8A"/>
          </a:solidFill>
          <a:ln/>
          <a:effectLst>
            <a:outerShdw sx="100000" sy="100000" kx="0" ky="0" algn="bl" rotWithShape="0" blurRad="304800" dist="114300" dir="5400000">
              <a:srgbClr val="F64A8A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86646" y="2819102"/>
            <a:ext cx="112782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Открыть lovii.ru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00191" y="281910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3154747" y="3364956"/>
            <a:ext cx="752661" cy="212027"/>
          </a:xfrm>
          <a:prstGeom prst="roundRect">
            <a:avLst>
              <a:gd name="adj" fmla="val 4487860"/>
            </a:avLst>
          </a:prstGeom>
          <a:solidFill>
            <a:srgbClr val="0ABAB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54747" y="3376315"/>
            <a:ext cx="7526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7807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93133" y="3364956"/>
            <a:ext cx="767618" cy="212027"/>
          </a:xfrm>
          <a:prstGeom prst="roundRect">
            <a:avLst>
              <a:gd name="adj" fmla="val 4487860"/>
            </a:avLst>
          </a:prstGeom>
          <a:solidFill>
            <a:srgbClr val="F64A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93133" y="3376315"/>
            <a:ext cx="7676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92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БАЛЛ = 1 ₽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476" y="3364956"/>
            <a:ext cx="1142665" cy="212027"/>
          </a:xfrm>
          <a:prstGeom prst="roundRect">
            <a:avLst>
              <a:gd name="adj" fmla="val 4487860"/>
            </a:avLst>
          </a:prstGeom>
          <a:solidFill>
            <a:srgbClr val="D4A854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476" y="3376315"/>
            <a:ext cx="11426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8A6A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БАЛЛЫ НЕ СГОРАЮТ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0" y="4738092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lovii.ru · ООО «АКСИОМА» · Программа лояльности; условия — в правилах на сайте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2026-09-01T23:43:28Z</dcterms:created>
  <dcterms:modified xsi:type="dcterms:W3CDTF">2026-09-01T23:43:28Z</dcterms:modified>
</cp:coreProperties>
</file>