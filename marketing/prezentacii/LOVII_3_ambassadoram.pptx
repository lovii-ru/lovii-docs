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 и добро пожаловать! Это презентация амбассадорской программы LOVII — часть серии презентаций LOVII о платформе. Сегодня мы поговорим о простой идее: зарабатывать на районе, который вы знаете и любите. Если вы блогер, активист, руководите чатом ЖК или СНТ, организуете события по соседству или просто вас знает весь район — эта дека для вас. Главное обещание звучит так: вы получаете двадцать процентов с комиссии каждой подключённой вами точки — ежемесячно, пока точка работает. И при этом вам не нужно открывать бизнес, снимать склад или делать вложения: платформа, материалы и сопровождение уже готовы. Обратите внимание на три метки на экране: один балл равен одному рублю, демо уже открыто — его можно показать с телефона, договор с банком подписан. Это не идеи на бумаге, а работающая система. Давайте начнём.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Начнём с боли, которая знакома каждому из вас по личному опыту. Вы покупаете кофе в кофейне за углом, заказываете продукты в магазине рядом с домом — и почти каждый раз через приложение федерального агрегатора. Посмотрите на цифру: двадцать – сорок пять процентов выручки местные магазины отдают агрегаторам. Это огромные деньги, и они утекают из района на счета федеральных платформ. При этом у местных точек нет простых инструментов лояльности — в лучшем случае дисконтная карточка, которую никто не носит с собой. А человек, который знает район, которого слушают в чатах, никак не зарабатывает на этом знании. Вспомните себя: сколько вы потратили через агрегаторы за последний месяц? Теперь смотрите на вывод внизу: LOVII разворачивает поток денег обратно в район — и платит тем, кто его соединяет. Об этом и поговорим.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коротко о том, что такое LOVII. Это агентская платформа для локальной экономики: сайт lovii.ru, оператор — ООО «АКСИОМА», российское юридическое лицо. Модель объясню словами жителя. Бизнес подключается к платформе и возвращает покупателям часть стоимости покупок баллами. Один балл всегда равен одному рублю, и баллы не сгорают — это честная валюта района, без «курсов» и мелкого шрифта. Кэшбэк-пул составляет от шести целых восьмидесяти четырёх сотых до девяти целых трёх десятых процента — и он возвращается жителям баллами. Важно: платит бизнес, а не жители — мы у жителей денег не берём, мы возвращаем их району. И заметьте экономику для владельца точки: бизнес платит примерно десять процентов вместо двадцати – сорока пяти процентов у агрегаторов. Поэтому точкам выгодно подключаться, а району — жить в своей экономике. Дальше — ваша роль в этой схеме.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такой амбассадор LOVII? Это голос района внутри платформы. Посмотрите на карточку слева: это вы, если вы блогер, активист, руководитель чата СНТ или ЖК, организатор событий или просто человек, которого район знает. И сразу снимем страх «я не продавец» — продавцом быть не нужно. Ваша работа складывается из четырёх действий. Вы соединяете: знакомите бизнес и жителей с платформой. Вы рассказываете: делитесь контентом в районных чатах и сторис, как делаете это и сейчас. Вы помогаете: точка проходит подключение по QR за пять минут, вы просто показываете, куда нажать. И вы получаете: двадцать процентов комиссии с оборота своих точек — по-настоящему, деньгами. И важная строка внизу: это не найм, не франшиза и не закупки. Вы получаете партнёрский статус по договору оферты — официальные отношения, понятные правила и полная свобода вашего привычного стиля жизни.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первому разделу — модель заработка. Здесь будет только то, что вы обычно спрашиваете в первую очередь: деньги и цифры, без эзотерики. Мы разберём формулу сорок – сорок – двадцать: как делится комиссия каждой точки между компанией LOVII, представителем района и амбассадором — и почему двадцатка амбассадора растёт сама: каждая новая подключённая точка просто добавляет строку в ваш доход. Затем мы честно сравним две роли — амбассадор и представитель: у них разные условия входа, разные обязательства и разные доли комиссии, и вам важно сразу понять, какая роль ваша. И в конце посчитаем потенциальный доход в рублях на конкретных сценариях — от одной точки до тридцати. Все расчёты будут прозрачными: с базой, логикой и оговорками, чтобы вы могли проверить каждую цифру самостоятельно. Если будут вопросы — фиксируйте их, после раздела разберём. Поехали.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механика деления — она очень простая. Комиссию платит бизнес за сервис платформы, это не взнос жителя. И каждый рубль этой комиссии делится на троих. Сорок процентов получает компания LOVII — за платформу, технологию и поддержку. Сорок процентов — представитель района, который ведёт точки как бизнес-направление. И двадцать процентов — амбассадор, то есть вы: на слайде эта карточка выделена. Обратите внимание на три вещи. Первое: вы получаете двадцать процентов с комиссии каждой подключённой вами точки ежемесячно, пока точка работает, — это не разовый бонус за подключение. Второе: эффект накопительный — новая точка равняется новой строке в вашем доходе, при этом старые точки продолжают платить. Третье: от вас ничего дополнительно не требуется — точка работает, жители платят баллами за покупки, комиссия делится автоматически. Именно поэтому мы говорим: двадцатка растёт сама.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Частый вопрос: чем амбассадор отличается от представителя? Сравню честно, без романтики. Представитель — это бизнес-роль: подписка пятьсот девяносто девять рублей в месяц, на промо-старте сто девяносто девять рублей, он ведёт точки как бизнес, получает долю сорок процентов комиссии и работает по обучению и стандартам компании. Амбассадор — роль сообщества: без подписки и взносов, ваш инструмент — сообщество, контент и охват, доля — двадцать процентов комиссии, а старт занимает один день. Кому какая подходит? Если вам близок предпринимательский трек с большей долей — смотрите в сторону представителя. Если хотите начать быстро, без вложений и обязательств — амбассадор. И самое приятное: это не развилка навсегда, а путь роста. Можно начать амбассадором, собрать первые точки и вырасти в представителя — вся ваша наработка, точки и связи в районе остаются с вами. Никто не отбирает сделанное.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давайте переведём проценты в рубли — и сразу честно: все цифры на этом слайде расчётные. База у нас такая: комиссия одной точки в среднем составляет около трёх тысяч девятисот семидесяти рублей в месяц. Амбассадору из них идёт двадцать процентов — это половина доли представителя, у которого сорок. Считаем вместе: одна точка — это примерно одна тысяча девятьсот восемьдесят пять рублей в месяц вашей доли. Десять точек — около девятнадцати тысяч восьмисот пятидесяти рублей ежемесячно. Тридцать точек — почти шестьдесят тысяч, пятьдесят девять с половиной тысяч рублей — это уже уровень Мэра. Заметьте: каждая новая точка просто добавляет строку в вашем доходе, ничего не обнуляя. И очень важная оговорка, которую мы проговариваем всегда: это НЕ является гарантией доходности. Реальный доход зависит от оборота подключённых вами точек — поэтому на слайде везде знак «примерно».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вопрос вам будут задавать постоянно, поэтому снимем его сразу: нет, это не МЛМ. Смотрите на структуру. В сети LOVII всего два уровня — компания и партнёр. Никакого рекрутинга и никаких «сетей»: вам не нужно никого приглашать в «структуру», чтобы что-то заработать. Второе: ранги — Мэр и Губернатор — это привилегии: приоритет на ивентах, мерч, статус в районных чатах. Ранг не даёт процент с чужих продаж — это принципиальная граница с пирамидами. И третье, самое главное: доход в системе возникает только с реального оборота реальных магазинов. Жители покупают кофе и продукты, бизнес платит комиссию с кассы, и мы честно делим её между участниками. В МЛМ деньги рождаются из взносов участников. У нас деньги зарабатывает бизнес на кассе — мы лишь делим комиссию сервиса. Вот и вся разница — и это сильный аргумент в любом разговоре.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ко второму разделу — он самый практичный. Мы разобрали, сколько и почему вы зарабатываете, а теперь посмотрим, как это работает на практике: от первого знакомства с платформой до первых подключённых точек проходит реально за две недели. В этом разделе три темы. Сначала пройдём пять шагов старта — от демо до жителей района. Затем откроем ваш арсенал: инструменты, которые уже готовы, — промо-кит, гайд по промтам, скрипты и комьюнити амбассадоров. И в конце поговорим про уровни роста: представитель, Мэр и Губернатор. Главная мысль раздела простая: ничего изобретать не придётся. Есть готовые шаги, готовые материалы и живая поддержка — вам остаётся говорить с людьми и показывать район. Давайте по порядку.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 выглядит очень просто — вот пять шагов. Первый: знакомство. Вы проходите демо — оно уже открыто, можно посмотреть прямо с телефона — и получаете промо-кит и гайд по промтам. Второй шаг: район. Вы выбираете район, и мы закрепляем его за вами. Здесь работает простое правило: регионы закрепляются за первыми — кто первый занял, тот и ведёт район. Третий: обучение. Скрипты разговора с бизнесом, стандарты бренда и стоп-правила — что можно говорить и чего говорить никогда. Четвёртый: точки. Первые подключения: владелец сканирует QR-стикер — и точка подключается за пять минут, прямо на кассе. Правда, просто? И пятый шаг: жители. Вы запускаете контент в районных чатах — где копить и как тратить баллы. И на каждом из этих шагов рядом куратор: вы не останетесь один на один с вопросами.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страх новичка звучит так: «я не дизайнер и не копирайтер». Хорошая новость — всё уже готово, вам остаётся говорить. Первый инструмент — промо-кит: макеты, баннеры и стикеры QR. Скачиваете и используете — ничего рисовать не нужно. Второй — гайд по промтам: двадцать один слайд по созданию визуалов LOVII, он уже скачан у вас — вы видели его в начале нашей встречи. С ним фирменная картинка делается за пару минут. Третий — скрипты: дословные подсказки, что говорить владельцу кофейни или рынка, от первого приветствия до показа демо. И четвёртый — комьюнити: чат амбассадоров и куратор, который всегда на связи и подскажет в любой ситуации. Плюс приятный бонус: все новые материалы серии — для инвесторов и клиентов — вы получаете первыми. Контентная нагрузка полностью снята — ваша задача только донести готовое.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про рост. Здесь три ступени. Первая — представитель: это старт роли, у вас своя точка влияния — свой район и свои точки. Вторая ступень — Мэр. Это тридцать и более подключённых точек в вашем районе. Что это даёт? Привилегии: приоритет на ивентах, фирменный мерч и особый статус в районных чатах. Третья ступень — Губернатор: три и более города, вы уже стратегический партнёр, и ваш голос звучит в роадмапе продукта. И обратите внимание на строчку внизу слайда: ранг открывает привилегии — но никогда не платит процент с чужих продаж. Это принципиально: мы не сетевой маркетинг, рост здесь — за реальный вклад в район, а не за рекрутинг. И растём мы без давления: идти к статусу Мэра или спокойно вести свой район амбассадором — решаете только вы.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последний, третий раздел — про доверие. Когда вы приходите к владельцу кофейни, у него в голове два вопроса: «а вы кто такие?» и «а это вообще законно?». Этот раздел даёт вам ответы, которые вы сможете произносить с чистой совестью. Здесь три темы. Первая — статус проекта: LOVII уже работает, демо открыто, договор с банком подписан — это не презентация мечты, а действующий продукт, который можно показать с телефона. Вторая — право: у платформы российский оператор, расчёты идут по банковским правилам, отношения оформлены офертой. Третья — стоп-лист: красные линии, которые защищают и вас, и район — что нельзя обещать и что нельзя показывать в креативах. Пройдём по порядку — и после этого раздела вы будете готовы к любому вопросу бизнеса.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главный вопрос, который вам задаст любой владелец кофейни: «А это вообще работает?» Отвечайте: да, и вот доказательства. Во-первых, демо уже открыто — вы прямо сегодня достаёте телефон и показываете живой продукт: как житель копит и тратит баллы, как это выглядит на кассе. Во-вторых, договор с банком подписан — все расчёты проходят через банковскую инфраструктуру, это не эксперимент из гаража. В-третьих, эквайринг подключён: платежи по QR реально принимаются — человек сканирует стикер и платит. И четвёртое: сейчас идёт набор первых партнёров — представители и амбассадоры выбирают себе районы. То есть вы заходите на волне запуска, когда всё уже построено и работает. Для бизнеса это сильнейший аргумент: перед ними не презентация, а действующий сервис, который можно потрогать с экрана телефона. И в этот момент вы можете стать лицом LOVII своего района.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 проговорим юридическую сторону — она сильно укрепляет ваши переговоры с бизнесом. Оператор платформы — ООО «АКСИОМА», российское юридическое лицо: всё официально, есть кому задать вопрос. Баллы и расчёты учитываются на номинальных счетах по статье 860.1 Гражданского кодекса — деньги движутся по банковским правилам, а не по серым схемам. Вывод средств — от трёх тысяч рублей на ваши реквизиты, прозрачно и проверяемо. И все отношения оформляются договором оферты — никаких устных договорённостей, всё зафиксировано документом. Почему это важно именно вам? Когда владелец магазина спрашивает: «А кто вы вообще такие?» — вы спокойно называете юрлицо, ссылаетесь на банковскую инфраструктуру и предлагаете показать документы. Районы не прощают серых схем, и LOVII изначально построена так, что показывать документы можно и нужно. Это ваш козырь в разговоре — используйте его смело.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красные линии — пять «никогда», которые нельзя нарушать. Первое: никогда не обещайте гарантированный доход — только расчётные сценарии, потому что цифры зависят от реального оборота точек. Второе: никаких фейковых купюр и чужих товарных знаков в визуалах — это и некрасиво, и юридически опасно. Третье: текст на креативах набирается поверх готовых макетов, а не генерируется картинкой — иначе получатся ошибки и кривые буквы. Четвёртое: названия банков не звучат в ваших постах и сторис — банк-партнёр упоминается только в официальных материалах. И пятое: один балл всегда равен одному рублю — никаких «курсов» и «инвестиций в баллы», это не валютная биржа. Почему так строго? Нарушение означает отключение от программы. Но эти правила защищают прежде всего вас: они держат репутацию чистой, а репутация в районе — ваш главный капитал. Говорите о доходах через расчёт — и вы в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выглядит дорожная карта района в реальных сроках. Первая неделя: вы составляете карту района — шорт-лист из тридцати точек, которые вам знакомы: кофейни, цветочные, рынок, где вы сами живёте и куда ходите. Первый месяц: первые пять–десять подключённых точек, QR-стикеры появляются на кассах. Месяцы два–три: подключаются активные жители, появляется первый оборот — а значит, и ваша первая комиссия. Важный момент: комиссия приходит не мгновенно, а после того, как точки начали работать и жители стали платить по QR. С четвёртого месяца — устойчивый поток, и вы идёте к статусу Мэра: это тридцать и более подключённых точек в районе. Заметьте: темп задаёте вы сами — никто не будет давить и требовать. Но куратор всегда рядом: помогает держать ритм, подсказывает скрипты, разбирает сложные случаи. Это реалистичный план на четыре месяца, а не фантазия.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механика ожила, вот один обычный день амбассадора. Утро: вы пьёте кофе с владелицей кофейни — просто знакомой из района — и показываете демо на телефоне. Пять минут, никаких презентаций: живой продукт на экране говорит сам за себя. День: заходите в цветочный магазин и на рынок, оставляете QR-стикеры на кассах — само подключение точки занимает около пяти минут. Вечер: снимаете сторис «где копить баллы в нашем районе» и отправляете в два районных чата, где вас знают и вам доверяют. Итог дня: три подключённые точки. Каждая теперь платит вам двадцать процентов комиссии — ежемесячно, пока работает. Обратите внимание: в этом дне нет ничего героического — кофе, пара визитов, одна сторис. Обычные бытовые действия превращаются в строку дохода. Именно так и растёт ваша сеть — день за днём, район за районом.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делать прямо на этой неделе? Вот конкретный чек-лист. Дни один–два: пройдите демо и скачайте все материалы серии LOVII, составьте карту района — тридцать точек в шорт-листе — и запишитесь на созвон с куратором: он поможет расставить приоритеты и подскажет, с каких точек начать. Дни три–семь: назначьте пять встреч с владельцами точек — это реалистично, буквально пара визитов в день. Подключите первые точки по QR — на каждой кассе это пять минут. И запустите первый пост в районном чате: где копить и как тратить баллы. Смотрите, что получается: неделя прошла — и у вас уже есть район, есть подключённые точки и первая строка будущего дохода. Не откладывайте на «понедельник после отпуска»: районы закрепляются за первыми, и ваш чат, ваша кофейня, ваш рынок могут достаться другому. Начните сегодня — поддержка куратора уже включена.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финал. Ваш район пока свободен — но это ненадолго. Мы закрепляем регионы и районы за первыми: кто первый пришёл, тот и получил район — эксклюзивно, без дележа с другими амбассадорами. Поэтому следующий шаг очень простой: напишите нам кодовое слово «АМБАССАДОР» и свой город — мы закрепим район за вами и пришлём промо-кит со всеми материалами. Что вы получаете сразу: открытое демо, которое можно показать с телефона, подписанный договор с банком и честную механику — один балл равен одному рублю. Осталось только нажать «Стать амбассадором LOVII» или написать нам сегодня. И честное напоминание напоследок: доход зависит от оборота подключённых точек и не является гарантией доходности — мы обещаем инструменты, поддержку и справедливый сплит, а зарабатываете вы на живом районе, который знаете лучше всех. Спасибо!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35819" y="-835819"/>
            <a:ext cx="2100263" cy="2100263"/>
          </a:xfrm>
          <a:prstGeom prst="ellipse">
            <a:avLst/>
          </a:prstGeom>
          <a:noFill/>
          <a:ln w="328613">
            <a:solidFill>
              <a:srgbClr val="C92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500062" y="4071938"/>
            <a:ext cx="1928813" cy="1928813"/>
          </a:xfrm>
          <a:prstGeom prst="ellipse">
            <a:avLst/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h2p-fit-1788302525397-p4l15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4350" y="471488"/>
            <a:ext cx="2124484" cy="189309"/>
          </a:xfrm>
          <a:prstGeom prst="roundRect">
            <a:avLst>
              <a:gd name="adj" fmla="val 5026425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50094" y="521494"/>
            <a:ext cx="1788728" cy="119703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 · АМБАССАДОРСКАЯ ПРОГРАММА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14363" y="51970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914" dirty="0"/>
          </a:p>
        </p:txBody>
      </p:sp>
      <p:sp>
        <p:nvSpPr>
          <p:cNvPr id="9" name="Text 5"/>
          <p:cNvSpPr/>
          <p:nvPr/>
        </p:nvSpPr>
        <p:spPr>
          <a:xfrm>
            <a:off x="514350" y="860822"/>
            <a:ext cx="4286250" cy="1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41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Зарабатывайте на </a:t>
            </a:r>
            <a:pPr algn="l" indent="0" marL="0">
              <a:lnSpc>
                <a:spcPts val="3341"/>
              </a:lnSpc>
              <a:buNone/>
            </a:pPr>
            <a:r>
              <a:rPr lang="en-US" sz="3038" b="1" spc="-6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районе, который любите</a:t>
            </a:r>
            <a:endParaRPr lang="en-US" sz="3038" dirty="0"/>
          </a:p>
        </p:txBody>
      </p:sp>
      <p:sp>
        <p:nvSpPr>
          <p:cNvPr id="10" name="Text 6"/>
          <p:cNvSpPr/>
          <p:nvPr/>
        </p:nvSpPr>
        <p:spPr>
          <a:xfrm>
            <a:off x="514350" y="2290800"/>
            <a:ext cx="400050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20% с комиссии подключённых вами точек</a:t>
            </a:r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1A1A1A">
                    <a:alpha val="6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без открытия бизнеса, склада и вложений</a:t>
            </a:r>
            <a:endParaRPr lang="en-US" sz="1069" dirty="0"/>
          </a:p>
        </p:txBody>
      </p:sp>
      <p:sp>
        <p:nvSpPr>
          <p:cNvPr id="11" name="Text 7"/>
          <p:cNvSpPr/>
          <p:nvPr/>
        </p:nvSpPr>
        <p:spPr>
          <a:xfrm>
            <a:off x="514350" y="2912899"/>
            <a:ext cx="933376" cy="288136"/>
          </a:xfrm>
          <a:prstGeom prst="roundRect">
            <a:avLst>
              <a:gd name="adj" fmla="val 330242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85813" y="3004282"/>
            <a:ext cx="697632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28650" y="300338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055" dirty="0"/>
          </a:p>
        </p:txBody>
      </p:sp>
      <p:sp>
        <p:nvSpPr>
          <p:cNvPr id="14" name="Text 10"/>
          <p:cNvSpPr/>
          <p:nvPr/>
        </p:nvSpPr>
        <p:spPr>
          <a:xfrm>
            <a:off x="1519163" y="2912899"/>
            <a:ext cx="1227832" cy="288136"/>
          </a:xfrm>
          <a:prstGeom prst="roundRect">
            <a:avLst>
              <a:gd name="adj" fmla="val 3302425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790626" y="3004282"/>
            <a:ext cx="992088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07807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уже открыто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633463" y="300338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055" dirty="0"/>
          </a:p>
        </p:txBody>
      </p:sp>
      <p:sp>
        <p:nvSpPr>
          <p:cNvPr id="17" name="Text 13"/>
          <p:cNvSpPr/>
          <p:nvPr/>
        </p:nvSpPr>
        <p:spPr>
          <a:xfrm>
            <a:off x="2818433" y="2925700"/>
            <a:ext cx="1675991" cy="262533"/>
          </a:xfrm>
          <a:prstGeom prst="roundRect">
            <a:avLst>
              <a:gd name="adj" fmla="val 3624487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089895" y="3004282"/>
            <a:ext cx="2025030" cy="122895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 с банком подписан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932733" y="300338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20" name="Text 16"/>
          <p:cNvSpPr/>
          <p:nvPr/>
        </p:nvSpPr>
        <p:spPr>
          <a:xfrm>
            <a:off x="685800" y="3402546"/>
            <a:ext cx="3141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7" kern="0" dirty="0">
                <a:solidFill>
                  <a:srgbClr val="707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ЛОКАЛЬНЫХ ЛИДЕРОВ, БЛОГЕРОВ И АКТИВИСТОВ РАЙОНА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14350" y="339540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22" name="Text 18"/>
          <p:cNvSpPr/>
          <p:nvPr/>
        </p:nvSpPr>
        <p:spPr>
          <a:xfrm>
            <a:off x="514350" y="4705945"/>
            <a:ext cx="157163" cy="21431"/>
          </a:xfrm>
          <a:prstGeom prst="roundRect">
            <a:avLst>
              <a:gd name="adj" fmla="val 4400051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06028" y="4647009"/>
            <a:ext cx="4807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1A1A1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lovii.ru</a:t>
            </a:r>
            <a:endParaRPr lang="en-US" sz="731" dirty="0"/>
          </a:p>
        </p:txBody>
      </p:sp>
      <p:sp>
        <p:nvSpPr>
          <p:cNvPr id="24" name="Text 20"/>
          <p:cNvSpPr/>
          <p:nvPr/>
        </p:nvSpPr>
        <p:spPr>
          <a:xfrm>
            <a:off x="1090315" y="4647009"/>
            <a:ext cx="40246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ООО «АКСИОМА»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14338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ЭТО ВАЖНО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03647"/>
            <a:ext cx="862965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Район платит чужим — каждый день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-57150" y="2571750"/>
            <a:ext cx="2143125" cy="2143125"/>
          </a:xfrm>
          <a:prstGeom prst="ellipse">
            <a:avLst/>
          </a:prstGeom>
          <a:solidFill>
            <a:srgbClr val="D4A85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66122" y="1849115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66122" y="1849115"/>
            <a:ext cx="271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94734" y="1849115"/>
            <a:ext cx="3434916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Деньги жителей </a:t>
            </a:r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утекают из района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счета федеральных платформ</a:t>
            </a:r>
            <a:endParaRPr lang="en-US" sz="928" dirty="0"/>
          </a:p>
        </p:txBody>
      </p:sp>
      <p:sp>
        <p:nvSpPr>
          <p:cNvPr id="8" name="Text 6"/>
          <p:cNvSpPr/>
          <p:nvPr/>
        </p:nvSpPr>
        <p:spPr>
          <a:xfrm>
            <a:off x="4866122" y="2388468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6122" y="2388468"/>
            <a:ext cx="271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734" y="2388468"/>
            <a:ext cx="3434916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 местных точек нет </a:t>
            </a:r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простых инструментов лояльности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только дисконтные карточки</a:t>
            </a:r>
            <a:endParaRPr lang="en-US" sz="928" dirty="0"/>
          </a:p>
        </p:txBody>
      </p:sp>
      <p:sp>
        <p:nvSpPr>
          <p:cNvPr id="11" name="Text 9"/>
          <p:cNvSpPr/>
          <p:nvPr/>
        </p:nvSpPr>
        <p:spPr>
          <a:xfrm>
            <a:off x="4866122" y="2927821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6122" y="2927821"/>
            <a:ext cx="271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734" y="2927821"/>
            <a:ext cx="3434916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 тот, кто знает район, </a:t>
            </a:r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никак не зарабатывает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этом знании</a:t>
            </a:r>
            <a:endParaRPr lang="en-US" sz="928" dirty="0"/>
          </a:p>
        </p:txBody>
      </p:sp>
      <p:sp>
        <p:nvSpPr>
          <p:cNvPr id="14" name="Text 12"/>
          <p:cNvSpPr/>
          <p:nvPr/>
        </p:nvSpPr>
        <p:spPr>
          <a:xfrm>
            <a:off x="514350" y="4200525"/>
            <a:ext cx="8115300" cy="585788"/>
          </a:xfrm>
          <a:prstGeom prst="roundRect">
            <a:avLst>
              <a:gd name="adj" fmla="val 19512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088" y="4329113"/>
            <a:ext cx="328613" cy="328613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A1A1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0093" y="436911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1157288" y="4405350"/>
            <a:ext cx="7286625" cy="19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956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</a:t>
            </a:r>
            <a:pPr algn="l" indent="0" marL="0">
              <a:lnSpc>
                <a:spcPts val="1387"/>
              </a:lnSpc>
              <a:buNone/>
            </a:pPr>
            <a:r>
              <a:rPr lang="en-US" sz="956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разворачивает поток денег обратно в район — </a:t>
            </a:r>
            <a:pPr algn="l" indent="0" marL="0">
              <a:lnSpc>
                <a:spcPts val="1387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платит тем, кто его соединяет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514350" y="1690167"/>
            <a:ext cx="5650962" cy="114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25"/>
              </a:lnSpc>
              <a:buNone/>
            </a:pPr>
            <a:r>
              <a:rPr lang="en-US" sz="8325" b="1" spc="-416" kern="0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20–45%</a:t>
            </a:r>
            <a:endParaRPr lang="en-US" sz="8325" dirty="0"/>
          </a:p>
        </p:txBody>
      </p:sp>
      <p:sp>
        <p:nvSpPr>
          <p:cNvPr id="19" name="Text 17"/>
          <p:cNvSpPr/>
          <p:nvPr/>
        </p:nvSpPr>
        <p:spPr>
          <a:xfrm>
            <a:off x="514350" y="2904604"/>
            <a:ext cx="400050" cy="35719"/>
          </a:xfrm>
          <a:prstGeom prst="roundRect">
            <a:avLst>
              <a:gd name="adj" fmla="val 2639982"/>
            </a:avLst>
          </a:prstGeom>
          <a:solidFill>
            <a:srgbClr val="D4A8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4350" y="3054623"/>
            <a:ext cx="3357563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столько выручки отдают локальные магазины 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федеральным агрегаторам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14338"/>
            <a:ext cx="666458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ПЛАТФОРМА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03647"/>
            <a:ext cx="528066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 — лояльность вашего района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14350" y="1115764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4355" y="115576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957263" y="1130052"/>
            <a:ext cx="435768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Агентская платформа локальной экономике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2A6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lovii.ru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оператор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ООО «АКСИОМА»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4350" y="1608683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4355" y="164868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957263" y="1622971"/>
            <a:ext cx="43576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2A6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баллы не сгорают — честная валюта района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4350" y="2073027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4355" y="211303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957263" y="2087314"/>
            <a:ext cx="43576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2A6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Кэшбэк-пул 6,84–9,3%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возвращается жителям баллами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" y="2537371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4355" y="257737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957263" y="2551658"/>
            <a:ext cx="43576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 платит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2A6A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~10%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вместо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20–45% у агрегаторов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4350" y="4371975"/>
            <a:ext cx="4800600" cy="385763"/>
          </a:xfrm>
          <a:prstGeom prst="roundRect">
            <a:avLst>
              <a:gd name="adj" fmla="val 29630"/>
            </a:avLst>
          </a:prstGeom>
          <a:solidFill>
            <a:srgbClr val="C92A6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7225" y="44791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928688" y="4482368"/>
            <a:ext cx="4243388" cy="168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не берём деньги жителей — </a:t>
            </a:r>
            <a:pPr algn="l" indent="0" marL="0">
              <a:lnSpc>
                <a:spcPts val="1299"/>
              </a:lnSpc>
              <a:buNone/>
            </a:pPr>
            <a:r>
              <a:rPr lang="en-US" sz="928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возвращаем их району</a:t>
            </a:r>
            <a:endParaRPr lang="en-US" sz="928" dirty="0"/>
          </a:p>
        </p:txBody>
      </p:sp>
      <p:pic>
        <p:nvPicPr>
          <p:cNvPr id="19" name="Image 0" descr="/tmp/h2p-fit-1788302524456-nemp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275" y="557213"/>
            <a:ext cx="3000375" cy="4057650"/>
          </a:xfrm>
          <a:prstGeom prst="rect">
            <a:avLst/>
          </a:prstGeom>
          <a:effectLst>
            <a:outerShdw sx="100000" sy="100000" kx="0" ky="0" algn="bl" rotWithShape="0" blurRad="323850" dist="133350" dir="5400000">
              <a:srgbClr val="1A1A1A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9359"/>
            <a:ext cx="862965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Амбассадор — голос района в LOVII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14350" y="1087189"/>
            <a:ext cx="2857500" cy="3409801"/>
          </a:xfrm>
          <a:prstGeom prst="roundRect">
            <a:avLst>
              <a:gd name="adj" fmla="val 4000"/>
            </a:avLst>
          </a:prstGeom>
          <a:solidFill>
            <a:srgbClr val="C92A6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36031" y="3661172"/>
            <a:ext cx="1243013" cy="1243013"/>
          </a:xfrm>
          <a:prstGeom prst="ellipse">
            <a:avLst/>
          </a:prstGeom>
          <a:noFill/>
          <a:ln w="185738">
            <a:solidFill>
              <a:srgbClr val="C92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61159" y="1090761"/>
            <a:ext cx="2464594" cy="1555775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36181" y="1251496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72257" y="128757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3736181" y="1651546"/>
            <a:ext cx="211455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Соединяете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3736181" y="1887289"/>
            <a:ext cx="2224278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знакомите бизнес и жителей с платформой</a:t>
            </a:r>
            <a:endParaRPr lang="en-US" sz="816" dirty="0"/>
          </a:p>
        </p:txBody>
      </p:sp>
      <p:sp>
        <p:nvSpPr>
          <p:cNvPr id="11" name="Text 9"/>
          <p:cNvSpPr/>
          <p:nvPr/>
        </p:nvSpPr>
        <p:spPr>
          <a:xfrm>
            <a:off x="6161484" y="1090761"/>
            <a:ext cx="2464594" cy="1555775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36506" y="1251496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72582" y="128757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6336506" y="1651546"/>
            <a:ext cx="211455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Рассказываете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336506" y="1887289"/>
            <a:ext cx="2224278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 в районных чатах и сторис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3561159" y="2782267"/>
            <a:ext cx="2464594" cy="1711151"/>
          </a:xfrm>
          <a:prstGeom prst="roundRect">
            <a:avLst>
              <a:gd name="adj" fmla="val 6680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36181" y="294300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72257" y="297907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3736181" y="3343052"/>
            <a:ext cx="211455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Помогаете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3736181" y="3578796"/>
            <a:ext cx="2114550" cy="33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точкам пройти подключение по QR </a:t>
            </a:r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1A1A1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5 минут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6161484" y="2782267"/>
            <a:ext cx="2464594" cy="1711151"/>
          </a:xfrm>
          <a:prstGeom prst="roundRect">
            <a:avLst>
              <a:gd name="adj" fmla="val 6680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36506" y="2943002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72582" y="297907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6336506" y="3343052"/>
            <a:ext cx="211455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Получаете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6336506" y="3578796"/>
            <a:ext cx="2224278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C92A6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20% комиссии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оборота своих точек</a:t>
            </a:r>
            <a:endParaRPr lang="en-US" sz="816" dirty="0"/>
          </a:p>
        </p:txBody>
      </p:sp>
      <p:sp>
        <p:nvSpPr>
          <p:cNvPr id="26" name="Text 24"/>
          <p:cNvSpPr/>
          <p:nvPr/>
        </p:nvSpPr>
        <p:spPr>
          <a:xfrm>
            <a:off x="514350" y="46630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728663" y="4654153"/>
            <a:ext cx="790098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найм, не франшиза, не закупки —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партнёрский статус по договору оферты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728663" y="1301502"/>
            <a:ext cx="414338" cy="414338"/>
          </a:xfrm>
          <a:prstGeom prst="ellipse">
            <a:avLst/>
          </a:prstGeom>
          <a:solidFill>
            <a:srgbClr val="C92A6A"/>
          </a:solidFill>
          <a:ln/>
          <a:effectLst>
            <a:outerShdw sx="100000" sy="100000" kx="0" ky="0" algn="bl" rotWithShape="0" blurRad="152400" dist="57150" dir="5400000">
              <a:srgbClr val="C92A6A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0455" y="1353294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2109" dirty="0"/>
          </a:p>
        </p:txBody>
      </p:sp>
      <p:sp>
        <p:nvSpPr>
          <p:cNvPr id="30" name="Text 28"/>
          <p:cNvSpPr/>
          <p:nvPr/>
        </p:nvSpPr>
        <p:spPr>
          <a:xfrm>
            <a:off x="728663" y="1873002"/>
            <a:ext cx="242887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вы, если вы —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728663" y="2158752"/>
            <a:ext cx="2428875" cy="88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3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блогер</a:t>
            </a:r>
            <a:pPr algn="l" indent="0" marL="0">
              <a:lnSpc>
                <a:spcPts val="1613"/>
              </a:lnSpc>
              <a:buNone/>
            </a:pPr>
            <a:r>
              <a:rPr lang="en-US" sz="104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613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активист</a:t>
            </a:r>
            <a:pPr algn="l" indent="0" marL="0">
              <a:lnSpc>
                <a:spcPts val="1613"/>
              </a:lnSpc>
              <a:buNone/>
            </a:pPr>
            <a:r>
              <a:rPr lang="en-US" sz="104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613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СНТ/ЖК-чата</a:t>
            </a:r>
            <a:pPr algn="l" indent="0" marL="0">
              <a:lnSpc>
                <a:spcPts val="1613"/>
              </a:lnSpc>
              <a:buNone/>
            </a:pPr>
            <a:r>
              <a:rPr lang="en-US" sz="104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613"/>
              </a:lnSpc>
              <a:buNone/>
            </a:pPr>
            <a:r>
              <a:rPr lang="en-US" sz="1041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организатор событий</a:t>
            </a:r>
            <a:pPr algn="l" indent="0" marL="0">
              <a:lnSpc>
                <a:spcPts val="1613"/>
              </a:lnSpc>
              <a:buNone/>
            </a:pPr>
            <a:r>
              <a:rPr lang="en-US" sz="104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или просто человек, которого район знает</a:t>
            </a:r>
            <a:endParaRPr lang="en-US" sz="1041" dirty="0"/>
          </a:p>
        </p:txBody>
      </p:sp>
      <p:sp>
        <p:nvSpPr>
          <p:cNvPr id="32" name="Text 30"/>
          <p:cNvSpPr/>
          <p:nvPr/>
        </p:nvSpPr>
        <p:spPr>
          <a:xfrm>
            <a:off x="728663" y="4207669"/>
            <a:ext cx="157163" cy="21431"/>
          </a:xfrm>
          <a:prstGeom prst="roundRect">
            <a:avLst>
              <a:gd name="adj" fmla="val 4400051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42975" y="4154091"/>
            <a:ext cx="22145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707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 РАЙОН — ВАШ РЕСУРС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74" y="-400050"/>
            <a:ext cx="3419605" cy="203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0"/>
              </a:lnSpc>
              <a:buNone/>
            </a:pPr>
            <a:r>
              <a:rPr lang="en-US" sz="14850" b="1" spc="-891" kern="0" dirty="0">
                <a:solidFill>
                  <a:srgbClr val="C92A6A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850" dirty="0"/>
          </a:p>
        </p:txBody>
      </p:sp>
      <p:sp>
        <p:nvSpPr>
          <p:cNvPr id="3" name="Text 1"/>
          <p:cNvSpPr/>
          <p:nvPr/>
        </p:nvSpPr>
        <p:spPr>
          <a:xfrm>
            <a:off x="6786563" y="714375"/>
            <a:ext cx="3429000" cy="3429000"/>
          </a:xfrm>
          <a:prstGeom prst="ellipse">
            <a:avLst/>
          </a:prstGeom>
          <a:solidFill>
            <a:srgbClr val="C92A6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36506" y="4193381"/>
            <a:ext cx="1900238" cy="1900238"/>
          </a:xfrm>
          <a:prstGeom prst="ellipse">
            <a:avLst/>
          </a:prstGeom>
          <a:noFill/>
          <a:ln w="242888">
            <a:solidFill>
              <a:srgbClr val="C92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2940" y="1853830"/>
            <a:ext cx="1046738" cy="212027"/>
          </a:xfrm>
          <a:prstGeom prst="roundRect">
            <a:avLst>
              <a:gd name="adj" fmla="val 448786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1544" y="1915195"/>
            <a:ext cx="66526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01 / 03</a:t>
            </a:r>
            <a:endParaRPr lang="en-US" sz="619" dirty="0"/>
          </a:p>
        </p:txBody>
      </p:sp>
      <p:sp>
        <p:nvSpPr>
          <p:cNvPr id="7" name="Text 5"/>
          <p:cNvSpPr/>
          <p:nvPr/>
        </p:nvSpPr>
        <p:spPr>
          <a:xfrm>
            <a:off x="785813" y="191340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914" dirty="0"/>
          </a:p>
        </p:txBody>
      </p:sp>
      <p:sp>
        <p:nvSpPr>
          <p:cNvPr id="8" name="Text 6"/>
          <p:cNvSpPr/>
          <p:nvPr/>
        </p:nvSpPr>
        <p:spPr>
          <a:xfrm>
            <a:off x="685800" y="2297385"/>
            <a:ext cx="457200" cy="35719"/>
          </a:xfrm>
          <a:prstGeom prst="roundRect">
            <a:avLst>
              <a:gd name="adj" fmla="val 2639982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2504554"/>
            <a:ext cx="8056007" cy="44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81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заработка</a:t>
            </a:r>
            <a:endParaRPr lang="en-US" sz="3038" dirty="0"/>
          </a:p>
        </p:txBody>
      </p:sp>
      <p:sp>
        <p:nvSpPr>
          <p:cNvPr id="10" name="Text 8"/>
          <p:cNvSpPr/>
          <p:nvPr/>
        </p:nvSpPr>
        <p:spPr>
          <a:xfrm>
            <a:off x="685800" y="3063999"/>
            <a:ext cx="7672388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92A6A">
                    <a:alpha val="6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 / 40 / 20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>
                    <a:alpha val="6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и почему двадцатка амбассадора растёт сама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СПЛИТ КОМИССИИ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9359"/>
            <a:ext cx="862965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рубль комиссии точки делится на троих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14350" y="1115764"/>
            <a:ext cx="2581238" cy="1700213"/>
          </a:xfrm>
          <a:prstGeom prst="roundRect">
            <a:avLst>
              <a:gd name="adj" fmla="val 6723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1515" y="1290143"/>
            <a:ext cx="1018275" cy="212027"/>
          </a:xfrm>
          <a:prstGeom prst="roundRect">
            <a:avLst>
              <a:gd name="adj" fmla="val 4487860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1301502"/>
            <a:ext cx="9725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КОМПАНИИ LOVII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52688" y="13247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714375" y="1647974"/>
            <a:ext cx="2181188" cy="60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88"/>
              </a:lnSpc>
              <a:buNone/>
            </a:pPr>
            <a:r>
              <a:rPr lang="en-US" sz="4388" b="1" spc="-132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4388" dirty="0"/>
          </a:p>
        </p:txBody>
      </p:sp>
      <p:sp>
        <p:nvSpPr>
          <p:cNvPr id="9" name="Text 7"/>
          <p:cNvSpPr/>
          <p:nvPr/>
        </p:nvSpPr>
        <p:spPr>
          <a:xfrm>
            <a:off x="714375" y="2587377"/>
            <a:ext cx="2181188" cy="42863"/>
          </a:xfrm>
          <a:prstGeom prst="roundRect">
            <a:avLst>
              <a:gd name="adj" fmla="val 2199974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2587377"/>
            <a:ext cx="872430" cy="42863"/>
          </a:xfrm>
          <a:prstGeom prst="roundRect">
            <a:avLst>
              <a:gd name="adj" fmla="val 219997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67038" y="1115764"/>
            <a:ext cx="2581349" cy="1700213"/>
          </a:xfrm>
          <a:prstGeom prst="roundRect">
            <a:avLst>
              <a:gd name="adj" fmla="val 6723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44203" y="1290143"/>
            <a:ext cx="1448462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67063" y="1301502"/>
            <a:ext cx="140274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ПРЕДСТАВИТЕЛЮ РАЙОНА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05487" y="13247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3467063" y="1647974"/>
            <a:ext cx="2181299" cy="60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88"/>
              </a:lnSpc>
              <a:buNone/>
            </a:pPr>
            <a:r>
              <a:rPr lang="en-US" sz="4388" b="1" spc="-132" kern="0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4388" dirty="0"/>
          </a:p>
        </p:txBody>
      </p:sp>
      <p:sp>
        <p:nvSpPr>
          <p:cNvPr id="16" name="Text 14"/>
          <p:cNvSpPr/>
          <p:nvPr/>
        </p:nvSpPr>
        <p:spPr>
          <a:xfrm>
            <a:off x="3467063" y="2587377"/>
            <a:ext cx="2181299" cy="42863"/>
          </a:xfrm>
          <a:prstGeom prst="roundRect">
            <a:avLst>
              <a:gd name="adj" fmla="val 2199974"/>
            </a:avLst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67063" y="2587377"/>
            <a:ext cx="872430" cy="42863"/>
          </a:xfrm>
          <a:prstGeom prst="roundRect">
            <a:avLst>
              <a:gd name="adj" fmla="val 2199974"/>
            </a:avLst>
          </a:prstGeom>
          <a:solidFill>
            <a:srgbClr val="D4A8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26981" y="1122908"/>
            <a:ext cx="2595525" cy="1685925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4288">
            <a:solidFill>
              <a:srgbClr val="C92A6A"/>
            </a:solidFill>
            <a:prstDash val="solid"/>
          </a:ln>
          <a:effectLst>
            <a:outerShdw sx="100000" sy="100000" kx="0" ky="0" algn="bl" rotWithShape="0" blurRad="209550" dist="76200" dir="5400000">
              <a:srgbClr val="C92A6A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52092" y="1232993"/>
            <a:ext cx="570085" cy="212027"/>
          </a:xfrm>
          <a:prstGeom prst="roundRect">
            <a:avLst>
              <a:gd name="adj" fmla="val 4487860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87481" y="1244352"/>
            <a:ext cx="5278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ВЫ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1290" y="1304431"/>
            <a:ext cx="934001" cy="212027"/>
          </a:xfrm>
          <a:prstGeom prst="roundRect">
            <a:avLst>
              <a:gd name="adj" fmla="val 448786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34150" y="1315789"/>
            <a:ext cx="8882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АМБАССАДОРУ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34150" y="1662261"/>
            <a:ext cx="2181188" cy="60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88"/>
              </a:lnSpc>
              <a:buNone/>
            </a:pPr>
            <a:r>
              <a:rPr lang="en-US" sz="4388" b="1" spc="-132" kern="0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4388" dirty="0"/>
          </a:p>
        </p:txBody>
      </p:sp>
      <p:sp>
        <p:nvSpPr>
          <p:cNvPr id="24" name="Text 22"/>
          <p:cNvSpPr/>
          <p:nvPr/>
        </p:nvSpPr>
        <p:spPr>
          <a:xfrm>
            <a:off x="6234150" y="2573089"/>
            <a:ext cx="2181188" cy="42863"/>
          </a:xfrm>
          <a:prstGeom prst="roundRect">
            <a:avLst>
              <a:gd name="adj" fmla="val 2199974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34150" y="2573089"/>
            <a:ext cx="436215" cy="42863"/>
          </a:xfrm>
          <a:prstGeom prst="roundRect">
            <a:avLst>
              <a:gd name="adj" fmla="val 2199974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4350" y="3001714"/>
            <a:ext cx="8115300" cy="570384"/>
          </a:xfrm>
          <a:prstGeom prst="roundRect">
            <a:avLst>
              <a:gd name="adj" fmla="val 20039"/>
            </a:avLst>
          </a:prstGeom>
          <a:solidFill>
            <a:srgbClr val="C92A6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1513" y="32011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942975" y="3116014"/>
            <a:ext cx="7529513" cy="34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928" dirty="0">
                <a:solidFill>
                  <a:srgbClr val="1A1A1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получаете </a:t>
            </a:r>
            <a:pPr algn="l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1A1A1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20% с комиссии каждой подключённой вами точки</a:t>
            </a:r>
            <a:pPr algn="l" indent="0" marL="0">
              <a:lnSpc>
                <a:spcPts val="1346"/>
              </a:lnSpc>
              <a:buNone/>
            </a:pPr>
            <a:r>
              <a:rPr lang="en-US" sz="928" dirty="0">
                <a:solidFill>
                  <a:srgbClr val="1A1A1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ежемесячно, пока точка работает. </a:t>
            </a:r>
            <a:pPr algn="l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C92A6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Новая точка = новая строка в вашем доходе</a:t>
            </a:r>
            <a:endParaRPr lang="en-US" sz="928" dirty="0"/>
          </a:p>
        </p:txBody>
      </p:sp>
      <p:sp>
        <p:nvSpPr>
          <p:cNvPr id="29" name="Text 27"/>
          <p:cNvSpPr/>
          <p:nvPr/>
        </p:nvSpPr>
        <p:spPr>
          <a:xfrm>
            <a:off x="514350" y="369890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0707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85800" y="3686398"/>
            <a:ext cx="7943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7070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Комиссия точки — платёж бизнеса за сервис, не взнос жителя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ДВЕ РОЛИ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9359"/>
            <a:ext cx="8521065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32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Две роли — один район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517922" y="1090761"/>
            <a:ext cx="3950494" cy="3120479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659" y="1316932"/>
            <a:ext cx="1024637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1519" y="1328291"/>
            <a:ext cx="97891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50494" y="126578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83355" y="129864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721519" y="17872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950119" y="1772989"/>
            <a:ext cx="3314700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Подписка </a:t>
            </a:r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599 ₽/мес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(промо </a:t>
            </a:r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1A1A1A">
                    <a:alpha val="7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199 ₽</a:t>
            </a:r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72" dirty="0"/>
          </a:p>
        </p:txBody>
      </p:sp>
      <p:sp>
        <p:nvSpPr>
          <p:cNvPr id="11" name="Shape 9"/>
          <p:cNvSpPr/>
          <p:nvPr/>
        </p:nvSpPr>
        <p:spPr>
          <a:xfrm>
            <a:off x="721519" y="2029941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519" y="21406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950119" y="2126382"/>
            <a:ext cx="331470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Ведёт точки </a:t>
            </a:r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бизнес</a:t>
            </a:r>
            <a:endParaRPr lang="en-US" sz="872" dirty="0"/>
          </a:p>
        </p:txBody>
      </p:sp>
      <p:sp>
        <p:nvSpPr>
          <p:cNvPr id="14" name="Shape 12"/>
          <p:cNvSpPr/>
          <p:nvPr/>
        </p:nvSpPr>
        <p:spPr>
          <a:xfrm>
            <a:off x="721519" y="2383334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519" y="249406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950119" y="2479774"/>
            <a:ext cx="331470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</a:t>
            </a:r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40% комиссии</a:t>
            </a:r>
            <a:endParaRPr lang="en-US" sz="872" dirty="0"/>
          </a:p>
        </p:txBody>
      </p:sp>
      <p:sp>
        <p:nvSpPr>
          <p:cNvPr id="17" name="Shape 15"/>
          <p:cNvSpPr/>
          <p:nvPr/>
        </p:nvSpPr>
        <p:spPr>
          <a:xfrm>
            <a:off x="721519" y="2736726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1519" y="284745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950119" y="2833167"/>
            <a:ext cx="331470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 и стандарты</a:t>
            </a:r>
            <a:endParaRPr lang="en-US" sz="872" dirty="0"/>
          </a:p>
        </p:txBody>
      </p:sp>
      <p:sp>
        <p:nvSpPr>
          <p:cNvPr id="20" name="Text 18"/>
          <p:cNvSpPr/>
          <p:nvPr/>
        </p:nvSpPr>
        <p:spPr>
          <a:xfrm>
            <a:off x="4664869" y="1094333"/>
            <a:ext cx="3957638" cy="3113336"/>
          </a:xfrm>
          <a:prstGeom prst="roundRect">
            <a:avLst>
              <a:gd name="adj" fmla="val 3671"/>
            </a:avLst>
          </a:prstGeom>
          <a:solidFill>
            <a:srgbClr val="FFFFFF"/>
          </a:solidFill>
          <a:ln w="14288">
            <a:solidFill>
              <a:srgbClr val="C92A6A"/>
            </a:solidFill>
            <a:prstDash val="solid"/>
          </a:ln>
          <a:effectLst>
            <a:outerShdw sx="100000" sy="100000" kx="0" ky="0" algn="bl" rotWithShape="0" blurRad="209550" dist="76200" dir="5400000">
              <a:srgbClr val="C92A6A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49178" y="1324076"/>
            <a:ext cx="879864" cy="212027"/>
          </a:xfrm>
          <a:prstGeom prst="roundRect">
            <a:avLst>
              <a:gd name="adj" fmla="val 448786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72038" y="1335435"/>
            <a:ext cx="8341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АМБАССАДОР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01013" y="127292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33874" y="130578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688" dirty="0"/>
          </a:p>
        </p:txBody>
      </p:sp>
      <p:sp>
        <p:nvSpPr>
          <p:cNvPr id="25" name="Text 23"/>
          <p:cNvSpPr/>
          <p:nvPr/>
        </p:nvSpPr>
        <p:spPr>
          <a:xfrm>
            <a:off x="4872038" y="179442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406" dirty="0"/>
          </a:p>
        </p:txBody>
      </p:sp>
      <p:sp>
        <p:nvSpPr>
          <p:cNvPr id="26" name="Text 24"/>
          <p:cNvSpPr/>
          <p:nvPr/>
        </p:nvSpPr>
        <p:spPr>
          <a:xfrm>
            <a:off x="5100638" y="1780133"/>
            <a:ext cx="3314700" cy="17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подписки и взносов</a:t>
            </a:r>
            <a:endParaRPr lang="en-US" sz="872" dirty="0"/>
          </a:p>
        </p:txBody>
      </p:sp>
      <p:sp>
        <p:nvSpPr>
          <p:cNvPr id="27" name="Shape 25"/>
          <p:cNvSpPr/>
          <p:nvPr/>
        </p:nvSpPr>
        <p:spPr>
          <a:xfrm>
            <a:off x="4872038" y="2037085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2038" y="21478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5100638" y="2133526"/>
            <a:ext cx="331470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Сообщество, контент, охват</a:t>
            </a:r>
            <a:endParaRPr lang="en-US" sz="872" dirty="0"/>
          </a:p>
        </p:txBody>
      </p:sp>
      <p:sp>
        <p:nvSpPr>
          <p:cNvPr id="30" name="Shape 28"/>
          <p:cNvSpPr/>
          <p:nvPr/>
        </p:nvSpPr>
        <p:spPr>
          <a:xfrm>
            <a:off x="4872038" y="2390477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2038" y="250120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5100638" y="2486918"/>
            <a:ext cx="331470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</a:t>
            </a:r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C92A6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20% комиссии</a:t>
            </a:r>
            <a:endParaRPr lang="en-US" sz="872" dirty="0"/>
          </a:p>
        </p:txBody>
      </p:sp>
      <p:sp>
        <p:nvSpPr>
          <p:cNvPr id="33" name="Shape 31"/>
          <p:cNvSpPr/>
          <p:nvPr/>
        </p:nvSpPr>
        <p:spPr>
          <a:xfrm>
            <a:off x="4872038" y="2743870"/>
            <a:ext cx="3543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2038" y="285459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35" name="Text 33"/>
          <p:cNvSpPr/>
          <p:nvPr/>
        </p:nvSpPr>
        <p:spPr>
          <a:xfrm>
            <a:off x="5100638" y="2840310"/>
            <a:ext cx="331470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 за один день</a:t>
            </a:r>
            <a:endParaRPr lang="en-US" sz="872" dirty="0"/>
          </a:p>
        </p:txBody>
      </p:sp>
      <p:sp>
        <p:nvSpPr>
          <p:cNvPr id="36" name="Text 34"/>
          <p:cNvSpPr/>
          <p:nvPr/>
        </p:nvSpPr>
        <p:spPr>
          <a:xfrm>
            <a:off x="514350" y="4386263"/>
            <a:ext cx="8115300" cy="414338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14350" y="4389834"/>
            <a:ext cx="8115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26078" y="4386263"/>
            <a:ext cx="0" cy="414338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4350" y="4797028"/>
            <a:ext cx="81153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8638" y="4386263"/>
            <a:ext cx="0" cy="414338"/>
          </a:xfrm>
          <a:prstGeom prst="line">
            <a:avLst/>
          </a:prstGeom>
          <a:noFill/>
          <a:ln w="28575">
            <a:solidFill>
              <a:srgbClr val="C92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0088" y="45077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688" dirty="0"/>
          </a:p>
        </p:txBody>
      </p:sp>
      <p:sp>
        <p:nvSpPr>
          <p:cNvPr id="42" name="Text 40"/>
          <p:cNvSpPr/>
          <p:nvPr/>
        </p:nvSpPr>
        <p:spPr>
          <a:xfrm>
            <a:off x="971550" y="4510608"/>
            <a:ext cx="7493794" cy="168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Можно начать амбассадором, собрать первые точки и вырасти в представителя —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C92A6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ваша наработка остаётся с вами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0938" y="-1214437"/>
            <a:ext cx="2714625" cy="2714625"/>
          </a:xfrm>
          <a:prstGeom prst="roundRect">
            <a:avLst>
              <a:gd name="adj" fmla="val 350526"/>
            </a:avLst>
          </a:prstGeom>
          <a:solidFill>
            <a:srgbClr val="C92A6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86360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это в рублях — </a:t>
            </a:r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расчётно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57200" y="1196578"/>
            <a:ext cx="3071813" cy="940296"/>
          </a:xfrm>
          <a:prstGeom prst="roundRect">
            <a:avLst>
              <a:gd name="adj" fmla="val 12156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1382316"/>
            <a:ext cx="2700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БАЗА РАСЧЁТА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2938" y="1585913"/>
            <a:ext cx="2700338" cy="36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Комиссия точки ≈ </a:t>
            </a:r>
            <a:pPr algn="l" indent="0" marL="0">
              <a:lnSpc>
                <a:spcPts val="1439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3 970 ₽/мес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амбассадору идёт </a:t>
            </a:r>
            <a:pPr algn="l" indent="0" marL="0">
              <a:lnSpc>
                <a:spcPts val="1439"/>
              </a:lnSpc>
              <a:buNone/>
            </a:pPr>
            <a:r>
              <a:rPr lang="en-US" sz="872" b="1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pPr algn="l" indent="0" marL="0">
              <a:lnSpc>
                <a:spcPts val="1439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половина доли представителя (40%)</a:t>
            </a:r>
            <a:endParaRPr lang="en-US" sz="872" dirty="0"/>
          </a:p>
        </p:txBody>
      </p:sp>
      <p:sp>
        <p:nvSpPr>
          <p:cNvPr id="8" name="Text 6"/>
          <p:cNvSpPr/>
          <p:nvPr/>
        </p:nvSpPr>
        <p:spPr>
          <a:xfrm>
            <a:off x="457200" y="2294037"/>
            <a:ext cx="3071813" cy="777106"/>
          </a:xfrm>
          <a:prstGeom prst="roundRect">
            <a:avLst>
              <a:gd name="adj" fmla="val 14708"/>
            </a:avLst>
          </a:prstGeom>
          <a:solidFill>
            <a:srgbClr val="C92A6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4363" y="245119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85825" y="2451199"/>
            <a:ext cx="2486025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1A1A1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Расчётные значения при средней активности точек. </a:t>
            </a:r>
            <a:pPr algn="l" indent="0" marL="0">
              <a:lnSpc>
                <a:spcPts val="1215"/>
              </a:lnSpc>
              <a:buNone/>
            </a:pPr>
            <a:r>
              <a:rPr lang="en-US" sz="800" b="1" dirty="0">
                <a:solidFill>
                  <a:srgbClr val="C92A6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является гарантией доходности.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1A1A1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Доход зависит от оборота подключённых точек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86188" y="1196578"/>
            <a:ext cx="4900613" cy="1101254"/>
          </a:xfrm>
          <a:prstGeom prst="roundRect">
            <a:avLst>
              <a:gd name="adj" fmla="val 10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786188" y="1200150"/>
            <a:ext cx="4900613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3228" y="1196578"/>
            <a:ext cx="0" cy="1101254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86188" y="2294260"/>
            <a:ext cx="4900613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7619" y="1196578"/>
            <a:ext cx="0" cy="1101254"/>
          </a:xfrm>
          <a:prstGeom prst="line">
            <a:avLst/>
          </a:prstGeom>
          <a:noFill/>
          <a:ln w="42863">
            <a:solidFill>
              <a:srgbClr val="C92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1927" y="1635191"/>
            <a:ext cx="817245" cy="224028"/>
          </a:xfrm>
          <a:prstGeom prst="roundRect">
            <a:avLst>
              <a:gd name="adj" fmla="val 4247449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14788" y="1647192"/>
            <a:ext cx="771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ТОЧКА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14900" y="166862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A9A9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200650" y="1532892"/>
            <a:ext cx="1655719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spc="-45" kern="0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1 985 ₽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415646" y="1740061"/>
            <a:ext cx="3345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/мес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39794" y="1674875"/>
            <a:ext cx="8541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вашей доли (20%)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86188" y="2412132"/>
            <a:ext cx="4900613" cy="1101365"/>
          </a:xfrm>
          <a:prstGeom prst="roundRect">
            <a:avLst>
              <a:gd name="adj" fmla="val 103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786188" y="2415704"/>
            <a:ext cx="4900613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3228" y="2412132"/>
            <a:ext cx="0" cy="1101365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86188" y="3509925"/>
            <a:ext cx="4900613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21906" y="2412132"/>
            <a:ext cx="0" cy="1101365"/>
          </a:xfrm>
          <a:prstGeom prst="line">
            <a:avLst/>
          </a:prstGeom>
          <a:noFill/>
          <a:ln w="71438">
            <a:solidFill>
              <a:srgbClr val="C92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0502" y="2850745"/>
            <a:ext cx="817245" cy="224028"/>
          </a:xfrm>
          <a:prstGeom prst="roundRect">
            <a:avLst>
              <a:gd name="adj" fmla="val 4247449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43363" y="2862746"/>
            <a:ext cx="771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ТОЧЕК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43475" y="288417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A9A9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5174344" y="2694868"/>
            <a:ext cx="2164985" cy="57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19"/>
              </a:lnSpc>
              <a:buNone/>
            </a:pPr>
            <a:r>
              <a:rPr lang="en-US" sz="2813" b="1" spc="-56" kern="0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19 850 ₽</a:t>
            </a:r>
            <a:endParaRPr lang="en-US" sz="2813" dirty="0"/>
          </a:p>
        </p:txBody>
      </p:sp>
      <p:sp>
        <p:nvSpPr>
          <p:cNvPr id="31" name="Text 29"/>
          <p:cNvSpPr/>
          <p:nvPr/>
        </p:nvSpPr>
        <p:spPr>
          <a:xfrm>
            <a:off x="6930554" y="2973474"/>
            <a:ext cx="3345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/мес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86188" y="3627797"/>
            <a:ext cx="4900613" cy="1115653"/>
          </a:xfrm>
          <a:prstGeom prst="roundRect">
            <a:avLst>
              <a:gd name="adj" fmla="val 102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57150" dir="5400000">
              <a:srgbClr val="C92A6A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786188" y="3634941"/>
            <a:ext cx="4900613" cy="0"/>
          </a:xfrm>
          <a:prstGeom prst="line">
            <a:avLst/>
          </a:prstGeom>
          <a:noFill/>
          <a:ln w="14288">
            <a:solidFill>
              <a:srgbClr val="C92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79656" y="3627797"/>
            <a:ext cx="0" cy="1115653"/>
          </a:xfrm>
          <a:prstGeom prst="line">
            <a:avLst/>
          </a:prstGeom>
          <a:noFill/>
          <a:ln w="14288">
            <a:solidFill>
              <a:srgbClr val="C92A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86188" y="4736306"/>
            <a:ext cx="4900613" cy="0"/>
          </a:xfrm>
          <a:prstGeom prst="line">
            <a:avLst/>
          </a:prstGeom>
          <a:noFill/>
          <a:ln w="14288">
            <a:solidFill>
              <a:srgbClr val="C92A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36194" y="3627797"/>
            <a:ext cx="0" cy="1115653"/>
          </a:xfrm>
          <a:prstGeom prst="line">
            <a:avLst/>
          </a:prstGeom>
          <a:noFill/>
          <a:ln w="100013">
            <a:solidFill>
              <a:srgbClr val="C92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49077" y="4073554"/>
            <a:ext cx="817245" cy="224028"/>
          </a:xfrm>
          <a:prstGeom prst="roundRect">
            <a:avLst>
              <a:gd name="adj" fmla="val 4247449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071938" y="4085555"/>
            <a:ext cx="771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ТОЧЕК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72050" y="410698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A9A9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5193594" y="3860527"/>
            <a:ext cx="2511382" cy="67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94"/>
              </a:lnSpc>
              <a:buNone/>
            </a:pPr>
            <a:r>
              <a:rPr lang="en-US" sz="3263" b="1" spc="-65" kern="0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59 500 ₽</a:t>
            </a:r>
            <a:endParaRPr lang="en-US" sz="3263" dirty="0"/>
          </a:p>
        </p:txBody>
      </p:sp>
      <p:sp>
        <p:nvSpPr>
          <p:cNvPr id="41" name="Text 39"/>
          <p:cNvSpPr/>
          <p:nvPr/>
        </p:nvSpPr>
        <p:spPr>
          <a:xfrm>
            <a:off x="7221327" y="4210571"/>
            <a:ext cx="29064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/мес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11006" y="4008460"/>
            <a:ext cx="998629" cy="354216"/>
          </a:xfrm>
          <a:prstGeom prst="roundRect">
            <a:avLst>
              <a:gd name="adj" fmla="val 2686348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533866" y="4021262"/>
            <a:ext cx="95290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УРОВЕНЬ МЭРА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00125" y="3571875"/>
            <a:ext cx="2857500" cy="2857500"/>
          </a:xfrm>
          <a:prstGeom prst="roundRect">
            <a:avLst>
              <a:gd name="adj" fmla="val 333000"/>
            </a:avLst>
          </a:prstGeom>
          <a:solidFill>
            <a:srgbClr val="C92A6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ЧАСТЫЙ ВОПРОС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86360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8A8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«Это же МЛМ?»</a:t>
            </a:r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нет.</a:t>
            </a:r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Вот почему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60772" y="1473398"/>
            <a:ext cx="8222456" cy="664369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081" y="1684139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3120" y="1707178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6E6E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336" dirty="0"/>
          </a:p>
        </p:txBody>
      </p:sp>
      <p:sp>
        <p:nvSpPr>
          <p:cNvPr id="8" name="Text 6"/>
          <p:cNvSpPr/>
          <p:nvPr/>
        </p:nvSpPr>
        <p:spPr>
          <a:xfrm>
            <a:off x="978694" y="1738275"/>
            <a:ext cx="1728788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strike="sngStrike" dirty="0">
                <a:solidFill>
                  <a:srgbClr val="6E6E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рекрутинг и «сети»</a:t>
            </a:r>
            <a:endParaRPr lang="en-US" sz="816" dirty="0"/>
          </a:p>
        </p:txBody>
      </p:sp>
      <p:sp>
        <p:nvSpPr>
          <p:cNvPr id="9" name="Text 7"/>
          <p:cNvSpPr/>
          <p:nvPr/>
        </p:nvSpPr>
        <p:spPr>
          <a:xfrm>
            <a:off x="2850356" y="1619845"/>
            <a:ext cx="7144" cy="371475"/>
          </a:xfrm>
          <a:prstGeom prst="rect">
            <a:avLst/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43238" y="1684139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66276" y="1707178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2" name="Text 10"/>
          <p:cNvSpPr/>
          <p:nvPr/>
        </p:nvSpPr>
        <p:spPr>
          <a:xfrm>
            <a:off x="3386138" y="1722537"/>
            <a:ext cx="5107781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сети LOVII только два уровня: компания → партнёр. Нет рекрутинга и «сетей»</a:t>
            </a:r>
            <a:endParaRPr lang="en-US" sz="872" dirty="0"/>
          </a:p>
        </p:txBody>
      </p:sp>
      <p:sp>
        <p:nvSpPr>
          <p:cNvPr id="13" name="Text 11"/>
          <p:cNvSpPr/>
          <p:nvPr/>
        </p:nvSpPr>
        <p:spPr>
          <a:xfrm>
            <a:off x="460772" y="2259211"/>
            <a:ext cx="8222456" cy="664369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081" y="2469952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3120" y="249299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6E6E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336" dirty="0"/>
          </a:p>
        </p:txBody>
      </p:sp>
      <p:sp>
        <p:nvSpPr>
          <p:cNvPr id="16" name="Text 14"/>
          <p:cNvSpPr/>
          <p:nvPr/>
        </p:nvSpPr>
        <p:spPr>
          <a:xfrm>
            <a:off x="978694" y="2524088"/>
            <a:ext cx="1728788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strike="sngStrike" dirty="0">
                <a:solidFill>
                  <a:srgbClr val="6E6E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процент с чужих продаж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2850356" y="2405658"/>
            <a:ext cx="7144" cy="371475"/>
          </a:xfrm>
          <a:prstGeom prst="rect">
            <a:avLst/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43238" y="2469952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66276" y="249299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20" name="Text 18"/>
          <p:cNvSpPr/>
          <p:nvPr/>
        </p:nvSpPr>
        <p:spPr>
          <a:xfrm>
            <a:off x="3386138" y="2508349"/>
            <a:ext cx="5107781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Ранги Мэр и Губернатор дают привилегии, а не процент с чужих продаж</a:t>
            </a:r>
            <a:endParaRPr lang="en-US" sz="872" dirty="0"/>
          </a:p>
        </p:txBody>
      </p:sp>
      <p:sp>
        <p:nvSpPr>
          <p:cNvPr id="21" name="Text 19"/>
          <p:cNvSpPr/>
          <p:nvPr/>
        </p:nvSpPr>
        <p:spPr>
          <a:xfrm>
            <a:off x="460772" y="3045023"/>
            <a:ext cx="8222456" cy="664369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081" y="3255764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3120" y="3278803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6E6E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336" dirty="0"/>
          </a:p>
        </p:txBody>
      </p:sp>
      <p:sp>
        <p:nvSpPr>
          <p:cNvPr id="24" name="Text 22"/>
          <p:cNvSpPr/>
          <p:nvPr/>
        </p:nvSpPr>
        <p:spPr>
          <a:xfrm>
            <a:off x="978694" y="3309900"/>
            <a:ext cx="1728788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b="1" strike="sngStrike" dirty="0">
                <a:solidFill>
                  <a:srgbClr val="6E6E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взносы участников</a:t>
            </a:r>
            <a:endParaRPr lang="en-US" sz="816" dirty="0"/>
          </a:p>
        </p:txBody>
      </p:sp>
      <p:sp>
        <p:nvSpPr>
          <p:cNvPr id="25" name="Text 23"/>
          <p:cNvSpPr/>
          <p:nvPr/>
        </p:nvSpPr>
        <p:spPr>
          <a:xfrm>
            <a:off x="2850356" y="3191470"/>
            <a:ext cx="7144" cy="371475"/>
          </a:xfrm>
          <a:prstGeom prst="rect">
            <a:avLst/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43238" y="3255764"/>
            <a:ext cx="242888" cy="242888"/>
          </a:xfrm>
          <a:prstGeom prst="roundRect">
            <a:avLst>
              <a:gd name="adj" fmla="val 3917639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6276" y="3278803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28" name="Text 26"/>
          <p:cNvSpPr/>
          <p:nvPr/>
        </p:nvSpPr>
        <p:spPr>
          <a:xfrm>
            <a:off x="3386138" y="3294162"/>
            <a:ext cx="5107781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Доход идёт только с реального оборота реальных магазинов — не со взносов участников</a:t>
            </a:r>
            <a:endParaRPr lang="en-US" sz="872" dirty="0"/>
          </a:p>
        </p:txBody>
      </p:sp>
      <p:sp>
        <p:nvSpPr>
          <p:cNvPr id="29" name="Text 27"/>
          <p:cNvSpPr/>
          <p:nvPr/>
        </p:nvSpPr>
        <p:spPr>
          <a:xfrm>
            <a:off x="457200" y="4157663"/>
            <a:ext cx="8229600" cy="585788"/>
          </a:xfrm>
          <a:prstGeom prst="roundRect">
            <a:avLst>
              <a:gd name="adj" fmla="val 19512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2938" y="4286250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A1A1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2943" y="43262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1085850" y="4365054"/>
            <a:ext cx="7415213" cy="18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Деньги в системе зарабатывает </a:t>
            </a:r>
            <a:pPr algn="l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 на кассе</a:t>
            </a:r>
            <a:pPr algn="l" indent="0" marL="0">
              <a:lnSpc>
                <a:spcPts val="1346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мы лишь честно делим комиссию сервиса</a:t>
            </a:r>
            <a:endParaRPr lang="en-US" sz="92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9494" y="1298734"/>
            <a:ext cx="4274506" cy="25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3"/>
              </a:lnSpc>
              <a:buNone/>
            </a:pPr>
            <a:r>
              <a:rPr lang="en-US" sz="18563" b="1" spc="-742" kern="0" dirty="0">
                <a:solidFill>
                  <a:srgbClr val="0ABAB5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563" dirty="0"/>
          </a:p>
        </p:txBody>
      </p:sp>
      <p:sp>
        <p:nvSpPr>
          <p:cNvPr id="3" name="Text 1"/>
          <p:cNvSpPr/>
          <p:nvPr/>
        </p:nvSpPr>
        <p:spPr>
          <a:xfrm>
            <a:off x="7215188" y="3357563"/>
            <a:ext cx="3000375" cy="3000375"/>
          </a:xfrm>
          <a:prstGeom prst="roundRect">
            <a:avLst>
              <a:gd name="adj" fmla="val 317143"/>
            </a:avLst>
          </a:prstGeom>
          <a:solidFill>
            <a:srgbClr val="0ABAB5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928687" y="-1071562"/>
            <a:ext cx="2357438" cy="2357438"/>
          </a:xfrm>
          <a:prstGeom prst="roundRect">
            <a:avLst>
              <a:gd name="adj" fmla="val 403636"/>
            </a:avLst>
          </a:prstGeom>
          <a:solidFill>
            <a:srgbClr val="0ABAB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2940" y="1372073"/>
            <a:ext cx="911007" cy="212027"/>
          </a:xfrm>
          <a:prstGeom prst="roundRect">
            <a:avLst>
              <a:gd name="adj" fmla="val 4487860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383432"/>
            <a:ext cx="8652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7807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02 / 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758479"/>
            <a:ext cx="4560570" cy="499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3375" b="1" spc="-67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это работает</a:t>
            </a:r>
            <a:endParaRPr lang="en-US" sz="3375" dirty="0"/>
          </a:p>
        </p:txBody>
      </p:sp>
      <p:sp>
        <p:nvSpPr>
          <p:cNvPr id="8" name="Text 6"/>
          <p:cNvSpPr/>
          <p:nvPr/>
        </p:nvSpPr>
        <p:spPr>
          <a:xfrm>
            <a:off x="685800" y="2392821"/>
            <a:ext cx="457200" cy="42863"/>
          </a:xfrm>
          <a:prstGeom prst="roundRect">
            <a:avLst>
              <a:gd name="adj" fmla="val 22199741"/>
            </a:avLst>
          </a:prstGeom>
          <a:solidFill>
            <a:srgbClr val="0ABA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2578559"/>
            <a:ext cx="400050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1A1A1A">
                    <a:alpha val="6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знакомства до первых подключённых точек — за две недели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689372" y="3317044"/>
            <a:ext cx="1325389" cy="43934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8669" y="3450989"/>
            <a:ext cx="166762" cy="171450"/>
          </a:xfrm>
          <a:prstGeom prst="roundRect">
            <a:avLst>
              <a:gd name="adj" fmla="val 5706021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8669" y="3450989"/>
            <a:ext cx="2024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16868" y="3392053"/>
            <a:ext cx="86573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шагов старта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7629" y="3317044"/>
            <a:ext cx="1734592" cy="43934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96926" y="3450989"/>
            <a:ext cx="166874" cy="171450"/>
          </a:xfrm>
          <a:prstGeom prst="roundRect">
            <a:avLst>
              <a:gd name="adj" fmla="val 5702191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96926" y="3450989"/>
            <a:ext cx="2025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35237" y="3392053"/>
            <a:ext cx="12748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Инструменты амбассадора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5090" y="3317044"/>
            <a:ext cx="1090538" cy="43934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24387" y="3450989"/>
            <a:ext cx="166762" cy="171450"/>
          </a:xfrm>
          <a:prstGeom prst="roundRect">
            <a:avLst>
              <a:gd name="adj" fmla="val 5706021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24387" y="3450989"/>
            <a:ext cx="2024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62586" y="3392053"/>
            <a:ext cx="63088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Уровни роста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75072"/>
            <a:ext cx="86360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шагов до </a:t>
            </a:r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первой комиссии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600075" y="1282303"/>
            <a:ext cx="14288" cy="3361134"/>
          </a:xfrm>
          <a:prstGeom prst="rect">
            <a:avLst/>
          </a:prstGeom>
          <a:solidFill>
            <a:srgbClr val="C92A6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210866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210866"/>
            <a:ext cx="3643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5825" y="1210866"/>
            <a:ext cx="3228374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Знакомство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885825" y="1421606"/>
            <a:ext cx="2754585" cy="162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проходите демо, получаете промо-кит и гайд по промтам</a:t>
            </a:r>
            <a:endParaRPr lang="en-US" sz="816" dirty="0"/>
          </a:p>
        </p:txBody>
      </p:sp>
      <p:sp>
        <p:nvSpPr>
          <p:cNvPr id="9" name="Text 7"/>
          <p:cNvSpPr/>
          <p:nvPr/>
        </p:nvSpPr>
        <p:spPr>
          <a:xfrm>
            <a:off x="457200" y="1996678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996678"/>
            <a:ext cx="3643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5825" y="1996678"/>
            <a:ext cx="5876359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Район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885825" y="2207419"/>
            <a:ext cx="3719215" cy="162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выбираете район, закрепляем за вами (регионы — кто первый, того и район)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457200" y="2782491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782491"/>
            <a:ext cx="3643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5825" y="2782491"/>
            <a:ext cx="3995785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885825" y="2993231"/>
            <a:ext cx="3121707" cy="162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скрипты разговора с бизнесом, стандарты бренда, стоп-правила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457200" y="3568192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3568192"/>
            <a:ext cx="3643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5825" y="3568192"/>
            <a:ext cx="4050667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Точки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885825" y="3778932"/>
            <a:ext cx="2768810" cy="162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первые подключения: QR-стикер на кассе за 5 минут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457200" y="4354004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4354004"/>
            <a:ext cx="3643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5825" y="4354004"/>
            <a:ext cx="3360992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Жители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885825" y="4564745"/>
            <a:ext cx="2625775" cy="162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 в районных чатах: где копить и тратить баллы</a:t>
            </a:r>
            <a:endParaRPr lang="en-US" sz="816" dirty="0"/>
          </a:p>
        </p:txBody>
      </p:sp>
      <p:sp>
        <p:nvSpPr>
          <p:cNvPr id="25" name="Text 23"/>
          <p:cNvSpPr/>
          <p:nvPr/>
        </p:nvSpPr>
        <p:spPr>
          <a:xfrm>
            <a:off x="7521397" y="925116"/>
            <a:ext cx="1622603" cy="1620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813" b="1" dirty="0">
                <a:solidFill>
                  <a:srgbClr val="C92A6A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1813" dirty="0"/>
          </a:p>
        </p:txBody>
      </p:sp>
      <p:sp>
        <p:nvSpPr>
          <p:cNvPr id="26" name="Text 24"/>
          <p:cNvSpPr/>
          <p:nvPr/>
        </p:nvSpPr>
        <p:spPr>
          <a:xfrm>
            <a:off x="5857875" y="1553766"/>
            <a:ext cx="2828925" cy="2018556"/>
          </a:xfrm>
          <a:prstGeom prst="roundRect">
            <a:avLst>
              <a:gd name="adj" fmla="val 5662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57900" y="1753791"/>
            <a:ext cx="385763" cy="385763"/>
          </a:xfrm>
          <a:prstGeom prst="roundRect">
            <a:avLst>
              <a:gd name="adj" fmla="val 34568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05763" y="1801654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9" name="Text 27"/>
          <p:cNvSpPr/>
          <p:nvPr/>
        </p:nvSpPr>
        <p:spPr>
          <a:xfrm>
            <a:off x="6057900" y="2268141"/>
            <a:ext cx="242887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Куратор — на каждом шаге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6057900" y="2543175"/>
            <a:ext cx="2428875" cy="53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демо до первых жителей: подскажем с районом и материалами, поможем подготовиться к встрече и подключить первые точки</a:t>
            </a:r>
            <a:endParaRPr lang="en-US" sz="816" dirty="0"/>
          </a:p>
        </p:txBody>
      </p:sp>
      <p:sp>
        <p:nvSpPr>
          <p:cNvPr id="31" name="Text 29"/>
          <p:cNvSpPr/>
          <p:nvPr/>
        </p:nvSpPr>
        <p:spPr>
          <a:xfrm>
            <a:off x="6035040" y="3171629"/>
            <a:ext cx="1190952" cy="212027"/>
          </a:xfrm>
          <a:prstGeom prst="roundRect">
            <a:avLst>
              <a:gd name="adj" fmla="val 448786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57900" y="3182987"/>
            <a:ext cx="11452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УЖЕ ОТКРЫТО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0" y="-1143000"/>
            <a:ext cx="2857500" cy="2857500"/>
          </a:xfrm>
          <a:prstGeom prst="roundRect">
            <a:avLst>
              <a:gd name="adj" fmla="val 333000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 АРСЕНАЛ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86360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Всё уже готово — вам остаётся </a:t>
            </a:r>
            <a:pPr algn="l" indent="0" marL="0">
              <a:lnSpc>
                <a:spcPts val="3206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говорить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60772" y="1185863"/>
            <a:ext cx="4043363" cy="1444823"/>
          </a:xfrm>
          <a:prstGeom prst="roundRect">
            <a:avLst>
              <a:gd name="adj" fmla="val 7911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081" y="1360884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1159" y="141196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828" dirty="0"/>
          </a:p>
        </p:txBody>
      </p:sp>
      <p:sp>
        <p:nvSpPr>
          <p:cNvPr id="8" name="Text 6"/>
          <p:cNvSpPr/>
          <p:nvPr/>
        </p:nvSpPr>
        <p:spPr>
          <a:xfrm>
            <a:off x="1150144" y="1360884"/>
            <a:ext cx="187209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Промо-кит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150144" y="1610916"/>
            <a:ext cx="1579577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макеты, баннеры, стикеры QR</a:t>
            </a:r>
            <a:endParaRPr lang="en-US" sz="816" dirty="0"/>
          </a:p>
        </p:txBody>
      </p:sp>
      <p:sp>
        <p:nvSpPr>
          <p:cNvPr id="10" name="Text 8"/>
          <p:cNvSpPr/>
          <p:nvPr/>
        </p:nvSpPr>
        <p:spPr>
          <a:xfrm>
            <a:off x="4639866" y="1185863"/>
            <a:ext cx="4043363" cy="1444823"/>
          </a:xfrm>
          <a:prstGeom prst="roundRect">
            <a:avLst>
              <a:gd name="adj" fmla="val 7911"/>
            </a:avLst>
          </a:prstGeom>
          <a:solidFill>
            <a:srgbClr val="C92A6A">
              <a:alpha val="6000"/>
            </a:srgbClr>
          </a:solidFill>
          <a:ln w="7144">
            <a:solidFill>
              <a:srgbClr val="C92A6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1360884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80253" y="141196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3" name="Text 11"/>
          <p:cNvSpPr/>
          <p:nvPr/>
        </p:nvSpPr>
        <p:spPr>
          <a:xfrm>
            <a:off x="5329238" y="1360884"/>
            <a:ext cx="136108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Гайд по промтам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6489539" y="1351312"/>
            <a:ext cx="836712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89539" y="1362670"/>
            <a:ext cx="83671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КОМПЛЕКТЕ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29238" y="1610916"/>
            <a:ext cx="2691966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 слайд по созданию визуалов LOVII, уже скачан вами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460772" y="2766417"/>
            <a:ext cx="4043363" cy="1444823"/>
          </a:xfrm>
          <a:prstGeom prst="roundRect">
            <a:avLst>
              <a:gd name="adj" fmla="val 7911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0081" y="294143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1159" y="299251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828" dirty="0"/>
          </a:p>
        </p:txBody>
      </p:sp>
      <p:sp>
        <p:nvSpPr>
          <p:cNvPr id="20" name="Text 18"/>
          <p:cNvSpPr/>
          <p:nvPr/>
        </p:nvSpPr>
        <p:spPr>
          <a:xfrm>
            <a:off x="1150144" y="2941439"/>
            <a:ext cx="256803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Скрипты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1150144" y="3191470"/>
            <a:ext cx="2166780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говорить владельцу кофейни и рынка</a:t>
            </a:r>
            <a:endParaRPr lang="en-US" sz="816" dirty="0"/>
          </a:p>
        </p:txBody>
      </p:sp>
      <p:sp>
        <p:nvSpPr>
          <p:cNvPr id="22" name="Text 20"/>
          <p:cNvSpPr/>
          <p:nvPr/>
        </p:nvSpPr>
        <p:spPr>
          <a:xfrm>
            <a:off x="4639866" y="2766417"/>
            <a:ext cx="4043363" cy="1444823"/>
          </a:xfrm>
          <a:prstGeom prst="roundRect">
            <a:avLst>
              <a:gd name="adj" fmla="val 7911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9175" y="294143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80253" y="299251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828" dirty="0"/>
          </a:p>
        </p:txBody>
      </p:sp>
      <p:sp>
        <p:nvSpPr>
          <p:cNvPr id="25" name="Text 23"/>
          <p:cNvSpPr/>
          <p:nvPr/>
        </p:nvSpPr>
        <p:spPr>
          <a:xfrm>
            <a:off x="5329238" y="2941439"/>
            <a:ext cx="230871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Комьюнити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5329238" y="3191470"/>
            <a:ext cx="1947980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чат амбассадоров и куратор на связи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457200" y="4357688"/>
            <a:ext cx="8229600" cy="385763"/>
          </a:xfrm>
          <a:prstGeom prst="roundRect">
            <a:avLst>
              <a:gd name="adj" fmla="val 29630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8650" y="44648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900113" y="4470202"/>
            <a:ext cx="7615238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материалы серии — для инвесторов и клиентов — вы получаете первыми</a:t>
            </a:r>
            <a:endParaRPr lang="en-US" sz="8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РОСТ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3647"/>
            <a:ext cx="4568875" cy="31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spc="-2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Представитель Мэр Губернатор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2243138"/>
            <a:ext cx="2633588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2264569"/>
            <a:ext cx="2633588" cy="0"/>
          </a:xfrm>
          <a:prstGeom prst="line">
            <a:avLst/>
          </a:prstGeom>
          <a:noFill/>
          <a:ln w="42863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87216" y="2243138"/>
            <a:ext cx="0" cy="200025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239816"/>
            <a:ext cx="2633588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772" y="2243138"/>
            <a:ext cx="0" cy="200025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794" y="2443163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5799" y="248316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E6E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635794" y="2886075"/>
            <a:ext cx="2276401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Представитель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635794" y="3178969"/>
            <a:ext cx="2386129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 роли, своя точка влияния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3262238" y="1680567"/>
            <a:ext cx="2633700" cy="256282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62238" y="1701998"/>
            <a:ext cx="2633700" cy="0"/>
          </a:xfrm>
          <a:prstGeom prst="line">
            <a:avLst/>
          </a:prstGeom>
          <a:noFill/>
          <a:ln w="42863">
            <a:solidFill>
              <a:srgbClr val="D4A8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2366" y="1680567"/>
            <a:ext cx="0" cy="256282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2238" y="4239816"/>
            <a:ext cx="263370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5810" y="1680567"/>
            <a:ext cx="0" cy="256282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0832" y="1880592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0837" y="192059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3440832" y="2323505"/>
            <a:ext cx="2276512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Мэр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3440832" y="2630686"/>
            <a:ext cx="2276512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30+</a:t>
            </a:r>
            <a:endParaRPr lang="en-US" sz="2363" dirty="0"/>
          </a:p>
        </p:txBody>
      </p:sp>
      <p:sp>
        <p:nvSpPr>
          <p:cNvPr id="22" name="Text 20"/>
          <p:cNvSpPr/>
          <p:nvPr/>
        </p:nvSpPr>
        <p:spPr>
          <a:xfrm>
            <a:off x="3440832" y="2973586"/>
            <a:ext cx="2386240" cy="160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подключённых точек в районе: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40832" y="3161109"/>
            <a:ext cx="238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приоритет на ивенты, мерч, статус в чатах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7388" y="1117997"/>
            <a:ext cx="2619412" cy="3125391"/>
          </a:xfrm>
          <a:prstGeom prst="roundRect">
            <a:avLst>
              <a:gd name="adj" fmla="val 4364"/>
            </a:avLst>
          </a:prstGeom>
          <a:solidFill>
            <a:srgbClr val="C92A6A"/>
          </a:solidFill>
          <a:ln/>
          <a:effectLst>
            <a:outerShdw sx="100000" sy="100000" kx="0" ky="0" algn="bl" rotWithShape="0" blurRad="247650" dist="95250" dir="5400000">
              <a:srgbClr val="C92A6A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67388" y="1139428"/>
            <a:ext cx="2619412" cy="0"/>
          </a:xfrm>
          <a:prstGeom prst="line">
            <a:avLst/>
          </a:prstGeom>
          <a:noFill/>
          <a:ln w="42863">
            <a:solidFill>
              <a:srgbClr val="F6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8838" y="1318022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78843" y="135802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6238838" y="1760934"/>
            <a:ext cx="2276512" cy="26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Губернатор</a:t>
            </a:r>
            <a:endParaRPr lang="en-US" sz="1294" dirty="0"/>
          </a:p>
        </p:txBody>
      </p:sp>
      <p:sp>
        <p:nvSpPr>
          <p:cNvPr id="29" name="Text 27"/>
          <p:cNvSpPr/>
          <p:nvPr/>
        </p:nvSpPr>
        <p:spPr>
          <a:xfrm>
            <a:off x="6238838" y="2078831"/>
            <a:ext cx="2276512" cy="358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3+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6238838" y="2464594"/>
            <a:ext cx="2276512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города: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38838" y="2652117"/>
            <a:ext cx="238624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стратегический партнёр, голос в роадмапе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386263"/>
            <a:ext cx="8229600" cy="385763"/>
          </a:xfrm>
          <a:prstGeom prst="roundRect">
            <a:avLst>
              <a:gd name="adj" fmla="val 29630"/>
            </a:avLst>
          </a:prstGeom>
          <a:solidFill>
            <a:srgbClr val="C92A6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315133" y="44934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2572308" y="4496098"/>
            <a:ext cx="5943042" cy="168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Ранг открывает привилегии — но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никогда не платит процент с чужих продаж</a:t>
            </a:r>
            <a:endParaRPr lang="en-US" sz="87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9494" y="1393031"/>
            <a:ext cx="4274506" cy="25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3"/>
              </a:lnSpc>
              <a:buNone/>
            </a:pPr>
            <a:r>
              <a:rPr lang="en-US" sz="18563" b="1" spc="-742" kern="0" dirty="0">
                <a:solidFill>
                  <a:srgbClr val="D4A854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563" dirty="0"/>
          </a:p>
        </p:txBody>
      </p:sp>
      <p:sp>
        <p:nvSpPr>
          <p:cNvPr id="3" name="Text 1"/>
          <p:cNvSpPr/>
          <p:nvPr/>
        </p:nvSpPr>
        <p:spPr>
          <a:xfrm>
            <a:off x="-1071562" y="-1214437"/>
            <a:ext cx="2857500" cy="2857500"/>
          </a:xfrm>
          <a:prstGeom prst="roundRect">
            <a:avLst>
              <a:gd name="adj" fmla="val 333000"/>
            </a:avLst>
          </a:prstGeom>
          <a:solidFill>
            <a:srgbClr val="D4A85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72375" y="3857625"/>
            <a:ext cx="2428875" cy="2428875"/>
          </a:xfrm>
          <a:prstGeom prst="roundRect">
            <a:avLst>
              <a:gd name="adj" fmla="val 391765"/>
            </a:avLst>
          </a:prstGeom>
          <a:solidFill>
            <a:srgbClr val="D4A854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2940" y="1372073"/>
            <a:ext cx="911007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383432"/>
            <a:ext cx="8652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03 / 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758479"/>
            <a:ext cx="4710589" cy="499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3375" b="1" spc="-67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Доверие и правила</a:t>
            </a:r>
            <a:endParaRPr lang="en-US" sz="3375" dirty="0"/>
          </a:p>
        </p:txBody>
      </p:sp>
      <p:sp>
        <p:nvSpPr>
          <p:cNvPr id="8" name="Text 6"/>
          <p:cNvSpPr/>
          <p:nvPr/>
        </p:nvSpPr>
        <p:spPr>
          <a:xfrm>
            <a:off x="685800" y="2392821"/>
            <a:ext cx="457200" cy="42863"/>
          </a:xfrm>
          <a:prstGeom prst="roundRect">
            <a:avLst>
              <a:gd name="adj" fmla="val 22199741"/>
            </a:avLst>
          </a:prstGeom>
          <a:solidFill>
            <a:srgbClr val="D4A8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2578559"/>
            <a:ext cx="428625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1A1A1A">
                    <a:alpha val="6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Статус, закон и стоп-лист — то, что вы говорите бизнесу с чистой совестью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689372" y="3317044"/>
            <a:ext cx="1116881" cy="43934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8669" y="3450989"/>
            <a:ext cx="156604" cy="171450"/>
          </a:xfrm>
          <a:prstGeom prst="roundRect">
            <a:avLst>
              <a:gd name="adj" fmla="val 6076138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8669" y="3450989"/>
            <a:ext cx="1923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6711" y="3392053"/>
            <a:ext cx="66738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 проекта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99121" y="3317044"/>
            <a:ext cx="1510457" cy="43934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88418" y="3450989"/>
            <a:ext cx="156939" cy="171450"/>
          </a:xfrm>
          <a:prstGeom prst="roundRect">
            <a:avLst>
              <a:gd name="adj" fmla="val 6063168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88418" y="3450989"/>
            <a:ext cx="1926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16795" y="3392053"/>
            <a:ext cx="106062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Правовая прозрачность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02447" y="3317044"/>
            <a:ext cx="1666056" cy="439341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91744" y="3450989"/>
            <a:ext cx="157051" cy="171450"/>
          </a:xfrm>
          <a:prstGeom prst="roundRect">
            <a:avLst>
              <a:gd name="adj" fmla="val 6058844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91744" y="3450989"/>
            <a:ext cx="192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20232" y="3392053"/>
            <a:ext cx="1216112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Стоп-правила амбассадора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6563" y="-1357312"/>
            <a:ext cx="3429000" cy="3429000"/>
          </a:xfrm>
          <a:prstGeom prst="roundRect">
            <a:avLst>
              <a:gd name="adj" fmla="val 277500"/>
            </a:avLst>
          </a:prstGeom>
          <a:solidFill>
            <a:srgbClr val="C92A6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357312" y="3714750"/>
            <a:ext cx="3143250" cy="3143250"/>
          </a:xfrm>
          <a:prstGeom prst="roundRect">
            <a:avLst>
              <a:gd name="adj" fmla="val 302727"/>
            </a:avLst>
          </a:prstGeom>
          <a:solidFill>
            <a:srgbClr val="0ABAB5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СЕЙЧАС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89359"/>
            <a:ext cx="8636000" cy="668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 уже работает —</a:t>
            </a:r>
            <a:endParaRPr lang="en-US" sz="2138" dirty="0"/>
          </a:p>
          <a:p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показывайте бизнесу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60772" y="1397496"/>
            <a:ext cx="4043363" cy="1339007"/>
          </a:xfrm>
          <a:prstGeom prst="roundRect">
            <a:avLst>
              <a:gd name="adj" fmla="val 853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0081" y="1653555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2943" y="168641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243388" y="1774999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0ABAB5"/>
          </a:solidFill>
          <a:ln/>
          <a:effectLst>
            <a:outerShdw sx="100000" sy="100000" kx="0" ky="0" algn="bl" rotWithShape="0" blurRad="101600" dist="50800" dir="16200000">
              <a:srgbClr val="0ABAB5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0081" y="2039317"/>
            <a:ext cx="366474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открыто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650081" y="2314352"/>
            <a:ext cx="3774472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Живой продукт можно показать на телефоне сегодня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4639866" y="1397496"/>
            <a:ext cx="4043363" cy="1339007"/>
          </a:xfrm>
          <a:prstGeom prst="roundRect">
            <a:avLst>
              <a:gd name="adj" fmla="val 853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9175" y="1653555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62036" y="168641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8422481" y="1774999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0ABAB5"/>
          </a:solidFill>
          <a:ln/>
          <a:effectLst>
            <a:outerShdw sx="100000" sy="100000" kx="0" ky="0" algn="bl" rotWithShape="0" blurRad="101600" dist="50800" dir="16200000">
              <a:srgbClr val="0ABAB5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9175" y="2039317"/>
            <a:ext cx="366474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 с банком подписан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4829175" y="2314352"/>
            <a:ext cx="3664744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Расчёты проходят через банковскую инфраструктуру</a:t>
            </a:r>
            <a:endParaRPr lang="en-US" sz="872" dirty="0"/>
          </a:p>
        </p:txBody>
      </p:sp>
      <p:sp>
        <p:nvSpPr>
          <p:cNvPr id="18" name="Text 16"/>
          <p:cNvSpPr/>
          <p:nvPr/>
        </p:nvSpPr>
        <p:spPr>
          <a:xfrm>
            <a:off x="460772" y="2872234"/>
            <a:ext cx="4043363" cy="1339007"/>
          </a:xfrm>
          <a:prstGeom prst="roundRect">
            <a:avLst>
              <a:gd name="adj" fmla="val 853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0081" y="312829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2943" y="316115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4243388" y="3249737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0ABAB5"/>
          </a:solidFill>
          <a:ln/>
          <a:effectLst>
            <a:outerShdw sx="100000" sy="100000" kx="0" ky="0" algn="bl" rotWithShape="0" blurRad="101600" dist="50800" dir="16200000">
              <a:srgbClr val="0ABAB5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081" y="3514055"/>
            <a:ext cx="366474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Эквайринг подключён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650081" y="3789090"/>
            <a:ext cx="366474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Платежи по QR принимаются</a:t>
            </a:r>
            <a:endParaRPr lang="en-US" sz="872" dirty="0"/>
          </a:p>
        </p:txBody>
      </p:sp>
      <p:sp>
        <p:nvSpPr>
          <p:cNvPr id="24" name="Text 22"/>
          <p:cNvSpPr/>
          <p:nvPr/>
        </p:nvSpPr>
        <p:spPr>
          <a:xfrm>
            <a:off x="4639866" y="2872234"/>
            <a:ext cx="4043363" cy="1339007"/>
          </a:xfrm>
          <a:prstGeom prst="roundRect">
            <a:avLst>
              <a:gd name="adj" fmla="val 853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9175" y="312829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2036" y="316115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8422481" y="3249737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0ABAB5"/>
          </a:solidFill>
          <a:ln/>
          <a:effectLst>
            <a:outerShdw sx="100000" sy="100000" kx="0" ky="0" algn="bl" rotWithShape="0" blurRad="101600" dist="50800" dir="16200000">
              <a:srgbClr val="0ABAB5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9175" y="3514055"/>
            <a:ext cx="366474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Набор первых партнёров</a:t>
            </a:r>
            <a:endParaRPr lang="en-US" sz="1069" dirty="0"/>
          </a:p>
        </p:txBody>
      </p:sp>
      <p:sp>
        <p:nvSpPr>
          <p:cNvPr id="29" name="Text 27"/>
          <p:cNvSpPr/>
          <p:nvPr/>
        </p:nvSpPr>
        <p:spPr>
          <a:xfrm>
            <a:off x="4829175" y="3789090"/>
            <a:ext cx="3774472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Представители и амбассадоры выбирают районы</a:t>
            </a:r>
            <a:endParaRPr lang="en-US" sz="872" dirty="0"/>
          </a:p>
        </p:txBody>
      </p:sp>
      <p:sp>
        <p:nvSpPr>
          <p:cNvPr id="30" name="Text 28"/>
          <p:cNvSpPr/>
          <p:nvPr/>
        </p:nvSpPr>
        <p:spPr>
          <a:xfrm>
            <a:off x="457200" y="4357688"/>
            <a:ext cx="8229600" cy="414338"/>
          </a:xfrm>
          <a:prstGeom prst="roundRect">
            <a:avLst>
              <a:gd name="adj" fmla="val 27586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8650" y="447198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828" dirty="0"/>
          </a:p>
        </p:txBody>
      </p:sp>
      <p:sp>
        <p:nvSpPr>
          <p:cNvPr id="32" name="Text 30"/>
          <p:cNvSpPr/>
          <p:nvPr/>
        </p:nvSpPr>
        <p:spPr>
          <a:xfrm>
            <a:off x="914400" y="4482033"/>
            <a:ext cx="7600950" cy="17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заходите на волне запуска — и можете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стать лицом LOVII своего района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-1571625"/>
            <a:ext cx="3714750" cy="3714750"/>
          </a:xfrm>
          <a:prstGeom prst="roundRect">
            <a:avLst>
              <a:gd name="adj" fmla="val 256154"/>
            </a:avLst>
          </a:prstGeom>
          <a:solidFill>
            <a:srgbClr val="C92A6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ЗАКОН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8636000" cy="334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Прозрачно </a:t>
            </a:r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рубля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57200" y="1845990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7205" y="188599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914400" y="1881708"/>
            <a:ext cx="1477216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Оператор платформы 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53084" y="1881708"/>
            <a:ext cx="2263582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ООО «АКСИОМА», российское юрлицо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99618"/>
            <a:ext cx="4367175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4633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7205" y="246463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914400" y="2424633"/>
            <a:ext cx="3909975" cy="357188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Номинальные счета по ст. 860.1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и расчёты учитываются по банковским правилам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06837"/>
            <a:ext cx="4367175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31852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7205" y="307185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914400" y="3067571"/>
            <a:ext cx="120184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Вывод средств 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71675" y="3067571"/>
            <a:ext cx="1666732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3 000 ₽ на ваши реквизиты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85480"/>
            <a:ext cx="4367175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0496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F64A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7205" y="365050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914400" y="3610496"/>
            <a:ext cx="3909975" cy="357188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Отношения оформляются договором оферты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«устных договорённостей»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1550" y="1070223"/>
            <a:ext cx="3605250" cy="3673227"/>
          </a:xfrm>
          <a:prstGeom prst="roundRect">
            <a:avLst>
              <a:gd name="adj" fmla="val 3170"/>
            </a:avLst>
          </a:prstGeom>
          <a:solidFill>
            <a:srgbClr val="C92A6A"/>
          </a:solidFill>
          <a:ln/>
          <a:effectLst>
            <a:outerShdw sx="100000" sy="100000" kx="0" ky="0" algn="bl" rotWithShape="0" blurRad="342900" dist="152400" dir="5400000">
              <a:srgbClr val="C92A6A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72363" y="427286"/>
            <a:ext cx="1857375" cy="1857375"/>
          </a:xfrm>
          <a:prstGeom prst="roundRect">
            <a:avLst>
              <a:gd name="adj" fmla="val 512308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81488" y="3957638"/>
            <a:ext cx="1571625" cy="1571625"/>
          </a:xfrm>
          <a:prstGeom prst="roundRect">
            <a:avLst>
              <a:gd name="adj" fmla="val 605455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24438" y="1298823"/>
            <a:ext cx="3286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23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3234" dirty="0"/>
          </a:p>
        </p:txBody>
      </p:sp>
      <p:sp>
        <p:nvSpPr>
          <p:cNvPr id="26" name="Text 24"/>
          <p:cNvSpPr/>
          <p:nvPr/>
        </p:nvSpPr>
        <p:spPr>
          <a:xfrm>
            <a:off x="5324438" y="1727448"/>
            <a:ext cx="3119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ПРИНЦИП LOVII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24438" y="3839766"/>
            <a:ext cx="3119475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строим систему, в которой можно показывать документы — потому что районы не прощают серых схем</a:t>
            </a:r>
            <a:endParaRPr lang="en-US" sz="118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6563" y="-1428750"/>
            <a:ext cx="3571875" cy="3571875"/>
          </a:xfrm>
          <a:prstGeom prst="roundRect">
            <a:avLst>
              <a:gd name="adj" fmla="val 266400"/>
            </a:avLst>
          </a:prstGeom>
          <a:solidFill>
            <a:srgbClr val="C92A6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85763"/>
            <a:ext cx="495299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КРАСНЫЕ ЛИНИИ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75072"/>
            <a:ext cx="4255543" cy="33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</a:t>
            </a:r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«никогда»</a:t>
            </a:r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амбассадора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7805351" y="640955"/>
            <a:ext cx="904309" cy="212027"/>
          </a:xfrm>
          <a:prstGeom prst="roundRect">
            <a:avLst>
              <a:gd name="adj" fmla="val 448786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71098" y="702320"/>
            <a:ext cx="61570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СТОП-ЛИСТ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28223" y="69696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984" dirty="0"/>
          </a:p>
        </p:txBody>
      </p:sp>
      <p:sp>
        <p:nvSpPr>
          <p:cNvPr id="8" name="Text 6"/>
          <p:cNvSpPr/>
          <p:nvPr/>
        </p:nvSpPr>
        <p:spPr>
          <a:xfrm>
            <a:off x="460772" y="1217340"/>
            <a:ext cx="8222456" cy="492919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313780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224" y="133949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1050131" y="1380976"/>
            <a:ext cx="7296224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Никогда не обещайте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гарантированный доход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только расчётные сценарии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82377" y="139414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3" name="Text 11"/>
          <p:cNvSpPr/>
          <p:nvPr/>
        </p:nvSpPr>
        <p:spPr>
          <a:xfrm>
            <a:off x="460772" y="1803127"/>
            <a:ext cx="8222456" cy="492919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06" y="1899568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7224" y="192528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1050131" y="1966764"/>
            <a:ext cx="7296224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показывайте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фейковые купюры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чужие товарные знаки в визуалах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2377" y="197993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18" name="Text 16"/>
          <p:cNvSpPr/>
          <p:nvPr/>
        </p:nvSpPr>
        <p:spPr>
          <a:xfrm>
            <a:off x="460772" y="2388915"/>
            <a:ext cx="8222456" cy="492919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1506" y="2485355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224" y="251107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1050131" y="2552551"/>
            <a:ext cx="7296224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 на креативы —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поверх готовых макетов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не генерируем картинками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82377" y="256572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460772" y="2974702"/>
            <a:ext cx="8222456" cy="492919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506" y="3071143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7224" y="309686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1050131" y="3138339"/>
            <a:ext cx="7296224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Названия банков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не звучат в ваших постах и сторис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82377" y="315151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460772" y="3560490"/>
            <a:ext cx="8222456" cy="492919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1506" y="3656930"/>
            <a:ext cx="300038" cy="300038"/>
          </a:xfrm>
          <a:prstGeom prst="roundRect">
            <a:avLst>
              <a:gd name="adj" fmla="val 3809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7224" y="368264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1050131" y="3724126"/>
            <a:ext cx="7296224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никаких «курсов» и «инвестиций в баллы»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82377" y="373729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457200" y="4371975"/>
            <a:ext cx="8229600" cy="414338"/>
          </a:xfrm>
          <a:prstGeom prst="roundRect">
            <a:avLst>
              <a:gd name="adj" fmla="val 27586"/>
            </a:avLst>
          </a:prstGeom>
          <a:solidFill>
            <a:srgbClr val="C92A6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71488" y="4371975"/>
            <a:ext cx="0" cy="414338"/>
          </a:xfrm>
          <a:prstGeom prst="line">
            <a:avLst/>
          </a:prstGeom>
          <a:noFill/>
          <a:ln w="28575">
            <a:solidFill>
              <a:srgbClr val="C92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938" y="448627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828" dirty="0"/>
          </a:p>
        </p:txBody>
      </p:sp>
      <p:sp>
        <p:nvSpPr>
          <p:cNvPr id="36" name="Text 34"/>
          <p:cNvSpPr/>
          <p:nvPr/>
        </p:nvSpPr>
        <p:spPr>
          <a:xfrm>
            <a:off x="928688" y="4513176"/>
            <a:ext cx="2432353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Нарушение = отключение от программы.</a:t>
            </a:r>
            <a:endParaRPr lang="en-US" sz="872" dirty="0"/>
          </a:p>
        </p:txBody>
      </p:sp>
      <p:sp>
        <p:nvSpPr>
          <p:cNvPr id="37" name="Text 35"/>
          <p:cNvSpPr/>
          <p:nvPr/>
        </p:nvSpPr>
        <p:spPr>
          <a:xfrm>
            <a:off x="3211674" y="4513176"/>
            <a:ext cx="1932670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Правила защищают и вас, и район</a:t>
            </a:r>
            <a:endParaRPr lang="en-US" sz="87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9438" y="3357563"/>
            <a:ext cx="3429000" cy="3429000"/>
          </a:xfrm>
          <a:prstGeom prst="roundRect">
            <a:avLst>
              <a:gd name="adj" fmla="val 277500"/>
            </a:avLst>
          </a:prstGeom>
          <a:solidFill>
            <a:srgbClr val="D4A85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8636000" cy="334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 район </a:t>
            </a:r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4 месяца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1428750" y="1874565"/>
            <a:ext cx="6286500" cy="14288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75172" y="1824558"/>
            <a:ext cx="114300" cy="114300"/>
          </a:xfrm>
          <a:prstGeom prst="roundRect">
            <a:avLst>
              <a:gd name="adj" fmla="val 8325000"/>
            </a:avLst>
          </a:prstGeom>
          <a:solidFill>
            <a:srgbClr val="C92A6A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C92A6A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6877" y="2027512"/>
            <a:ext cx="690778" cy="212027"/>
          </a:xfrm>
          <a:prstGeom prst="roundRect">
            <a:avLst>
              <a:gd name="adj" fmla="val 448786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9737" y="2038871"/>
            <a:ext cx="64505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2331765"/>
            <a:ext cx="1943100" cy="1393031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219" y="247821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828" dirty="0"/>
          </a:p>
        </p:txBody>
      </p:sp>
      <p:sp>
        <p:nvSpPr>
          <p:cNvPr id="11" name="Text 9"/>
          <p:cNvSpPr/>
          <p:nvPr/>
        </p:nvSpPr>
        <p:spPr>
          <a:xfrm>
            <a:off x="607219" y="2763962"/>
            <a:ext cx="1650206" cy="36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Карта района: </a:t>
            </a:r>
            <a:pPr algn="l" indent="0" marL="0">
              <a:lnSpc>
                <a:spcPts val="1325"/>
              </a:lnSpc>
              <a:buNone/>
            </a:pPr>
            <a:r>
              <a:rPr lang="en-US" sz="872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шорт-лист 30 точек</a:t>
            </a:r>
            <a:pPr algn="l" indent="0" marL="0">
              <a:lnSpc>
                <a:spcPts val="132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где живёт ваш контент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3468291" y="1824558"/>
            <a:ext cx="114300" cy="114300"/>
          </a:xfrm>
          <a:prstGeom prst="roundRect">
            <a:avLst>
              <a:gd name="adj" fmla="val 8325000"/>
            </a:avLst>
          </a:prstGeom>
          <a:solidFill>
            <a:srgbClr val="0ABAB5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ABAB5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03436" y="2027512"/>
            <a:ext cx="643897" cy="212027"/>
          </a:xfrm>
          <a:prstGeom prst="roundRect">
            <a:avLst>
              <a:gd name="adj" fmla="val 4487860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26296" y="2038871"/>
            <a:ext cx="59817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7807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МЕСЯЦ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53891" y="2331765"/>
            <a:ext cx="1943100" cy="1393031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00338" y="247821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7" name="Text 15"/>
          <p:cNvSpPr/>
          <p:nvPr/>
        </p:nvSpPr>
        <p:spPr>
          <a:xfrm>
            <a:off x="2700338" y="2763962"/>
            <a:ext cx="1650206" cy="36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Первые </a:t>
            </a:r>
            <a:pPr algn="l" indent="0" marL="0">
              <a:lnSpc>
                <a:spcPts val="1325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5–10 подключённых точек</a:t>
            </a:r>
            <a:pPr algn="l" indent="0" marL="0">
              <a:lnSpc>
                <a:spcPts val="132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QR на кассах</a:t>
            </a:r>
            <a:endParaRPr lang="en-US" sz="872" dirty="0"/>
          </a:p>
        </p:txBody>
      </p:sp>
      <p:sp>
        <p:nvSpPr>
          <p:cNvPr id="18" name="Text 16"/>
          <p:cNvSpPr/>
          <p:nvPr/>
        </p:nvSpPr>
        <p:spPr>
          <a:xfrm>
            <a:off x="5561409" y="1824558"/>
            <a:ext cx="114300" cy="114300"/>
          </a:xfrm>
          <a:prstGeom prst="roundRect">
            <a:avLst>
              <a:gd name="adj" fmla="val 8325000"/>
            </a:avLst>
          </a:prstGeom>
          <a:solidFill>
            <a:srgbClr val="D4A854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4A854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46660" y="2027512"/>
            <a:ext cx="743798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69520" y="2038871"/>
            <a:ext cx="6980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МЕСЯЦ 2–3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7009" y="2331765"/>
            <a:ext cx="1943100" cy="1393031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3456" y="247821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828" dirty="0"/>
          </a:p>
        </p:txBody>
      </p:sp>
      <p:sp>
        <p:nvSpPr>
          <p:cNvPr id="23" name="Text 21"/>
          <p:cNvSpPr/>
          <p:nvPr/>
        </p:nvSpPr>
        <p:spPr>
          <a:xfrm>
            <a:off x="4793456" y="2763962"/>
            <a:ext cx="1650206" cy="36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Активные жители, первый оборот и </a:t>
            </a:r>
            <a:pPr algn="l" indent="0" marL="0">
              <a:lnSpc>
                <a:spcPts val="1325"/>
              </a:lnSpc>
              <a:buNone/>
            </a:pPr>
            <a:r>
              <a:rPr lang="en-US" sz="872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первая комиссия</a:t>
            </a:r>
            <a:endParaRPr lang="en-US" sz="872" dirty="0"/>
          </a:p>
        </p:txBody>
      </p:sp>
      <p:sp>
        <p:nvSpPr>
          <p:cNvPr id="24" name="Text 22"/>
          <p:cNvSpPr/>
          <p:nvPr/>
        </p:nvSpPr>
        <p:spPr>
          <a:xfrm>
            <a:off x="7654528" y="1824558"/>
            <a:ext cx="114300" cy="114300"/>
          </a:xfrm>
          <a:prstGeom prst="roundRect">
            <a:avLst>
              <a:gd name="adj" fmla="val 8325000"/>
            </a:avLst>
          </a:prstGeom>
          <a:solidFill>
            <a:srgbClr val="1A1A1A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1A1A1A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63666" y="2027512"/>
            <a:ext cx="696024" cy="212027"/>
          </a:xfrm>
          <a:prstGeom prst="roundRect">
            <a:avLst>
              <a:gd name="adj" fmla="val 4487860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86526" y="2038871"/>
            <a:ext cx="6503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МЕСЯЦ 4+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40128" y="2331765"/>
            <a:ext cx="1943100" cy="1393031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7144">
            <a:solidFill>
              <a:srgbClr val="C92A6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86575" y="247821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828" dirty="0"/>
          </a:p>
        </p:txBody>
      </p:sp>
      <p:sp>
        <p:nvSpPr>
          <p:cNvPr id="29" name="Text 27"/>
          <p:cNvSpPr/>
          <p:nvPr/>
        </p:nvSpPr>
        <p:spPr>
          <a:xfrm>
            <a:off x="6886575" y="2763962"/>
            <a:ext cx="1650206" cy="36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872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Устойчивый поток, путь к статусу </a:t>
            </a:r>
            <a:pPr algn="l" indent="0" marL="0">
              <a:lnSpc>
                <a:spcPts val="1325"/>
              </a:lnSpc>
              <a:buNone/>
            </a:pPr>
            <a:r>
              <a:rPr lang="en-US" sz="872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Мэра (30+ точек)</a:t>
            </a:r>
            <a:endParaRPr lang="en-US" sz="872" dirty="0"/>
          </a:p>
        </p:txBody>
      </p:sp>
      <p:sp>
        <p:nvSpPr>
          <p:cNvPr id="30" name="Text 28"/>
          <p:cNvSpPr/>
          <p:nvPr/>
        </p:nvSpPr>
        <p:spPr>
          <a:xfrm>
            <a:off x="3168476" y="464879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3382789" y="4639866"/>
            <a:ext cx="5304011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Темп задаёте вы — куратор помогает держать ритм</a:t>
            </a:r>
            <a:endParaRPr lang="en-US" sz="8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3000" y="-1285875"/>
            <a:ext cx="3000375" cy="3000375"/>
          </a:xfrm>
          <a:prstGeom prst="roundRect">
            <a:avLst>
              <a:gd name="adj" fmla="val 317143"/>
            </a:avLst>
          </a:prstGeom>
          <a:solidFill>
            <a:srgbClr val="C92A6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5888601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ВЫГЛЯДИТ БУДЕНЬ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89359"/>
            <a:ext cx="4829432" cy="334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день — </a:t>
            </a:r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новых точки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07206" y="1703115"/>
            <a:ext cx="14288" cy="2378869"/>
          </a:xfrm>
          <a:prstGeom prst="rect">
            <a:avLst/>
          </a:prstGeom>
          <a:solidFill>
            <a:srgbClr val="1A1A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7916" y="1678112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C92A6A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C92A6A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6989" y="1620319"/>
            <a:ext cx="469425" cy="212027"/>
          </a:xfrm>
          <a:prstGeom prst="roundRect">
            <a:avLst>
              <a:gd name="adj" fmla="val 448786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4375" y="1631677"/>
            <a:ext cx="4346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УТРО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4375" y="1870993"/>
            <a:ext cx="434228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Кофе с владелицей кофейни: показываете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на телефоне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7916" y="2231752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0ABAB5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ABAB5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6502" y="2173959"/>
            <a:ext cx="482565" cy="212027"/>
          </a:xfrm>
          <a:prstGeom prst="roundRect">
            <a:avLst>
              <a:gd name="adj" fmla="val 4487860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4375" y="2185318"/>
            <a:ext cx="44681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7807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4375" y="2424633"/>
            <a:ext cx="434228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QR-стикеры на кассах цветов и рынка —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подключение по 5 минут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7916" y="2785393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D4A854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4A854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4346" y="2727600"/>
            <a:ext cx="540791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375" y="2738958"/>
            <a:ext cx="5007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ВЕЧЕР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375" y="2978274"/>
            <a:ext cx="434228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Сторис «где копить баллы в нашем районе»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два районных чата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7916" y="3353321"/>
            <a:ext cx="92869" cy="92869"/>
          </a:xfrm>
          <a:prstGeom prst="roundRect">
            <a:avLst>
              <a:gd name="adj" fmla="val 10246126"/>
            </a:avLst>
          </a:prstGeom>
          <a:solidFill>
            <a:srgbClr val="C92A6A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C92A6A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7947" y="3310458"/>
            <a:ext cx="4335140" cy="839391"/>
          </a:xfrm>
          <a:prstGeom prst="roundRect">
            <a:avLst>
              <a:gd name="adj" fmla="val 13617"/>
            </a:avLst>
          </a:prstGeom>
          <a:solidFill>
            <a:srgbClr val="C92A6A">
              <a:alpha val="6000"/>
            </a:srgbClr>
          </a:solidFill>
          <a:ln w="7144">
            <a:solidFill>
              <a:srgbClr val="C92A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246" y="3402684"/>
            <a:ext cx="695355" cy="212027"/>
          </a:xfrm>
          <a:prstGeom prst="roundRect">
            <a:avLst>
              <a:gd name="adj" fmla="val 448786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50106" y="3414043"/>
            <a:ext cx="64963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 ДНЯ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106" y="3703365"/>
            <a:ext cx="40708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подключённые точки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каждая теперь платит вам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20% комиссии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ежемесячно</a:t>
            </a:r>
            <a:endParaRPr lang="en-US" sz="900" dirty="0"/>
          </a:p>
        </p:txBody>
      </p:sp>
      <p:pic>
        <p:nvPicPr>
          <p:cNvPr id="23" name="Image 0" descr="/tmp/h2p-fit-1788302538103-w03w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3834" y="400050"/>
            <a:ext cx="337296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4437" y="-1428750"/>
            <a:ext cx="3286125" cy="3286125"/>
          </a:xfrm>
          <a:prstGeom prst="roundRect">
            <a:avLst>
              <a:gd name="adj" fmla="val 289565"/>
            </a:avLst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00875" y="3429000"/>
            <a:ext cx="3286125" cy="3286125"/>
          </a:xfrm>
          <a:prstGeom prst="roundRect">
            <a:avLst>
              <a:gd name="adj" fmla="val 289565"/>
            </a:avLst>
          </a:prstGeom>
          <a:solidFill>
            <a:srgbClr val="C92A6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ДЕЙСТВИЕ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1460" y="575072"/>
            <a:ext cx="8636000" cy="334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Чек-лист </a:t>
            </a:r>
            <a:pPr algn="ctr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первой недели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60772" y="1073795"/>
            <a:ext cx="4036219" cy="964853"/>
          </a:xfrm>
          <a:prstGeom prst="roundRect">
            <a:avLst>
              <a:gd name="adj" fmla="val 1184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4562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935831" y="1473398"/>
            <a:ext cx="3407569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Пройти демо и скачать материалы серии LOVII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0772" y="2145804"/>
            <a:ext cx="4036219" cy="964853"/>
          </a:xfrm>
          <a:prstGeom prst="roundRect">
            <a:avLst>
              <a:gd name="adj" fmla="val 1184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252821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935831" y="2545407"/>
            <a:ext cx="3407569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Составить карту района: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точек в шорт-листе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0772" y="3217813"/>
            <a:ext cx="4036219" cy="964853"/>
          </a:xfrm>
          <a:prstGeom prst="roundRect">
            <a:avLst>
              <a:gd name="adj" fmla="val 1184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506" y="360022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935831" y="3617416"/>
            <a:ext cx="3407569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Записаться на созвон с куратором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7009" y="1073795"/>
            <a:ext cx="4036219" cy="964853"/>
          </a:xfrm>
          <a:prstGeom prst="roundRect">
            <a:avLst>
              <a:gd name="adj" fmla="val 1184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7744" y="14562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7" name="Text 15"/>
          <p:cNvSpPr/>
          <p:nvPr/>
        </p:nvSpPr>
        <p:spPr>
          <a:xfrm>
            <a:off x="5122069" y="1473398"/>
            <a:ext cx="3407569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Назначить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встреч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владельцами точек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7009" y="2145804"/>
            <a:ext cx="4036219" cy="964853"/>
          </a:xfrm>
          <a:prstGeom prst="roundRect">
            <a:avLst>
              <a:gd name="adj" fmla="val 1184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07744" y="252821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20" name="Text 18"/>
          <p:cNvSpPr/>
          <p:nvPr/>
        </p:nvSpPr>
        <p:spPr>
          <a:xfrm>
            <a:off x="5122069" y="2545407"/>
            <a:ext cx="3407569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Подключить первые точки по QR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47009" y="3217813"/>
            <a:ext cx="4036219" cy="964853"/>
          </a:xfrm>
          <a:prstGeom prst="roundRect">
            <a:avLst>
              <a:gd name="adj" fmla="val 1184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7744" y="360022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5122069" y="3617416"/>
            <a:ext cx="3407569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Запустить первый пост в районном чате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8229600" cy="442913"/>
          </a:xfrm>
          <a:prstGeom prst="roundRect">
            <a:avLst>
              <a:gd name="adj" fmla="val 2580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114104" y="447198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ABAB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26" name="Text 24"/>
          <p:cNvSpPr/>
          <p:nvPr/>
        </p:nvSpPr>
        <p:spPr>
          <a:xfrm>
            <a:off x="2399854" y="4479801"/>
            <a:ext cx="6101209" cy="17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прошла — у вас есть район, точки и </a:t>
            </a:r>
            <a:pPr algn="l" indent="0" marL="0">
              <a:lnSpc>
                <a:spcPts val="1339"/>
              </a:lnSpc>
              <a:buNone/>
            </a:pPr>
            <a:r>
              <a:rPr lang="en-US" sz="956" b="1" dirty="0">
                <a:solidFill>
                  <a:srgbClr val="0ABAB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первая строка будущего дохода</a:t>
            </a:r>
            <a:endParaRPr lang="en-US" sz="956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25" y="-1714500"/>
            <a:ext cx="5572125" cy="5572125"/>
          </a:xfrm>
          <a:prstGeom prst="roundRect">
            <a:avLst>
              <a:gd name="adj" fmla="val 170769"/>
            </a:avLst>
          </a:prstGeom>
          <a:solidFill>
            <a:srgbClr val="C92A6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28687" y="3643313"/>
            <a:ext cx="2714625" cy="2714625"/>
          </a:xfrm>
          <a:prstGeom prst="roundRect">
            <a:avLst>
              <a:gd name="adj" fmla="val 350526"/>
            </a:avLst>
          </a:prstGeom>
          <a:solidFill>
            <a:srgbClr val="0ABAB5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65206" y="3607594"/>
            <a:ext cx="842963" cy="842963"/>
          </a:xfrm>
          <a:prstGeom prst="roundRect">
            <a:avLst>
              <a:gd name="adj" fmla="val 1128813"/>
            </a:avLst>
          </a:prstGeom>
          <a:noFill/>
          <a:ln w="14288">
            <a:solidFill>
              <a:srgbClr val="D4A85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74988" y="1237097"/>
            <a:ext cx="2194024" cy="189309"/>
          </a:xfrm>
          <a:prstGeom prst="roundRect">
            <a:avLst>
              <a:gd name="adj" fmla="val 5026425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17875" y="1287103"/>
            <a:ext cx="1851124" cy="119703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РЕГИОНЫ ЗАКРЕПЛЯЮТСЯ ЗА ПЕРВЫМИ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575000" y="128174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84" dirty="0"/>
          </a:p>
        </p:txBody>
      </p:sp>
      <p:sp>
        <p:nvSpPr>
          <p:cNvPr id="8" name="Text 6"/>
          <p:cNvSpPr/>
          <p:nvPr/>
        </p:nvSpPr>
        <p:spPr>
          <a:xfrm>
            <a:off x="274320" y="1640718"/>
            <a:ext cx="8595248" cy="499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45"/>
              </a:lnSpc>
              <a:buNone/>
            </a:pPr>
            <a:r>
              <a:rPr lang="en-US" sz="3375" b="1" spc="-67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 район пока </a:t>
            </a:r>
            <a:pPr algn="ctr" indent="0" marL="0">
              <a:lnSpc>
                <a:spcPts val="3645"/>
              </a:lnSpc>
              <a:buNone/>
            </a:pPr>
            <a:r>
              <a:rPr lang="en-US" sz="3375" b="1" spc="-6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свободен</a:t>
            </a:r>
            <a:endParaRPr lang="en-US" sz="3375" dirty="0"/>
          </a:p>
        </p:txBody>
      </p:sp>
      <p:sp>
        <p:nvSpPr>
          <p:cNvPr id="9" name="Text 7"/>
          <p:cNvSpPr/>
          <p:nvPr/>
        </p:nvSpPr>
        <p:spPr>
          <a:xfrm>
            <a:off x="1714500" y="2260774"/>
            <a:ext cx="571500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Напишите нам кодовое слово </a:t>
            </a:r>
            <a:pPr algn="ctr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C92A6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«АМБАССАДОР»</a:t>
            </a:r>
            <a:pPr algn="ctr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город — закрепим район за вами и пришлём промо-кит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3166690" y="2952824"/>
            <a:ext cx="2810508" cy="485775"/>
          </a:xfrm>
          <a:prstGeom prst="roundRect">
            <a:avLst>
              <a:gd name="adj" fmla="val 1958824"/>
            </a:avLst>
          </a:prstGeom>
          <a:solidFill>
            <a:srgbClr val="C92A6A"/>
          </a:solidFill>
          <a:ln/>
          <a:effectLst>
            <a:outerShdw sx="100000" sy="100000" kx="0" ky="0" algn="bl" rotWithShape="0" blurRad="323850" dist="133350" dir="5400000">
              <a:srgbClr val="C92A6A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95303" y="3117131"/>
            <a:ext cx="1910395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Стать амбассадором LOVII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91423" y="31171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3" name="Text 11"/>
          <p:cNvSpPr/>
          <p:nvPr/>
        </p:nvSpPr>
        <p:spPr>
          <a:xfrm>
            <a:off x="2660712" y="3654398"/>
            <a:ext cx="1035174" cy="254203"/>
          </a:xfrm>
          <a:prstGeom prst="roundRect">
            <a:avLst>
              <a:gd name="adj" fmla="val 3743258"/>
            </a:avLst>
          </a:prstGeom>
          <a:solidFill>
            <a:srgbClr val="1A1A1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29165" y="3731493"/>
            <a:ext cx="66257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открыто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75012" y="372434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781611" y="3667199"/>
            <a:ext cx="1674428" cy="228600"/>
          </a:xfrm>
          <a:prstGeom prst="roundRect">
            <a:avLst>
              <a:gd name="adj" fmla="val 4162500"/>
            </a:avLst>
          </a:prstGeom>
          <a:solidFill>
            <a:srgbClr val="1A1A1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60217" y="3731493"/>
            <a:ext cx="1281522" cy="128016"/>
          </a:xfrm>
          <a:prstGeom prst="rect">
            <a:avLst/>
          </a:prstGeom>
          <a:noFill/>
          <a:ln/>
        </p:spPr>
        <p:txBody>
          <a:bodyPr wrap="none" lIns="114300" tIns="50006" rIns="114300" bIns="50006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 с банком подписан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95911" y="372434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541764" y="3654398"/>
            <a:ext cx="941524" cy="254203"/>
          </a:xfrm>
          <a:prstGeom prst="roundRect">
            <a:avLst>
              <a:gd name="adj" fmla="val 3743258"/>
            </a:avLst>
          </a:prstGeom>
          <a:solidFill>
            <a:srgbClr val="1A1A1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20370" y="3731493"/>
            <a:ext cx="54861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b="1" spc="27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656064" y="372434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2460017" y="4732734"/>
            <a:ext cx="4223965" cy="232117"/>
          </a:xfrm>
          <a:prstGeom prst="rect">
            <a:avLst/>
          </a:prstGeom>
          <a:noFill/>
          <a:ln/>
        </p:spPr>
        <p:txBody>
          <a:bodyPr wrap="square" lIns="0" tIns="0" rIns="0" bIns="5715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A1A1A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lovii.ru · ООО «АКСИОМА» · Доход зависит от оборота точек и не является гарантией доходности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2026-09-01T22:42:18Z</dcterms:created>
  <dcterms:modified xsi:type="dcterms:W3CDTF">2026-09-01T22:42:18Z</dcterms:modified>
</cp:coreProperties>
</file>