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коллеги! Спасибо, что нашли время. Сегодня я представлю LOVII — агентскую платформу лояльности для локальной экономики. Рамка разговора такая: сначала рынок и проблема, затем продукт и экономика модели, дальше — статус и дистрибуция, в финале — сценарии масштаба и план. LOVII — это агентская модель лояльности: платформа зарабатывает комиссию с реального оборота местных точек, а не продаёт трафик. Важная оговорка с самого начала: все цифры в презентации — расчётные, при средней активности, и не являются гарантией доходности. Мы показываем логику модели и наши допущения, а не обещаем результат. При этом демо уже открыто — lovii.ru работает, и вы можете потрогать живой продукт до принятия любых решений. Договор с банком подписан, платёжная инфраструктура подключена. Вопросы, пожалуйста, задавайте по ходу — я за открытый диалог. Начнём с проблемы.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Начну с цифры, которая описывает весь рынок. Когда локальный бизнес продаёт через федеральные агрегаторы, он отдаёт от двадцати до сорока пяти процентов выручки за привлечение клиента. Это не рекламный бюджет — это маржа МСП, деньги, за счёт которых существует магазин у дома, кофейня или пекарня. Из этого следуют три боли. Первая: магазин платит за клиента, который живёт в двух минутах от кассы, — по сути, платит за собственный же трафик. Вторая: классические программы лояльности малому бизнесу недоступны — дорого и сложно. Третья: деньги района конвертируются в выручку федеральных экосистем и уходят из местной экономики. Для инвестора здесь важна рамка: системная неэффективность — это возможность. Рынок платит за трафик, который мог бы оставаться локальным. Кто вернёт этот трафик владельцам точек — тот и заберёт маржу. Именно это и делает LOVII.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Почему мы уверены, что окно возможности открыто именно сейчас? Потому что четыре независимых фактора сошлись в одной точке времени. Первое — усталость МСП от агрегаторов: бизнес на себе почувствовал комиссию двадцать–сорок пять процентов и осознанно ищет альтернативу; мы слышим это в каждом разговоре с точками. Второе — QR-платежи стали нормой: привычка платить смартфоном уже сформирована, человеку не нужно ничего объяснять — достаточно стикера с кодом на кассе. Третье — локальные сообщества: районные чаты и сторис дают бесплатный канал дистрибуции, которого несколько лет назад просто не существовало. Четвёртое — регуляторная ясность: номинальные счета по статье 860.1 Гражданского кодекса дают правовой каркас для баллов, мы работаем по банковским правилам. По отдельности каждый фактор лишь намекает на шанс. Вместе они создают момент, когда модель вроде нашей может масштабироваться быстро.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 само решение. Слева — как сегодня: агрегатор забирает двадцать–сорок пять процентов чека, клиент для бизнеса обезличен, все данные остаются у платформы, а деньги уходят из района. Справа — как работает LOVII. Бизнес платит около десяти процентов за сервис лояльности — это в два–четыре раза ниже текущих издержек. Кэшбэк-пул в шесть целых восемьдесят четыре сотых — девять и три десятых процента возвращается жителям баллами, которые тратятся здесь же: оборот и данные остаются в районе. Принципиальный момент — внизу слайда. LOVII — это агентская модель: платформа зарабатывает только с реального оборота точек, а не с продажи трафика или рекламы. В этом отличие от маркетплейса: наш доход растёт вместе с оборотом местных бизнесов. Интересы платформы, точки и жителя совпадают — на этом фундаменте строится вся экономика, которую я покажу дальше.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 первому разделу — продукт и экономика. Здесь три сюжета. Первый — сам продукт: что видит житель и что видит владелец точки, почему продукт предельно простой и как эта простота даёт нам скорость масштабирования. Второй — тарифы: как устроена тарифная лестница от бесплатного входа до PRO и почему она удерживает самые крупные точки на платформе. Третий — юнит-экономика: сколько платформа зарабатывает на одной точке в месяц и как эти деньги складываются в доход района, города и всей сети. Подчеркну: все расчёты в этом разделе я показываю открыто, с допущениями и при средней активности — это расчётные значения, а не гарантия доходности. Каждый шаг вы сможете проверить в финансовой модели, которую мы предоставим по запросу. Начнём с продукта.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Наш продукт сознательно простой — и это решение ради скорости масштабирования и низкой стоимости подключения точки. Три опоры. Первая: один балл равен одному рублю — это прозрачная валюта района. Баллы не сгорают, условия понятны без изучения договора: простота повышает доверие и частоту покупок. Вторая: подключение по QR за пять минут. Точке не нужно оборудование, интеграция с кассой или подрядчик — достаточно стикера с кодом на кассе. Для нас это означает низкий CAC подключения и возможность подключать точки массово, без монтажников и внедренцев. Третья: демо открыто — lovii.ru уже работает, продукт живой, и я приглашаю вас потрогать его сразу после встречи. Обратите внимание: никаких карт, носителей и администрирования — весь сервис живёт в смартфоне. Мы не производим железо и не строим ИТ-инфраструктуру на стороне бизнеса — мы оперируем лёгким сервисом, который понятен любому человеку.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Монетизация устроена как тарифная лестница из трёх ступеней. Первая — СТАРТ: ноль процентов, пробный вход для точки и знакомство с платформой. Это снимает барьер: владелец ничего не платит и сам решает, работает ли сервис. Вторая — БАЗОВЫЙ, ядро выручки: комиссия десять процентов с оборота по баллам за полный сервис лояльности. На этом тарифе живёт основная масса точек. Третья — PRO для точек с оборотом: сниженная комиссия четыре–семь процентов плюс подписка две тысячи девятьсот девяносто рублей в месяц. Логика лестницы простая: чем больше оборот точки, тем выгоднее тариф — и тем выше лояльность к платформе. Крупная точка получает ставку, с которой агрегатору не сравниться, а платформа — стабильную подписочную выручку, которая меньше зависит от сезонности оборота. Это удержание через выгоду масштаба, а не через дорогое администрирование.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 экономика одной точки. Все цифры здесь расчётные, и я объясню, как они получены. Логика идёт от доли представителя к полному чеку комиссии: средняя расчётная комиссия точки — около девяти тысяч девятисот двадцати пяти рублей в месяц. Из них платформе достаётся сорок процентов, то есть примерно три тысячи девятьсот семьдесят рублей в месяц с одной точки. Дальше работает простая арифметика масштаба: десять точек — это около тридцати девяти тысяч семисот рублей в месяц платформе, тридцать точек — около ста девятнадцати тысяч рублей в месяц. Сплит сорок сорок двадцать между компанией, представителем и амбассадором выравнивает интересы всех участников: каждый зарабатывает с оборота точки. И обязательно подчеркну: это расчётные значения при средней активности, а не гарантия доходности. Мы показываем вам механику масштабирования выручки, а не обещания.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Спрос со стороны жителей — вторая опора модели. Жителю возвращается от шести и восьмидесяти четырёх сотых до девяти и трёх десятых процента покупок: шесть и восемьдесят четыре — базовый кэшбэк-пул, девять и три — расширенный пул в партнёрских категориях. Кэшбэк начисляется баллами, где один балл равен одному рублю, и баллы не сгорают. Дальше включается петля ценности, которую вы видите справа. Житель получает кэшбэк — у него появляется причина вернуться и купить снова. Он тратит баллы в том же районе — растёт частота покупок. Частота тянет за собой оборот точек, а оборот конвертируется в комиссию платформы. Чем выше возвращение, тем чаще покупка — частота покупок и есть топливо нашей комиссии. При этом оборот циркулирует локально и не утекает в федеральные экосистемы.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мы продаём без штата продажников? За счёт сплита сорок сорок двадцать. Компания держит сорок процентов комиссии и закрывает платформу и банк-инфраструктуру. Представитель платит подписку пятьсот девяносто девять рублей в месяц, ведёт точки на своей территории и получает сорок процентов комиссии. Амбассадор отвечает за сообщества и охват — его доля двадцать процентов. Теперь смотрите на экономику GTM: сеть сама находит точки, потому что партнёры зарабатывают с реального оборота и напрямую заинтересованы в качестве подключений. Комиссионный сплит полностью заменяет фонд оплаты труда отдела продаж: у нас нет фиксированных затрат на коммерцию, доходы и расходы растут синхронно с сетью. И плюс механика ранней дистрибуции — регионы закрепляются за первыми партнёрами, поэтому лидеры приходят за эксклюзивом уже сейчас, и темп набора сети только ускоряется.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ко второму разделу — статус и рынок. В ближайшие несколько слайдов мы разберём три темы. Первая — traction: что уже работает в продукте и в инфраструктуре прямо сейчас, без обещаний на будущее. Вторая — GTM: куда и как идёт дистрибуция, через кого мы набираем районы и города и почему партнёрская модель оказывается дешевле классических продаж. Третья тема — конкуренты: мы честно покажем ландшафт и объясним, какую нишу LOVII занимает между федеральными агрегаторами и корпоративной CRM-лояльностью. Этот раздел отвечает на главный вопрос инвестора: не «что вы собираетесь сделать», а «что уже сделано и насколько это повторяемо». Давайте перейдём к фактам.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Вот статус проекта на сегодня — четыре факта, и каждый из них снижает риск. Первое: демо открыто, lovii.ru работает — продукт живой, вы можете зайти и потрогать его сами. Второе: договор с банком подписан — расчётная инфраструктура формализована, деньги проходят по банковским правилам. Третье: эквайринг подключён — приём платежей по QR работает уже сейчас. Четвёртое: идёт набор партнёров — представители и амбассадоры выбирают регионы, сеть стартует. Главный тезис этого слайда: риск продукта уже снят. Вы входите не в идею и не в разработку с нуля, а в работающую модель — инвестиции идут в масштабирование, в набор точек, районов и городов. Это принципиально другая стадия и другая структура риска.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Масштабирование идёт поэтапно: район, затем город, затем сеть городов. На первом уровне — район: тридцать и более точек с опорой на якорные кофейни и рынки, которые тянут за собой соседей. На втором уровне — город: пять–десять районов, и здесь ведущие представители, за которыми уже район в тридцать и более точек, получают статус Мэра и координируют развитие города. Третий уровень — сеть городов: Губернатор управляет тремя и более городами, и платформа тиражируется по регионам по уже отлаженному сценарию. Важный мотиватор — эксклюзив: регионы закрепляются за первыми партнёрами, поэтому темп набора сети уже идёт, и лидеры заинтересованы занимать территории прямо сейчас. Перед вами классическая пирамида локального влияния, встроенная в коммерческую модель.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Отдельно отвечу на вопрос о конкурентах — он возникает всегда. Федеральные агрегаторы берут у малого бизнеса двадцать–сорок пять процентов чека, оборот уводят из района, а вход для точки имеет среднюю сложность. Кэшбэк банковских карт — это скрытые издержки: оборот оседает у банка, и клиенту нужна банковская карта. CRM-лояльность поддерживает локальность, но это подписка, внедрение, недели работы с подрядчиком — для малого бизнеса дорого и долго. LOVII занимает пустую нишу между ними: комиссия около десяти процентов, оборот остаётся в районе, подключение — QR за пять минут, без оборудования и интеграций. Поэтому наш честный ответ инвестору: мы конкурируем не с одним конкретным игроком, а с отсутствием достойного локального решения — и это сильная стартовая позиция.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Переходим к третьему, финальному разделу презентации — он о зрелости проекта. Мы сознательно поставили его в конец и собрали здесь три темы. Первая — право: как устроен правовой каркас платформы, кто оператор, через какие счета идут деньги и на каких договорах работают все участники. Вторая — риски: мы честно пройдёмся по четырём ключевым рискам и к каждому покажем конкретную митигацию, а не общие слова. Третья — план: дорожная карта на двенадцать месяцев и расчётные сценарии масштаба, когда из районов складывается город. Сразу договоримся о рамках: все цифры этого раздела — плановые ориентиры и расчётные значения, они не являются гарантией доходности. Наша задача на ближайшие минуты — показать, что мы понимаем, что может пойти не так, и как это уже учтено в модели.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о правовой конструкции — это принципиально важно для оценки регуляторного риска. Оператор платформы — ООО «АКСИОМА», российское юридическое лицо. Движение средств идёт через номинальные счета по статье 860.1 Гражданского кодекса: это банковский механизм учёта, при котором средства участников отражаются отдельно от средств компании. Отношения со всеми сторонами — точками, представителями и амбассадорами — оформлены договором офертой: правила одинаковы, публичны и применимы к каждому участнику. Вывод средств доступен от трёх тысяч рублей, правила программы прозрачны. И ключевой принцип, который мы хотим подчеркнуть: баллы — это учтённые обязательства платформы. Один балл равен одному рублю, и это закреплено правилами программы. Это не «внутренняя валюта» без статуса, а структурированное обязательство. Для вас как инвестора это означает зрелую правовую базу и сниженный регуляторный риск, а не серую схему.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считаем, что инвестору нужно говорить о рисках прямо, поэтому вот четыре риска и четыре митигации — парой, без прикрас. Первый риск — медленный набор точек в регионе. Ответ — механика 40/40/20 и эксклюзив районов: партнёры зарабатывают с оборота, поэтому сами заинтересованы подключать качественные точки быстрее. Второй — копирование модели федеральными игроками. Локальные сообщества и партнёрская сеть не копируются деньгами: федералам пришлось бы выстраивать эти отношения с нуля. Третий — регуляторные изменения. Мы изначально работаем через номинальные счета по статье 860.1 и белую оферту, то есть наша база уже консервативна. Четвёртый — сезонность локального бизнеса: портфель точек разных категорий сглаживает оборот платформы. Ни один из рисков не исключён полностью, но по каждому у нас есть работающий ответ, встроенный в модель, а не пункт в списке пожеланий.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Дорожная карта на первые двенадцать месяцев построена по той же логике, что и дистрибуция: район, затем город, затем сеть городов. В первом квартале — три пилотных района и, расчётно, свыше ста подключённых точек: это проверка экономики на реальном обороте. Во втором квартале выходим в первый город-миллионник и включаем в оборот тариф PRO — появляется подписочная линия выручки. Третий квартал — пять городов и мобильные сценарии для жителей: растёт частота покупок, а вместе с ней и комиссия платформы. Четвёртый квартал — сеть из десяти и более городов и подготовка следующего раунда масштабирования. Подчеркну: вехи — это плановые ориентиры, а не гарантия результата. Мы показываем последовательность и логику движения: от трёх пилотных районов к сети более чем десяти городов за год, с опорой на партнёрскую дистрибуцию.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главный вопрос — что платформа зарабатывает на масштабе. База простая: расчётная комиссия платформы — около трёх тысяч девятисот семидесяти рублей в месяц с точки, это сорок процентов общего сплита. Дальше работает рычаг масштаба. Сто точек дают расчётно около трёхсот девяноста семи тысяч рублей комиссии в месяц. Пятьсот точек — порядка двух миллионов рублей в месяц. Полторы тысячи точек, то есть уровень города, — около пяти миллионов девятисот пятидесяти пяти тысяч в месяц, что эквивалентно примерно семидесяти одному и пять десятых миллиона рублей в год. Обратите внимание: это без учёта подписок PRO — они идут второй линией выручки сверху. И обязательная оговорка: перед вами расчётный сценарий при средней активности точек, он не является гарантией доходности. Мы демонстрируем механику рычага масштаба, а не обещаем конкретный результат.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Резюмирую инвестиционное предложение. Мы приглашаем вас войти в работающую модель на этапе старта сети: продукт запущен, договор с банком подписан, эквайринг работает. Поэтому инвестиции идут в рост дистрибуции, а не в разработку с нуля. Комиссионная модель масштабируется линейно: подключённая точка даёт район, район даёт город, и выручка платформы растёт вместе с оборотом. Партнёрская сеть по механике 40/40/20 обеспечивает дистрибуцию без роста штатных расходов — нам не нужно строить дорогой отдел продаж. Суммы и условия раунда мы намеренно не озвучиваем в общей презентации: это индивидуальный разговор, зависящий от вашего тикета и горизонта. Финансовую модель и доступ к демо мы пришлём по запросу — контакты на экране, всё можно посмотреть вживую уже сегодня. Предлагаю назначить отдельную сессию по цифрам и обсудить следующий шаг лично.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Подведём итог тремя цифрами. Первая: комиссия для бизнеса — около десяти процентов вместо двадцати–сорока пяти у федеральных агрегаторов. Вторая: жителю возвращается от шести и восьмидесяти четырёх сотых до девяти и трёх десятых процента покупок баллами, при этом один балл равен одному рублю и баллы не сгорают. Третья: оборот и данные остаются в районе — в этом ядро ценности платформы. Демо уже открыто, договор с банком подписан, идёт набор партнёров — приглашаю посмотреть продукт вживую на lovii.ru прямо сегодня, это займёт несколько минут. И финальная оговорка: материалы носят информационный характер, не являются публичной офертой и не гарантируют доходность — все расчёты носят сценарный характер. Спасибо за внимание и доверие. Предлагаю открыть демо вместе и перейти к вашим вопросам — на связи команда ООО «АКСИОМА» и я лично.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214437" y="3214688"/>
            <a:ext cx="3286125" cy="3286125"/>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4000500" y="-857250"/>
            <a:ext cx="1643063" cy="1643063"/>
          </a:xfrm>
          <a:prstGeom prst="ellipse">
            <a:avLst/>
          </a:prstGeom>
          <a:solidFill>
            <a:srgbClr val="D4A854">
              <a:alpha val="7000"/>
            </a:srgbClr>
          </a:solidFill>
          <a:ln/>
        </p:spPr>
        <p:txBody>
          <a:bodyPr wrap="square" rtlCol="0" anchor="ctr"/>
          <a:lstStyle/>
          <a:p>
            <a:pPr indent="0" marL="0">
              <a:buNone/>
            </a:pPr>
            <a:endParaRPr lang="en-US" dirty="0"/>
          </a:p>
        </p:txBody>
      </p:sp>
      <p:sp>
        <p:nvSpPr>
          <p:cNvPr id="4" name="Shape 2"/>
          <p:cNvSpPr/>
          <p:nvPr/>
        </p:nvSpPr>
        <p:spPr>
          <a:xfrm>
            <a:off x="514350" y="4439841"/>
            <a:ext cx="4171950" cy="0"/>
          </a:xfrm>
          <a:prstGeom prst="line">
            <a:avLst/>
          </a:prstGeom>
          <a:noFill/>
          <a:ln w="7144">
            <a:solidFill>
              <a:srgbClr val="1A1A1A"/>
            </a:solidFill>
            <a:prstDash val="solid"/>
          </a:ln>
        </p:spPr>
      </p:sp>
      <p:pic>
        <p:nvPicPr>
          <p:cNvPr id="5" name="Image 0" descr="/tmp/h2p-fit-1788303523631-pciajb.png">    </p:cNvPr>
          <p:cNvPicPr>
            <a:picLocks noChangeAspect="1"/>
          </p:cNvPicPr>
          <p:nvPr/>
        </p:nvPicPr>
        <p:blipFill>
          <a:blip r:embed="rId1"/>
          <a:stretch>
            <a:fillRect/>
          </a:stretch>
        </p:blipFill>
        <p:spPr>
          <a:xfrm>
            <a:off x="5029200" y="0"/>
            <a:ext cx="4114800" cy="5143500"/>
          </a:xfrm>
          <a:prstGeom prst="rect">
            <a:avLst/>
          </a:prstGeom>
        </p:spPr>
      </p:pic>
      <p:sp>
        <p:nvSpPr>
          <p:cNvPr id="6" name="Text 3"/>
          <p:cNvSpPr/>
          <p:nvPr/>
        </p:nvSpPr>
        <p:spPr>
          <a:xfrm>
            <a:off x="514350" y="457200"/>
            <a:ext cx="2083966" cy="189309"/>
          </a:xfrm>
          <a:prstGeom prst="roundRect">
            <a:avLst>
              <a:gd name="adj" fmla="val 5026425"/>
            </a:avLst>
          </a:prstGeom>
          <a:solidFill>
            <a:srgbClr val="1A1A1A">
              <a:alpha val="6000"/>
            </a:srgbClr>
          </a:solidFill>
          <a:ln/>
        </p:spPr>
        <p:txBody>
          <a:bodyPr wrap="square" rtlCol="0" anchor="ctr"/>
          <a:lstStyle/>
          <a:p>
            <a:pPr indent="0" marL="0">
              <a:buNone/>
            </a:pPr>
            <a:endParaRPr lang="en-US" dirty="0"/>
          </a:p>
        </p:txBody>
      </p:sp>
      <p:sp>
        <p:nvSpPr>
          <p:cNvPr id="7" name="Text 4"/>
          <p:cNvSpPr/>
          <p:nvPr/>
        </p:nvSpPr>
        <p:spPr>
          <a:xfrm>
            <a:off x="514350" y="457200"/>
            <a:ext cx="2083966" cy="264345"/>
          </a:xfrm>
          <a:prstGeom prst="rect">
            <a:avLst/>
          </a:prstGeom>
          <a:noFill/>
          <a:ln/>
        </p:spPr>
        <p:txBody>
          <a:bodyPr wrap="square" lIns="100013" tIns="35719" rIns="100013" bIns="35719" rtlCol="0" anchor="t"/>
          <a:lstStyle/>
          <a:p>
            <a:pPr algn="l" indent="0" marL="0">
              <a:lnSpc>
                <a:spcPts val="928"/>
              </a:lnSpc>
              <a:buNone/>
            </a:pPr>
            <a:r>
              <a:rPr lang="en-US" sz="800" b="1" spc="50" kern="0" dirty="0">
                <a:solidFill>
                  <a:srgbClr val="1A1A1A"/>
                </a:solidFill>
                <a:latin typeface="Carlito" pitchFamily="34" charset="0"/>
                <a:ea typeface="Carlito" pitchFamily="34" charset="-122"/>
                <a:cs typeface="Carlito" pitchFamily="34" charset="-120"/>
              </a:rPr>
              <a:t>LOVII · ИНВЕСТИЦИОННАЯ ПРЕЗЕНТАЦИЯ</a:t>
            </a:r>
            <a:endParaRPr lang="en-US" sz="800" dirty="0"/>
          </a:p>
        </p:txBody>
      </p:sp>
      <p:sp>
        <p:nvSpPr>
          <p:cNvPr id="8" name="Text 5"/>
          <p:cNvSpPr/>
          <p:nvPr/>
        </p:nvSpPr>
        <p:spPr>
          <a:xfrm>
            <a:off x="514350" y="1103709"/>
            <a:ext cx="4589145" cy="1324733"/>
          </a:xfrm>
          <a:prstGeom prst="rect">
            <a:avLst/>
          </a:prstGeom>
          <a:noFill/>
          <a:ln/>
        </p:spPr>
        <p:txBody>
          <a:bodyPr wrap="none" lIns="0" tIns="0" rIns="0" bIns="0" rtlCol="0" anchor="t"/>
          <a:lstStyle/>
          <a:p>
            <a:pPr algn="l" indent="0" marL="0">
              <a:lnSpc>
                <a:spcPts val="3220"/>
              </a:lnSpc>
              <a:buNone/>
            </a:pPr>
            <a:r>
              <a:rPr lang="en-US" sz="3038" b="1" spc="-76" kern="0" dirty="0">
                <a:solidFill>
                  <a:srgbClr val="1A1A1A"/>
                </a:solidFill>
                <a:latin typeface="Carlito" pitchFamily="34" charset="0"/>
                <a:ea typeface="Carlito" pitchFamily="34" charset="-122"/>
                <a:cs typeface="Carlito" pitchFamily="34" charset="-120"/>
              </a:rPr>
              <a:t>Инфраструктура</a:t>
            </a:r>
            <a:endParaRPr lang="en-US" sz="3038" dirty="0"/>
          </a:p>
          <a:p>
            <a:pPr algn="l" indent="0" marL="0">
              <a:lnSpc>
                <a:spcPts val="3220"/>
              </a:lnSpc>
              <a:buNone/>
            </a:pPr>
            <a:r>
              <a:rPr lang="en-US" sz="3038" b="1" spc="-76" kern="0" dirty="0">
                <a:solidFill>
                  <a:srgbClr val="F64A8A"/>
                </a:solidFill>
                <a:latin typeface="Carlito" pitchFamily="34" charset="0"/>
                <a:ea typeface="Carlito" pitchFamily="34" charset="-122"/>
                <a:cs typeface="Carlito" pitchFamily="34" charset="-120"/>
              </a:rPr>
              <a:t>локальной</a:t>
            </a:r>
            <a:endParaRPr lang="en-US" sz="3038" dirty="0"/>
          </a:p>
          <a:p>
            <a:pPr algn="l" indent="0" marL="0">
              <a:lnSpc>
                <a:spcPts val="3220"/>
              </a:lnSpc>
              <a:buNone/>
            </a:pPr>
            <a:r>
              <a:rPr lang="en-US" sz="3038" b="1" spc="-76" kern="0" dirty="0">
                <a:solidFill>
                  <a:srgbClr val="1A1A1A"/>
                </a:solidFill>
                <a:latin typeface="Carlito" pitchFamily="34" charset="0"/>
                <a:ea typeface="Carlito" pitchFamily="34" charset="-122"/>
                <a:cs typeface="Carlito" pitchFamily="34" charset="-120"/>
              </a:rPr>
              <a:t>экономики</a:t>
            </a:r>
            <a:endParaRPr lang="en-US" sz="3038" dirty="0"/>
          </a:p>
        </p:txBody>
      </p:sp>
      <p:sp>
        <p:nvSpPr>
          <p:cNvPr id="9" name="Text 6"/>
          <p:cNvSpPr/>
          <p:nvPr/>
        </p:nvSpPr>
        <p:spPr>
          <a:xfrm>
            <a:off x="514350" y="2516051"/>
            <a:ext cx="3857625" cy="659654"/>
          </a:xfrm>
          <a:prstGeom prst="rect">
            <a:avLst/>
          </a:prstGeom>
          <a:noFill/>
          <a:ln/>
        </p:spPr>
        <p:txBody>
          <a:bodyPr wrap="square" lIns="0" tIns="0" rIns="0" bIns="0" rtlCol="0" anchor="t"/>
          <a:lstStyle/>
          <a:p>
            <a:pPr algn="l" indent="0" marL="0">
              <a:lnSpc>
                <a:spcPts val="1603"/>
              </a:lnSpc>
              <a:buNone/>
            </a:pPr>
            <a:r>
              <a:rPr lang="en-US" sz="1069" dirty="0">
                <a:solidFill>
                  <a:srgbClr val="666666"/>
                </a:solidFill>
                <a:latin typeface="Carlito" pitchFamily="34" charset="0"/>
                <a:ea typeface="Carlito" pitchFamily="34" charset="-122"/>
                <a:cs typeface="Carlito" pitchFamily="34" charset="-120"/>
              </a:rPr>
              <a:t>Агентская платформа лояльности, которая возвращает деньги районов — и монетизирует каждый чек местного бизнеса</a:t>
            </a:r>
            <a:endParaRPr lang="en-US" sz="1069" dirty="0"/>
          </a:p>
        </p:txBody>
      </p:sp>
      <p:sp>
        <p:nvSpPr>
          <p:cNvPr id="10" name="Text 7"/>
          <p:cNvSpPr/>
          <p:nvPr/>
        </p:nvSpPr>
        <p:spPr>
          <a:xfrm>
            <a:off x="514350" y="3329796"/>
            <a:ext cx="767618"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11" name="Text 8"/>
          <p:cNvSpPr/>
          <p:nvPr/>
        </p:nvSpPr>
        <p:spPr>
          <a:xfrm>
            <a:off x="514350" y="3341154"/>
            <a:ext cx="767618"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1 БАЛЛ = 1 ₽</a:t>
            </a:r>
            <a:endParaRPr lang="en-US" sz="800" dirty="0"/>
          </a:p>
        </p:txBody>
      </p:sp>
      <p:sp>
        <p:nvSpPr>
          <p:cNvPr id="12" name="Text 9"/>
          <p:cNvSpPr/>
          <p:nvPr/>
        </p:nvSpPr>
        <p:spPr>
          <a:xfrm>
            <a:off x="1353406" y="3329796"/>
            <a:ext cx="925897"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13" name="Text 10"/>
          <p:cNvSpPr/>
          <p:nvPr/>
        </p:nvSpPr>
        <p:spPr>
          <a:xfrm>
            <a:off x="1353406" y="3341154"/>
            <a:ext cx="92589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ДЕМО ОТКРЫТО</a:t>
            </a:r>
            <a:endParaRPr lang="en-US" sz="800" dirty="0"/>
          </a:p>
        </p:txBody>
      </p:sp>
      <p:sp>
        <p:nvSpPr>
          <p:cNvPr id="14" name="Text 11"/>
          <p:cNvSpPr/>
          <p:nvPr/>
        </p:nvSpPr>
        <p:spPr>
          <a:xfrm>
            <a:off x="2350740" y="3341154"/>
            <a:ext cx="1664829" cy="189309"/>
          </a:xfrm>
          <a:prstGeom prst="roundRect">
            <a:avLst>
              <a:gd name="adj" fmla="val 5026425"/>
            </a:avLst>
          </a:prstGeom>
          <a:solidFill>
            <a:srgbClr val="D4A854">
              <a:alpha val="14000"/>
            </a:srgbClr>
          </a:solidFill>
          <a:ln/>
        </p:spPr>
        <p:txBody>
          <a:bodyPr wrap="square" rtlCol="0" anchor="ctr"/>
          <a:lstStyle/>
          <a:p>
            <a:pPr indent="0" marL="0">
              <a:buNone/>
            </a:pPr>
            <a:endParaRPr lang="en-US" dirty="0"/>
          </a:p>
        </p:txBody>
      </p:sp>
      <p:sp>
        <p:nvSpPr>
          <p:cNvPr id="15" name="Text 12"/>
          <p:cNvSpPr/>
          <p:nvPr/>
        </p:nvSpPr>
        <p:spPr>
          <a:xfrm>
            <a:off x="2350740" y="3341154"/>
            <a:ext cx="2335560" cy="264345"/>
          </a:xfrm>
          <a:prstGeom prst="rect">
            <a:avLst/>
          </a:prstGeom>
          <a:noFill/>
          <a:ln/>
        </p:spPr>
        <p:txBody>
          <a:bodyPr wrap="none" lIns="100013" tIns="35719" rIns="100013" bIns="35719" rtlCol="0" anchor="t"/>
          <a:lstStyle/>
          <a:p>
            <a:pPr algn="l"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ДОГОВОР С БАНКОМ ПОДПИСАН</a:t>
            </a:r>
            <a:endParaRPr lang="en-US" sz="800" dirty="0"/>
          </a:p>
        </p:txBody>
      </p:sp>
      <p:sp>
        <p:nvSpPr>
          <p:cNvPr id="16" name="Text 13"/>
          <p:cNvSpPr/>
          <p:nvPr/>
        </p:nvSpPr>
        <p:spPr>
          <a:xfrm>
            <a:off x="465391" y="4600575"/>
            <a:ext cx="517685" cy="125403"/>
          </a:xfrm>
          <a:prstGeom prst="rect">
            <a:avLst/>
          </a:prstGeom>
          <a:noFill/>
          <a:ln/>
        </p:spPr>
        <p:txBody>
          <a:bodyPr wrap="square" lIns="0" tIns="0" rIns="0" bIns="0" rtlCol="0" anchor="t"/>
          <a:lstStyle/>
          <a:p>
            <a:pPr algn="l" indent="0" marL="0">
              <a:lnSpc>
                <a:spcPts val="1181"/>
              </a:lnSpc>
              <a:buNone/>
            </a:pPr>
            <a:r>
              <a:rPr lang="en-US" sz="788" b="1" dirty="0">
                <a:solidFill>
                  <a:srgbClr val="1A1A1A"/>
                </a:solidFill>
                <a:latin typeface="Carlito" pitchFamily="34" charset="0"/>
                <a:ea typeface="Carlito" pitchFamily="34" charset="-122"/>
                <a:cs typeface="Carlito" pitchFamily="34" charset="-120"/>
              </a:rPr>
              <a:t>lovii.ru</a:t>
            </a:r>
            <a:endParaRPr lang="en-US" sz="788" dirty="0"/>
          </a:p>
        </p:txBody>
      </p:sp>
      <p:sp>
        <p:nvSpPr>
          <p:cNvPr id="17" name="Text 14"/>
          <p:cNvSpPr/>
          <p:nvPr/>
        </p:nvSpPr>
        <p:spPr>
          <a:xfrm>
            <a:off x="874105" y="4607719"/>
            <a:ext cx="1081619" cy="121920"/>
          </a:xfrm>
          <a:prstGeom prst="rect">
            <a:avLst/>
          </a:prstGeom>
          <a:noFill/>
          <a:ln/>
        </p:spPr>
        <p:txBody>
          <a:bodyPr wrap="none" lIns="0" tIns="0" rIns="0" bIns="0" rtlCol="0" anchor="t"/>
          <a:lstStyle/>
          <a:p>
            <a:pPr algn="l" indent="0" marL="0">
              <a:lnSpc>
                <a:spcPts val="1139"/>
              </a:lnSpc>
              <a:buNone/>
            </a:pPr>
            <a:r>
              <a:rPr lang="en-US" sz="800" dirty="0">
                <a:solidFill>
                  <a:srgbClr val="666666"/>
                </a:solidFill>
                <a:latin typeface="Carlito" pitchFamily="34" charset="0"/>
                <a:ea typeface="Carlito" pitchFamily="34" charset="-122"/>
                <a:cs typeface="Carlito" pitchFamily="34" charset="-120"/>
              </a:rPr>
              <a:t>· ООО «АКСИОМА»</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76845"/>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28625"/>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ПРОБЛЕМА</a:t>
            </a:r>
            <a:endParaRPr lang="en-US" sz="800" dirty="0"/>
          </a:p>
        </p:txBody>
      </p:sp>
      <p:sp>
        <p:nvSpPr>
          <p:cNvPr id="4" name="Text 2"/>
          <p:cNvSpPr/>
          <p:nvPr/>
        </p:nvSpPr>
        <p:spPr>
          <a:xfrm>
            <a:off x="514350" y="646509"/>
            <a:ext cx="8629650" cy="337060"/>
          </a:xfrm>
          <a:prstGeom prst="rect">
            <a:avLst/>
          </a:prstGeom>
          <a:noFill/>
          <a:ln/>
        </p:spPr>
        <p:txBody>
          <a:bodyPr wrap="squar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Агрегаторы забирают главное — маржу МСП</a:t>
            </a:r>
            <a:endParaRPr lang="en-US" sz="2138" dirty="0"/>
          </a:p>
        </p:txBody>
      </p:sp>
      <p:sp>
        <p:nvSpPr>
          <p:cNvPr id="5" name="Text 3"/>
          <p:cNvSpPr/>
          <p:nvPr/>
        </p:nvSpPr>
        <p:spPr>
          <a:xfrm>
            <a:off x="514350" y="1330077"/>
            <a:ext cx="5297662" cy="1099423"/>
          </a:xfrm>
          <a:prstGeom prst="rect">
            <a:avLst/>
          </a:prstGeom>
          <a:noFill/>
          <a:ln/>
        </p:spPr>
        <p:txBody>
          <a:bodyPr wrap="none" lIns="0" tIns="0" rIns="0" bIns="0" rtlCol="0" anchor="t"/>
          <a:lstStyle/>
          <a:p>
            <a:pPr algn="l" indent="0" marL="0">
              <a:lnSpc>
                <a:spcPts val="8016"/>
              </a:lnSpc>
              <a:buNone/>
            </a:pPr>
            <a:r>
              <a:rPr lang="en-US" sz="8438" b="1" spc="-380" kern="0" dirty="0">
                <a:solidFill>
                  <a:srgbClr val="1A1A1A"/>
                </a:solidFill>
                <a:latin typeface="Liberation Sans Narrow" pitchFamily="34" charset="0"/>
                <a:ea typeface="Liberation Sans Narrow" pitchFamily="34" charset="-122"/>
                <a:cs typeface="Liberation Sans Narrow" pitchFamily="34" charset="-120"/>
              </a:rPr>
              <a:t>20–45</a:t>
            </a:r>
            <a:pPr algn="l" indent="0" marL="0">
              <a:lnSpc>
                <a:spcPts val="8016"/>
              </a:lnSpc>
              <a:buNone/>
            </a:pPr>
            <a:r>
              <a:rPr lang="en-US" sz="5175" b="1" spc="-380" kern="0" dirty="0">
                <a:solidFill>
                  <a:srgbClr val="1A1A1A"/>
                </a:solidFill>
                <a:latin typeface="Carlito" pitchFamily="34" charset="0"/>
                <a:ea typeface="Carlito" pitchFamily="34" charset="-122"/>
                <a:cs typeface="Carlito" pitchFamily="34" charset="-120"/>
              </a:rPr>
              <a:t>%</a:t>
            </a:r>
            <a:endParaRPr lang="en-US" sz="8438" dirty="0"/>
          </a:p>
        </p:txBody>
      </p:sp>
      <p:sp>
        <p:nvSpPr>
          <p:cNvPr id="6" name="Text 4"/>
          <p:cNvSpPr/>
          <p:nvPr/>
        </p:nvSpPr>
        <p:spPr>
          <a:xfrm>
            <a:off x="514350" y="2505224"/>
            <a:ext cx="3143250" cy="430366"/>
          </a:xfrm>
          <a:prstGeom prst="rect">
            <a:avLst/>
          </a:prstGeom>
          <a:noFill/>
          <a:ln/>
        </p:spPr>
        <p:txBody>
          <a:bodyPr wrap="square" lIns="0" tIns="0" rIns="0" bIns="0" rtlCol="0" anchor="t"/>
          <a:lstStyle/>
          <a:p>
            <a:pPr algn="l" indent="0" marL="0">
              <a:lnSpc>
                <a:spcPts val="1569"/>
              </a:lnSpc>
              <a:buNone/>
            </a:pPr>
            <a:r>
              <a:rPr lang="en-US" sz="1013" dirty="0">
                <a:solidFill>
                  <a:srgbClr val="1A1A1A"/>
                </a:solidFill>
                <a:latin typeface="Carlito" pitchFamily="34" charset="0"/>
                <a:ea typeface="Carlito" pitchFamily="34" charset="-122"/>
                <a:cs typeface="Carlito" pitchFamily="34" charset="-120"/>
              </a:rPr>
              <a:t>выручки локального бизнеса уходит федеральным платформам за привлечение клиента</a:t>
            </a:r>
            <a:endParaRPr lang="en-US" sz="1013" dirty="0"/>
          </a:p>
        </p:txBody>
      </p:sp>
      <p:sp>
        <p:nvSpPr>
          <p:cNvPr id="7" name="Shape 5"/>
          <p:cNvSpPr/>
          <p:nvPr/>
        </p:nvSpPr>
        <p:spPr>
          <a:xfrm>
            <a:off x="4999620" y="1330077"/>
            <a:ext cx="0" cy="1768078"/>
          </a:xfrm>
          <a:prstGeom prst="line">
            <a:avLst/>
          </a:prstGeom>
          <a:noFill/>
          <a:ln w="7144">
            <a:solidFill>
              <a:srgbClr val="1A1A1A"/>
            </a:solidFill>
            <a:prstDash val="solid"/>
          </a:ln>
        </p:spPr>
      </p:sp>
      <p:sp>
        <p:nvSpPr>
          <p:cNvPr id="8" name="Text 6"/>
          <p:cNvSpPr/>
          <p:nvPr/>
        </p:nvSpPr>
        <p:spPr>
          <a:xfrm>
            <a:off x="5331805" y="1330077"/>
            <a:ext cx="214313" cy="214313"/>
          </a:xfrm>
          <a:prstGeom prst="roundRect">
            <a:avLst>
              <a:gd name="adj" fmla="val 4439990"/>
            </a:avLst>
          </a:prstGeom>
          <a:solidFill>
            <a:srgbClr val="F64A8A">
              <a:alpha val="12000"/>
            </a:srgbClr>
          </a:solidFill>
          <a:ln/>
        </p:spPr>
        <p:txBody>
          <a:bodyPr wrap="square" rtlCol="0" anchor="ctr"/>
          <a:lstStyle/>
          <a:p>
            <a:pPr indent="0" marL="0">
              <a:buNone/>
            </a:pPr>
            <a:endParaRPr lang="en-US" dirty="0"/>
          </a:p>
        </p:txBody>
      </p:sp>
      <p:sp>
        <p:nvSpPr>
          <p:cNvPr id="9" name="Text 7"/>
          <p:cNvSpPr/>
          <p:nvPr/>
        </p:nvSpPr>
        <p:spPr>
          <a:xfrm>
            <a:off x="5331805" y="1330077"/>
            <a:ext cx="271463" cy="214313"/>
          </a:xfrm>
          <a:prstGeom prst="rect">
            <a:avLst/>
          </a:prstGeom>
          <a:noFill/>
          <a:ln/>
        </p:spPr>
        <p:txBody>
          <a:bodyPr wrap="none" lIns="0" tIns="0" rIns="0" bIns="0" rtlCol="0" anchor="ctr"/>
          <a:lstStyle/>
          <a:p>
            <a:pPr algn="ctr" indent="0" marL="0">
              <a:lnSpc>
                <a:spcPts val="1181"/>
              </a:lnSpc>
              <a:buNone/>
            </a:pPr>
            <a:r>
              <a:rPr lang="en-US" sz="800" b="1" dirty="0">
                <a:solidFill>
                  <a:srgbClr val="C92A6A"/>
                </a:solidFill>
                <a:latin typeface="Liberation Sans Narrow" pitchFamily="34" charset="0"/>
                <a:ea typeface="Liberation Sans Narrow" pitchFamily="34" charset="-122"/>
                <a:cs typeface="Liberation Sans Narrow" pitchFamily="34" charset="-120"/>
              </a:rPr>
              <a:t>1</a:t>
            </a:r>
            <a:endParaRPr lang="en-US" sz="800" dirty="0"/>
          </a:p>
        </p:txBody>
      </p:sp>
      <p:sp>
        <p:nvSpPr>
          <p:cNvPr id="10" name="Text 8"/>
          <p:cNvSpPr/>
          <p:nvPr/>
        </p:nvSpPr>
        <p:spPr>
          <a:xfrm>
            <a:off x="5660417" y="1330077"/>
            <a:ext cx="2969233" cy="405051"/>
          </a:xfrm>
          <a:prstGeom prst="rect">
            <a:avLst/>
          </a:prstGeom>
          <a:noFill/>
          <a:ln/>
        </p:spPr>
        <p:txBody>
          <a:bodyPr wrap="square" lIns="0" tIns="21431"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Локальный магазин платит за клиента, который живёт в двух минутах от кассы</a:t>
            </a:r>
            <a:endParaRPr lang="en-US" sz="928" dirty="0"/>
          </a:p>
        </p:txBody>
      </p:sp>
      <p:sp>
        <p:nvSpPr>
          <p:cNvPr id="11" name="Text 9"/>
          <p:cNvSpPr/>
          <p:nvPr/>
        </p:nvSpPr>
        <p:spPr>
          <a:xfrm>
            <a:off x="5331805" y="1862286"/>
            <a:ext cx="3297845" cy="7144"/>
          </a:xfrm>
          <a:prstGeom prst="rect">
            <a:avLst/>
          </a:prstGeom>
          <a:solidFill>
            <a:srgbClr val="1A1A1A">
              <a:alpha val="8000"/>
            </a:srgbClr>
          </a:solidFill>
          <a:ln/>
        </p:spPr>
        <p:txBody>
          <a:bodyPr wrap="square" rtlCol="0" anchor="ctr"/>
          <a:lstStyle/>
          <a:p>
            <a:pPr indent="0" marL="0">
              <a:buNone/>
            </a:pPr>
            <a:endParaRPr lang="en-US" dirty="0"/>
          </a:p>
        </p:txBody>
      </p:sp>
      <p:sp>
        <p:nvSpPr>
          <p:cNvPr id="12" name="Text 10"/>
          <p:cNvSpPr/>
          <p:nvPr/>
        </p:nvSpPr>
        <p:spPr>
          <a:xfrm>
            <a:off x="5331805" y="2026593"/>
            <a:ext cx="214313" cy="214313"/>
          </a:xfrm>
          <a:prstGeom prst="roundRect">
            <a:avLst>
              <a:gd name="adj" fmla="val 4439990"/>
            </a:avLst>
          </a:prstGeom>
          <a:solidFill>
            <a:srgbClr val="F64A8A">
              <a:alpha val="12000"/>
            </a:srgbClr>
          </a:solidFill>
          <a:ln/>
        </p:spPr>
        <p:txBody>
          <a:bodyPr wrap="square" rtlCol="0" anchor="ctr"/>
          <a:lstStyle/>
          <a:p>
            <a:pPr indent="0" marL="0">
              <a:buNone/>
            </a:pPr>
            <a:endParaRPr lang="en-US" dirty="0"/>
          </a:p>
        </p:txBody>
      </p:sp>
      <p:sp>
        <p:nvSpPr>
          <p:cNvPr id="13" name="Text 11"/>
          <p:cNvSpPr/>
          <p:nvPr/>
        </p:nvSpPr>
        <p:spPr>
          <a:xfrm>
            <a:off x="5331805" y="2026593"/>
            <a:ext cx="271463" cy="214313"/>
          </a:xfrm>
          <a:prstGeom prst="rect">
            <a:avLst/>
          </a:prstGeom>
          <a:noFill/>
          <a:ln/>
        </p:spPr>
        <p:txBody>
          <a:bodyPr wrap="none" lIns="0" tIns="0" rIns="0" bIns="0" rtlCol="0" anchor="ctr"/>
          <a:lstStyle/>
          <a:p>
            <a:pPr algn="ctr" indent="0" marL="0">
              <a:lnSpc>
                <a:spcPts val="1181"/>
              </a:lnSpc>
              <a:buNone/>
            </a:pPr>
            <a:r>
              <a:rPr lang="en-US" sz="800" b="1" dirty="0">
                <a:solidFill>
                  <a:srgbClr val="C92A6A"/>
                </a:solidFill>
                <a:latin typeface="Liberation Sans Narrow" pitchFamily="34" charset="0"/>
                <a:ea typeface="Liberation Sans Narrow" pitchFamily="34" charset="-122"/>
                <a:cs typeface="Liberation Sans Narrow" pitchFamily="34" charset="-120"/>
              </a:rPr>
              <a:t>2</a:t>
            </a:r>
            <a:endParaRPr lang="en-US" sz="800" dirty="0"/>
          </a:p>
        </p:txBody>
      </p:sp>
      <p:sp>
        <p:nvSpPr>
          <p:cNvPr id="14" name="Text 12"/>
          <p:cNvSpPr/>
          <p:nvPr/>
        </p:nvSpPr>
        <p:spPr>
          <a:xfrm>
            <a:off x="5660417" y="2026593"/>
            <a:ext cx="2969233" cy="405051"/>
          </a:xfrm>
          <a:prstGeom prst="rect">
            <a:avLst/>
          </a:prstGeom>
          <a:noFill/>
          <a:ln/>
        </p:spPr>
        <p:txBody>
          <a:bodyPr wrap="square" lIns="0" tIns="21431"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Программы лояльности малому бизнесу недоступны — дорого и сложно</a:t>
            </a:r>
            <a:endParaRPr lang="en-US" sz="928" dirty="0"/>
          </a:p>
        </p:txBody>
      </p:sp>
      <p:sp>
        <p:nvSpPr>
          <p:cNvPr id="15" name="Text 13"/>
          <p:cNvSpPr/>
          <p:nvPr/>
        </p:nvSpPr>
        <p:spPr>
          <a:xfrm>
            <a:off x="5331805" y="2558802"/>
            <a:ext cx="3297845" cy="7144"/>
          </a:xfrm>
          <a:prstGeom prst="rect">
            <a:avLst/>
          </a:prstGeom>
          <a:solidFill>
            <a:srgbClr val="1A1A1A">
              <a:alpha val="8000"/>
            </a:srgbClr>
          </a:solidFill>
          <a:ln/>
        </p:spPr>
        <p:txBody>
          <a:bodyPr wrap="square" rtlCol="0" anchor="ctr"/>
          <a:lstStyle/>
          <a:p>
            <a:pPr indent="0" marL="0">
              <a:buNone/>
            </a:pPr>
            <a:endParaRPr lang="en-US" dirty="0"/>
          </a:p>
        </p:txBody>
      </p:sp>
      <p:sp>
        <p:nvSpPr>
          <p:cNvPr id="16" name="Text 14"/>
          <p:cNvSpPr/>
          <p:nvPr/>
        </p:nvSpPr>
        <p:spPr>
          <a:xfrm>
            <a:off x="5331805" y="2723108"/>
            <a:ext cx="214313" cy="214313"/>
          </a:xfrm>
          <a:prstGeom prst="roundRect">
            <a:avLst>
              <a:gd name="adj" fmla="val 4439990"/>
            </a:avLst>
          </a:prstGeom>
          <a:solidFill>
            <a:srgbClr val="F64A8A">
              <a:alpha val="12000"/>
            </a:srgbClr>
          </a:solidFill>
          <a:ln/>
        </p:spPr>
        <p:txBody>
          <a:bodyPr wrap="square" rtlCol="0" anchor="ctr"/>
          <a:lstStyle/>
          <a:p>
            <a:pPr indent="0" marL="0">
              <a:buNone/>
            </a:pPr>
            <a:endParaRPr lang="en-US" dirty="0"/>
          </a:p>
        </p:txBody>
      </p:sp>
      <p:sp>
        <p:nvSpPr>
          <p:cNvPr id="17" name="Text 15"/>
          <p:cNvSpPr/>
          <p:nvPr/>
        </p:nvSpPr>
        <p:spPr>
          <a:xfrm>
            <a:off x="5331805" y="2723108"/>
            <a:ext cx="271463" cy="214313"/>
          </a:xfrm>
          <a:prstGeom prst="rect">
            <a:avLst/>
          </a:prstGeom>
          <a:noFill/>
          <a:ln/>
        </p:spPr>
        <p:txBody>
          <a:bodyPr wrap="none" lIns="0" tIns="0" rIns="0" bIns="0" rtlCol="0" anchor="ctr"/>
          <a:lstStyle/>
          <a:p>
            <a:pPr algn="ctr" indent="0" marL="0">
              <a:lnSpc>
                <a:spcPts val="1181"/>
              </a:lnSpc>
              <a:buNone/>
            </a:pPr>
            <a:r>
              <a:rPr lang="en-US" sz="800" b="1" dirty="0">
                <a:solidFill>
                  <a:srgbClr val="C92A6A"/>
                </a:solidFill>
                <a:latin typeface="Liberation Sans Narrow" pitchFamily="34" charset="0"/>
                <a:ea typeface="Liberation Sans Narrow" pitchFamily="34" charset="-122"/>
                <a:cs typeface="Liberation Sans Narrow" pitchFamily="34" charset="-120"/>
              </a:rPr>
              <a:t>3</a:t>
            </a:r>
            <a:endParaRPr lang="en-US" sz="800" dirty="0"/>
          </a:p>
        </p:txBody>
      </p:sp>
      <p:sp>
        <p:nvSpPr>
          <p:cNvPr id="18" name="Text 16"/>
          <p:cNvSpPr/>
          <p:nvPr/>
        </p:nvSpPr>
        <p:spPr>
          <a:xfrm>
            <a:off x="5660417" y="2723108"/>
            <a:ext cx="2969233" cy="375047"/>
          </a:xfrm>
          <a:prstGeom prst="rect">
            <a:avLst/>
          </a:prstGeom>
          <a:noFill/>
          <a:ln/>
        </p:spPr>
        <p:txBody>
          <a:bodyPr wrap="square" lIns="0" tIns="21431"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Деньги района конвертируются в выручку федеральных экосистем</a:t>
            </a:r>
            <a:endParaRPr lang="en-US" sz="928" dirty="0"/>
          </a:p>
        </p:txBody>
      </p:sp>
      <p:sp>
        <p:nvSpPr>
          <p:cNvPr id="19" name="Text 17"/>
          <p:cNvSpPr/>
          <p:nvPr/>
        </p:nvSpPr>
        <p:spPr>
          <a:xfrm>
            <a:off x="514350" y="4304109"/>
            <a:ext cx="8115300" cy="439341"/>
          </a:xfrm>
          <a:prstGeom prst="roundRect">
            <a:avLst>
              <a:gd name="adj" fmla="val 26016"/>
            </a:avLst>
          </a:prstGeom>
          <a:solidFill>
            <a:srgbClr val="F64A8A">
              <a:alpha val="6000"/>
            </a:srgbClr>
          </a:solidFill>
          <a:ln/>
        </p:spPr>
        <p:txBody>
          <a:bodyPr wrap="square" rtlCol="0" anchor="ctr"/>
          <a:lstStyle/>
          <a:p>
            <a:pPr indent="0" marL="0">
              <a:buNone/>
            </a:pPr>
            <a:endParaRPr lang="en-US" dirty="0"/>
          </a:p>
        </p:txBody>
      </p:sp>
      <p:sp>
        <p:nvSpPr>
          <p:cNvPr id="20" name="Text 18"/>
          <p:cNvSpPr/>
          <p:nvPr/>
        </p:nvSpPr>
        <p:spPr>
          <a:xfrm>
            <a:off x="700088" y="4438055"/>
            <a:ext cx="171450" cy="171450"/>
          </a:xfrm>
          <a:prstGeom prst="rect">
            <a:avLst/>
          </a:prstGeom>
          <a:noFill/>
          <a:ln/>
        </p:spPr>
        <p:txBody>
          <a:bodyPr wrap="none" lIns="0" tIns="0" rIns="0" bIns="0" rtlCol="0" anchor="ctr"/>
          <a:lstStyle/>
          <a:p>
            <a:pPr algn="ctr" indent="0" marL="0">
              <a:buNone/>
            </a:pPr>
            <a:r>
              <a:rPr lang="en-US" sz="1688" dirty="0">
                <a:solidFill>
                  <a:srgbClr val="C92A6A"/>
                </a:solidFill>
                <a:latin typeface="Segoe UI Symbol" pitchFamily="34" charset="0"/>
                <a:ea typeface="Segoe UI Symbol" pitchFamily="34" charset="-122"/>
                <a:cs typeface="Segoe UI Symbol" pitchFamily="34" charset="-120"/>
              </a:rPr>
              <a:t>→</a:t>
            </a:r>
            <a:endParaRPr lang="en-US" sz="1688" dirty="0"/>
          </a:p>
        </p:txBody>
      </p:sp>
      <p:sp>
        <p:nvSpPr>
          <p:cNvPr id="21" name="Text 19"/>
          <p:cNvSpPr/>
          <p:nvPr/>
        </p:nvSpPr>
        <p:spPr>
          <a:xfrm>
            <a:off x="971550" y="4432697"/>
            <a:ext cx="7472363" cy="182166"/>
          </a:xfrm>
          <a:prstGeom prst="rect">
            <a:avLst/>
          </a:prstGeom>
          <a:noFill/>
          <a:ln/>
        </p:spPr>
        <p:txBody>
          <a:bodyPr wrap="none" lIns="0" tIns="0" rIns="0" bIns="0" rtlCol="0" anchor="t"/>
          <a:lstStyle/>
          <a:p>
            <a:pPr algn="l" indent="0" marL="0">
              <a:lnSpc>
                <a:spcPts val="1434"/>
              </a:lnSpc>
              <a:buNone/>
            </a:pPr>
            <a:r>
              <a:rPr lang="en-US" sz="956" b="1" dirty="0">
                <a:solidFill>
                  <a:srgbClr val="1A1A1A"/>
                </a:solidFill>
                <a:latin typeface="Carlito" pitchFamily="34" charset="0"/>
                <a:ea typeface="Carlito" pitchFamily="34" charset="-122"/>
                <a:cs typeface="Carlito" pitchFamily="34" charset="-120"/>
              </a:rPr>
              <a:t>Рынок платит за трафик, который мог бы оставаться локальным</a:t>
            </a:r>
            <a:endParaRPr lang="en-US" sz="956"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76845"/>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28625"/>
            <a:ext cx="1669182"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ОКНО ВОЗМОЖНОСТИ</a:t>
            </a:r>
            <a:endParaRPr lang="en-US" sz="800" dirty="0"/>
          </a:p>
        </p:txBody>
      </p:sp>
      <p:sp>
        <p:nvSpPr>
          <p:cNvPr id="4" name="Text 2"/>
          <p:cNvSpPr/>
          <p:nvPr/>
        </p:nvSpPr>
        <p:spPr>
          <a:xfrm>
            <a:off x="514350" y="646509"/>
            <a:ext cx="2274435" cy="337060"/>
          </a:xfrm>
          <a:prstGeom prst="rect">
            <a:avLst/>
          </a:prstGeom>
          <a:noFill/>
          <a:ln/>
        </p:spPr>
        <p:txBody>
          <a:bodyPr wrap="non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Почему сейчас</a:t>
            </a:r>
            <a:endParaRPr lang="en-US" sz="2138" dirty="0"/>
          </a:p>
        </p:txBody>
      </p:sp>
      <p:sp>
        <p:nvSpPr>
          <p:cNvPr id="5" name="Text 3"/>
          <p:cNvSpPr/>
          <p:nvPr/>
        </p:nvSpPr>
        <p:spPr>
          <a:xfrm>
            <a:off x="6272213" y="615479"/>
            <a:ext cx="2357438" cy="324282"/>
          </a:xfrm>
          <a:prstGeom prst="rect">
            <a:avLst/>
          </a:prstGeom>
          <a:noFill/>
          <a:ln/>
        </p:spPr>
        <p:txBody>
          <a:bodyPr wrap="square" lIns="0" tIns="0" rIns="0" bIns="0" rtlCol="0" anchor="t"/>
          <a:lstStyle/>
          <a:p>
            <a:pPr algn="r" indent="0" marL="0">
              <a:lnSpc>
                <a:spcPts val="1183"/>
              </a:lnSpc>
              <a:buNone/>
            </a:pPr>
            <a:r>
              <a:rPr lang="en-US" sz="816" dirty="0">
                <a:solidFill>
                  <a:srgbClr val="666666"/>
                </a:solidFill>
                <a:latin typeface="Carlito" pitchFamily="34" charset="0"/>
                <a:ea typeface="Carlito" pitchFamily="34" charset="-122"/>
                <a:cs typeface="Carlito" pitchFamily="34" charset="-120"/>
              </a:rPr>
              <a:t>Четыре независимых фактора сошлись в одной точке времени</a:t>
            </a:r>
            <a:endParaRPr lang="en-US" sz="816" dirty="0"/>
          </a:p>
        </p:txBody>
      </p:sp>
      <p:sp>
        <p:nvSpPr>
          <p:cNvPr id="6" name="Text 4"/>
          <p:cNvSpPr/>
          <p:nvPr/>
        </p:nvSpPr>
        <p:spPr>
          <a:xfrm>
            <a:off x="514350" y="1230064"/>
            <a:ext cx="3986213" cy="1685255"/>
          </a:xfrm>
          <a:prstGeom prst="roundRect">
            <a:avLst>
              <a:gd name="adj" fmla="val 678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7" name="Text 5"/>
          <p:cNvSpPr/>
          <p:nvPr/>
        </p:nvSpPr>
        <p:spPr>
          <a:xfrm>
            <a:off x="714375" y="1415802"/>
            <a:ext cx="357188" cy="357188"/>
          </a:xfrm>
          <a:prstGeom prst="roundRect">
            <a:avLst>
              <a:gd name="adj" fmla="val 32000"/>
            </a:avLst>
          </a:prstGeom>
          <a:solidFill>
            <a:srgbClr val="F64A8A">
              <a:alpha val="12000"/>
            </a:srgbClr>
          </a:solidFill>
          <a:ln/>
        </p:spPr>
        <p:txBody>
          <a:bodyPr wrap="square" rtlCol="0" anchor="ctr"/>
          <a:lstStyle/>
          <a:p>
            <a:pPr indent="0" marL="0">
              <a:buNone/>
            </a:pPr>
            <a:endParaRPr lang="en-US" dirty="0"/>
          </a:p>
        </p:txBody>
      </p:sp>
      <p:sp>
        <p:nvSpPr>
          <p:cNvPr id="8" name="Text 6"/>
          <p:cNvSpPr/>
          <p:nvPr/>
        </p:nvSpPr>
        <p:spPr>
          <a:xfrm>
            <a:off x="758309" y="1459736"/>
            <a:ext cx="269319" cy="269319"/>
          </a:xfrm>
          <a:prstGeom prst="rect">
            <a:avLst/>
          </a:prstGeom>
          <a:noFill/>
          <a:ln/>
        </p:spPr>
        <p:txBody>
          <a:bodyPr wrap="none" lIns="0" tIns="0" rIns="0" bIns="0" rtlCol="0" anchor="ctr"/>
          <a:lstStyle/>
          <a:p>
            <a:pPr algn="ctr" indent="0" marL="0">
              <a:buNone/>
            </a:pPr>
            <a:r>
              <a:rPr lang="en-US" sz="1828" dirty="0">
                <a:solidFill>
                  <a:srgbClr val="C92A6A"/>
                </a:solidFill>
                <a:latin typeface="Segoe UI Symbol" pitchFamily="34" charset="0"/>
                <a:ea typeface="Segoe UI Symbol" pitchFamily="34" charset="-122"/>
                <a:cs typeface="Segoe UI Symbol" pitchFamily="34" charset="-120"/>
              </a:rPr>
              <a:t>↘</a:t>
            </a:r>
            <a:endParaRPr lang="en-US" sz="1828" dirty="0"/>
          </a:p>
        </p:txBody>
      </p:sp>
      <p:sp>
        <p:nvSpPr>
          <p:cNvPr id="9" name="Text 7"/>
          <p:cNvSpPr/>
          <p:nvPr/>
        </p:nvSpPr>
        <p:spPr>
          <a:xfrm>
            <a:off x="4160421" y="1415802"/>
            <a:ext cx="168390" cy="164592"/>
          </a:xfrm>
          <a:prstGeom prst="rect">
            <a:avLst/>
          </a:prstGeom>
          <a:noFill/>
          <a:ln/>
        </p:spPr>
        <p:txBody>
          <a:bodyPr wrap="none" lIns="0" tIns="0" rIns="0" bIns="0" rtlCol="0" anchor="t"/>
          <a:lstStyle/>
          <a:p>
            <a:pPr algn="l" indent="0" marL="0">
              <a:lnSpc>
                <a:spcPts val="1097"/>
              </a:lnSpc>
              <a:buNone/>
            </a:pPr>
            <a:r>
              <a:rPr lang="en-US" sz="731" dirty="0">
                <a:solidFill>
                  <a:srgbClr val="6F6F6F"/>
                </a:solidFill>
                <a:latin typeface="Liberation Sans Narrow" pitchFamily="34" charset="0"/>
                <a:ea typeface="Liberation Sans Narrow" pitchFamily="34" charset="-122"/>
                <a:cs typeface="Liberation Sans Narrow" pitchFamily="34" charset="-120"/>
              </a:rPr>
              <a:t>01</a:t>
            </a:r>
            <a:endParaRPr lang="en-US" sz="731" dirty="0"/>
          </a:p>
        </p:txBody>
      </p:sp>
      <p:sp>
        <p:nvSpPr>
          <p:cNvPr id="10" name="Text 8"/>
          <p:cNvSpPr/>
          <p:nvPr/>
        </p:nvSpPr>
        <p:spPr>
          <a:xfrm>
            <a:off x="714375" y="1901577"/>
            <a:ext cx="3695891" cy="243030"/>
          </a:xfrm>
          <a:prstGeom prst="rect">
            <a:avLst/>
          </a:prstGeom>
          <a:noFill/>
          <a:ln/>
        </p:spPr>
        <p:txBody>
          <a:bodyPr wrap="square" lIns="0" tIns="0" rIns="0" bIns="0" rtlCol="0" anchor="t"/>
          <a:lstStyle/>
          <a:p>
            <a:pPr algn="l" indent="0" marL="0">
              <a:lnSpc>
                <a:spcPts val="1772"/>
              </a:lnSpc>
              <a:buNone/>
            </a:pPr>
            <a:r>
              <a:rPr lang="en-US" sz="1181" b="1" spc="-12" kern="0" dirty="0">
                <a:solidFill>
                  <a:srgbClr val="1A1A1A"/>
                </a:solidFill>
                <a:latin typeface="Carlito" pitchFamily="34" charset="0"/>
                <a:ea typeface="Carlito" pitchFamily="34" charset="-122"/>
                <a:cs typeface="Carlito" pitchFamily="34" charset="-120"/>
              </a:rPr>
              <a:t>Усталость МСП от агрегаторов</a:t>
            </a:r>
            <a:endParaRPr lang="en-US" sz="1181" dirty="0"/>
          </a:p>
        </p:txBody>
      </p:sp>
      <p:sp>
        <p:nvSpPr>
          <p:cNvPr id="11" name="Text 9"/>
          <p:cNvSpPr/>
          <p:nvPr/>
        </p:nvSpPr>
        <p:spPr>
          <a:xfrm>
            <a:off x="714375" y="2190899"/>
            <a:ext cx="3695891" cy="179380"/>
          </a:xfrm>
          <a:prstGeom prst="rect">
            <a:avLst/>
          </a:prstGeom>
          <a:noFill/>
          <a:ln/>
        </p:spPr>
        <p:txBody>
          <a:bodyPr wrap="square" lIns="0" tIns="0" rIns="0" bIns="0" rtlCol="0" anchor="t"/>
          <a:lstStyle/>
          <a:p>
            <a:pPr algn="l" indent="0" marL="0">
              <a:lnSpc>
                <a:spcPts val="1308"/>
              </a:lnSpc>
              <a:buNone/>
            </a:pPr>
            <a:r>
              <a:rPr lang="en-US" sz="872" dirty="0">
                <a:solidFill>
                  <a:srgbClr val="666666"/>
                </a:solidFill>
                <a:latin typeface="Carlito" pitchFamily="34" charset="0"/>
                <a:ea typeface="Carlito" pitchFamily="34" charset="-122"/>
                <a:cs typeface="Carlito" pitchFamily="34" charset="-120"/>
              </a:rPr>
              <a:t>Бизнес ищет альтернативу комиссии 20–45%</a:t>
            </a:r>
            <a:endParaRPr lang="en-US" sz="872" dirty="0"/>
          </a:p>
        </p:txBody>
      </p:sp>
      <p:sp>
        <p:nvSpPr>
          <p:cNvPr id="12" name="Text 10"/>
          <p:cNvSpPr/>
          <p:nvPr/>
        </p:nvSpPr>
        <p:spPr>
          <a:xfrm>
            <a:off x="4643438" y="1230064"/>
            <a:ext cx="3986213" cy="1685255"/>
          </a:xfrm>
          <a:prstGeom prst="roundRect">
            <a:avLst>
              <a:gd name="adj" fmla="val 678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4843463" y="1415802"/>
            <a:ext cx="357188" cy="357188"/>
          </a:xfrm>
          <a:prstGeom prst="roundRect">
            <a:avLst>
              <a:gd name="adj" fmla="val 32000"/>
            </a:avLst>
          </a:prstGeom>
          <a:solidFill>
            <a:srgbClr val="0ABAB5">
              <a:alpha val="12000"/>
            </a:srgbClr>
          </a:solidFill>
          <a:ln/>
        </p:spPr>
        <p:txBody>
          <a:bodyPr wrap="square" rtlCol="0" anchor="ctr"/>
          <a:lstStyle/>
          <a:p>
            <a:pPr indent="0" marL="0">
              <a:buNone/>
            </a:pPr>
            <a:endParaRPr lang="en-US" dirty="0"/>
          </a:p>
        </p:txBody>
      </p:sp>
      <p:sp>
        <p:nvSpPr>
          <p:cNvPr id="14" name="Text 12"/>
          <p:cNvSpPr/>
          <p:nvPr/>
        </p:nvSpPr>
        <p:spPr>
          <a:xfrm>
            <a:off x="4887397" y="1459736"/>
            <a:ext cx="269319" cy="269319"/>
          </a:xfrm>
          <a:prstGeom prst="rect">
            <a:avLst/>
          </a:prstGeom>
          <a:noFill/>
          <a:ln/>
        </p:spPr>
        <p:txBody>
          <a:bodyPr wrap="none" lIns="0" tIns="0" rIns="0" bIns="0" rtlCol="0" anchor="ctr"/>
          <a:lstStyle/>
          <a:p>
            <a:pPr algn="ctr" indent="0" marL="0">
              <a:buNone/>
            </a:pPr>
            <a:r>
              <a:rPr lang="en-US" sz="1828" dirty="0">
                <a:solidFill>
                  <a:srgbClr val="07807C"/>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8289508" y="1415802"/>
            <a:ext cx="168390" cy="164592"/>
          </a:xfrm>
          <a:prstGeom prst="rect">
            <a:avLst/>
          </a:prstGeom>
          <a:noFill/>
          <a:ln/>
        </p:spPr>
        <p:txBody>
          <a:bodyPr wrap="none" lIns="0" tIns="0" rIns="0" bIns="0" rtlCol="0" anchor="t"/>
          <a:lstStyle/>
          <a:p>
            <a:pPr algn="l" indent="0" marL="0">
              <a:lnSpc>
                <a:spcPts val="1097"/>
              </a:lnSpc>
              <a:buNone/>
            </a:pPr>
            <a:r>
              <a:rPr lang="en-US" sz="731" dirty="0">
                <a:solidFill>
                  <a:srgbClr val="6F6F6F"/>
                </a:solidFill>
                <a:latin typeface="Liberation Sans Narrow" pitchFamily="34" charset="0"/>
                <a:ea typeface="Liberation Sans Narrow" pitchFamily="34" charset="-122"/>
                <a:cs typeface="Liberation Sans Narrow" pitchFamily="34" charset="-120"/>
              </a:rPr>
              <a:t>02</a:t>
            </a:r>
            <a:endParaRPr lang="en-US" sz="731" dirty="0"/>
          </a:p>
        </p:txBody>
      </p:sp>
      <p:sp>
        <p:nvSpPr>
          <p:cNvPr id="16" name="Text 14"/>
          <p:cNvSpPr/>
          <p:nvPr/>
        </p:nvSpPr>
        <p:spPr>
          <a:xfrm>
            <a:off x="4843463" y="1901577"/>
            <a:ext cx="3586163" cy="243030"/>
          </a:xfrm>
          <a:prstGeom prst="rect">
            <a:avLst/>
          </a:prstGeom>
          <a:noFill/>
          <a:ln/>
        </p:spPr>
        <p:txBody>
          <a:bodyPr wrap="none" lIns="0" tIns="0" rIns="0" bIns="0" rtlCol="0" anchor="t"/>
          <a:lstStyle/>
          <a:p>
            <a:pPr algn="l" indent="0" marL="0">
              <a:lnSpc>
                <a:spcPts val="1772"/>
              </a:lnSpc>
              <a:buNone/>
            </a:pPr>
            <a:r>
              <a:rPr lang="en-US" sz="1181" b="1" spc="-12" kern="0" dirty="0">
                <a:solidFill>
                  <a:srgbClr val="1A1A1A"/>
                </a:solidFill>
                <a:latin typeface="Carlito" pitchFamily="34" charset="0"/>
                <a:ea typeface="Carlito" pitchFamily="34" charset="-122"/>
                <a:cs typeface="Carlito" pitchFamily="34" charset="-120"/>
              </a:rPr>
              <a:t>QR-платежи стали нормой</a:t>
            </a:r>
            <a:endParaRPr lang="en-US" sz="1181" dirty="0"/>
          </a:p>
        </p:txBody>
      </p:sp>
      <p:sp>
        <p:nvSpPr>
          <p:cNvPr id="17" name="Text 15"/>
          <p:cNvSpPr/>
          <p:nvPr/>
        </p:nvSpPr>
        <p:spPr>
          <a:xfrm>
            <a:off x="4843463" y="2190899"/>
            <a:ext cx="3695891" cy="179380"/>
          </a:xfrm>
          <a:prstGeom prst="rect">
            <a:avLst/>
          </a:prstGeom>
          <a:noFill/>
          <a:ln/>
        </p:spPr>
        <p:txBody>
          <a:bodyPr wrap="square" lIns="0" tIns="0" rIns="0" bIns="0" rtlCol="0" anchor="t"/>
          <a:lstStyle/>
          <a:p>
            <a:pPr algn="l" indent="0" marL="0">
              <a:lnSpc>
                <a:spcPts val="1308"/>
              </a:lnSpc>
              <a:buNone/>
            </a:pPr>
            <a:r>
              <a:rPr lang="en-US" sz="872" dirty="0">
                <a:solidFill>
                  <a:srgbClr val="666666"/>
                </a:solidFill>
                <a:latin typeface="Carlito" pitchFamily="34" charset="0"/>
                <a:ea typeface="Carlito" pitchFamily="34" charset="-122"/>
                <a:cs typeface="Carlito" pitchFamily="34" charset="-120"/>
              </a:rPr>
              <a:t>Привычка платить смартфоном уже сформирована</a:t>
            </a:r>
            <a:endParaRPr lang="en-US" sz="872" dirty="0"/>
          </a:p>
        </p:txBody>
      </p:sp>
      <p:sp>
        <p:nvSpPr>
          <p:cNvPr id="18" name="Text 16"/>
          <p:cNvSpPr/>
          <p:nvPr/>
        </p:nvSpPr>
        <p:spPr>
          <a:xfrm>
            <a:off x="514350" y="3058195"/>
            <a:ext cx="3986213" cy="1685255"/>
          </a:xfrm>
          <a:prstGeom prst="roundRect">
            <a:avLst>
              <a:gd name="adj" fmla="val 678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9" name="Text 17"/>
          <p:cNvSpPr/>
          <p:nvPr/>
        </p:nvSpPr>
        <p:spPr>
          <a:xfrm>
            <a:off x="714375" y="3243932"/>
            <a:ext cx="357188" cy="357188"/>
          </a:xfrm>
          <a:prstGeom prst="roundRect">
            <a:avLst>
              <a:gd name="adj" fmla="val 32000"/>
            </a:avLst>
          </a:prstGeom>
          <a:solidFill>
            <a:srgbClr val="1A1A1A">
              <a:alpha val="7000"/>
            </a:srgbClr>
          </a:solidFill>
          <a:ln/>
        </p:spPr>
        <p:txBody>
          <a:bodyPr wrap="square" rtlCol="0" anchor="ctr"/>
          <a:lstStyle/>
          <a:p>
            <a:pPr indent="0" marL="0">
              <a:buNone/>
            </a:pPr>
            <a:endParaRPr lang="en-US" dirty="0"/>
          </a:p>
        </p:txBody>
      </p:sp>
      <p:sp>
        <p:nvSpPr>
          <p:cNvPr id="20" name="Text 18"/>
          <p:cNvSpPr/>
          <p:nvPr/>
        </p:nvSpPr>
        <p:spPr>
          <a:xfrm>
            <a:off x="758309" y="3287866"/>
            <a:ext cx="269319" cy="269319"/>
          </a:xfrm>
          <a:prstGeom prst="rect">
            <a:avLst/>
          </a:prstGeom>
          <a:noFill/>
          <a:ln/>
        </p:spPr>
        <p:txBody>
          <a:bodyPr wrap="none" lIns="0" tIns="0" rIns="0" bIns="0" rtlCol="0" anchor="ctr"/>
          <a:lstStyle/>
          <a:p>
            <a:pPr algn="ctr" indent="0" marL="0">
              <a:buNone/>
            </a:pPr>
            <a:r>
              <a:rPr lang="en-US" sz="1828" dirty="0">
                <a:solidFill>
                  <a:srgbClr val="1A1A1A"/>
                </a:solidFill>
                <a:latin typeface="Segoe UI Symbol" pitchFamily="34" charset="0"/>
                <a:ea typeface="Segoe UI Symbol" pitchFamily="34" charset="-122"/>
                <a:cs typeface="Segoe UI Symbol" pitchFamily="34" charset="-120"/>
              </a:rPr>
              <a:t>♟</a:t>
            </a:r>
            <a:endParaRPr lang="en-US" sz="1828" dirty="0"/>
          </a:p>
        </p:txBody>
      </p:sp>
      <p:sp>
        <p:nvSpPr>
          <p:cNvPr id="21" name="Text 19"/>
          <p:cNvSpPr/>
          <p:nvPr/>
        </p:nvSpPr>
        <p:spPr>
          <a:xfrm>
            <a:off x="4160421" y="3243932"/>
            <a:ext cx="168390" cy="164592"/>
          </a:xfrm>
          <a:prstGeom prst="rect">
            <a:avLst/>
          </a:prstGeom>
          <a:noFill/>
          <a:ln/>
        </p:spPr>
        <p:txBody>
          <a:bodyPr wrap="none" lIns="0" tIns="0" rIns="0" bIns="0" rtlCol="0" anchor="t"/>
          <a:lstStyle/>
          <a:p>
            <a:pPr algn="l" indent="0" marL="0">
              <a:lnSpc>
                <a:spcPts val="1097"/>
              </a:lnSpc>
              <a:buNone/>
            </a:pPr>
            <a:r>
              <a:rPr lang="en-US" sz="731" dirty="0">
                <a:solidFill>
                  <a:srgbClr val="6F6F6F"/>
                </a:solidFill>
                <a:latin typeface="Liberation Sans Narrow" pitchFamily="34" charset="0"/>
                <a:ea typeface="Liberation Sans Narrow" pitchFamily="34" charset="-122"/>
                <a:cs typeface="Liberation Sans Narrow" pitchFamily="34" charset="-120"/>
              </a:rPr>
              <a:t>03</a:t>
            </a:r>
            <a:endParaRPr lang="en-US" sz="731" dirty="0"/>
          </a:p>
        </p:txBody>
      </p:sp>
      <p:sp>
        <p:nvSpPr>
          <p:cNvPr id="22" name="Text 20"/>
          <p:cNvSpPr/>
          <p:nvPr/>
        </p:nvSpPr>
        <p:spPr>
          <a:xfrm>
            <a:off x="714375" y="3729707"/>
            <a:ext cx="3586163" cy="243030"/>
          </a:xfrm>
          <a:prstGeom prst="rect">
            <a:avLst/>
          </a:prstGeom>
          <a:noFill/>
          <a:ln/>
        </p:spPr>
        <p:txBody>
          <a:bodyPr wrap="none" lIns="0" tIns="0" rIns="0" bIns="0" rtlCol="0" anchor="t"/>
          <a:lstStyle/>
          <a:p>
            <a:pPr algn="l" indent="0" marL="0">
              <a:lnSpc>
                <a:spcPts val="1772"/>
              </a:lnSpc>
              <a:buNone/>
            </a:pPr>
            <a:r>
              <a:rPr lang="en-US" sz="1181" b="1" spc="-12" kern="0" dirty="0">
                <a:solidFill>
                  <a:srgbClr val="1A1A1A"/>
                </a:solidFill>
                <a:latin typeface="Carlito" pitchFamily="34" charset="0"/>
                <a:ea typeface="Carlito" pitchFamily="34" charset="-122"/>
                <a:cs typeface="Carlito" pitchFamily="34" charset="-120"/>
              </a:rPr>
              <a:t>Локальные сообщества</a:t>
            </a:r>
            <a:endParaRPr lang="en-US" sz="1181" dirty="0"/>
          </a:p>
        </p:txBody>
      </p:sp>
      <p:sp>
        <p:nvSpPr>
          <p:cNvPr id="23" name="Text 21"/>
          <p:cNvSpPr/>
          <p:nvPr/>
        </p:nvSpPr>
        <p:spPr>
          <a:xfrm>
            <a:off x="714375" y="4019029"/>
            <a:ext cx="3586163" cy="179380"/>
          </a:xfrm>
          <a:prstGeom prst="rect">
            <a:avLst/>
          </a:prstGeom>
          <a:noFill/>
          <a:ln/>
        </p:spPr>
        <p:txBody>
          <a:bodyPr wrap="square" lIns="0" tIns="0" rIns="0" bIns="0" rtlCol="0" anchor="t"/>
          <a:lstStyle/>
          <a:p>
            <a:pPr algn="l" indent="0" marL="0">
              <a:lnSpc>
                <a:spcPts val="1308"/>
              </a:lnSpc>
              <a:buNone/>
            </a:pPr>
            <a:r>
              <a:rPr lang="en-US" sz="872" dirty="0">
                <a:solidFill>
                  <a:srgbClr val="666666"/>
                </a:solidFill>
                <a:latin typeface="Carlito" pitchFamily="34" charset="0"/>
                <a:ea typeface="Carlito" pitchFamily="34" charset="-122"/>
                <a:cs typeface="Carlito" pitchFamily="34" charset="-120"/>
              </a:rPr>
              <a:t>Районные чаты и сторис дают бесплатный канал дистрибуции</a:t>
            </a:r>
            <a:endParaRPr lang="en-US" sz="872" dirty="0"/>
          </a:p>
        </p:txBody>
      </p:sp>
      <p:sp>
        <p:nvSpPr>
          <p:cNvPr id="24" name="Text 22"/>
          <p:cNvSpPr/>
          <p:nvPr/>
        </p:nvSpPr>
        <p:spPr>
          <a:xfrm>
            <a:off x="4643438" y="3058195"/>
            <a:ext cx="3986213" cy="1685255"/>
          </a:xfrm>
          <a:prstGeom prst="roundRect">
            <a:avLst>
              <a:gd name="adj" fmla="val 6782"/>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5" name="Text 23"/>
          <p:cNvSpPr/>
          <p:nvPr/>
        </p:nvSpPr>
        <p:spPr>
          <a:xfrm>
            <a:off x="4843463" y="3243932"/>
            <a:ext cx="357188" cy="357188"/>
          </a:xfrm>
          <a:prstGeom prst="roundRect">
            <a:avLst>
              <a:gd name="adj" fmla="val 32000"/>
            </a:avLst>
          </a:prstGeom>
          <a:solidFill>
            <a:srgbClr val="D4A854">
              <a:alpha val="14000"/>
            </a:srgbClr>
          </a:solidFill>
          <a:ln/>
        </p:spPr>
        <p:txBody>
          <a:bodyPr wrap="square" rtlCol="0" anchor="ctr"/>
          <a:lstStyle/>
          <a:p>
            <a:pPr indent="0" marL="0">
              <a:buNone/>
            </a:pPr>
            <a:endParaRPr lang="en-US" dirty="0"/>
          </a:p>
        </p:txBody>
      </p:sp>
      <p:sp>
        <p:nvSpPr>
          <p:cNvPr id="26" name="Text 24"/>
          <p:cNvSpPr/>
          <p:nvPr/>
        </p:nvSpPr>
        <p:spPr>
          <a:xfrm>
            <a:off x="4887397" y="3287866"/>
            <a:ext cx="269319" cy="269319"/>
          </a:xfrm>
          <a:prstGeom prst="rect">
            <a:avLst/>
          </a:prstGeom>
          <a:noFill/>
          <a:ln/>
        </p:spPr>
        <p:txBody>
          <a:bodyPr wrap="none" lIns="0" tIns="0" rIns="0" bIns="0" rtlCol="0" anchor="ctr"/>
          <a:lstStyle/>
          <a:p>
            <a:pPr algn="ctr" indent="0" marL="0">
              <a:buNone/>
            </a:pPr>
            <a:r>
              <a:rPr lang="en-US" sz="1828" dirty="0">
                <a:solidFill>
                  <a:srgbClr val="8A6A25"/>
                </a:solidFill>
                <a:latin typeface="Segoe UI Symbol" pitchFamily="34" charset="0"/>
                <a:ea typeface="Segoe UI Symbol" pitchFamily="34" charset="-122"/>
                <a:cs typeface="Segoe UI Symbol" pitchFamily="34" charset="-120"/>
              </a:rPr>
              <a:t>⛨</a:t>
            </a:r>
            <a:endParaRPr lang="en-US" sz="1828" dirty="0"/>
          </a:p>
        </p:txBody>
      </p:sp>
      <p:sp>
        <p:nvSpPr>
          <p:cNvPr id="27" name="Text 25"/>
          <p:cNvSpPr/>
          <p:nvPr/>
        </p:nvSpPr>
        <p:spPr>
          <a:xfrm>
            <a:off x="8289508" y="3243932"/>
            <a:ext cx="168390" cy="164592"/>
          </a:xfrm>
          <a:prstGeom prst="rect">
            <a:avLst/>
          </a:prstGeom>
          <a:noFill/>
          <a:ln/>
        </p:spPr>
        <p:txBody>
          <a:bodyPr wrap="none" lIns="0" tIns="0" rIns="0" bIns="0" rtlCol="0" anchor="t"/>
          <a:lstStyle/>
          <a:p>
            <a:pPr algn="l" indent="0" marL="0">
              <a:lnSpc>
                <a:spcPts val="1097"/>
              </a:lnSpc>
              <a:buNone/>
            </a:pPr>
            <a:r>
              <a:rPr lang="en-US" sz="731" dirty="0">
                <a:solidFill>
                  <a:srgbClr val="6F6F6F"/>
                </a:solidFill>
                <a:latin typeface="Liberation Sans Narrow" pitchFamily="34" charset="0"/>
                <a:ea typeface="Liberation Sans Narrow" pitchFamily="34" charset="-122"/>
                <a:cs typeface="Liberation Sans Narrow" pitchFamily="34" charset="-120"/>
              </a:rPr>
              <a:t>04</a:t>
            </a:r>
            <a:endParaRPr lang="en-US" sz="731" dirty="0"/>
          </a:p>
        </p:txBody>
      </p:sp>
      <p:sp>
        <p:nvSpPr>
          <p:cNvPr id="28" name="Text 26"/>
          <p:cNvSpPr/>
          <p:nvPr/>
        </p:nvSpPr>
        <p:spPr>
          <a:xfrm>
            <a:off x="4843463" y="3729707"/>
            <a:ext cx="3586163" cy="243030"/>
          </a:xfrm>
          <a:prstGeom prst="rect">
            <a:avLst/>
          </a:prstGeom>
          <a:noFill/>
          <a:ln/>
        </p:spPr>
        <p:txBody>
          <a:bodyPr wrap="none" lIns="0" tIns="0" rIns="0" bIns="0" rtlCol="0" anchor="t"/>
          <a:lstStyle/>
          <a:p>
            <a:pPr algn="l" indent="0" marL="0">
              <a:lnSpc>
                <a:spcPts val="1772"/>
              </a:lnSpc>
              <a:buNone/>
            </a:pPr>
            <a:r>
              <a:rPr lang="en-US" sz="1181" b="1" spc="-12" kern="0" dirty="0">
                <a:solidFill>
                  <a:srgbClr val="1A1A1A"/>
                </a:solidFill>
                <a:latin typeface="Carlito" pitchFamily="34" charset="0"/>
                <a:ea typeface="Carlito" pitchFamily="34" charset="-122"/>
                <a:cs typeface="Carlito" pitchFamily="34" charset="-120"/>
              </a:rPr>
              <a:t>Регуляторная ясность</a:t>
            </a:r>
            <a:endParaRPr lang="en-US" sz="1181" dirty="0"/>
          </a:p>
        </p:txBody>
      </p:sp>
      <p:sp>
        <p:nvSpPr>
          <p:cNvPr id="29" name="Text 27"/>
          <p:cNvSpPr/>
          <p:nvPr/>
        </p:nvSpPr>
        <p:spPr>
          <a:xfrm>
            <a:off x="4843463" y="4019029"/>
            <a:ext cx="3586163" cy="179380"/>
          </a:xfrm>
          <a:prstGeom prst="rect">
            <a:avLst/>
          </a:prstGeom>
          <a:noFill/>
          <a:ln/>
        </p:spPr>
        <p:txBody>
          <a:bodyPr wrap="square" lIns="0" tIns="0" rIns="0" bIns="0" rtlCol="0" anchor="t"/>
          <a:lstStyle/>
          <a:p>
            <a:pPr algn="l" indent="0" marL="0">
              <a:lnSpc>
                <a:spcPts val="1308"/>
              </a:lnSpc>
              <a:buNone/>
            </a:pPr>
            <a:r>
              <a:rPr lang="en-US" sz="872" dirty="0">
                <a:solidFill>
                  <a:srgbClr val="666666"/>
                </a:solidFill>
                <a:latin typeface="Carlito" pitchFamily="34" charset="0"/>
                <a:ea typeface="Carlito" pitchFamily="34" charset="-122"/>
                <a:cs typeface="Carlito" pitchFamily="34" charset="-120"/>
              </a:rPr>
              <a:t>Номинальные счета </a:t>
            </a:r>
            <a:pPr algn="l" indent="0" marL="0">
              <a:lnSpc>
                <a:spcPts val="1308"/>
              </a:lnSpc>
              <a:buNone/>
            </a:pPr>
            <a:r>
              <a:rPr lang="en-US" sz="872" b="1" dirty="0">
                <a:solidFill>
                  <a:srgbClr val="1A1A1A"/>
                </a:solidFill>
                <a:latin typeface="Liberation Sans Narrow" pitchFamily="34" charset="0"/>
                <a:ea typeface="Liberation Sans Narrow" pitchFamily="34" charset="-122"/>
                <a:cs typeface="Liberation Sans Narrow" pitchFamily="34" charset="-120"/>
              </a:rPr>
              <a:t>ст. 860.1</a:t>
            </a:r>
            <a:pPr algn="l" indent="0" marL="0">
              <a:lnSpc>
                <a:spcPts val="1308"/>
              </a:lnSpc>
              <a:buNone/>
            </a:pPr>
            <a:r>
              <a:rPr lang="en-US" sz="872" dirty="0">
                <a:solidFill>
                  <a:srgbClr val="666666"/>
                </a:solidFill>
                <a:latin typeface="Carlito" pitchFamily="34" charset="0"/>
                <a:ea typeface="Carlito" pitchFamily="34" charset="-122"/>
                <a:cs typeface="Carlito" pitchFamily="34" charset="-120"/>
              </a:rPr>
              <a:t> дают правовой каркас для баллов</a:t>
            </a:r>
            <a:endParaRPr lang="en-US" sz="87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76845"/>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28625"/>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РЕШЕНИЕ</a:t>
            </a:r>
            <a:endParaRPr lang="en-US" sz="800" dirty="0"/>
          </a:p>
        </p:txBody>
      </p:sp>
      <p:sp>
        <p:nvSpPr>
          <p:cNvPr id="4" name="Text 2"/>
          <p:cNvSpPr/>
          <p:nvPr/>
        </p:nvSpPr>
        <p:spPr>
          <a:xfrm>
            <a:off x="514350" y="646509"/>
            <a:ext cx="8629650" cy="337060"/>
          </a:xfrm>
          <a:prstGeom prst="rect">
            <a:avLst/>
          </a:prstGeom>
          <a:noFill/>
          <a:ln/>
        </p:spPr>
        <p:txBody>
          <a:bodyPr wrap="squar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LOVII: комиссия </a:t>
            </a:r>
            <a:pPr algn="l" indent="0" marL="0">
              <a:lnSpc>
                <a:spcPts val="2458"/>
              </a:lnSpc>
              <a:buNone/>
            </a:pPr>
            <a:r>
              <a:rPr lang="en-US" sz="2138" b="1" spc="-43" kern="0" dirty="0">
                <a:solidFill>
                  <a:srgbClr val="F64A8A"/>
                </a:solidFill>
                <a:latin typeface="Liberation Sans Narrow" pitchFamily="34" charset="0"/>
                <a:ea typeface="Liberation Sans Narrow" pitchFamily="34" charset="-122"/>
                <a:cs typeface="Liberation Sans Narrow" pitchFamily="34" charset="-120"/>
              </a:rPr>
              <a:t>~10%</a:t>
            </a:r>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 вместо 20–45%</a:t>
            </a:r>
            <a:endParaRPr lang="en-US" sz="2138" dirty="0"/>
          </a:p>
        </p:txBody>
      </p:sp>
      <p:sp>
        <p:nvSpPr>
          <p:cNvPr id="5" name="Text 3"/>
          <p:cNvSpPr/>
          <p:nvPr/>
        </p:nvSpPr>
        <p:spPr>
          <a:xfrm>
            <a:off x="514350" y="1201489"/>
            <a:ext cx="3957638" cy="2902595"/>
          </a:xfrm>
          <a:prstGeom prst="roundRect">
            <a:avLst>
              <a:gd name="adj" fmla="val 3938"/>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6" name="Text 4"/>
          <p:cNvSpPr/>
          <p:nvPr/>
        </p:nvSpPr>
        <p:spPr>
          <a:xfrm>
            <a:off x="714375" y="1403300"/>
            <a:ext cx="171450" cy="171450"/>
          </a:xfrm>
          <a:prstGeom prst="rect">
            <a:avLst/>
          </a:prstGeom>
          <a:noFill/>
          <a:ln/>
        </p:spPr>
        <p:txBody>
          <a:bodyPr wrap="none" lIns="0" tIns="0" rIns="0" bIns="0" rtlCol="0" anchor="ctr"/>
          <a:lstStyle/>
          <a:p>
            <a:pPr algn="ctr" indent="0" marL="0">
              <a:buNone/>
            </a:pPr>
            <a:r>
              <a:rPr lang="en-US" sz="1688" dirty="0">
                <a:solidFill>
                  <a:srgbClr val="6F6F6F"/>
                </a:solidFill>
                <a:latin typeface="Segoe UI Symbol" pitchFamily="34" charset="0"/>
                <a:ea typeface="Segoe UI Symbol" pitchFamily="34" charset="-122"/>
                <a:cs typeface="Segoe UI Symbol" pitchFamily="34" charset="-120"/>
              </a:rPr>
              <a:t>⊖</a:t>
            </a:r>
            <a:endParaRPr lang="en-US" sz="1688" dirty="0"/>
          </a:p>
        </p:txBody>
      </p:sp>
      <p:sp>
        <p:nvSpPr>
          <p:cNvPr id="7" name="Text 5"/>
          <p:cNvSpPr/>
          <p:nvPr/>
        </p:nvSpPr>
        <p:spPr>
          <a:xfrm>
            <a:off x="957263" y="1387227"/>
            <a:ext cx="3314700" cy="219885"/>
          </a:xfrm>
          <a:prstGeom prst="rect">
            <a:avLst/>
          </a:prstGeom>
          <a:noFill/>
          <a:ln/>
        </p:spPr>
        <p:txBody>
          <a:bodyPr wrap="none" lIns="0" tIns="0" rIns="0" bIns="0" rtlCol="0" anchor="t"/>
          <a:lstStyle/>
          <a:p>
            <a:pPr algn="l" indent="0" marL="0">
              <a:lnSpc>
                <a:spcPts val="1603"/>
              </a:lnSpc>
              <a:buNone/>
            </a:pPr>
            <a:r>
              <a:rPr lang="en-US" sz="1069" b="1" dirty="0">
                <a:solidFill>
                  <a:srgbClr val="6F6F6F"/>
                </a:solidFill>
                <a:latin typeface="Carlito" pitchFamily="34" charset="0"/>
                <a:ea typeface="Carlito" pitchFamily="34" charset="-122"/>
                <a:cs typeface="Carlito" pitchFamily="34" charset="-120"/>
              </a:rPr>
              <a:t>Как сегодня</a:t>
            </a:r>
            <a:endParaRPr lang="en-US" sz="1069" dirty="0"/>
          </a:p>
        </p:txBody>
      </p:sp>
      <p:sp>
        <p:nvSpPr>
          <p:cNvPr id="8" name="Text 6"/>
          <p:cNvSpPr/>
          <p:nvPr/>
        </p:nvSpPr>
        <p:spPr>
          <a:xfrm>
            <a:off x="714375" y="2318817"/>
            <a:ext cx="135731" cy="135731"/>
          </a:xfrm>
          <a:prstGeom prst="rect">
            <a:avLst/>
          </a:prstGeom>
          <a:noFill/>
          <a:ln/>
        </p:spPr>
        <p:txBody>
          <a:bodyPr wrap="none" lIns="0" tIns="0" rIns="0" bIns="0" rtlCol="0" anchor="ctr"/>
          <a:lstStyle/>
          <a:p>
            <a:pPr algn="ctr" indent="0" marL="0">
              <a:buNone/>
            </a:pPr>
            <a:r>
              <a:rPr lang="en-US" sz="1336" dirty="0">
                <a:solidFill>
                  <a:srgbClr val="6F6F6F"/>
                </a:solidFill>
                <a:latin typeface="Segoe UI Symbol" pitchFamily="34" charset="0"/>
                <a:ea typeface="Segoe UI Symbol" pitchFamily="34" charset="-122"/>
                <a:cs typeface="Segoe UI Symbol" pitchFamily="34" charset="-120"/>
              </a:rPr>
              <a:t>−</a:t>
            </a:r>
            <a:endParaRPr lang="en-US" sz="1336" dirty="0"/>
          </a:p>
        </p:txBody>
      </p:sp>
      <p:sp>
        <p:nvSpPr>
          <p:cNvPr id="9" name="Text 7"/>
          <p:cNvSpPr/>
          <p:nvPr/>
        </p:nvSpPr>
        <p:spPr>
          <a:xfrm>
            <a:off x="935831" y="2304529"/>
            <a:ext cx="3336131" cy="185166"/>
          </a:xfrm>
          <a:prstGeom prst="rect">
            <a:avLst/>
          </a:prstGeom>
          <a:noFill/>
          <a:ln/>
        </p:spPr>
        <p:txBody>
          <a:bodyPr wrap="none" lIns="0" tIns="0" rIns="0" bIns="0" rtlCol="0" anchor="t"/>
          <a:lstStyle/>
          <a:p>
            <a:pPr algn="l" indent="0" marL="0">
              <a:lnSpc>
                <a:spcPts val="1350"/>
              </a:lnSpc>
              <a:buNone/>
            </a:pPr>
            <a:r>
              <a:rPr lang="en-US" sz="900" dirty="0">
                <a:solidFill>
                  <a:srgbClr val="3F3F3F"/>
                </a:solidFill>
                <a:latin typeface="Carlito" pitchFamily="34" charset="0"/>
                <a:ea typeface="Carlito" pitchFamily="34" charset="-122"/>
                <a:cs typeface="Carlito" pitchFamily="34" charset="-120"/>
              </a:rPr>
              <a:t>Агрегатор забирает </a:t>
            </a:r>
            <a:pPr algn="l" indent="0" marL="0">
              <a:lnSpc>
                <a:spcPts val="1350"/>
              </a:lnSpc>
              <a:buNone/>
            </a:pPr>
            <a:r>
              <a:rPr lang="en-US" sz="900" b="1" dirty="0">
                <a:solidFill>
                  <a:srgbClr val="3F3F3F"/>
                </a:solidFill>
                <a:latin typeface="Liberation Sans Narrow" pitchFamily="34" charset="0"/>
                <a:ea typeface="Liberation Sans Narrow" pitchFamily="34" charset="-122"/>
                <a:cs typeface="Liberation Sans Narrow" pitchFamily="34" charset="-120"/>
              </a:rPr>
              <a:t>20–45%</a:t>
            </a:r>
            <a:pPr algn="l" indent="0" marL="0">
              <a:lnSpc>
                <a:spcPts val="1350"/>
              </a:lnSpc>
              <a:buNone/>
            </a:pPr>
            <a:r>
              <a:rPr lang="en-US" sz="900" dirty="0">
                <a:solidFill>
                  <a:srgbClr val="3F3F3F"/>
                </a:solidFill>
                <a:latin typeface="Carlito" pitchFamily="34" charset="0"/>
                <a:ea typeface="Carlito" pitchFamily="34" charset="-122"/>
                <a:cs typeface="Carlito" pitchFamily="34" charset="-120"/>
              </a:rPr>
              <a:t> чека</a:t>
            </a:r>
            <a:endParaRPr lang="en-US" sz="900" dirty="0"/>
          </a:p>
        </p:txBody>
      </p:sp>
      <p:sp>
        <p:nvSpPr>
          <p:cNvPr id="10" name="Text 8"/>
          <p:cNvSpPr/>
          <p:nvPr/>
        </p:nvSpPr>
        <p:spPr>
          <a:xfrm>
            <a:off x="714375" y="2568848"/>
            <a:ext cx="3557588" cy="7144"/>
          </a:xfrm>
          <a:prstGeom prst="rect">
            <a:avLst/>
          </a:prstGeom>
          <a:solidFill>
            <a:srgbClr val="1A1A1A">
              <a:alpha val="7000"/>
            </a:srgbClr>
          </a:solidFill>
          <a:ln/>
        </p:spPr>
        <p:txBody>
          <a:bodyPr wrap="square" rtlCol="0" anchor="ctr"/>
          <a:lstStyle/>
          <a:p>
            <a:pPr indent="0" marL="0">
              <a:buNone/>
            </a:pPr>
            <a:endParaRPr lang="en-US" dirty="0"/>
          </a:p>
        </p:txBody>
      </p:sp>
      <p:sp>
        <p:nvSpPr>
          <p:cNvPr id="11" name="Text 9"/>
          <p:cNvSpPr/>
          <p:nvPr/>
        </p:nvSpPr>
        <p:spPr>
          <a:xfrm>
            <a:off x="714375" y="2683148"/>
            <a:ext cx="135731" cy="135731"/>
          </a:xfrm>
          <a:prstGeom prst="rect">
            <a:avLst/>
          </a:prstGeom>
          <a:noFill/>
          <a:ln/>
        </p:spPr>
        <p:txBody>
          <a:bodyPr wrap="none" lIns="0" tIns="0" rIns="0" bIns="0" rtlCol="0" anchor="ctr"/>
          <a:lstStyle/>
          <a:p>
            <a:pPr algn="ctr" indent="0" marL="0">
              <a:buNone/>
            </a:pPr>
            <a:r>
              <a:rPr lang="en-US" sz="1336" dirty="0">
                <a:solidFill>
                  <a:srgbClr val="6F6F6F"/>
                </a:solidFill>
                <a:latin typeface="Segoe UI Symbol" pitchFamily="34" charset="0"/>
                <a:ea typeface="Segoe UI Symbol" pitchFamily="34" charset="-122"/>
                <a:cs typeface="Segoe UI Symbol" pitchFamily="34" charset="-120"/>
              </a:rPr>
              <a:t>−</a:t>
            </a:r>
            <a:endParaRPr lang="en-US" sz="1336" dirty="0"/>
          </a:p>
        </p:txBody>
      </p:sp>
      <p:sp>
        <p:nvSpPr>
          <p:cNvPr id="12" name="Text 10"/>
          <p:cNvSpPr/>
          <p:nvPr/>
        </p:nvSpPr>
        <p:spPr>
          <a:xfrm>
            <a:off x="935831" y="2668860"/>
            <a:ext cx="3336131" cy="185166"/>
          </a:xfrm>
          <a:prstGeom prst="rect">
            <a:avLst/>
          </a:prstGeom>
          <a:noFill/>
          <a:ln/>
        </p:spPr>
        <p:txBody>
          <a:bodyPr wrap="none" lIns="0" tIns="0" rIns="0" bIns="0" rtlCol="0" anchor="t"/>
          <a:lstStyle/>
          <a:p>
            <a:pPr algn="l" indent="0" marL="0">
              <a:lnSpc>
                <a:spcPts val="1350"/>
              </a:lnSpc>
              <a:buNone/>
            </a:pPr>
            <a:r>
              <a:rPr lang="en-US" sz="900" dirty="0">
                <a:solidFill>
                  <a:srgbClr val="3F3F3F"/>
                </a:solidFill>
                <a:latin typeface="Carlito" pitchFamily="34" charset="0"/>
                <a:ea typeface="Carlito" pitchFamily="34" charset="-122"/>
                <a:cs typeface="Carlito" pitchFamily="34" charset="-120"/>
              </a:rPr>
              <a:t>Клиент обезличен, данные у платформы</a:t>
            </a:r>
            <a:endParaRPr lang="en-US" sz="900" dirty="0"/>
          </a:p>
        </p:txBody>
      </p:sp>
      <p:sp>
        <p:nvSpPr>
          <p:cNvPr id="13" name="Text 11"/>
          <p:cNvSpPr/>
          <p:nvPr/>
        </p:nvSpPr>
        <p:spPr>
          <a:xfrm>
            <a:off x="714375" y="2933179"/>
            <a:ext cx="3557588" cy="7144"/>
          </a:xfrm>
          <a:prstGeom prst="rect">
            <a:avLst/>
          </a:prstGeom>
          <a:solidFill>
            <a:srgbClr val="1A1A1A">
              <a:alpha val="7000"/>
            </a:srgbClr>
          </a:solidFill>
          <a:ln/>
        </p:spPr>
        <p:txBody>
          <a:bodyPr wrap="square" rtlCol="0" anchor="ctr"/>
          <a:lstStyle/>
          <a:p>
            <a:pPr indent="0" marL="0">
              <a:buNone/>
            </a:pPr>
            <a:endParaRPr lang="en-US" dirty="0"/>
          </a:p>
        </p:txBody>
      </p:sp>
      <p:sp>
        <p:nvSpPr>
          <p:cNvPr id="14" name="Text 12"/>
          <p:cNvSpPr/>
          <p:nvPr/>
        </p:nvSpPr>
        <p:spPr>
          <a:xfrm>
            <a:off x="714375" y="3047479"/>
            <a:ext cx="135731" cy="135731"/>
          </a:xfrm>
          <a:prstGeom prst="rect">
            <a:avLst/>
          </a:prstGeom>
          <a:noFill/>
          <a:ln/>
        </p:spPr>
        <p:txBody>
          <a:bodyPr wrap="none" lIns="0" tIns="0" rIns="0" bIns="0" rtlCol="0" anchor="ctr"/>
          <a:lstStyle/>
          <a:p>
            <a:pPr algn="ctr" indent="0" marL="0">
              <a:buNone/>
            </a:pPr>
            <a:r>
              <a:rPr lang="en-US" sz="1336" dirty="0">
                <a:solidFill>
                  <a:srgbClr val="6F6F6F"/>
                </a:solidFill>
                <a:latin typeface="Segoe UI Symbol" pitchFamily="34" charset="0"/>
                <a:ea typeface="Segoe UI Symbol" pitchFamily="34" charset="-122"/>
                <a:cs typeface="Segoe UI Symbol" pitchFamily="34" charset="-120"/>
              </a:rPr>
              <a:t>−</a:t>
            </a:r>
            <a:endParaRPr lang="en-US" sz="1336" dirty="0"/>
          </a:p>
        </p:txBody>
      </p:sp>
      <p:sp>
        <p:nvSpPr>
          <p:cNvPr id="15" name="Text 13"/>
          <p:cNvSpPr/>
          <p:nvPr/>
        </p:nvSpPr>
        <p:spPr>
          <a:xfrm>
            <a:off x="935831" y="3033192"/>
            <a:ext cx="3336131" cy="185166"/>
          </a:xfrm>
          <a:prstGeom prst="rect">
            <a:avLst/>
          </a:prstGeom>
          <a:noFill/>
          <a:ln/>
        </p:spPr>
        <p:txBody>
          <a:bodyPr wrap="none" lIns="0" tIns="0" rIns="0" bIns="0" rtlCol="0" anchor="t"/>
          <a:lstStyle/>
          <a:p>
            <a:pPr algn="l" indent="0" marL="0">
              <a:lnSpc>
                <a:spcPts val="1350"/>
              </a:lnSpc>
              <a:buNone/>
            </a:pPr>
            <a:r>
              <a:rPr lang="en-US" sz="900" dirty="0">
                <a:solidFill>
                  <a:srgbClr val="3F3F3F"/>
                </a:solidFill>
                <a:latin typeface="Carlito" pitchFamily="34" charset="0"/>
                <a:ea typeface="Carlito" pitchFamily="34" charset="-122"/>
                <a:cs typeface="Carlito" pitchFamily="34" charset="-120"/>
              </a:rPr>
              <a:t>Деньги уходят из района</a:t>
            </a:r>
            <a:endParaRPr lang="en-US" sz="900" dirty="0"/>
          </a:p>
        </p:txBody>
      </p:sp>
      <p:sp>
        <p:nvSpPr>
          <p:cNvPr id="16" name="Text 14"/>
          <p:cNvSpPr/>
          <p:nvPr/>
        </p:nvSpPr>
        <p:spPr>
          <a:xfrm>
            <a:off x="4650581" y="1208633"/>
            <a:ext cx="3971925" cy="2888307"/>
          </a:xfrm>
          <a:prstGeom prst="roundRect">
            <a:avLst>
              <a:gd name="adj" fmla="val 3957"/>
            </a:avLst>
          </a:prstGeom>
          <a:solidFill>
            <a:srgbClr val="FFFFFF"/>
          </a:solidFill>
          <a:ln w="14288">
            <a:solidFill>
              <a:srgbClr val="F64A8A"/>
            </a:solidFill>
            <a:prstDash val="solid"/>
          </a:ln>
          <a:effectLst>
            <a:outerShdw sx="100000" sy="100000" kx="0" ky="0" algn="bl" rotWithShape="0" blurRad="114300" dist="19050" dir="5400000">
              <a:srgbClr val="F64A8A">
                <a:alpha val="10000"/>
              </a:srgbClr>
            </a:outerShdw>
          </a:effectLst>
        </p:spPr>
        <p:txBody>
          <a:bodyPr wrap="square" rtlCol="0" anchor="ctr"/>
          <a:lstStyle/>
          <a:p>
            <a:pPr indent="0" marL="0">
              <a:buNone/>
            </a:pPr>
            <a:endParaRPr lang="en-US" dirty="0"/>
          </a:p>
        </p:txBody>
      </p:sp>
      <p:sp>
        <p:nvSpPr>
          <p:cNvPr id="17" name="Text 15"/>
          <p:cNvSpPr/>
          <p:nvPr/>
        </p:nvSpPr>
        <p:spPr>
          <a:xfrm>
            <a:off x="4857750" y="1417588"/>
            <a:ext cx="171450" cy="171450"/>
          </a:xfrm>
          <a:prstGeom prst="rect">
            <a:avLst/>
          </a:prstGeom>
          <a:noFill/>
          <a:ln/>
        </p:spPr>
        <p:txBody>
          <a:bodyPr wrap="none" lIns="0" tIns="0" rIns="0" bIns="0" rtlCol="0" anchor="ctr"/>
          <a:lstStyle/>
          <a:p>
            <a:pPr algn="ctr" indent="0" marL="0">
              <a:buNone/>
            </a:pPr>
            <a:r>
              <a:rPr lang="en-US" sz="1688" dirty="0">
                <a:solidFill>
                  <a:srgbClr val="F64A8A"/>
                </a:solidFill>
                <a:latin typeface="Segoe UI Symbol" pitchFamily="34" charset="0"/>
                <a:ea typeface="Segoe UI Symbol" pitchFamily="34" charset="-122"/>
                <a:cs typeface="Segoe UI Symbol" pitchFamily="34" charset="-120"/>
              </a:rPr>
              <a:t>✓</a:t>
            </a:r>
            <a:endParaRPr lang="en-US" sz="1688" dirty="0"/>
          </a:p>
        </p:txBody>
      </p:sp>
      <p:sp>
        <p:nvSpPr>
          <p:cNvPr id="18" name="Text 16"/>
          <p:cNvSpPr/>
          <p:nvPr/>
        </p:nvSpPr>
        <p:spPr>
          <a:xfrm>
            <a:off x="5100638" y="1401514"/>
            <a:ext cx="3314700" cy="219885"/>
          </a:xfrm>
          <a:prstGeom prst="rect">
            <a:avLst/>
          </a:prstGeom>
          <a:noFill/>
          <a:ln/>
        </p:spPr>
        <p:txBody>
          <a:bodyPr wrap="none" lIns="0" tIns="0" rIns="0" bIns="0" rtlCol="0" anchor="t"/>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Как с LOVII</a:t>
            </a:r>
            <a:endParaRPr lang="en-US" sz="1069" dirty="0"/>
          </a:p>
        </p:txBody>
      </p:sp>
      <p:sp>
        <p:nvSpPr>
          <p:cNvPr id="19" name="Text 17"/>
          <p:cNvSpPr/>
          <p:nvPr/>
        </p:nvSpPr>
        <p:spPr>
          <a:xfrm>
            <a:off x="4857750" y="2310780"/>
            <a:ext cx="135731" cy="135731"/>
          </a:xfrm>
          <a:prstGeom prst="rect">
            <a:avLst/>
          </a:prstGeom>
          <a:noFill/>
          <a:ln/>
        </p:spPr>
        <p:txBody>
          <a:bodyPr wrap="none" lIns="0" tIns="0" rIns="0" bIns="0" rtlCol="0" anchor="ctr"/>
          <a:lstStyle/>
          <a:p>
            <a:pPr algn="ctr" indent="0" marL="0">
              <a:buNone/>
            </a:pPr>
            <a:r>
              <a:rPr lang="en-US" sz="1336" dirty="0">
                <a:solidFill>
                  <a:srgbClr val="F64A8A"/>
                </a:solidFill>
                <a:latin typeface="Segoe UI Symbol" pitchFamily="34" charset="0"/>
                <a:ea typeface="Segoe UI Symbol" pitchFamily="34" charset="-122"/>
                <a:cs typeface="Segoe UI Symbol" pitchFamily="34" charset="-120"/>
              </a:rPr>
              <a:t>✓</a:t>
            </a:r>
            <a:endParaRPr lang="en-US" sz="1336" dirty="0"/>
          </a:p>
        </p:txBody>
      </p:sp>
      <p:sp>
        <p:nvSpPr>
          <p:cNvPr id="20" name="Text 18"/>
          <p:cNvSpPr/>
          <p:nvPr/>
        </p:nvSpPr>
        <p:spPr>
          <a:xfrm>
            <a:off x="5079206" y="2296492"/>
            <a:ext cx="3336131" cy="190952"/>
          </a:xfrm>
          <a:prstGeom prst="rect">
            <a:avLst/>
          </a:prstGeom>
          <a:noFill/>
          <a:ln/>
        </p:spPr>
        <p:txBody>
          <a:bodyPr wrap="none" lIns="0" tIns="0"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Бизнес платит </a:t>
            </a:r>
            <a:pPr algn="l" indent="0" marL="0">
              <a:lnSpc>
                <a:spcPts val="1392"/>
              </a:lnSpc>
              <a:buNone/>
            </a:pPr>
            <a:r>
              <a:rPr lang="en-US" sz="928" b="1" dirty="0">
                <a:solidFill>
                  <a:srgbClr val="C92A6A"/>
                </a:solidFill>
                <a:latin typeface="Liberation Sans Narrow" pitchFamily="34" charset="0"/>
                <a:ea typeface="Liberation Sans Narrow" pitchFamily="34" charset="-122"/>
                <a:cs typeface="Liberation Sans Narrow" pitchFamily="34" charset="-120"/>
              </a:rPr>
              <a:t>~10%</a:t>
            </a:r>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 за сервис лояльности</a:t>
            </a:r>
            <a:endParaRPr lang="en-US" sz="928" dirty="0"/>
          </a:p>
        </p:txBody>
      </p:sp>
      <p:sp>
        <p:nvSpPr>
          <p:cNvPr id="21" name="Text 19"/>
          <p:cNvSpPr/>
          <p:nvPr/>
        </p:nvSpPr>
        <p:spPr>
          <a:xfrm>
            <a:off x="4857750" y="2566169"/>
            <a:ext cx="3557588" cy="7144"/>
          </a:xfrm>
          <a:prstGeom prst="rect">
            <a:avLst/>
          </a:prstGeom>
          <a:solidFill>
            <a:srgbClr val="F64A8A">
              <a:alpha val="15000"/>
            </a:srgbClr>
          </a:solidFill>
          <a:ln/>
        </p:spPr>
        <p:txBody>
          <a:bodyPr wrap="square" rtlCol="0" anchor="ctr"/>
          <a:lstStyle/>
          <a:p>
            <a:pPr indent="0" marL="0">
              <a:buNone/>
            </a:pPr>
            <a:endParaRPr lang="en-US" dirty="0"/>
          </a:p>
        </p:txBody>
      </p:sp>
      <p:sp>
        <p:nvSpPr>
          <p:cNvPr id="22" name="Text 20"/>
          <p:cNvSpPr/>
          <p:nvPr/>
        </p:nvSpPr>
        <p:spPr>
          <a:xfrm>
            <a:off x="4857750" y="2680469"/>
            <a:ext cx="135731" cy="135731"/>
          </a:xfrm>
          <a:prstGeom prst="rect">
            <a:avLst/>
          </a:prstGeom>
          <a:noFill/>
          <a:ln/>
        </p:spPr>
        <p:txBody>
          <a:bodyPr wrap="none" lIns="0" tIns="0" rIns="0" bIns="0" rtlCol="0" anchor="ctr"/>
          <a:lstStyle/>
          <a:p>
            <a:pPr algn="ctr" indent="0" marL="0">
              <a:buNone/>
            </a:pPr>
            <a:r>
              <a:rPr lang="en-US" sz="1336" dirty="0">
                <a:solidFill>
                  <a:srgbClr val="F64A8A"/>
                </a:solidFill>
                <a:latin typeface="Segoe UI Symbol" pitchFamily="34" charset="0"/>
                <a:ea typeface="Segoe UI Symbol" pitchFamily="34" charset="-122"/>
                <a:cs typeface="Segoe UI Symbol" pitchFamily="34" charset="-120"/>
              </a:rPr>
              <a:t>✓</a:t>
            </a:r>
            <a:endParaRPr lang="en-US" sz="1336" dirty="0"/>
          </a:p>
        </p:txBody>
      </p:sp>
      <p:sp>
        <p:nvSpPr>
          <p:cNvPr id="23" name="Text 21"/>
          <p:cNvSpPr/>
          <p:nvPr/>
        </p:nvSpPr>
        <p:spPr>
          <a:xfrm>
            <a:off x="5079206" y="2666181"/>
            <a:ext cx="3336131" cy="190952"/>
          </a:xfrm>
          <a:prstGeom prst="rect">
            <a:avLst/>
          </a:prstGeom>
          <a:noFill/>
          <a:ln/>
        </p:spPr>
        <p:txBody>
          <a:bodyPr wrap="none" lIns="0" tIns="0"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Кэшбэк-пул </a:t>
            </a:r>
            <a:pPr algn="l" indent="0" marL="0">
              <a:lnSpc>
                <a:spcPts val="1392"/>
              </a:lnSpc>
              <a:buNone/>
            </a:pPr>
            <a:r>
              <a:rPr lang="en-US" sz="928" b="1" dirty="0">
                <a:solidFill>
                  <a:srgbClr val="C92A6A"/>
                </a:solidFill>
                <a:latin typeface="Liberation Sans Narrow" pitchFamily="34" charset="0"/>
                <a:ea typeface="Liberation Sans Narrow" pitchFamily="34" charset="-122"/>
                <a:cs typeface="Liberation Sans Narrow" pitchFamily="34" charset="-120"/>
              </a:rPr>
              <a:t>6,84–9,3%</a:t>
            </a:r>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 возвращается жителям баллами</a:t>
            </a:r>
            <a:endParaRPr lang="en-US" sz="928" dirty="0"/>
          </a:p>
        </p:txBody>
      </p:sp>
      <p:sp>
        <p:nvSpPr>
          <p:cNvPr id="24" name="Text 22"/>
          <p:cNvSpPr/>
          <p:nvPr/>
        </p:nvSpPr>
        <p:spPr>
          <a:xfrm>
            <a:off x="4857750" y="2935858"/>
            <a:ext cx="3557588" cy="7144"/>
          </a:xfrm>
          <a:prstGeom prst="rect">
            <a:avLst/>
          </a:prstGeom>
          <a:solidFill>
            <a:srgbClr val="F64A8A">
              <a:alpha val="15000"/>
            </a:srgbClr>
          </a:solidFill>
          <a:ln/>
        </p:spPr>
        <p:txBody>
          <a:bodyPr wrap="square" rtlCol="0" anchor="ctr"/>
          <a:lstStyle/>
          <a:p>
            <a:pPr indent="0" marL="0">
              <a:buNone/>
            </a:pPr>
            <a:endParaRPr lang="en-US" dirty="0"/>
          </a:p>
        </p:txBody>
      </p:sp>
      <p:sp>
        <p:nvSpPr>
          <p:cNvPr id="25" name="Text 23"/>
          <p:cNvSpPr/>
          <p:nvPr/>
        </p:nvSpPr>
        <p:spPr>
          <a:xfrm>
            <a:off x="4857750" y="3050158"/>
            <a:ext cx="135731" cy="135731"/>
          </a:xfrm>
          <a:prstGeom prst="rect">
            <a:avLst/>
          </a:prstGeom>
          <a:noFill/>
          <a:ln/>
        </p:spPr>
        <p:txBody>
          <a:bodyPr wrap="none" lIns="0" tIns="0" rIns="0" bIns="0" rtlCol="0" anchor="ctr"/>
          <a:lstStyle/>
          <a:p>
            <a:pPr algn="ctr" indent="0" marL="0">
              <a:buNone/>
            </a:pPr>
            <a:r>
              <a:rPr lang="en-US" sz="1336" dirty="0">
                <a:solidFill>
                  <a:srgbClr val="F64A8A"/>
                </a:solidFill>
                <a:latin typeface="Segoe UI Symbol" pitchFamily="34" charset="0"/>
                <a:ea typeface="Segoe UI Symbol" pitchFamily="34" charset="-122"/>
                <a:cs typeface="Segoe UI Symbol" pitchFamily="34" charset="-120"/>
              </a:rPr>
              <a:t>✓</a:t>
            </a:r>
            <a:endParaRPr lang="en-US" sz="1336" dirty="0"/>
          </a:p>
        </p:txBody>
      </p:sp>
      <p:sp>
        <p:nvSpPr>
          <p:cNvPr id="26" name="Text 24"/>
          <p:cNvSpPr/>
          <p:nvPr/>
        </p:nvSpPr>
        <p:spPr>
          <a:xfrm>
            <a:off x="5079206" y="3035871"/>
            <a:ext cx="3336131" cy="190952"/>
          </a:xfrm>
          <a:prstGeom prst="rect">
            <a:avLst/>
          </a:prstGeom>
          <a:noFill/>
          <a:ln/>
        </p:spPr>
        <p:txBody>
          <a:bodyPr wrap="none" lIns="0" tIns="0"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Оборот и данные остаются в районе</a:t>
            </a:r>
            <a:endParaRPr lang="en-US" sz="928" dirty="0"/>
          </a:p>
        </p:txBody>
      </p:sp>
      <p:sp>
        <p:nvSpPr>
          <p:cNvPr id="27" name="Text 25"/>
          <p:cNvSpPr/>
          <p:nvPr/>
        </p:nvSpPr>
        <p:spPr>
          <a:xfrm>
            <a:off x="514350" y="4304109"/>
            <a:ext cx="8115300" cy="439341"/>
          </a:xfrm>
          <a:prstGeom prst="roundRect">
            <a:avLst>
              <a:gd name="adj" fmla="val 26016"/>
            </a:avLst>
          </a:prstGeom>
          <a:solidFill>
            <a:srgbClr val="1A1A1A"/>
          </a:solidFill>
          <a:ln/>
        </p:spPr>
        <p:txBody>
          <a:bodyPr wrap="square" rtlCol="0" anchor="ctr"/>
          <a:lstStyle/>
          <a:p>
            <a:pPr indent="0" marL="0">
              <a:buNone/>
            </a:pPr>
            <a:endParaRPr lang="en-US" dirty="0"/>
          </a:p>
        </p:txBody>
      </p:sp>
      <p:sp>
        <p:nvSpPr>
          <p:cNvPr id="28" name="Text 26"/>
          <p:cNvSpPr/>
          <p:nvPr/>
        </p:nvSpPr>
        <p:spPr>
          <a:xfrm>
            <a:off x="700088" y="4438055"/>
            <a:ext cx="171450" cy="171450"/>
          </a:xfrm>
          <a:prstGeom prst="rect">
            <a:avLst/>
          </a:prstGeom>
          <a:noFill/>
          <a:ln/>
        </p:spPr>
        <p:txBody>
          <a:bodyPr wrap="none" lIns="0" tIns="0" rIns="0" bIns="0" rtlCol="0" anchor="ctr"/>
          <a:lstStyle/>
          <a:p>
            <a:pPr algn="ctr" indent="0" marL="0">
              <a:buNone/>
            </a:pPr>
            <a:r>
              <a:rPr lang="en-US" sz="1688" dirty="0">
                <a:solidFill>
                  <a:srgbClr val="F64A8A"/>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971550" y="4432697"/>
            <a:ext cx="7472363" cy="182166"/>
          </a:xfrm>
          <a:prstGeom prst="rect">
            <a:avLst/>
          </a:prstGeom>
          <a:noFill/>
          <a:ln/>
        </p:spPr>
        <p:txBody>
          <a:bodyPr wrap="square" lIns="0" tIns="0" rIns="0" bIns="0" rtlCol="0" anchor="t"/>
          <a:lstStyle/>
          <a:p>
            <a:pPr algn="l" indent="0" marL="0">
              <a:lnSpc>
                <a:spcPts val="1434"/>
              </a:lnSpc>
              <a:buNone/>
            </a:pPr>
            <a:r>
              <a:rPr lang="en-US" sz="956" b="1" dirty="0">
                <a:solidFill>
                  <a:srgbClr val="FFFFFF"/>
                </a:solidFill>
                <a:latin typeface="Carlito" pitchFamily="34" charset="0"/>
                <a:ea typeface="Carlito" pitchFamily="34" charset="-122"/>
                <a:cs typeface="Carlito" pitchFamily="34" charset="-120"/>
              </a:rPr>
              <a:t>Агентская модель: платформа зарабатывает только с реального оборота точек</a:t>
            </a:r>
            <a:endParaRPr lang="en-US" sz="95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07246" y="200025"/>
            <a:ext cx="3367792" cy="2005965"/>
          </a:xfrm>
          <a:prstGeom prst="rect">
            <a:avLst/>
          </a:prstGeom>
          <a:noFill/>
          <a:ln/>
        </p:spPr>
        <p:txBody>
          <a:bodyPr wrap="square" lIns="0" tIns="0" rIns="0" bIns="0" rtlCol="0" anchor="t"/>
          <a:lstStyle/>
          <a:p>
            <a:pPr algn="l" indent="0" marL="0">
              <a:lnSpc>
                <a:spcPts val="14625"/>
              </a:lnSpc>
              <a:buNone/>
            </a:pPr>
            <a:r>
              <a:rPr lang="en-US" sz="14625" b="1" spc="-585" kern="0" dirty="0">
                <a:solidFill>
                  <a:srgbClr val="1A1A1A">
                    <a:alpha val="5000"/>
                  </a:srgbClr>
                </a:solidFill>
                <a:latin typeface="Liberation Sans Narrow" pitchFamily="34" charset="0"/>
                <a:ea typeface="Liberation Sans Narrow" pitchFamily="34" charset="-122"/>
                <a:cs typeface="Liberation Sans Narrow" pitchFamily="34" charset="-120"/>
              </a:rPr>
              <a:t>01</a:t>
            </a:r>
            <a:endParaRPr lang="en-US" sz="14625" dirty="0"/>
          </a:p>
        </p:txBody>
      </p:sp>
      <p:sp>
        <p:nvSpPr>
          <p:cNvPr id="3" name="Text 1"/>
          <p:cNvSpPr/>
          <p:nvPr/>
        </p:nvSpPr>
        <p:spPr>
          <a:xfrm>
            <a:off x="7286625" y="3357563"/>
            <a:ext cx="3000375" cy="3000375"/>
          </a:xfrm>
          <a:prstGeom prst="ellipse">
            <a:avLst/>
          </a:prstGeom>
          <a:solidFill>
            <a:srgbClr val="0ABAB5">
              <a:alpha val="6000"/>
            </a:srgbClr>
          </a:solidFill>
          <a:ln/>
        </p:spPr>
        <p:txBody>
          <a:bodyPr wrap="square" rtlCol="0" anchor="ctr"/>
          <a:lstStyle/>
          <a:p>
            <a:pPr indent="0" marL="0">
              <a:buNone/>
            </a:pPr>
            <a:endParaRPr lang="en-US" dirty="0"/>
          </a:p>
        </p:txBody>
      </p:sp>
      <p:sp>
        <p:nvSpPr>
          <p:cNvPr id="4" name="Text 2"/>
          <p:cNvSpPr/>
          <p:nvPr/>
        </p:nvSpPr>
        <p:spPr>
          <a:xfrm>
            <a:off x="685800" y="4614863"/>
            <a:ext cx="71438" cy="71438"/>
          </a:xfrm>
          <a:prstGeom prst="ellipse">
            <a:avLst/>
          </a:prstGeom>
          <a:solidFill>
            <a:srgbClr val="F64A8A"/>
          </a:solidFill>
          <a:ln/>
        </p:spPr>
        <p:txBody>
          <a:bodyPr wrap="square" rtlCol="0" anchor="ctr"/>
          <a:lstStyle/>
          <a:p>
            <a:pPr indent="0" marL="0">
              <a:buNone/>
            </a:pPr>
            <a:endParaRPr lang="en-US" dirty="0"/>
          </a:p>
        </p:txBody>
      </p:sp>
      <p:sp>
        <p:nvSpPr>
          <p:cNvPr id="5" name="Text 3"/>
          <p:cNvSpPr/>
          <p:nvPr/>
        </p:nvSpPr>
        <p:spPr>
          <a:xfrm>
            <a:off x="828675" y="4614863"/>
            <a:ext cx="71438" cy="71438"/>
          </a:xfrm>
          <a:prstGeom prst="ellipse">
            <a:avLst/>
          </a:prstGeom>
          <a:solidFill>
            <a:srgbClr val="1A1A1A">
              <a:alpha val="15000"/>
            </a:srgbClr>
          </a:solidFill>
          <a:ln/>
        </p:spPr>
        <p:txBody>
          <a:bodyPr wrap="square" rtlCol="0" anchor="ctr"/>
          <a:lstStyle/>
          <a:p>
            <a:pPr indent="0" marL="0">
              <a:buNone/>
            </a:pPr>
            <a:endParaRPr lang="en-US" dirty="0"/>
          </a:p>
        </p:txBody>
      </p:sp>
      <p:sp>
        <p:nvSpPr>
          <p:cNvPr id="6" name="Text 4"/>
          <p:cNvSpPr/>
          <p:nvPr/>
        </p:nvSpPr>
        <p:spPr>
          <a:xfrm>
            <a:off x="971550" y="4614863"/>
            <a:ext cx="71438" cy="71438"/>
          </a:xfrm>
          <a:prstGeom prst="ellipse">
            <a:avLst/>
          </a:prstGeom>
          <a:solidFill>
            <a:srgbClr val="1A1A1A">
              <a:alpha val="15000"/>
            </a:srgbClr>
          </a:solidFill>
          <a:ln/>
        </p:spPr>
        <p:txBody>
          <a:bodyPr wrap="square" rtlCol="0" anchor="ctr"/>
          <a:lstStyle/>
          <a:p>
            <a:pPr indent="0" marL="0">
              <a:buNone/>
            </a:pPr>
            <a:endParaRPr lang="en-US" dirty="0"/>
          </a:p>
        </p:txBody>
      </p:sp>
      <p:sp>
        <p:nvSpPr>
          <p:cNvPr id="7" name="Text 5"/>
          <p:cNvSpPr/>
          <p:nvPr/>
        </p:nvSpPr>
        <p:spPr>
          <a:xfrm>
            <a:off x="662940" y="1843114"/>
            <a:ext cx="911007"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8" name="Text 6"/>
          <p:cNvSpPr/>
          <p:nvPr/>
        </p:nvSpPr>
        <p:spPr>
          <a:xfrm>
            <a:off x="685800" y="1854473"/>
            <a:ext cx="86528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РАЗДЕЛ 01 / 03</a:t>
            </a:r>
            <a:endParaRPr lang="en-US" sz="800" dirty="0"/>
          </a:p>
        </p:txBody>
      </p:sp>
      <p:sp>
        <p:nvSpPr>
          <p:cNvPr id="9" name="Text 7"/>
          <p:cNvSpPr/>
          <p:nvPr/>
        </p:nvSpPr>
        <p:spPr>
          <a:xfrm>
            <a:off x="685800" y="2258095"/>
            <a:ext cx="5700713" cy="449896"/>
          </a:xfrm>
          <a:prstGeom prst="rect">
            <a:avLst/>
          </a:prstGeom>
          <a:noFill/>
          <a:ln/>
        </p:spPr>
        <p:txBody>
          <a:bodyPr wrap="none" lIns="0" tIns="0" rIns="0" bIns="0" rtlCol="0" anchor="t"/>
          <a:lstStyle/>
          <a:p>
            <a:pPr algn="l" indent="0" marL="0">
              <a:lnSpc>
                <a:spcPts val="3281"/>
              </a:lnSpc>
              <a:buNone/>
            </a:pPr>
            <a:r>
              <a:rPr lang="en-US" sz="3038" b="1" spc="-76" kern="0" dirty="0">
                <a:solidFill>
                  <a:srgbClr val="1A1A1A"/>
                </a:solidFill>
                <a:latin typeface="Carlito" pitchFamily="34" charset="0"/>
                <a:ea typeface="Carlito" pitchFamily="34" charset="-122"/>
                <a:cs typeface="Carlito" pitchFamily="34" charset="-120"/>
              </a:rPr>
              <a:t>Продукт и экономика</a:t>
            </a:r>
            <a:endParaRPr lang="en-US" sz="3038" dirty="0"/>
          </a:p>
        </p:txBody>
      </p:sp>
      <p:sp>
        <p:nvSpPr>
          <p:cNvPr id="10" name="Text 8"/>
          <p:cNvSpPr/>
          <p:nvPr/>
        </p:nvSpPr>
        <p:spPr>
          <a:xfrm>
            <a:off x="685800" y="2874690"/>
            <a:ext cx="457200" cy="28575"/>
          </a:xfrm>
          <a:prstGeom prst="roundRect">
            <a:avLst>
              <a:gd name="adj" fmla="val 66667"/>
            </a:avLst>
          </a:prstGeom>
          <a:solidFill>
            <a:srgbClr val="F64A8A"/>
          </a:solidFill>
          <a:ln/>
        </p:spPr>
        <p:txBody>
          <a:bodyPr wrap="square" rtlCol="0" anchor="ctr"/>
          <a:lstStyle/>
          <a:p>
            <a:pPr indent="0" marL="0">
              <a:buNone/>
            </a:pPr>
            <a:endParaRPr lang="en-US" dirty="0"/>
          </a:p>
        </p:txBody>
      </p:sp>
      <p:sp>
        <p:nvSpPr>
          <p:cNvPr id="11" name="Text 9"/>
          <p:cNvSpPr/>
          <p:nvPr/>
        </p:nvSpPr>
        <p:spPr>
          <a:xfrm>
            <a:off x="685800" y="3074715"/>
            <a:ext cx="4320540" cy="231458"/>
          </a:xfrm>
          <a:prstGeom prst="rect">
            <a:avLst/>
          </a:prstGeom>
          <a:noFill/>
          <a:ln/>
        </p:spPr>
        <p:txBody>
          <a:bodyPr wrap="square" lIns="0" tIns="0" rIns="0" bIns="0" rtlCol="0" anchor="t"/>
          <a:lstStyle/>
          <a:p>
            <a:pPr algn="l" indent="0" marL="0">
              <a:lnSpc>
                <a:spcPts val="1688"/>
              </a:lnSpc>
              <a:buNone/>
            </a:pPr>
            <a:r>
              <a:rPr lang="en-US" sz="1125" dirty="0">
                <a:solidFill>
                  <a:srgbClr val="666666"/>
                </a:solidFill>
                <a:latin typeface="Carlito" pitchFamily="34" charset="0"/>
                <a:ea typeface="Carlito" pitchFamily="34" charset="-122"/>
                <a:cs typeface="Carlito" pitchFamily="34" charset="-120"/>
              </a:rPr>
              <a:t>Валюта района, тарифы и юнит-экономика точки</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076179" y="476845"/>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4226874" y="428625"/>
            <a:ext cx="690253" cy="164592"/>
          </a:xfrm>
          <a:prstGeom prst="rect">
            <a:avLst/>
          </a:prstGeom>
          <a:noFill/>
          <a:ln/>
        </p:spPr>
        <p:txBody>
          <a:bodyPr wrap="none" lIns="0" tIns="0" rIns="0" bIns="0" rtlCol="0" anchor="t"/>
          <a:lstStyle/>
          <a:p>
            <a:pPr algn="ctr"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ПРОДУКТ</a:t>
            </a:r>
            <a:endParaRPr lang="en-US" sz="800" dirty="0"/>
          </a:p>
        </p:txBody>
      </p:sp>
      <p:sp>
        <p:nvSpPr>
          <p:cNvPr id="4" name="Text 2"/>
          <p:cNvSpPr/>
          <p:nvPr/>
        </p:nvSpPr>
        <p:spPr>
          <a:xfrm>
            <a:off x="4882083" y="476845"/>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5" name="Text 3"/>
          <p:cNvSpPr/>
          <p:nvPr/>
        </p:nvSpPr>
        <p:spPr>
          <a:xfrm>
            <a:off x="108585" y="646509"/>
            <a:ext cx="8636000" cy="337060"/>
          </a:xfrm>
          <a:prstGeom prst="rect">
            <a:avLst/>
          </a:prstGeom>
          <a:noFill/>
          <a:ln/>
        </p:spPr>
        <p:txBody>
          <a:bodyPr wrap="square" lIns="0" tIns="0" rIns="0" bIns="0" rtlCol="0" anchor="t"/>
          <a:lstStyle/>
          <a:p>
            <a:pPr algn="ctr"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Простой продукт, который понимают все</a:t>
            </a:r>
            <a:endParaRPr lang="en-US" sz="2138" dirty="0"/>
          </a:p>
        </p:txBody>
      </p:sp>
      <p:sp>
        <p:nvSpPr>
          <p:cNvPr id="6" name="Text 4"/>
          <p:cNvSpPr/>
          <p:nvPr/>
        </p:nvSpPr>
        <p:spPr>
          <a:xfrm>
            <a:off x="517922" y="1262211"/>
            <a:ext cx="2583582" cy="2800796"/>
          </a:xfrm>
          <a:prstGeom prst="roundRect">
            <a:avLst>
              <a:gd name="adj" fmla="val 442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7" name="Text 5"/>
          <p:cNvSpPr/>
          <p:nvPr/>
        </p:nvSpPr>
        <p:spPr>
          <a:xfrm>
            <a:off x="721519" y="1480096"/>
            <a:ext cx="400050" cy="400050"/>
          </a:xfrm>
          <a:prstGeom prst="roundRect">
            <a:avLst>
              <a:gd name="adj" fmla="val 28571"/>
            </a:avLst>
          </a:prstGeom>
          <a:solidFill>
            <a:srgbClr val="F64A8A">
              <a:alpha val="12000"/>
            </a:srgbClr>
          </a:solidFill>
          <a:ln/>
        </p:spPr>
        <p:txBody>
          <a:bodyPr wrap="square" rtlCol="0" anchor="ctr"/>
          <a:lstStyle/>
          <a:p>
            <a:pPr indent="0" marL="0">
              <a:buNone/>
            </a:pPr>
            <a:endParaRPr lang="en-US" dirty="0"/>
          </a:p>
        </p:txBody>
      </p:sp>
      <p:sp>
        <p:nvSpPr>
          <p:cNvPr id="8" name="Text 6"/>
          <p:cNvSpPr/>
          <p:nvPr/>
        </p:nvSpPr>
        <p:spPr>
          <a:xfrm>
            <a:off x="766167" y="1524744"/>
            <a:ext cx="310753" cy="310753"/>
          </a:xfrm>
          <a:prstGeom prst="rect">
            <a:avLst/>
          </a:prstGeom>
          <a:noFill/>
          <a:ln/>
        </p:spPr>
        <p:txBody>
          <a:bodyPr wrap="none" lIns="0" tIns="0" rIns="0" bIns="0" rtlCol="0" anchor="ctr"/>
          <a:lstStyle/>
          <a:p>
            <a:pPr algn="ctr" indent="0" marL="0">
              <a:buNone/>
            </a:pPr>
            <a:r>
              <a:rPr lang="en-US" sz="2109" dirty="0">
                <a:solidFill>
                  <a:srgbClr val="C92A6A"/>
                </a:solidFill>
                <a:latin typeface="Segoe UI Symbol" pitchFamily="34" charset="0"/>
                <a:ea typeface="Segoe UI Symbol" pitchFamily="34" charset="-122"/>
                <a:cs typeface="Segoe UI Symbol" pitchFamily="34" charset="-120"/>
              </a:rPr>
              <a:t>$</a:t>
            </a:r>
            <a:endParaRPr lang="en-US" sz="2109" dirty="0"/>
          </a:p>
        </p:txBody>
      </p:sp>
      <p:sp>
        <p:nvSpPr>
          <p:cNvPr id="9" name="Text 7"/>
          <p:cNvSpPr/>
          <p:nvPr/>
        </p:nvSpPr>
        <p:spPr>
          <a:xfrm>
            <a:off x="721519" y="2051596"/>
            <a:ext cx="550726" cy="147590"/>
          </a:xfrm>
          <a:prstGeom prst="rect">
            <a:avLst/>
          </a:prstGeom>
          <a:noFill/>
          <a:ln/>
        </p:spPr>
        <p:txBody>
          <a:bodyPr wrap="none" lIns="0" tIns="0" rIns="0" bIns="0" rtlCol="0" anchor="t">
            <a:normAutofit/>
          </a:bodyPr>
          <a:lstStyle/>
          <a:p>
            <a:pPr algn="l" indent="0" marL="0">
              <a:lnSpc>
                <a:spcPts val="928"/>
              </a:lnSpc>
              <a:buNone/>
            </a:pPr>
            <a:r>
              <a:rPr lang="en-US" sz="800" b="1" spc="74" kern="0" dirty="0">
                <a:solidFill>
                  <a:srgbClr val="767676"/>
                </a:solidFill>
                <a:latin typeface="Carlito" pitchFamily="34" charset="0"/>
                <a:ea typeface="Carlito" pitchFamily="34" charset="-122"/>
                <a:cs typeface="Carlito" pitchFamily="34" charset="-120"/>
              </a:rPr>
              <a:t>ВАЛЮТА</a:t>
            </a:r>
            <a:endParaRPr lang="en-US" sz="800" dirty="0"/>
          </a:p>
        </p:txBody>
      </p:sp>
      <p:sp>
        <p:nvSpPr>
          <p:cNvPr id="10" name="Text 8"/>
          <p:cNvSpPr/>
          <p:nvPr/>
        </p:nvSpPr>
        <p:spPr>
          <a:xfrm>
            <a:off x="721519" y="2226618"/>
            <a:ext cx="1208253" cy="289322"/>
          </a:xfrm>
          <a:prstGeom prst="rect">
            <a:avLst/>
          </a:prstGeom>
          <a:noFill/>
          <a:ln/>
        </p:spPr>
        <p:txBody>
          <a:bodyPr wrap="none" lIns="0" tIns="0" rIns="0" bIns="0" rtlCol="0" anchor="t"/>
          <a:lstStyle/>
          <a:p>
            <a:pPr algn="l" indent="0" marL="0">
              <a:lnSpc>
                <a:spcPts val="2109"/>
              </a:lnSpc>
              <a:buNone/>
            </a:pPr>
            <a:r>
              <a:rPr lang="en-US" sz="1406" b="1" spc="-14" kern="0" dirty="0">
                <a:solidFill>
                  <a:srgbClr val="1A1A1A"/>
                </a:solidFill>
                <a:latin typeface="Carlito" pitchFamily="34" charset="0"/>
                <a:ea typeface="Carlito" pitchFamily="34" charset="-122"/>
                <a:cs typeface="Carlito" pitchFamily="34" charset="-120"/>
              </a:rPr>
              <a:t>1 балл = 1 ₽</a:t>
            </a:r>
            <a:endParaRPr lang="en-US" sz="1406" dirty="0"/>
          </a:p>
        </p:txBody>
      </p:sp>
      <p:sp>
        <p:nvSpPr>
          <p:cNvPr id="11" name="Text 9"/>
          <p:cNvSpPr/>
          <p:nvPr/>
        </p:nvSpPr>
        <p:spPr>
          <a:xfrm>
            <a:off x="721519" y="2565946"/>
            <a:ext cx="2176388" cy="370573"/>
          </a:xfrm>
          <a:prstGeom prst="rect">
            <a:avLst/>
          </a:prstGeom>
          <a:noFill/>
          <a:ln/>
        </p:spPr>
        <p:txBody>
          <a:bodyPr wrap="square" lIns="0" tIns="0" rIns="0" bIns="0" rtlCol="0" anchor="t"/>
          <a:lstStyle/>
          <a:p>
            <a:pPr algn="l" indent="0" marL="0">
              <a:lnSpc>
                <a:spcPts val="1351"/>
              </a:lnSpc>
              <a:buNone/>
            </a:pPr>
            <a:r>
              <a:rPr lang="en-US" sz="872" dirty="0">
                <a:solidFill>
                  <a:srgbClr val="666666"/>
                </a:solidFill>
                <a:latin typeface="Carlito" pitchFamily="34" charset="0"/>
                <a:ea typeface="Carlito" pitchFamily="34" charset="-122"/>
                <a:cs typeface="Carlito" pitchFamily="34" charset="-120"/>
              </a:rPr>
              <a:t>Прозрачная валюта района, баллы не сгорают</a:t>
            </a:r>
            <a:endParaRPr lang="en-US" sz="872" dirty="0"/>
          </a:p>
        </p:txBody>
      </p:sp>
      <p:sp>
        <p:nvSpPr>
          <p:cNvPr id="12" name="Text 10"/>
          <p:cNvSpPr/>
          <p:nvPr/>
        </p:nvSpPr>
        <p:spPr>
          <a:xfrm>
            <a:off x="3280097" y="1262211"/>
            <a:ext cx="2583693" cy="2800796"/>
          </a:xfrm>
          <a:prstGeom prst="roundRect">
            <a:avLst>
              <a:gd name="adj" fmla="val 442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3483694" y="1480096"/>
            <a:ext cx="400050" cy="400050"/>
          </a:xfrm>
          <a:prstGeom prst="roundRect">
            <a:avLst>
              <a:gd name="adj" fmla="val 28571"/>
            </a:avLst>
          </a:prstGeom>
          <a:solidFill>
            <a:srgbClr val="0ABAB5">
              <a:alpha val="12000"/>
            </a:srgbClr>
          </a:solidFill>
          <a:ln/>
        </p:spPr>
        <p:txBody>
          <a:bodyPr wrap="square" rtlCol="0" anchor="ctr"/>
          <a:lstStyle/>
          <a:p>
            <a:pPr indent="0" marL="0">
              <a:buNone/>
            </a:pPr>
            <a:endParaRPr lang="en-US" dirty="0"/>
          </a:p>
        </p:txBody>
      </p:sp>
      <p:sp>
        <p:nvSpPr>
          <p:cNvPr id="14" name="Text 12"/>
          <p:cNvSpPr/>
          <p:nvPr/>
        </p:nvSpPr>
        <p:spPr>
          <a:xfrm>
            <a:off x="3528343" y="1524744"/>
            <a:ext cx="310753" cy="310753"/>
          </a:xfrm>
          <a:prstGeom prst="rect">
            <a:avLst/>
          </a:prstGeom>
          <a:noFill/>
          <a:ln/>
        </p:spPr>
        <p:txBody>
          <a:bodyPr wrap="none" lIns="0" tIns="0" rIns="0" bIns="0" rtlCol="0" anchor="ctr"/>
          <a:lstStyle/>
          <a:p>
            <a:pPr algn="ctr" indent="0" marL="0">
              <a:buNone/>
            </a:pPr>
            <a:r>
              <a:rPr lang="en-US" sz="2109" dirty="0">
                <a:solidFill>
                  <a:srgbClr val="07807C"/>
                </a:solidFill>
                <a:latin typeface="Segoe UI Symbol" pitchFamily="34" charset="0"/>
                <a:ea typeface="Segoe UI Symbol" pitchFamily="34" charset="-122"/>
                <a:cs typeface="Segoe UI Symbol" pitchFamily="34" charset="-120"/>
              </a:rPr>
              <a:t>✦</a:t>
            </a:r>
            <a:endParaRPr lang="en-US" sz="2109" dirty="0"/>
          </a:p>
        </p:txBody>
      </p:sp>
      <p:sp>
        <p:nvSpPr>
          <p:cNvPr id="15" name="Text 13"/>
          <p:cNvSpPr/>
          <p:nvPr/>
        </p:nvSpPr>
        <p:spPr>
          <a:xfrm>
            <a:off x="3483694" y="2051596"/>
            <a:ext cx="926704" cy="147590"/>
          </a:xfrm>
          <a:prstGeom prst="rect">
            <a:avLst/>
          </a:prstGeom>
          <a:noFill/>
          <a:ln/>
        </p:spPr>
        <p:txBody>
          <a:bodyPr wrap="none" lIns="0" tIns="0" rIns="0" bIns="0" rtlCol="0" anchor="t">
            <a:normAutofit/>
          </a:bodyPr>
          <a:lstStyle/>
          <a:p>
            <a:pPr algn="l" indent="0" marL="0">
              <a:lnSpc>
                <a:spcPts val="928"/>
              </a:lnSpc>
              <a:buNone/>
            </a:pPr>
            <a:r>
              <a:rPr lang="en-US" sz="800" b="1" spc="74" kern="0" dirty="0">
                <a:solidFill>
                  <a:srgbClr val="767676"/>
                </a:solidFill>
                <a:latin typeface="Carlito" pitchFamily="34" charset="0"/>
                <a:ea typeface="Carlito" pitchFamily="34" charset="-122"/>
                <a:cs typeface="Carlito" pitchFamily="34" charset="-120"/>
              </a:rPr>
              <a:t>ПОДКЛЮЧЕНИЕ</a:t>
            </a:r>
            <a:endParaRPr lang="en-US" sz="800" dirty="0"/>
          </a:p>
        </p:txBody>
      </p:sp>
      <p:sp>
        <p:nvSpPr>
          <p:cNvPr id="16" name="Text 14"/>
          <p:cNvSpPr/>
          <p:nvPr/>
        </p:nvSpPr>
        <p:spPr>
          <a:xfrm>
            <a:off x="3483694" y="2226618"/>
            <a:ext cx="1426853" cy="289322"/>
          </a:xfrm>
          <a:prstGeom prst="rect">
            <a:avLst/>
          </a:prstGeom>
          <a:noFill/>
          <a:ln/>
        </p:spPr>
        <p:txBody>
          <a:bodyPr wrap="none" lIns="0" tIns="0" rIns="0" bIns="0" rtlCol="0" anchor="t"/>
          <a:lstStyle/>
          <a:p>
            <a:pPr algn="l" indent="0" marL="0">
              <a:lnSpc>
                <a:spcPts val="2109"/>
              </a:lnSpc>
              <a:buNone/>
            </a:pPr>
            <a:r>
              <a:rPr lang="en-US" sz="1406" b="1" spc="-14" kern="0" dirty="0">
                <a:solidFill>
                  <a:srgbClr val="1A1A1A"/>
                </a:solidFill>
                <a:latin typeface="Carlito" pitchFamily="34" charset="0"/>
                <a:ea typeface="Carlito" pitchFamily="34" charset="-122"/>
                <a:cs typeface="Carlito" pitchFamily="34" charset="-120"/>
              </a:rPr>
              <a:t>QR за 5 минут</a:t>
            </a:r>
            <a:endParaRPr lang="en-US" sz="1406" dirty="0"/>
          </a:p>
        </p:txBody>
      </p:sp>
      <p:sp>
        <p:nvSpPr>
          <p:cNvPr id="17" name="Text 15"/>
          <p:cNvSpPr/>
          <p:nvPr/>
        </p:nvSpPr>
        <p:spPr>
          <a:xfrm>
            <a:off x="3483694" y="2565946"/>
            <a:ext cx="2176500" cy="370573"/>
          </a:xfrm>
          <a:prstGeom prst="rect">
            <a:avLst/>
          </a:prstGeom>
          <a:noFill/>
          <a:ln/>
        </p:spPr>
        <p:txBody>
          <a:bodyPr wrap="square" lIns="0" tIns="0" rIns="0" bIns="0" rtlCol="0" anchor="t"/>
          <a:lstStyle/>
          <a:p>
            <a:pPr algn="l" indent="0" marL="0">
              <a:lnSpc>
                <a:spcPts val="1351"/>
              </a:lnSpc>
              <a:buNone/>
            </a:pPr>
            <a:r>
              <a:rPr lang="en-US" sz="872" dirty="0">
                <a:solidFill>
                  <a:srgbClr val="666666"/>
                </a:solidFill>
                <a:latin typeface="Carlito" pitchFamily="34" charset="0"/>
                <a:ea typeface="Carlito" pitchFamily="34" charset="-122"/>
                <a:cs typeface="Carlito" pitchFamily="34" charset="-120"/>
              </a:rPr>
              <a:t>Точка подключается без оборудования и интеграций: стикер на кассе</a:t>
            </a:r>
            <a:endParaRPr lang="en-US" sz="872" dirty="0"/>
          </a:p>
        </p:txBody>
      </p:sp>
      <p:sp>
        <p:nvSpPr>
          <p:cNvPr id="18" name="Text 16"/>
          <p:cNvSpPr/>
          <p:nvPr/>
        </p:nvSpPr>
        <p:spPr>
          <a:xfrm>
            <a:off x="6042385" y="1262211"/>
            <a:ext cx="2583582" cy="2800796"/>
          </a:xfrm>
          <a:prstGeom prst="roundRect">
            <a:avLst>
              <a:gd name="adj" fmla="val 442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9" name="Text 17"/>
          <p:cNvSpPr/>
          <p:nvPr/>
        </p:nvSpPr>
        <p:spPr>
          <a:xfrm>
            <a:off x="6245982" y="1480096"/>
            <a:ext cx="400050" cy="400050"/>
          </a:xfrm>
          <a:prstGeom prst="roundRect">
            <a:avLst>
              <a:gd name="adj" fmla="val 28571"/>
            </a:avLst>
          </a:prstGeom>
          <a:solidFill>
            <a:srgbClr val="D4A854">
              <a:alpha val="14000"/>
            </a:srgbClr>
          </a:solidFill>
          <a:ln/>
        </p:spPr>
        <p:txBody>
          <a:bodyPr wrap="square" rtlCol="0" anchor="ctr"/>
          <a:lstStyle/>
          <a:p>
            <a:pPr indent="0" marL="0">
              <a:buNone/>
            </a:pPr>
            <a:endParaRPr lang="en-US" dirty="0"/>
          </a:p>
        </p:txBody>
      </p:sp>
      <p:sp>
        <p:nvSpPr>
          <p:cNvPr id="20" name="Text 18"/>
          <p:cNvSpPr/>
          <p:nvPr/>
        </p:nvSpPr>
        <p:spPr>
          <a:xfrm>
            <a:off x="6290630" y="1524744"/>
            <a:ext cx="310753" cy="310753"/>
          </a:xfrm>
          <a:prstGeom prst="rect">
            <a:avLst/>
          </a:prstGeom>
          <a:noFill/>
          <a:ln/>
        </p:spPr>
        <p:txBody>
          <a:bodyPr wrap="none" lIns="0" tIns="0" rIns="0" bIns="0" rtlCol="0" anchor="ctr"/>
          <a:lstStyle/>
          <a:p>
            <a:pPr algn="ctr" indent="0" marL="0">
              <a:buNone/>
            </a:pPr>
            <a:r>
              <a:rPr lang="en-US" sz="2109" dirty="0">
                <a:solidFill>
                  <a:srgbClr val="8A6A25"/>
                </a:solidFill>
                <a:latin typeface="Segoe UI Symbol" pitchFamily="34" charset="0"/>
                <a:ea typeface="Segoe UI Symbol" pitchFamily="34" charset="-122"/>
                <a:cs typeface="Segoe UI Symbol" pitchFamily="34" charset="-120"/>
              </a:rPr>
              <a:t>▶</a:t>
            </a:r>
            <a:endParaRPr lang="en-US" sz="2109" dirty="0"/>
          </a:p>
        </p:txBody>
      </p:sp>
      <p:sp>
        <p:nvSpPr>
          <p:cNvPr id="21" name="Text 19"/>
          <p:cNvSpPr/>
          <p:nvPr/>
        </p:nvSpPr>
        <p:spPr>
          <a:xfrm>
            <a:off x="6245982" y="2051596"/>
            <a:ext cx="495561" cy="147590"/>
          </a:xfrm>
          <a:prstGeom prst="rect">
            <a:avLst/>
          </a:prstGeom>
          <a:noFill/>
          <a:ln/>
        </p:spPr>
        <p:txBody>
          <a:bodyPr wrap="none" lIns="0" tIns="0" rIns="0" bIns="0" rtlCol="0" anchor="t">
            <a:normAutofit/>
          </a:bodyPr>
          <a:lstStyle/>
          <a:p>
            <a:pPr algn="l" indent="0" marL="0">
              <a:lnSpc>
                <a:spcPts val="928"/>
              </a:lnSpc>
              <a:buNone/>
            </a:pPr>
            <a:r>
              <a:rPr lang="en-US" sz="800" b="1" spc="74" kern="0" dirty="0">
                <a:solidFill>
                  <a:srgbClr val="767676"/>
                </a:solidFill>
                <a:latin typeface="Carlito" pitchFamily="34" charset="0"/>
                <a:ea typeface="Carlito" pitchFamily="34" charset="-122"/>
                <a:cs typeface="Carlito" pitchFamily="34" charset="-120"/>
              </a:rPr>
              <a:t>СТАТУС</a:t>
            </a:r>
            <a:endParaRPr lang="en-US" sz="800" dirty="0"/>
          </a:p>
        </p:txBody>
      </p:sp>
      <p:sp>
        <p:nvSpPr>
          <p:cNvPr id="22" name="Text 20"/>
          <p:cNvSpPr/>
          <p:nvPr/>
        </p:nvSpPr>
        <p:spPr>
          <a:xfrm>
            <a:off x="6245982" y="2226618"/>
            <a:ext cx="1442420" cy="289322"/>
          </a:xfrm>
          <a:prstGeom prst="rect">
            <a:avLst/>
          </a:prstGeom>
          <a:noFill/>
          <a:ln/>
        </p:spPr>
        <p:txBody>
          <a:bodyPr wrap="none" lIns="0" tIns="0" rIns="0" bIns="0" rtlCol="0" anchor="t"/>
          <a:lstStyle/>
          <a:p>
            <a:pPr algn="l" indent="0" marL="0">
              <a:lnSpc>
                <a:spcPts val="2109"/>
              </a:lnSpc>
              <a:buNone/>
            </a:pPr>
            <a:r>
              <a:rPr lang="en-US" sz="1406" b="1" spc="-14" kern="0" dirty="0">
                <a:solidFill>
                  <a:srgbClr val="1A1A1A"/>
                </a:solidFill>
                <a:latin typeface="Carlito" pitchFamily="34" charset="0"/>
                <a:ea typeface="Carlito" pitchFamily="34" charset="-122"/>
                <a:cs typeface="Carlito" pitchFamily="34" charset="-120"/>
              </a:rPr>
              <a:t>Демо открыто</a:t>
            </a:r>
            <a:endParaRPr lang="en-US" sz="1406" dirty="0"/>
          </a:p>
        </p:txBody>
      </p:sp>
      <p:sp>
        <p:nvSpPr>
          <p:cNvPr id="23" name="Text 21"/>
          <p:cNvSpPr/>
          <p:nvPr/>
        </p:nvSpPr>
        <p:spPr>
          <a:xfrm>
            <a:off x="6245982" y="2565946"/>
            <a:ext cx="2176388" cy="370573"/>
          </a:xfrm>
          <a:prstGeom prst="rect">
            <a:avLst/>
          </a:prstGeom>
          <a:noFill/>
          <a:ln/>
        </p:spPr>
        <p:txBody>
          <a:bodyPr wrap="square" lIns="0" tIns="0" rIns="0" bIns="0" rtlCol="0" anchor="t"/>
          <a:lstStyle/>
          <a:p>
            <a:pPr algn="l" indent="0" marL="0">
              <a:lnSpc>
                <a:spcPts val="1351"/>
              </a:lnSpc>
              <a:buNone/>
            </a:pPr>
            <a:r>
              <a:rPr lang="en-US" sz="872" dirty="0">
                <a:solidFill>
                  <a:srgbClr val="666666"/>
                </a:solidFill>
                <a:latin typeface="Carlito" pitchFamily="34" charset="0"/>
                <a:ea typeface="Carlito" pitchFamily="34" charset="-122"/>
                <a:cs typeface="Carlito" pitchFamily="34" charset="-120"/>
              </a:rPr>
              <a:t>Продукт уже можно потрогать: </a:t>
            </a:r>
            <a:pPr algn="l" indent="0" marL="0">
              <a:lnSpc>
                <a:spcPts val="1351"/>
              </a:lnSpc>
              <a:buNone/>
            </a:pPr>
            <a:r>
              <a:rPr lang="en-US" sz="872" dirty="0">
                <a:solidFill>
                  <a:srgbClr val="1A1A1A"/>
                </a:solidFill>
                <a:latin typeface="Courier New" pitchFamily="34" charset="0"/>
                <a:ea typeface="Courier New" pitchFamily="34" charset="-122"/>
                <a:cs typeface="Courier New" pitchFamily="34" charset="-120"/>
              </a:rPr>
              <a:t>lovii.ru</a:t>
            </a:r>
            <a:pPr algn="l" indent="0" marL="0">
              <a:lnSpc>
                <a:spcPts val="1351"/>
              </a:lnSpc>
              <a:buNone/>
            </a:pPr>
            <a:r>
              <a:rPr lang="en-US" sz="872" dirty="0">
                <a:solidFill>
                  <a:srgbClr val="666666"/>
                </a:solidFill>
                <a:latin typeface="Carlito" pitchFamily="34" charset="0"/>
                <a:ea typeface="Carlito" pitchFamily="34" charset="-122"/>
                <a:cs typeface="Carlito" pitchFamily="34" charset="-120"/>
              </a:rPr>
              <a:t> работает</a:t>
            </a:r>
            <a:endParaRPr lang="en-US" sz="872" dirty="0"/>
          </a:p>
        </p:txBody>
      </p:sp>
      <p:sp>
        <p:nvSpPr>
          <p:cNvPr id="24" name="Text 22"/>
          <p:cNvSpPr/>
          <p:nvPr/>
        </p:nvSpPr>
        <p:spPr>
          <a:xfrm>
            <a:off x="514350" y="4323755"/>
            <a:ext cx="8115300" cy="419695"/>
          </a:xfrm>
          <a:prstGeom prst="roundRect">
            <a:avLst>
              <a:gd name="adj" fmla="val 27234"/>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5" name="Text 23"/>
          <p:cNvSpPr/>
          <p:nvPr/>
        </p:nvSpPr>
        <p:spPr>
          <a:xfrm>
            <a:off x="2021458" y="4455021"/>
            <a:ext cx="157163" cy="157163"/>
          </a:xfrm>
          <a:prstGeom prst="rect">
            <a:avLst/>
          </a:prstGeom>
          <a:noFill/>
          <a:ln/>
        </p:spPr>
        <p:txBody>
          <a:bodyPr wrap="none" lIns="0" tIns="0" rIns="0" bIns="0" rtlCol="0" anchor="ctr"/>
          <a:lstStyle/>
          <a:p>
            <a:pPr algn="ctr" indent="0" marL="0">
              <a:buNone/>
            </a:pPr>
            <a:r>
              <a:rPr lang="en-US" sz="1547" dirty="0">
                <a:solidFill>
                  <a:srgbClr val="C92A6A"/>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2264346" y="4445198"/>
            <a:ext cx="6179567" cy="176808"/>
          </a:xfrm>
          <a:prstGeom prst="rect">
            <a:avLst/>
          </a:prstGeom>
          <a:noFill/>
          <a:ln/>
        </p:spPr>
        <p:txBody>
          <a:bodyPr wrap="square" lIns="0" tIns="0" rIns="0" bIns="0" rtlCol="0" anchor="t"/>
          <a:lstStyle/>
          <a:p>
            <a:pPr algn="l" indent="0" marL="0">
              <a:lnSpc>
                <a:spcPts val="1392"/>
              </a:lnSpc>
              <a:buNone/>
            </a:pPr>
            <a:r>
              <a:rPr lang="en-US" sz="928" dirty="0">
                <a:solidFill>
                  <a:srgbClr val="1A1A1A"/>
                </a:solidFill>
                <a:latin typeface="Carlito" pitchFamily="34" charset="0"/>
                <a:ea typeface="Carlito" pitchFamily="34" charset="-122"/>
                <a:cs typeface="Carlito" pitchFamily="34" charset="-120"/>
              </a:rPr>
              <a:t>Никаких карт, носителей и администрирования — весь сервис живёт в смартфоне</a:t>
            </a:r>
            <a:endParaRPr lang="en-US" sz="92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48270"/>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00050"/>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МОНЕТИЗАЦИЯ</a:t>
            </a:r>
            <a:endParaRPr lang="en-US" sz="800" dirty="0"/>
          </a:p>
        </p:txBody>
      </p:sp>
      <p:sp>
        <p:nvSpPr>
          <p:cNvPr id="4" name="Text 2"/>
          <p:cNvSpPr/>
          <p:nvPr/>
        </p:nvSpPr>
        <p:spPr>
          <a:xfrm>
            <a:off x="514350" y="617934"/>
            <a:ext cx="8629650" cy="337060"/>
          </a:xfrm>
          <a:prstGeom prst="rect">
            <a:avLst/>
          </a:prstGeom>
          <a:noFill/>
          <a:ln/>
        </p:spPr>
        <p:txBody>
          <a:bodyPr wrap="square" lIns="0" tIns="0" rIns="0" bIns="0" rtlCol="0" anchor="t"/>
          <a:lstStyle/>
          <a:p>
            <a:pPr algn="l" indent="0" marL="0">
              <a:lnSpc>
                <a:spcPts val="2458"/>
              </a:lnSpc>
              <a:buNone/>
            </a:pPr>
            <a:r>
              <a:rPr lang="en-US" sz="2138" b="1" spc="-43" kern="0" dirty="0">
                <a:solidFill>
                  <a:srgbClr val="1A1A1A"/>
                </a:solidFill>
                <a:latin typeface="Carlito" pitchFamily="34" charset="0"/>
                <a:ea typeface="Carlito" pitchFamily="34" charset="-122"/>
                <a:cs typeface="Carlito" pitchFamily="34" charset="-120"/>
              </a:rPr>
              <a:t>Тарифы: от бесплатного входа к PRO</a:t>
            </a:r>
            <a:endParaRPr lang="en-US" sz="2138" dirty="0"/>
          </a:p>
        </p:txBody>
      </p:sp>
      <p:sp>
        <p:nvSpPr>
          <p:cNvPr id="5" name="Text 3"/>
          <p:cNvSpPr/>
          <p:nvPr/>
        </p:nvSpPr>
        <p:spPr>
          <a:xfrm>
            <a:off x="517922" y="1247924"/>
            <a:ext cx="2583582" cy="2984748"/>
          </a:xfrm>
          <a:prstGeom prst="roundRect">
            <a:avLst>
              <a:gd name="adj" fmla="val 442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6" name="Text 4"/>
          <p:cNvSpPr/>
          <p:nvPr/>
        </p:nvSpPr>
        <p:spPr>
          <a:xfrm>
            <a:off x="721519" y="1451521"/>
            <a:ext cx="2176388" cy="111871"/>
          </a:xfrm>
          <a:prstGeom prst="rect">
            <a:avLst/>
          </a:prstGeom>
          <a:noFill/>
          <a:ln/>
        </p:spPr>
        <p:txBody>
          <a:bodyPr wrap="none" lIns="0" tIns="0" rIns="0" bIns="0" rtlCol="0" anchor="t">
            <a:normAutofit/>
          </a:bodyPr>
          <a:lstStyle/>
          <a:p>
            <a:pPr algn="l" indent="0" marL="0">
              <a:lnSpc>
                <a:spcPts val="1097"/>
              </a:lnSpc>
              <a:buNone/>
            </a:pPr>
            <a:r>
              <a:rPr lang="en-US" sz="800" b="1" spc="102" kern="0" dirty="0">
                <a:solidFill>
                  <a:srgbClr val="6F6F6F"/>
                </a:solidFill>
                <a:latin typeface="Carlito" pitchFamily="34" charset="0"/>
                <a:ea typeface="Carlito" pitchFamily="34" charset="-122"/>
                <a:cs typeface="Carlito" pitchFamily="34" charset="-120"/>
              </a:rPr>
              <a:t>СТАРТ</a:t>
            </a:r>
            <a:endParaRPr lang="en-US" sz="800" dirty="0"/>
          </a:p>
        </p:txBody>
      </p:sp>
      <p:sp>
        <p:nvSpPr>
          <p:cNvPr id="7" name="Text 5"/>
          <p:cNvSpPr/>
          <p:nvPr/>
        </p:nvSpPr>
        <p:spPr>
          <a:xfrm>
            <a:off x="721519" y="1962299"/>
            <a:ext cx="2176388" cy="447485"/>
          </a:xfrm>
          <a:prstGeom prst="rect">
            <a:avLst/>
          </a:prstGeom>
          <a:noFill/>
          <a:ln/>
        </p:spPr>
        <p:txBody>
          <a:bodyPr wrap="none" lIns="0" tIns="0" rIns="0" bIns="0" rtlCol="0" anchor="t"/>
          <a:lstStyle/>
          <a:p>
            <a:pPr algn="l" indent="0" marL="0">
              <a:lnSpc>
                <a:spcPts val="3263"/>
              </a:lnSpc>
              <a:buNone/>
            </a:pPr>
            <a:r>
              <a:rPr lang="en-US" sz="3263" b="1" spc="-98" kern="0" dirty="0">
                <a:solidFill>
                  <a:srgbClr val="1A1A1A"/>
                </a:solidFill>
                <a:latin typeface="Liberation Sans Narrow" pitchFamily="34" charset="0"/>
                <a:ea typeface="Liberation Sans Narrow" pitchFamily="34" charset="-122"/>
                <a:cs typeface="Liberation Sans Narrow" pitchFamily="34" charset="-120"/>
              </a:rPr>
              <a:t>0%</a:t>
            </a:r>
            <a:endParaRPr lang="en-US" sz="3263" dirty="0"/>
          </a:p>
        </p:txBody>
      </p:sp>
      <p:sp>
        <p:nvSpPr>
          <p:cNvPr id="8" name="Text 6"/>
          <p:cNvSpPr/>
          <p:nvPr/>
        </p:nvSpPr>
        <p:spPr>
          <a:xfrm>
            <a:off x="721519" y="2519511"/>
            <a:ext cx="2176388" cy="370573"/>
          </a:xfrm>
          <a:prstGeom prst="rect">
            <a:avLst/>
          </a:prstGeom>
          <a:noFill/>
          <a:ln/>
        </p:spPr>
        <p:txBody>
          <a:bodyPr wrap="square" lIns="0" tIns="0" rIns="0" bIns="0" rtlCol="0" anchor="t"/>
          <a:lstStyle/>
          <a:p>
            <a:pPr algn="l" indent="0" marL="0">
              <a:lnSpc>
                <a:spcPts val="1351"/>
              </a:lnSpc>
              <a:buNone/>
            </a:pPr>
            <a:r>
              <a:rPr lang="en-US" sz="872" dirty="0">
                <a:solidFill>
                  <a:srgbClr val="666666"/>
                </a:solidFill>
                <a:latin typeface="Carlito" pitchFamily="34" charset="0"/>
                <a:ea typeface="Carlito" pitchFamily="34" charset="-122"/>
                <a:cs typeface="Carlito" pitchFamily="34" charset="-120"/>
              </a:rPr>
              <a:t>Пробный вход для точки, знакомство с платформой</a:t>
            </a:r>
            <a:endParaRPr lang="en-US" sz="872" dirty="0"/>
          </a:p>
        </p:txBody>
      </p:sp>
      <p:sp>
        <p:nvSpPr>
          <p:cNvPr id="9" name="Text 7"/>
          <p:cNvSpPr/>
          <p:nvPr/>
        </p:nvSpPr>
        <p:spPr>
          <a:xfrm>
            <a:off x="3283669" y="1251496"/>
            <a:ext cx="2576550" cy="2977604"/>
          </a:xfrm>
          <a:prstGeom prst="roundRect">
            <a:avLst>
              <a:gd name="adj" fmla="val 4436"/>
            </a:avLst>
          </a:prstGeom>
          <a:solidFill>
            <a:srgbClr val="FFFFFF"/>
          </a:solidFill>
          <a:ln w="14288">
            <a:solidFill>
              <a:srgbClr val="0ABAB5"/>
            </a:solidFill>
            <a:prstDash val="solid"/>
          </a:ln>
          <a:effectLst>
            <a:outerShdw sx="100000" sy="100000" kx="0" ky="0" algn="bl" rotWithShape="0" blurRad="209550" dist="57150" dir="5400000">
              <a:srgbClr val="0ABAB5">
                <a:alpha val="14000"/>
              </a:srgbClr>
            </a:outerShdw>
          </a:effectLst>
        </p:spPr>
        <p:txBody>
          <a:bodyPr wrap="square" rtlCol="0" anchor="ctr"/>
          <a:lstStyle/>
          <a:p>
            <a:pPr indent="0" marL="0">
              <a:buNone/>
            </a:pPr>
            <a:endParaRPr lang="en-US" dirty="0"/>
          </a:p>
        </p:txBody>
      </p:sp>
      <p:sp>
        <p:nvSpPr>
          <p:cNvPr id="10" name="Text 8"/>
          <p:cNvSpPr/>
          <p:nvPr/>
        </p:nvSpPr>
        <p:spPr>
          <a:xfrm>
            <a:off x="4771378" y="1147268"/>
            <a:ext cx="961683"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11" name="Text 9"/>
          <p:cNvSpPr/>
          <p:nvPr/>
        </p:nvSpPr>
        <p:spPr>
          <a:xfrm>
            <a:off x="4737088" y="1158627"/>
            <a:ext cx="915963"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ЯДРО ВЫРУЧКИ</a:t>
            </a:r>
            <a:endParaRPr lang="en-US" sz="800" dirty="0"/>
          </a:p>
        </p:txBody>
      </p:sp>
      <p:sp>
        <p:nvSpPr>
          <p:cNvPr id="12" name="Text 10"/>
          <p:cNvSpPr/>
          <p:nvPr/>
        </p:nvSpPr>
        <p:spPr>
          <a:xfrm>
            <a:off x="3490838" y="1458664"/>
            <a:ext cx="2162212" cy="111871"/>
          </a:xfrm>
          <a:prstGeom prst="rect">
            <a:avLst/>
          </a:prstGeom>
          <a:noFill/>
          <a:ln/>
        </p:spPr>
        <p:txBody>
          <a:bodyPr wrap="none" lIns="0" tIns="0" rIns="0" bIns="0" rtlCol="0" anchor="t">
            <a:normAutofit/>
          </a:bodyPr>
          <a:lstStyle/>
          <a:p>
            <a:pPr algn="l" indent="0" marL="0">
              <a:lnSpc>
                <a:spcPts val="1097"/>
              </a:lnSpc>
              <a:buNone/>
            </a:pPr>
            <a:r>
              <a:rPr lang="en-US" sz="800" b="1" spc="102" kern="0" dirty="0">
                <a:solidFill>
                  <a:srgbClr val="1A1A1A"/>
                </a:solidFill>
                <a:latin typeface="Carlito" pitchFamily="34" charset="0"/>
                <a:ea typeface="Carlito" pitchFamily="34" charset="-122"/>
                <a:cs typeface="Carlito" pitchFamily="34" charset="-120"/>
              </a:rPr>
              <a:t>БАЗОВЫЙ</a:t>
            </a:r>
            <a:endParaRPr lang="en-US" sz="800" dirty="0"/>
          </a:p>
        </p:txBody>
      </p:sp>
      <p:sp>
        <p:nvSpPr>
          <p:cNvPr id="13" name="Text 11"/>
          <p:cNvSpPr/>
          <p:nvPr/>
        </p:nvSpPr>
        <p:spPr>
          <a:xfrm>
            <a:off x="3490838" y="1969443"/>
            <a:ext cx="2162212" cy="447485"/>
          </a:xfrm>
          <a:prstGeom prst="rect">
            <a:avLst/>
          </a:prstGeom>
          <a:noFill/>
          <a:ln/>
        </p:spPr>
        <p:txBody>
          <a:bodyPr wrap="none" lIns="0" tIns="0" rIns="0" bIns="0" rtlCol="0" anchor="t"/>
          <a:lstStyle/>
          <a:p>
            <a:pPr algn="l" indent="0" marL="0">
              <a:lnSpc>
                <a:spcPts val="3263"/>
              </a:lnSpc>
              <a:buNone/>
            </a:pPr>
            <a:r>
              <a:rPr lang="en-US" sz="3263" b="1" spc="-98" kern="0" dirty="0">
                <a:solidFill>
                  <a:srgbClr val="1A1A1A"/>
                </a:solidFill>
                <a:latin typeface="Liberation Sans Narrow" pitchFamily="34" charset="0"/>
                <a:ea typeface="Liberation Sans Narrow" pitchFamily="34" charset="-122"/>
                <a:cs typeface="Liberation Sans Narrow" pitchFamily="34" charset="-120"/>
              </a:rPr>
              <a:t>10%</a:t>
            </a:r>
            <a:endParaRPr lang="en-US" sz="3263" dirty="0"/>
          </a:p>
        </p:txBody>
      </p:sp>
      <p:sp>
        <p:nvSpPr>
          <p:cNvPr id="14" name="Text 12"/>
          <p:cNvSpPr/>
          <p:nvPr/>
        </p:nvSpPr>
        <p:spPr>
          <a:xfrm>
            <a:off x="3490838" y="2526655"/>
            <a:ext cx="2162212" cy="555860"/>
          </a:xfrm>
          <a:prstGeom prst="rect">
            <a:avLst/>
          </a:prstGeom>
          <a:noFill/>
          <a:ln/>
        </p:spPr>
        <p:txBody>
          <a:bodyPr wrap="square" lIns="0" tIns="0" rIns="0" bIns="0" rtlCol="0" anchor="t"/>
          <a:lstStyle/>
          <a:p>
            <a:pPr algn="l" indent="0" marL="0">
              <a:lnSpc>
                <a:spcPts val="1351"/>
              </a:lnSpc>
              <a:buNone/>
            </a:pPr>
            <a:r>
              <a:rPr lang="en-US" sz="872" dirty="0">
                <a:solidFill>
                  <a:srgbClr val="3F3F3F"/>
                </a:solidFill>
                <a:latin typeface="Carlito" pitchFamily="34" charset="0"/>
                <a:ea typeface="Carlito" pitchFamily="34" charset="-122"/>
                <a:cs typeface="Carlito" pitchFamily="34" charset="-120"/>
              </a:rPr>
              <a:t>Основной тариф: полный сервис лояльности, комиссия </a:t>
            </a:r>
            <a:pPr algn="l" indent="0" marL="0">
              <a:lnSpc>
                <a:spcPts val="1351"/>
              </a:lnSpc>
              <a:buNone/>
            </a:pPr>
            <a:r>
              <a:rPr lang="en-US" sz="872" b="1" dirty="0">
                <a:solidFill>
                  <a:srgbClr val="1A1A1A"/>
                </a:solidFill>
                <a:latin typeface="Liberation Sans Narrow" pitchFamily="34" charset="0"/>
                <a:ea typeface="Liberation Sans Narrow" pitchFamily="34" charset="-122"/>
                <a:cs typeface="Liberation Sans Narrow" pitchFamily="34" charset="-120"/>
              </a:rPr>
              <a:t>10%</a:t>
            </a:r>
            <a:pPr algn="l" indent="0" marL="0">
              <a:lnSpc>
                <a:spcPts val="1351"/>
              </a:lnSpc>
              <a:buNone/>
            </a:pPr>
            <a:r>
              <a:rPr lang="en-US" sz="872" dirty="0">
                <a:solidFill>
                  <a:srgbClr val="3F3F3F"/>
                </a:solidFill>
                <a:latin typeface="Carlito" pitchFamily="34" charset="0"/>
                <a:ea typeface="Carlito" pitchFamily="34" charset="-122"/>
                <a:cs typeface="Carlito" pitchFamily="34" charset="-120"/>
              </a:rPr>
              <a:t> с оборота по баллам</a:t>
            </a:r>
            <a:endParaRPr lang="en-US" sz="872" dirty="0"/>
          </a:p>
        </p:txBody>
      </p:sp>
      <p:sp>
        <p:nvSpPr>
          <p:cNvPr id="15" name="Text 13"/>
          <p:cNvSpPr/>
          <p:nvPr/>
        </p:nvSpPr>
        <p:spPr>
          <a:xfrm>
            <a:off x="6042385" y="1247924"/>
            <a:ext cx="2583582" cy="2984748"/>
          </a:xfrm>
          <a:prstGeom prst="roundRect">
            <a:avLst>
              <a:gd name="adj" fmla="val 442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6" name="Text 14"/>
          <p:cNvSpPr/>
          <p:nvPr/>
        </p:nvSpPr>
        <p:spPr>
          <a:xfrm>
            <a:off x="7607223" y="1140125"/>
            <a:ext cx="895157" cy="212027"/>
          </a:xfrm>
          <a:prstGeom prst="roundRect">
            <a:avLst>
              <a:gd name="adj" fmla="val 4487860"/>
            </a:avLst>
          </a:prstGeom>
          <a:solidFill>
            <a:srgbClr val="D4A854">
              <a:alpha val="14000"/>
            </a:srgbClr>
          </a:solidFill>
          <a:ln/>
        </p:spPr>
        <p:txBody>
          <a:bodyPr wrap="square" rtlCol="0" anchor="ctr"/>
          <a:lstStyle/>
          <a:p>
            <a:pPr indent="0" marL="0">
              <a:buNone/>
            </a:pPr>
            <a:endParaRPr lang="en-US" dirty="0"/>
          </a:p>
        </p:txBody>
      </p:sp>
      <p:sp>
        <p:nvSpPr>
          <p:cNvPr id="17" name="Text 15"/>
          <p:cNvSpPr/>
          <p:nvPr/>
        </p:nvSpPr>
        <p:spPr>
          <a:xfrm>
            <a:off x="7572933" y="1151483"/>
            <a:ext cx="84943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ДЛЯ КРУПНЫХ</a:t>
            </a:r>
            <a:endParaRPr lang="en-US" sz="800" dirty="0"/>
          </a:p>
        </p:txBody>
      </p:sp>
      <p:sp>
        <p:nvSpPr>
          <p:cNvPr id="18" name="Text 16"/>
          <p:cNvSpPr/>
          <p:nvPr/>
        </p:nvSpPr>
        <p:spPr>
          <a:xfrm>
            <a:off x="6245982" y="1451521"/>
            <a:ext cx="2176388" cy="111871"/>
          </a:xfrm>
          <a:prstGeom prst="rect">
            <a:avLst/>
          </a:prstGeom>
          <a:noFill/>
          <a:ln/>
        </p:spPr>
        <p:txBody>
          <a:bodyPr wrap="none" lIns="0" tIns="0" rIns="0" bIns="0" rtlCol="0" anchor="t">
            <a:normAutofit/>
          </a:bodyPr>
          <a:lstStyle/>
          <a:p>
            <a:pPr algn="l" indent="0" marL="0">
              <a:lnSpc>
                <a:spcPts val="1097"/>
              </a:lnSpc>
              <a:buNone/>
            </a:pPr>
            <a:r>
              <a:rPr lang="en-US" sz="800" b="1" spc="102" kern="0" dirty="0">
                <a:solidFill>
                  <a:srgbClr val="8A6A25"/>
                </a:solidFill>
                <a:latin typeface="Carlito" pitchFamily="34" charset="0"/>
                <a:ea typeface="Carlito" pitchFamily="34" charset="-122"/>
                <a:cs typeface="Carlito" pitchFamily="34" charset="-120"/>
              </a:rPr>
              <a:t>PRO</a:t>
            </a:r>
            <a:endParaRPr lang="en-US" sz="800" dirty="0"/>
          </a:p>
        </p:txBody>
      </p:sp>
      <p:sp>
        <p:nvSpPr>
          <p:cNvPr id="19" name="Text 17"/>
          <p:cNvSpPr/>
          <p:nvPr/>
        </p:nvSpPr>
        <p:spPr>
          <a:xfrm>
            <a:off x="6245982" y="1733699"/>
            <a:ext cx="2176388" cy="444056"/>
          </a:xfrm>
          <a:prstGeom prst="rect">
            <a:avLst/>
          </a:prstGeom>
          <a:noFill/>
          <a:ln/>
        </p:spPr>
        <p:txBody>
          <a:bodyPr wrap="none" lIns="0" tIns="0" rIns="0" bIns="0" rtlCol="0" anchor="t">
            <a:normAutofit/>
          </a:bodyPr>
          <a:lstStyle/>
          <a:p>
            <a:pPr algn="l" indent="0" marL="0">
              <a:lnSpc>
                <a:spcPts val="3263"/>
              </a:lnSpc>
              <a:buNone/>
            </a:pPr>
            <a:r>
              <a:rPr lang="en-US" sz="3263" b="1" spc="-98" kern="0" dirty="0">
                <a:solidFill>
                  <a:srgbClr val="1A1A1A"/>
                </a:solidFill>
                <a:latin typeface="Liberation Sans Narrow" pitchFamily="34" charset="0"/>
                <a:ea typeface="Liberation Sans Narrow" pitchFamily="34" charset="-122"/>
                <a:cs typeface="Liberation Sans Narrow" pitchFamily="34" charset="-120"/>
              </a:rPr>
              <a:t>4–7%</a:t>
            </a:r>
            <a:endParaRPr lang="en-US" sz="3263" dirty="0"/>
          </a:p>
        </p:txBody>
      </p:sp>
      <p:sp>
        <p:nvSpPr>
          <p:cNvPr id="20" name="Text 18"/>
          <p:cNvSpPr/>
          <p:nvPr/>
        </p:nvSpPr>
        <p:spPr>
          <a:xfrm>
            <a:off x="6245982" y="2205186"/>
            <a:ext cx="2176388" cy="185166"/>
          </a:xfrm>
          <a:prstGeom prst="rect">
            <a:avLst/>
          </a:prstGeom>
          <a:noFill/>
          <a:ln/>
        </p:spPr>
        <p:txBody>
          <a:bodyPr wrap="none" lIns="0" tIns="0" rIns="0" bIns="0" rtlCol="0" anchor="t"/>
          <a:lstStyle/>
          <a:p>
            <a:pPr algn="l" indent="0" marL="0">
              <a:lnSpc>
                <a:spcPts val="1350"/>
              </a:lnSpc>
              <a:buNone/>
            </a:pPr>
            <a:r>
              <a:rPr lang="en-US" sz="900" b="1" dirty="0">
                <a:solidFill>
                  <a:srgbClr val="8A6A25"/>
                </a:solidFill>
                <a:latin typeface="Carlito" pitchFamily="34" charset="0"/>
                <a:ea typeface="Carlito" pitchFamily="34" charset="-122"/>
                <a:cs typeface="Carlito" pitchFamily="34" charset="-120"/>
              </a:rPr>
              <a:t>+ 2 990 ₽/мес</a:t>
            </a:r>
            <a:endParaRPr lang="en-US" sz="900" dirty="0"/>
          </a:p>
        </p:txBody>
      </p:sp>
      <p:sp>
        <p:nvSpPr>
          <p:cNvPr id="21" name="Text 19"/>
          <p:cNvSpPr/>
          <p:nvPr/>
        </p:nvSpPr>
        <p:spPr>
          <a:xfrm>
            <a:off x="6245982" y="2519511"/>
            <a:ext cx="2176388" cy="370573"/>
          </a:xfrm>
          <a:prstGeom prst="rect">
            <a:avLst/>
          </a:prstGeom>
          <a:noFill/>
          <a:ln/>
        </p:spPr>
        <p:txBody>
          <a:bodyPr wrap="square" lIns="0" tIns="0" rIns="0" bIns="0" rtlCol="0" anchor="t"/>
          <a:lstStyle/>
          <a:p>
            <a:pPr algn="l" indent="0" marL="0">
              <a:lnSpc>
                <a:spcPts val="1351"/>
              </a:lnSpc>
              <a:buNone/>
            </a:pPr>
            <a:r>
              <a:rPr lang="en-US" sz="872" dirty="0">
                <a:solidFill>
                  <a:srgbClr val="666666"/>
                </a:solidFill>
                <a:latin typeface="Carlito" pitchFamily="34" charset="0"/>
                <a:ea typeface="Carlito" pitchFamily="34" charset="-122"/>
                <a:cs typeface="Carlito" pitchFamily="34" charset="-120"/>
              </a:rPr>
              <a:t>Для точек с оборотом: сниженная комиссия плюс подписка</a:t>
            </a:r>
            <a:endParaRPr lang="en-US" sz="872" dirty="0"/>
          </a:p>
        </p:txBody>
      </p:sp>
      <p:sp>
        <p:nvSpPr>
          <p:cNvPr id="22" name="Shape 20"/>
          <p:cNvSpPr/>
          <p:nvPr/>
        </p:nvSpPr>
        <p:spPr>
          <a:xfrm>
            <a:off x="514350" y="4454128"/>
            <a:ext cx="8115300" cy="0"/>
          </a:xfrm>
          <a:prstGeom prst="line">
            <a:avLst/>
          </a:prstGeom>
          <a:noFill/>
          <a:ln w="7144">
            <a:solidFill>
              <a:srgbClr val="1A1A1A"/>
            </a:solidFill>
            <a:prstDash val="solid"/>
          </a:ln>
        </p:spPr>
      </p:sp>
      <p:sp>
        <p:nvSpPr>
          <p:cNvPr id="23" name="Text 21"/>
          <p:cNvSpPr/>
          <p:nvPr/>
        </p:nvSpPr>
        <p:spPr>
          <a:xfrm>
            <a:off x="1990874" y="4607719"/>
            <a:ext cx="157163" cy="157163"/>
          </a:xfrm>
          <a:prstGeom prst="rect">
            <a:avLst/>
          </a:prstGeom>
          <a:noFill/>
          <a:ln/>
        </p:spPr>
        <p:txBody>
          <a:bodyPr wrap="none" lIns="0" tIns="0" rIns="0" bIns="0" rtlCol="0" anchor="ctr"/>
          <a:lstStyle/>
          <a:p>
            <a:pPr algn="ctr" indent="0" marL="0">
              <a:buNone/>
            </a:pPr>
            <a:r>
              <a:rPr lang="en-US" sz="1547" dirty="0">
                <a:solidFill>
                  <a:srgbClr val="07807C"/>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2219474" y="4600575"/>
            <a:ext cx="6410176" cy="171450"/>
          </a:xfrm>
          <a:prstGeom prst="rect">
            <a:avLst/>
          </a:prstGeom>
          <a:noFill/>
          <a:ln/>
        </p:spPr>
        <p:txBody>
          <a:bodyPr wrap="square" lIns="0" tIns="0" rIns="0" bIns="0" rtlCol="0" anchor="t"/>
          <a:lstStyle/>
          <a:p>
            <a:pPr algn="l" indent="0" marL="0">
              <a:lnSpc>
                <a:spcPts val="1350"/>
              </a:lnSpc>
              <a:buNone/>
            </a:pPr>
            <a:r>
              <a:rPr lang="en-US" sz="900" dirty="0">
                <a:solidFill>
                  <a:srgbClr val="3F3F3F"/>
                </a:solidFill>
                <a:latin typeface="Carlito" pitchFamily="34" charset="0"/>
                <a:ea typeface="Carlito" pitchFamily="34" charset="-122"/>
                <a:cs typeface="Carlito" pitchFamily="34" charset="-120"/>
              </a:rPr>
              <a:t>Чем больше оборот точки — тем выгоднее тариф, тем выше лояльность к платформе</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15188" y="-785812"/>
            <a:ext cx="2571750" cy="2571750"/>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457200" y="462558"/>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4" name="Text 2"/>
          <p:cNvSpPr/>
          <p:nvPr/>
        </p:nvSpPr>
        <p:spPr>
          <a:xfrm>
            <a:off x="728663" y="414338"/>
            <a:ext cx="79581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ЮНИТ-ЭКОНОМИКА</a:t>
            </a:r>
            <a:endParaRPr lang="en-US" sz="800" dirty="0"/>
          </a:p>
        </p:txBody>
      </p:sp>
      <p:sp>
        <p:nvSpPr>
          <p:cNvPr id="5" name="Text 3"/>
          <p:cNvSpPr/>
          <p:nvPr/>
        </p:nvSpPr>
        <p:spPr>
          <a:xfrm>
            <a:off x="457200" y="632222"/>
            <a:ext cx="863600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Экономика одной точки — </a:t>
            </a:r>
            <a:pPr algn="l" indent="0" marL="0">
              <a:lnSpc>
                <a:spcPts val="2394"/>
              </a:lnSpc>
              <a:buNone/>
            </a:pPr>
            <a:r>
              <a:rPr lang="en-US" sz="2138" b="1" spc="-43" kern="0" dirty="0">
                <a:solidFill>
                  <a:srgbClr val="F64A8A"/>
                </a:solidFill>
                <a:latin typeface="Carlito" pitchFamily="34" charset="0"/>
                <a:ea typeface="Carlito" pitchFamily="34" charset="-122"/>
                <a:cs typeface="Carlito" pitchFamily="34" charset="-120"/>
              </a:rPr>
              <a:t>расчётно</a:t>
            </a:r>
            <a:endParaRPr lang="en-US" sz="2138" dirty="0"/>
          </a:p>
        </p:txBody>
      </p:sp>
      <p:sp>
        <p:nvSpPr>
          <p:cNvPr id="6" name="Text 4"/>
          <p:cNvSpPr/>
          <p:nvPr/>
        </p:nvSpPr>
        <p:spPr>
          <a:xfrm>
            <a:off x="460772" y="1139763"/>
            <a:ext cx="8222456" cy="678656"/>
          </a:xfrm>
          <a:prstGeom prst="roundRect">
            <a:avLst>
              <a:gd name="adj" fmla="val 16842"/>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7" name="Text 5"/>
          <p:cNvSpPr/>
          <p:nvPr/>
        </p:nvSpPr>
        <p:spPr>
          <a:xfrm>
            <a:off x="628464" y="1329072"/>
            <a:ext cx="324521" cy="324041"/>
          </a:xfrm>
          <a:prstGeom prst="rect">
            <a:avLst/>
          </a:prstGeom>
          <a:noFill/>
          <a:ln/>
        </p:spPr>
        <p:txBody>
          <a:bodyPr wrap="none" lIns="0" tIns="0" rIns="0" bIns="0" rtlCol="0" anchor="t"/>
          <a:lstStyle/>
          <a:p>
            <a:pPr algn="l" indent="0" marL="0">
              <a:lnSpc>
                <a:spcPts val="2363"/>
              </a:lnSpc>
              <a:buNone/>
            </a:pPr>
            <a:r>
              <a:rPr lang="en-US" sz="2363" b="1" spc="-71" kern="0" dirty="0">
                <a:solidFill>
                  <a:srgbClr val="1A1A1A"/>
                </a:solidFill>
                <a:latin typeface="Liberation Sans Narrow" pitchFamily="34" charset="0"/>
                <a:ea typeface="Liberation Sans Narrow" pitchFamily="34" charset="-122"/>
                <a:cs typeface="Liberation Sans Narrow" pitchFamily="34" charset="-120"/>
              </a:rPr>
              <a:t>1</a:t>
            </a:r>
            <a:endParaRPr lang="en-US" sz="2363" dirty="0"/>
          </a:p>
        </p:txBody>
      </p:sp>
      <p:sp>
        <p:nvSpPr>
          <p:cNvPr id="8" name="Text 6"/>
          <p:cNvSpPr/>
          <p:nvPr/>
        </p:nvSpPr>
        <p:spPr>
          <a:xfrm>
            <a:off x="893750" y="1464804"/>
            <a:ext cx="842181" cy="173593"/>
          </a:xfrm>
          <a:prstGeom prst="rect">
            <a:avLst/>
          </a:prstGeom>
          <a:noFill/>
          <a:ln/>
        </p:spPr>
        <p:txBody>
          <a:bodyPr wrap="none" lIns="0" tIns="0" rIns="0" bIns="0" rtlCol="0" anchor="t"/>
          <a:lstStyle/>
          <a:p>
            <a:pPr algn="l" indent="0" marL="0">
              <a:lnSpc>
                <a:spcPts val="1266"/>
              </a:lnSpc>
              <a:buNone/>
            </a:pPr>
            <a:r>
              <a:rPr lang="en-US" sz="844" b="1" dirty="0">
                <a:solidFill>
                  <a:srgbClr val="1A1A1A">
                    <a:alpha val="66000"/>
                  </a:srgbClr>
                </a:solidFill>
                <a:latin typeface="Carlito" pitchFamily="34" charset="0"/>
                <a:ea typeface="Carlito" pitchFamily="34" charset="-122"/>
                <a:cs typeface="Carlito" pitchFamily="34" charset="-120"/>
              </a:rPr>
              <a:t>точка</a:t>
            </a:r>
            <a:endParaRPr lang="en-US" sz="844" dirty="0"/>
          </a:p>
        </p:txBody>
      </p:sp>
      <p:sp>
        <p:nvSpPr>
          <p:cNvPr id="9" name="Text 7"/>
          <p:cNvSpPr/>
          <p:nvPr/>
        </p:nvSpPr>
        <p:spPr>
          <a:xfrm>
            <a:off x="1921669" y="1336216"/>
            <a:ext cx="4215527" cy="185166"/>
          </a:xfrm>
          <a:prstGeom prst="rect">
            <a:avLst/>
          </a:prstGeom>
          <a:noFill/>
          <a:ln/>
        </p:spPr>
        <p:txBody>
          <a:bodyPr wrap="none" lIns="0" tIns="0" rIns="0" bIns="0" rtlCol="0" anchor="t"/>
          <a:lstStyle/>
          <a:p>
            <a:pPr algn="l" indent="0" marL="0">
              <a:lnSpc>
                <a:spcPts val="1350"/>
              </a:lnSpc>
              <a:buNone/>
            </a:pPr>
            <a:r>
              <a:rPr lang="en-US" sz="900" b="1" dirty="0">
                <a:solidFill>
                  <a:srgbClr val="1A1A1A"/>
                </a:solidFill>
                <a:latin typeface="Carlito" pitchFamily="34" charset="0"/>
                <a:ea typeface="Carlito" pitchFamily="34" charset="-122"/>
                <a:cs typeface="Carlito" pitchFamily="34" charset="-120"/>
              </a:rPr>
              <a:t>комиссия ≈ 9 925 ₽/мес</a:t>
            </a:r>
            <a:endParaRPr lang="en-US" sz="900" dirty="0"/>
          </a:p>
        </p:txBody>
      </p:sp>
      <p:sp>
        <p:nvSpPr>
          <p:cNvPr id="10" name="Text 8"/>
          <p:cNvSpPr/>
          <p:nvPr/>
        </p:nvSpPr>
        <p:spPr>
          <a:xfrm>
            <a:off x="1921669" y="1579104"/>
            <a:ext cx="4014788" cy="42863"/>
          </a:xfrm>
          <a:prstGeom prst="roundRect">
            <a:avLst>
              <a:gd name="adj" fmla="val 22199741"/>
            </a:avLst>
          </a:prstGeom>
          <a:solidFill>
            <a:srgbClr val="1A1A1A">
              <a:alpha val="7000"/>
            </a:srgbClr>
          </a:solidFill>
          <a:ln/>
        </p:spPr>
        <p:txBody>
          <a:bodyPr wrap="square" rtlCol="0" anchor="ctr"/>
          <a:lstStyle/>
          <a:p>
            <a:pPr indent="0" marL="0">
              <a:buNone/>
            </a:pPr>
            <a:endParaRPr lang="en-US" dirty="0"/>
          </a:p>
        </p:txBody>
      </p:sp>
      <p:sp>
        <p:nvSpPr>
          <p:cNvPr id="11" name="Text 9"/>
          <p:cNvSpPr/>
          <p:nvPr/>
        </p:nvSpPr>
        <p:spPr>
          <a:xfrm>
            <a:off x="1921669" y="1579104"/>
            <a:ext cx="321134" cy="42863"/>
          </a:xfrm>
          <a:prstGeom prst="roundRect">
            <a:avLst>
              <a:gd name="adj" fmla="val 22199741"/>
            </a:avLst>
          </a:prstGeom>
          <a:solidFill>
            <a:srgbClr val="1A1A1A">
              <a:alpha val="28000"/>
            </a:srgbClr>
          </a:solidFill>
          <a:ln/>
        </p:spPr>
        <p:txBody>
          <a:bodyPr wrap="square" rtlCol="0" anchor="ctr"/>
          <a:lstStyle/>
          <a:p>
            <a:pPr indent="0" marL="0">
              <a:buNone/>
            </a:pPr>
            <a:endParaRPr lang="en-US" dirty="0"/>
          </a:p>
        </p:txBody>
      </p:sp>
      <p:sp>
        <p:nvSpPr>
          <p:cNvPr id="12" name="Text 10"/>
          <p:cNvSpPr/>
          <p:nvPr/>
        </p:nvSpPr>
        <p:spPr>
          <a:xfrm>
            <a:off x="5716715" y="1271922"/>
            <a:ext cx="2762917" cy="258318"/>
          </a:xfrm>
          <a:prstGeom prst="rect">
            <a:avLst/>
          </a:prstGeom>
          <a:noFill/>
          <a:ln/>
        </p:spPr>
        <p:txBody>
          <a:bodyPr wrap="none" lIns="0" tIns="0" rIns="0" bIns="0" rtlCol="0" anchor="t">
            <a:normAutofit/>
          </a:bodyPr>
          <a:lstStyle/>
          <a:p>
            <a:pPr algn="r" indent="0" marL="0">
              <a:lnSpc>
                <a:spcPts val="1913"/>
              </a:lnSpc>
              <a:buNone/>
            </a:pPr>
            <a:r>
              <a:rPr lang="en-US" sz="1913" b="1" spc="-38" kern="0" dirty="0">
                <a:solidFill>
                  <a:srgbClr val="1A1A1A"/>
                </a:solidFill>
                <a:latin typeface="Carlito" pitchFamily="34" charset="0"/>
                <a:ea typeface="Carlito" pitchFamily="34" charset="-122"/>
                <a:cs typeface="Carlito" pitchFamily="34" charset="-120"/>
              </a:rPr>
              <a:t>≈ 3 970 ₽/мес</a:t>
            </a:r>
            <a:endParaRPr lang="en-US" sz="1913" dirty="0"/>
          </a:p>
        </p:txBody>
      </p:sp>
      <p:sp>
        <p:nvSpPr>
          <p:cNvPr id="13" name="Text 11"/>
          <p:cNvSpPr/>
          <p:nvPr/>
        </p:nvSpPr>
        <p:spPr>
          <a:xfrm>
            <a:off x="6004322" y="1557672"/>
            <a:ext cx="2475309" cy="128588"/>
          </a:xfrm>
          <a:prstGeom prst="rect">
            <a:avLst/>
          </a:prstGeom>
          <a:noFill/>
          <a:ln/>
        </p:spPr>
        <p:txBody>
          <a:bodyPr wrap="none" lIns="0" tIns="0" rIns="0" bIns="0" rtlCol="0" anchor="t"/>
          <a:lstStyle/>
          <a:p>
            <a:pPr algn="r" indent="0" marL="0">
              <a:lnSpc>
                <a:spcPts val="1013"/>
              </a:lnSpc>
              <a:buNone/>
            </a:pPr>
            <a:r>
              <a:rPr lang="en-US" sz="800" dirty="0">
                <a:solidFill>
                  <a:srgbClr val="1A1A1A">
                    <a:alpha val="66000"/>
                  </a:srgbClr>
                </a:solidFill>
                <a:latin typeface="Carlito" pitchFamily="34" charset="0"/>
                <a:ea typeface="Carlito" pitchFamily="34" charset="-122"/>
                <a:cs typeface="Carlito" pitchFamily="34" charset="-120"/>
              </a:rPr>
              <a:t>из них платформе (40%)</a:t>
            </a:r>
            <a:endParaRPr lang="en-US" sz="800" dirty="0"/>
          </a:p>
        </p:txBody>
      </p:sp>
      <p:sp>
        <p:nvSpPr>
          <p:cNvPr id="14" name="Text 12"/>
          <p:cNvSpPr/>
          <p:nvPr/>
        </p:nvSpPr>
        <p:spPr>
          <a:xfrm>
            <a:off x="460772" y="1925575"/>
            <a:ext cx="8222456" cy="735806"/>
          </a:xfrm>
          <a:prstGeom prst="roundRect">
            <a:avLst>
              <a:gd name="adj" fmla="val 1553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5" name="Text 13"/>
          <p:cNvSpPr/>
          <p:nvPr/>
        </p:nvSpPr>
        <p:spPr>
          <a:xfrm>
            <a:off x="644976" y="2143460"/>
            <a:ext cx="544028" cy="324041"/>
          </a:xfrm>
          <a:prstGeom prst="rect">
            <a:avLst/>
          </a:prstGeom>
          <a:noFill/>
          <a:ln/>
        </p:spPr>
        <p:txBody>
          <a:bodyPr wrap="none" lIns="0" tIns="0" rIns="0" bIns="0" rtlCol="0" anchor="t"/>
          <a:lstStyle/>
          <a:p>
            <a:pPr algn="l" indent="0" marL="0">
              <a:lnSpc>
                <a:spcPts val="2363"/>
              </a:lnSpc>
              <a:buNone/>
            </a:pPr>
            <a:r>
              <a:rPr lang="en-US" sz="2363" b="1" spc="-71" kern="0" dirty="0">
                <a:solidFill>
                  <a:srgbClr val="1A1A1A"/>
                </a:solidFill>
                <a:latin typeface="Liberation Sans Narrow" pitchFamily="34" charset="0"/>
                <a:ea typeface="Liberation Sans Narrow" pitchFamily="34" charset="-122"/>
                <a:cs typeface="Liberation Sans Narrow" pitchFamily="34" charset="-120"/>
              </a:rPr>
              <a:t>10</a:t>
            </a:r>
            <a:endParaRPr lang="en-US" sz="2363" dirty="0"/>
          </a:p>
        </p:txBody>
      </p:sp>
      <p:sp>
        <p:nvSpPr>
          <p:cNvPr id="16" name="Text 14"/>
          <p:cNvSpPr/>
          <p:nvPr/>
        </p:nvSpPr>
        <p:spPr>
          <a:xfrm>
            <a:off x="1051582" y="2279191"/>
            <a:ext cx="684349" cy="173593"/>
          </a:xfrm>
          <a:prstGeom prst="rect">
            <a:avLst/>
          </a:prstGeom>
          <a:noFill/>
          <a:ln/>
        </p:spPr>
        <p:txBody>
          <a:bodyPr wrap="none" lIns="0" tIns="0" rIns="0" bIns="0" rtlCol="0" anchor="t"/>
          <a:lstStyle/>
          <a:p>
            <a:pPr algn="l" indent="0" marL="0">
              <a:lnSpc>
                <a:spcPts val="1266"/>
              </a:lnSpc>
              <a:buNone/>
            </a:pPr>
            <a:r>
              <a:rPr lang="en-US" sz="844" b="1" dirty="0">
                <a:solidFill>
                  <a:srgbClr val="1A1A1A">
                    <a:alpha val="66000"/>
                  </a:srgbClr>
                </a:solidFill>
                <a:latin typeface="Carlito" pitchFamily="34" charset="0"/>
                <a:ea typeface="Carlito" pitchFamily="34" charset="-122"/>
                <a:cs typeface="Carlito" pitchFamily="34" charset="-120"/>
              </a:rPr>
              <a:t>точек</a:t>
            </a:r>
            <a:endParaRPr lang="en-US" sz="844" dirty="0"/>
          </a:p>
        </p:txBody>
      </p:sp>
      <p:sp>
        <p:nvSpPr>
          <p:cNvPr id="17" name="Text 15"/>
          <p:cNvSpPr/>
          <p:nvPr/>
        </p:nvSpPr>
        <p:spPr>
          <a:xfrm>
            <a:off x="1921669" y="2272047"/>
            <a:ext cx="4014788" cy="42863"/>
          </a:xfrm>
          <a:prstGeom prst="roundRect">
            <a:avLst>
              <a:gd name="adj" fmla="val 22199741"/>
            </a:avLst>
          </a:prstGeom>
          <a:solidFill>
            <a:srgbClr val="1A1A1A">
              <a:alpha val="7000"/>
            </a:srgbClr>
          </a:solidFill>
          <a:ln/>
        </p:spPr>
        <p:txBody>
          <a:bodyPr wrap="square" rtlCol="0" anchor="ctr"/>
          <a:lstStyle/>
          <a:p>
            <a:pPr indent="0" marL="0">
              <a:buNone/>
            </a:pPr>
            <a:endParaRPr lang="en-US" dirty="0"/>
          </a:p>
        </p:txBody>
      </p:sp>
      <p:sp>
        <p:nvSpPr>
          <p:cNvPr id="18" name="Text 16"/>
          <p:cNvSpPr/>
          <p:nvPr/>
        </p:nvSpPr>
        <p:spPr>
          <a:xfrm>
            <a:off x="1921669" y="2272047"/>
            <a:ext cx="1324831" cy="42863"/>
          </a:xfrm>
          <a:prstGeom prst="roundRect">
            <a:avLst>
              <a:gd name="adj" fmla="val 22199741"/>
            </a:avLst>
          </a:prstGeom>
          <a:solidFill>
            <a:srgbClr val="1A1A1A">
              <a:alpha val="28000"/>
            </a:srgbClr>
          </a:solidFill>
          <a:ln/>
        </p:spPr>
        <p:txBody>
          <a:bodyPr wrap="square" rtlCol="0" anchor="ctr"/>
          <a:lstStyle/>
          <a:p>
            <a:pPr indent="0" marL="0">
              <a:buNone/>
            </a:pPr>
            <a:endParaRPr lang="en-US" dirty="0"/>
          </a:p>
        </p:txBody>
      </p:sp>
      <p:sp>
        <p:nvSpPr>
          <p:cNvPr id="19" name="Text 17"/>
          <p:cNvSpPr/>
          <p:nvPr/>
        </p:nvSpPr>
        <p:spPr>
          <a:xfrm>
            <a:off x="6004322" y="2057735"/>
            <a:ext cx="2475309" cy="315468"/>
          </a:xfrm>
          <a:prstGeom prst="rect">
            <a:avLst/>
          </a:prstGeom>
          <a:noFill/>
          <a:ln/>
        </p:spPr>
        <p:txBody>
          <a:bodyPr wrap="none" lIns="0" tIns="0" rIns="0" bIns="0" rtlCol="0" anchor="t">
            <a:normAutofit/>
          </a:bodyPr>
          <a:lstStyle/>
          <a:p>
            <a:pPr algn="r" indent="0" marL="0">
              <a:lnSpc>
                <a:spcPts val="2363"/>
              </a:lnSpc>
              <a:buNone/>
            </a:pPr>
            <a:r>
              <a:rPr lang="en-US" sz="2363" b="1" spc="-47" kern="0" dirty="0">
                <a:solidFill>
                  <a:srgbClr val="1A1A1A"/>
                </a:solidFill>
                <a:latin typeface="Carlito" pitchFamily="34" charset="0"/>
                <a:ea typeface="Carlito" pitchFamily="34" charset="-122"/>
                <a:cs typeface="Carlito" pitchFamily="34" charset="-120"/>
              </a:rPr>
              <a:t>≈ 39 700 ₽/мес</a:t>
            </a:r>
            <a:endParaRPr lang="en-US" sz="2363" dirty="0"/>
          </a:p>
        </p:txBody>
      </p:sp>
      <p:sp>
        <p:nvSpPr>
          <p:cNvPr id="20" name="Text 18"/>
          <p:cNvSpPr/>
          <p:nvPr/>
        </p:nvSpPr>
        <p:spPr>
          <a:xfrm>
            <a:off x="5462111" y="2400635"/>
            <a:ext cx="3017520" cy="128588"/>
          </a:xfrm>
          <a:prstGeom prst="rect">
            <a:avLst/>
          </a:prstGeom>
          <a:noFill/>
          <a:ln/>
        </p:spPr>
        <p:txBody>
          <a:bodyPr wrap="none" lIns="0" tIns="0" rIns="0" bIns="0" rtlCol="0" anchor="t"/>
          <a:lstStyle/>
          <a:p>
            <a:pPr algn="r" indent="0" marL="0">
              <a:lnSpc>
                <a:spcPts val="1013"/>
              </a:lnSpc>
              <a:buNone/>
            </a:pPr>
            <a:r>
              <a:rPr lang="en-US" sz="800" dirty="0">
                <a:solidFill>
                  <a:srgbClr val="1A1A1A">
                    <a:alpha val="66000"/>
                  </a:srgbClr>
                </a:solidFill>
                <a:latin typeface="Carlito" pitchFamily="34" charset="0"/>
                <a:ea typeface="Carlito" pitchFamily="34" charset="-122"/>
                <a:cs typeface="Carlito" pitchFamily="34" charset="-120"/>
              </a:rPr>
              <a:t>платформе</a:t>
            </a:r>
            <a:endParaRPr lang="en-US" sz="800" dirty="0"/>
          </a:p>
        </p:txBody>
      </p:sp>
      <p:sp>
        <p:nvSpPr>
          <p:cNvPr id="21" name="Text 19"/>
          <p:cNvSpPr/>
          <p:nvPr/>
        </p:nvSpPr>
        <p:spPr>
          <a:xfrm>
            <a:off x="460772" y="2768538"/>
            <a:ext cx="8222456" cy="835819"/>
          </a:xfrm>
          <a:prstGeom prst="roundRect">
            <a:avLst>
              <a:gd name="adj" fmla="val 13675"/>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2" name="Text 20"/>
          <p:cNvSpPr/>
          <p:nvPr/>
        </p:nvSpPr>
        <p:spPr>
          <a:xfrm>
            <a:off x="641294" y="3007854"/>
            <a:ext cx="647652" cy="385763"/>
          </a:xfrm>
          <a:prstGeom prst="rect">
            <a:avLst/>
          </a:prstGeom>
          <a:noFill/>
          <a:ln/>
        </p:spPr>
        <p:txBody>
          <a:bodyPr wrap="none" lIns="0" tIns="0" rIns="0" bIns="0" rtlCol="0" anchor="t"/>
          <a:lstStyle/>
          <a:p>
            <a:pPr algn="l" indent="0" marL="0">
              <a:lnSpc>
                <a:spcPts val="2813"/>
              </a:lnSpc>
              <a:buNone/>
            </a:pPr>
            <a:r>
              <a:rPr lang="en-US" sz="2813" b="1" spc="-84" kern="0" dirty="0">
                <a:solidFill>
                  <a:srgbClr val="1A1A1A"/>
                </a:solidFill>
                <a:latin typeface="Liberation Sans Narrow" pitchFamily="34" charset="0"/>
                <a:ea typeface="Liberation Sans Narrow" pitchFamily="34" charset="-122"/>
                <a:cs typeface="Liberation Sans Narrow" pitchFamily="34" charset="-120"/>
              </a:rPr>
              <a:t>30</a:t>
            </a:r>
            <a:endParaRPr lang="en-US" sz="2813" dirty="0"/>
          </a:p>
        </p:txBody>
      </p:sp>
      <p:sp>
        <p:nvSpPr>
          <p:cNvPr id="23" name="Text 21"/>
          <p:cNvSpPr/>
          <p:nvPr/>
        </p:nvSpPr>
        <p:spPr>
          <a:xfrm>
            <a:off x="1111746" y="3193591"/>
            <a:ext cx="624185" cy="173593"/>
          </a:xfrm>
          <a:prstGeom prst="rect">
            <a:avLst/>
          </a:prstGeom>
          <a:noFill/>
          <a:ln/>
        </p:spPr>
        <p:txBody>
          <a:bodyPr wrap="none" lIns="0" tIns="0" rIns="0" bIns="0" rtlCol="0" anchor="t"/>
          <a:lstStyle/>
          <a:p>
            <a:pPr algn="l" indent="0" marL="0">
              <a:lnSpc>
                <a:spcPts val="1266"/>
              </a:lnSpc>
              <a:buNone/>
            </a:pPr>
            <a:r>
              <a:rPr lang="en-US" sz="844" b="1" dirty="0">
                <a:solidFill>
                  <a:srgbClr val="1A1A1A">
                    <a:alpha val="66000"/>
                  </a:srgbClr>
                </a:solidFill>
                <a:latin typeface="Carlito" pitchFamily="34" charset="0"/>
                <a:ea typeface="Carlito" pitchFamily="34" charset="-122"/>
                <a:cs typeface="Carlito" pitchFamily="34" charset="-120"/>
              </a:rPr>
              <a:t>точек</a:t>
            </a:r>
            <a:endParaRPr lang="en-US" sz="844" dirty="0"/>
          </a:p>
        </p:txBody>
      </p:sp>
      <p:sp>
        <p:nvSpPr>
          <p:cNvPr id="24" name="Text 22"/>
          <p:cNvSpPr/>
          <p:nvPr/>
        </p:nvSpPr>
        <p:spPr>
          <a:xfrm>
            <a:off x="1921669" y="3157872"/>
            <a:ext cx="3657600" cy="57150"/>
          </a:xfrm>
          <a:prstGeom prst="roundRect">
            <a:avLst>
              <a:gd name="adj" fmla="val 16650000"/>
            </a:avLst>
          </a:prstGeom>
          <a:solidFill>
            <a:srgbClr val="1A1A1A">
              <a:alpha val="7000"/>
            </a:srgbClr>
          </a:solidFill>
          <a:ln/>
        </p:spPr>
        <p:txBody>
          <a:bodyPr wrap="square" rtlCol="0" anchor="ctr"/>
          <a:lstStyle/>
          <a:p>
            <a:pPr indent="0" marL="0">
              <a:buNone/>
            </a:pPr>
            <a:endParaRPr lang="en-US" dirty="0"/>
          </a:p>
        </p:txBody>
      </p:sp>
      <p:sp>
        <p:nvSpPr>
          <p:cNvPr id="25" name="Text 23"/>
          <p:cNvSpPr/>
          <p:nvPr/>
        </p:nvSpPr>
        <p:spPr>
          <a:xfrm>
            <a:off x="1921669" y="3157872"/>
            <a:ext cx="3657600" cy="57150"/>
          </a:xfrm>
          <a:prstGeom prst="roundRect">
            <a:avLst>
              <a:gd name="adj" fmla="val 16650000"/>
            </a:avLst>
          </a:prstGeom>
          <a:solidFill>
            <a:srgbClr val="F64A8A"/>
          </a:solidFill>
          <a:ln/>
        </p:spPr>
        <p:txBody>
          <a:bodyPr wrap="square" rtlCol="0" anchor="ctr"/>
          <a:lstStyle/>
          <a:p>
            <a:pPr indent="0" marL="0">
              <a:buNone/>
            </a:pPr>
            <a:endParaRPr lang="en-US" dirty="0"/>
          </a:p>
        </p:txBody>
      </p:sp>
      <p:sp>
        <p:nvSpPr>
          <p:cNvPr id="26" name="Text 24"/>
          <p:cNvSpPr/>
          <p:nvPr/>
        </p:nvSpPr>
        <p:spPr>
          <a:xfrm>
            <a:off x="5398269" y="2914985"/>
            <a:ext cx="3312368" cy="386906"/>
          </a:xfrm>
          <a:prstGeom prst="rect">
            <a:avLst/>
          </a:prstGeom>
          <a:noFill/>
          <a:ln/>
        </p:spPr>
        <p:txBody>
          <a:bodyPr wrap="none" lIns="0" tIns="0" rIns="0" bIns="0" rtlCol="0" anchor="t">
            <a:normAutofit/>
          </a:bodyPr>
          <a:lstStyle/>
          <a:p>
            <a:pPr algn="r" indent="0" marL="0">
              <a:lnSpc>
                <a:spcPts val="2925"/>
              </a:lnSpc>
              <a:buNone/>
            </a:pPr>
            <a:r>
              <a:rPr lang="en-US" sz="2925" b="1" spc="-58" kern="0" dirty="0">
                <a:solidFill>
                  <a:srgbClr val="F64A8A"/>
                </a:solidFill>
                <a:latin typeface="Carlito" pitchFamily="34" charset="0"/>
                <a:ea typeface="Carlito" pitchFamily="34" charset="-122"/>
                <a:cs typeface="Carlito" pitchFamily="34" charset="-120"/>
              </a:rPr>
              <a:t>≈ 119 000 ₽/мес</a:t>
            </a:r>
            <a:endParaRPr lang="en-US" sz="2925" dirty="0"/>
          </a:p>
        </p:txBody>
      </p:sp>
      <p:sp>
        <p:nvSpPr>
          <p:cNvPr id="27" name="Text 25"/>
          <p:cNvSpPr/>
          <p:nvPr/>
        </p:nvSpPr>
        <p:spPr>
          <a:xfrm>
            <a:off x="5004911" y="3329322"/>
            <a:ext cx="3474720" cy="128588"/>
          </a:xfrm>
          <a:prstGeom prst="rect">
            <a:avLst/>
          </a:prstGeom>
          <a:noFill/>
          <a:ln/>
        </p:spPr>
        <p:txBody>
          <a:bodyPr wrap="none" lIns="0" tIns="0" rIns="0" bIns="0" rtlCol="0" anchor="t"/>
          <a:lstStyle/>
          <a:p>
            <a:pPr algn="r" indent="0" marL="0">
              <a:lnSpc>
                <a:spcPts val="1013"/>
              </a:lnSpc>
              <a:buNone/>
            </a:pPr>
            <a:r>
              <a:rPr lang="en-US" sz="800" dirty="0">
                <a:solidFill>
                  <a:srgbClr val="1A1A1A">
                    <a:alpha val="66000"/>
                  </a:srgbClr>
                </a:solidFill>
                <a:latin typeface="Carlito" pitchFamily="34" charset="0"/>
                <a:ea typeface="Carlito" pitchFamily="34" charset="-122"/>
                <a:cs typeface="Carlito" pitchFamily="34" charset="-120"/>
              </a:rPr>
              <a:t>платформе</a:t>
            </a:r>
            <a:endParaRPr lang="en-US" sz="800" dirty="0"/>
          </a:p>
        </p:txBody>
      </p:sp>
      <p:sp>
        <p:nvSpPr>
          <p:cNvPr id="28" name="Text 26"/>
          <p:cNvSpPr/>
          <p:nvPr/>
        </p:nvSpPr>
        <p:spPr>
          <a:xfrm>
            <a:off x="457200" y="4446984"/>
            <a:ext cx="142875" cy="142875"/>
          </a:xfrm>
          <a:prstGeom prst="rect">
            <a:avLst/>
          </a:prstGeom>
          <a:noFill/>
          <a:ln/>
        </p:spPr>
        <p:txBody>
          <a:bodyPr wrap="none" lIns="0" tIns="0" rIns="0" bIns="0" rtlCol="0" anchor="ctr"/>
          <a:lstStyle/>
          <a:p>
            <a:pPr algn="ctr" indent="0" marL="0">
              <a:buNone/>
            </a:pPr>
            <a:r>
              <a:rPr lang="en-US" sz="1406" dirty="0">
                <a:solidFill>
                  <a:srgbClr val="1A1A1A"/>
                </a:solidFill>
                <a:latin typeface="Segoe UI Symbol" pitchFamily="34" charset="0"/>
                <a:ea typeface="Segoe UI Symbol" pitchFamily="34" charset="-122"/>
                <a:cs typeface="Segoe UI Symbol" pitchFamily="34" charset="-120"/>
              </a:rPr>
              <a:t>✦</a:t>
            </a:r>
            <a:endParaRPr lang="en-US" sz="1406" dirty="0"/>
          </a:p>
        </p:txBody>
      </p:sp>
      <p:sp>
        <p:nvSpPr>
          <p:cNvPr id="29" name="Text 27"/>
          <p:cNvSpPr/>
          <p:nvPr/>
        </p:nvSpPr>
        <p:spPr>
          <a:xfrm>
            <a:off x="685800" y="4374542"/>
            <a:ext cx="4143375" cy="339999"/>
          </a:xfrm>
          <a:prstGeom prst="rect">
            <a:avLst/>
          </a:prstGeom>
          <a:noFill/>
          <a:ln/>
        </p:spPr>
        <p:txBody>
          <a:bodyPr wrap="square" lIns="0" tIns="0" rIns="0" bIns="0" rtlCol="0" anchor="t"/>
          <a:lstStyle/>
          <a:p>
            <a:pPr algn="l" indent="0" marL="0">
              <a:lnSpc>
                <a:spcPts val="1133"/>
              </a:lnSpc>
              <a:buNone/>
            </a:pPr>
            <a:r>
              <a:rPr lang="en-US" sz="800" dirty="0">
                <a:solidFill>
                  <a:srgbClr val="1A1A1A">
                    <a:alpha val="66000"/>
                  </a:srgbClr>
                </a:solidFill>
                <a:latin typeface="Carlito" pitchFamily="34" charset="0"/>
                <a:ea typeface="Carlito" pitchFamily="34" charset="-122"/>
                <a:cs typeface="Carlito" pitchFamily="34" charset="-120"/>
              </a:rPr>
              <a:t>Средняя расчётная комиссия точки ≈ 9 925 ₽/мес; распределение 40/40/20: компания / представитель / амбассадор</a:t>
            </a:r>
            <a:endParaRPr lang="en-US" sz="800" dirty="0"/>
          </a:p>
        </p:txBody>
      </p:sp>
      <p:sp>
        <p:nvSpPr>
          <p:cNvPr id="30" name="Text 28"/>
          <p:cNvSpPr/>
          <p:nvPr/>
        </p:nvSpPr>
        <p:spPr>
          <a:xfrm>
            <a:off x="4972050" y="4279106"/>
            <a:ext cx="3714750" cy="478631"/>
          </a:xfrm>
          <a:prstGeom prst="roundRect">
            <a:avLst>
              <a:gd name="adj" fmla="val 23881"/>
            </a:avLst>
          </a:prstGeom>
          <a:solidFill>
            <a:srgbClr val="F64A8A">
              <a:alpha val="6000"/>
            </a:srgbClr>
          </a:solidFill>
          <a:ln/>
        </p:spPr>
        <p:txBody>
          <a:bodyPr wrap="square" rtlCol="0" anchor="ctr"/>
          <a:lstStyle/>
          <a:p>
            <a:pPr indent="0" marL="0">
              <a:buNone/>
            </a:pPr>
            <a:endParaRPr lang="en-US" dirty="0"/>
          </a:p>
        </p:txBody>
      </p:sp>
      <p:sp>
        <p:nvSpPr>
          <p:cNvPr id="31" name="Text 29"/>
          <p:cNvSpPr/>
          <p:nvPr/>
        </p:nvSpPr>
        <p:spPr>
          <a:xfrm>
            <a:off x="5114925" y="4446984"/>
            <a:ext cx="142875" cy="142875"/>
          </a:xfrm>
          <a:prstGeom prst="rect">
            <a:avLst/>
          </a:prstGeom>
          <a:noFill/>
          <a:ln/>
        </p:spPr>
        <p:txBody>
          <a:bodyPr wrap="none" lIns="0" tIns="0" rIns="0" bIns="0" rtlCol="0" anchor="ctr"/>
          <a:lstStyle/>
          <a:p>
            <a:pPr algn="ctr" indent="0" marL="0">
              <a:buNone/>
            </a:pPr>
            <a:r>
              <a:rPr lang="en-US" sz="1406" dirty="0">
                <a:solidFill>
                  <a:srgbClr val="C92A6A"/>
                </a:solidFill>
                <a:latin typeface="Segoe UI Symbol" pitchFamily="34" charset="0"/>
                <a:ea typeface="Segoe UI Symbol" pitchFamily="34" charset="-122"/>
                <a:cs typeface="Segoe UI Symbol" pitchFamily="34" charset="-120"/>
              </a:rPr>
              <a:t>ⓘ</a:t>
            </a:r>
            <a:endParaRPr lang="en-US" sz="1406" dirty="0"/>
          </a:p>
        </p:txBody>
      </p:sp>
      <p:sp>
        <p:nvSpPr>
          <p:cNvPr id="32" name="Text 30"/>
          <p:cNvSpPr/>
          <p:nvPr/>
        </p:nvSpPr>
        <p:spPr>
          <a:xfrm>
            <a:off x="5343525" y="4379119"/>
            <a:ext cx="3200400" cy="278606"/>
          </a:xfrm>
          <a:prstGeom prst="rect">
            <a:avLst/>
          </a:prstGeom>
          <a:noFill/>
          <a:ln/>
        </p:spPr>
        <p:txBody>
          <a:bodyPr wrap="square" lIns="0" tIns="0" rIns="0" bIns="0" rtlCol="0" anchor="t"/>
          <a:lstStyle/>
          <a:p>
            <a:pPr algn="l" indent="0" marL="0">
              <a:lnSpc>
                <a:spcPts val="1097"/>
              </a:lnSpc>
              <a:buNone/>
            </a:pPr>
            <a:r>
              <a:rPr lang="en-US" sz="800" dirty="0">
                <a:solidFill>
                  <a:srgbClr val="1A1A1A"/>
                </a:solidFill>
                <a:latin typeface="Carlito" pitchFamily="34" charset="0"/>
                <a:ea typeface="Carlito" pitchFamily="34" charset="-122"/>
                <a:cs typeface="Carlito" pitchFamily="34" charset="-120"/>
              </a:rPr>
              <a:t>Расчётные значения при средней активности. Не является гарантией доходности</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57250" y="3714750"/>
            <a:ext cx="2428875" cy="2428875"/>
          </a:xfrm>
          <a:prstGeom prst="ellipse">
            <a:avLst/>
          </a:prstGeom>
          <a:solidFill>
            <a:srgbClr val="0ABAB5">
              <a:alpha val="6000"/>
            </a:srgbClr>
          </a:solidFill>
          <a:ln/>
        </p:spPr>
        <p:txBody>
          <a:bodyPr wrap="square" rtlCol="0" anchor="ctr"/>
          <a:lstStyle/>
          <a:p>
            <a:pPr indent="0" marL="0">
              <a:buNone/>
            </a:pPr>
            <a:endParaRPr lang="en-US" dirty="0"/>
          </a:p>
        </p:txBody>
      </p:sp>
      <p:sp>
        <p:nvSpPr>
          <p:cNvPr id="3" name="Text 1"/>
          <p:cNvSpPr/>
          <p:nvPr/>
        </p:nvSpPr>
        <p:spPr>
          <a:xfrm>
            <a:off x="457200" y="448270"/>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4" name="Text 2"/>
          <p:cNvSpPr/>
          <p:nvPr/>
        </p:nvSpPr>
        <p:spPr>
          <a:xfrm>
            <a:off x="728663" y="400050"/>
            <a:ext cx="79581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СПРОС</a:t>
            </a:r>
            <a:endParaRPr lang="en-US" sz="800" dirty="0"/>
          </a:p>
        </p:txBody>
      </p:sp>
      <p:sp>
        <p:nvSpPr>
          <p:cNvPr id="5" name="Text 3"/>
          <p:cNvSpPr/>
          <p:nvPr/>
        </p:nvSpPr>
        <p:spPr>
          <a:xfrm>
            <a:off x="457200" y="617934"/>
            <a:ext cx="863600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Жителю возвращается 6,84–9,3% покупок</a:t>
            </a:r>
            <a:endParaRPr lang="en-US" sz="2138" dirty="0"/>
          </a:p>
        </p:txBody>
      </p:sp>
      <p:sp>
        <p:nvSpPr>
          <p:cNvPr id="6" name="Text 4"/>
          <p:cNvSpPr/>
          <p:nvPr/>
        </p:nvSpPr>
        <p:spPr>
          <a:xfrm>
            <a:off x="457200" y="1789286"/>
            <a:ext cx="3132892" cy="762243"/>
          </a:xfrm>
          <a:prstGeom prst="rect">
            <a:avLst/>
          </a:prstGeom>
          <a:noFill/>
          <a:ln/>
        </p:spPr>
        <p:txBody>
          <a:bodyPr wrap="none" lIns="0" tIns="0" rIns="0" bIns="0" rtlCol="0" anchor="t"/>
          <a:lstStyle/>
          <a:p>
            <a:pPr algn="l" indent="0" marL="0">
              <a:lnSpc>
                <a:spcPts val="5558"/>
              </a:lnSpc>
              <a:buNone/>
            </a:pPr>
            <a:r>
              <a:rPr lang="en-US" sz="5850" b="1" spc="-234" kern="0" dirty="0">
                <a:solidFill>
                  <a:srgbClr val="0ABAB5"/>
                </a:solidFill>
                <a:latin typeface="Liberation Sans Narrow" pitchFamily="34" charset="0"/>
                <a:ea typeface="Liberation Sans Narrow" pitchFamily="34" charset="-122"/>
                <a:cs typeface="Liberation Sans Narrow" pitchFamily="34" charset="-120"/>
              </a:rPr>
              <a:t>6,84%</a:t>
            </a:r>
            <a:endParaRPr lang="en-US" sz="5850" dirty="0"/>
          </a:p>
        </p:txBody>
      </p:sp>
      <p:sp>
        <p:nvSpPr>
          <p:cNvPr id="7" name="Text 5"/>
          <p:cNvSpPr/>
          <p:nvPr/>
        </p:nvSpPr>
        <p:spPr>
          <a:xfrm>
            <a:off x="457200" y="2595079"/>
            <a:ext cx="2055960" cy="190952"/>
          </a:xfrm>
          <a:prstGeom prst="rect">
            <a:avLst/>
          </a:prstGeom>
          <a:noFill/>
          <a:ln/>
        </p:spPr>
        <p:txBody>
          <a:bodyPr wrap="none" lIns="0" tIns="0" rIns="0" bIns="0" rtlCol="0" anchor="t"/>
          <a:lstStyle/>
          <a:p>
            <a:pPr algn="l" indent="0" marL="0">
              <a:lnSpc>
                <a:spcPts val="1392"/>
              </a:lnSpc>
              <a:buNone/>
            </a:pPr>
            <a:r>
              <a:rPr lang="en-US" sz="928" b="1" dirty="0">
                <a:solidFill>
                  <a:srgbClr val="1A1A1A"/>
                </a:solidFill>
                <a:latin typeface="Carlito" pitchFamily="34" charset="0"/>
                <a:ea typeface="Carlito" pitchFamily="34" charset="-122"/>
                <a:cs typeface="Carlito" pitchFamily="34" charset="-120"/>
              </a:rPr>
              <a:t>базовый кэшбэк-пул</a:t>
            </a:r>
            <a:endParaRPr lang="en-US" sz="928" dirty="0"/>
          </a:p>
        </p:txBody>
      </p:sp>
      <p:sp>
        <p:nvSpPr>
          <p:cNvPr id="8" name="Text 6"/>
          <p:cNvSpPr/>
          <p:nvPr/>
        </p:nvSpPr>
        <p:spPr>
          <a:xfrm>
            <a:off x="2672432" y="1789286"/>
            <a:ext cx="7144" cy="1135745"/>
          </a:xfrm>
          <a:prstGeom prst="rect">
            <a:avLst/>
          </a:prstGeom>
          <a:solidFill>
            <a:srgbClr val="1A1A1A">
              <a:alpha val="12000"/>
            </a:srgbClr>
          </a:solidFill>
          <a:ln/>
        </p:spPr>
        <p:txBody>
          <a:bodyPr wrap="square" rtlCol="0" anchor="ctr"/>
          <a:lstStyle/>
          <a:p>
            <a:pPr indent="0" marL="0">
              <a:buNone/>
            </a:pPr>
            <a:endParaRPr lang="en-US" dirty="0"/>
          </a:p>
        </p:txBody>
      </p:sp>
      <p:sp>
        <p:nvSpPr>
          <p:cNvPr id="9" name="Text 7"/>
          <p:cNvSpPr/>
          <p:nvPr/>
        </p:nvSpPr>
        <p:spPr>
          <a:xfrm>
            <a:off x="2936751" y="1789286"/>
            <a:ext cx="2857500" cy="762243"/>
          </a:xfrm>
          <a:prstGeom prst="rect">
            <a:avLst/>
          </a:prstGeom>
          <a:noFill/>
          <a:ln/>
        </p:spPr>
        <p:txBody>
          <a:bodyPr wrap="none" lIns="0" tIns="0" rIns="0" bIns="0" rtlCol="0" anchor="t"/>
          <a:lstStyle/>
          <a:p>
            <a:pPr algn="l" indent="0" marL="0">
              <a:lnSpc>
                <a:spcPts val="5558"/>
              </a:lnSpc>
              <a:buNone/>
            </a:pPr>
            <a:r>
              <a:rPr lang="en-US" sz="5850" b="1" spc="-234" kern="0" dirty="0">
                <a:solidFill>
                  <a:srgbClr val="F64A8A"/>
                </a:solidFill>
                <a:latin typeface="Liberation Sans Narrow" pitchFamily="34" charset="0"/>
                <a:ea typeface="Liberation Sans Narrow" pitchFamily="34" charset="-122"/>
                <a:cs typeface="Liberation Sans Narrow" pitchFamily="34" charset="-120"/>
              </a:rPr>
              <a:t>9,3%</a:t>
            </a:r>
            <a:endParaRPr lang="en-US" sz="5850" dirty="0"/>
          </a:p>
        </p:txBody>
      </p:sp>
      <p:sp>
        <p:nvSpPr>
          <p:cNvPr id="10" name="Text 8"/>
          <p:cNvSpPr/>
          <p:nvPr/>
        </p:nvSpPr>
        <p:spPr>
          <a:xfrm>
            <a:off x="2936751" y="2595079"/>
            <a:ext cx="1785938" cy="356348"/>
          </a:xfrm>
          <a:prstGeom prst="rect">
            <a:avLst/>
          </a:prstGeom>
          <a:noFill/>
          <a:ln/>
        </p:spPr>
        <p:txBody>
          <a:bodyPr wrap="square" lIns="0" tIns="0" rIns="0" bIns="0" rtlCol="0" anchor="t"/>
          <a:lstStyle/>
          <a:p>
            <a:pPr algn="l" indent="0" marL="0">
              <a:lnSpc>
                <a:spcPts val="1299"/>
              </a:lnSpc>
              <a:buNone/>
            </a:pPr>
            <a:r>
              <a:rPr lang="en-US" sz="928" b="1" dirty="0">
                <a:solidFill>
                  <a:srgbClr val="1A1A1A"/>
                </a:solidFill>
                <a:latin typeface="Carlito" pitchFamily="34" charset="0"/>
                <a:ea typeface="Carlito" pitchFamily="34" charset="-122"/>
                <a:cs typeface="Carlito" pitchFamily="34" charset="-120"/>
              </a:rPr>
              <a:t>расширенный пул в партнёрских категориях</a:t>
            </a:r>
            <a:endParaRPr lang="en-US" sz="928" dirty="0"/>
          </a:p>
        </p:txBody>
      </p:sp>
      <p:sp>
        <p:nvSpPr>
          <p:cNvPr id="11" name="Text 9"/>
          <p:cNvSpPr/>
          <p:nvPr/>
        </p:nvSpPr>
        <p:spPr>
          <a:xfrm>
            <a:off x="457200" y="3167918"/>
            <a:ext cx="4286250" cy="394442"/>
          </a:xfrm>
          <a:prstGeom prst="rect">
            <a:avLst/>
          </a:prstGeom>
          <a:noFill/>
          <a:ln/>
        </p:spPr>
        <p:txBody>
          <a:bodyPr wrap="square" lIns="0" tIns="0" rIns="0" bIns="0" rtlCol="0" anchor="t"/>
          <a:lstStyle/>
          <a:p>
            <a:pPr algn="l" indent="0" marL="0">
              <a:lnSpc>
                <a:spcPts val="1439"/>
              </a:lnSpc>
              <a:buNone/>
            </a:pPr>
            <a:r>
              <a:rPr lang="en-US" sz="872" dirty="0">
                <a:solidFill>
                  <a:srgbClr val="1A1A1A">
                    <a:alpha val="80000"/>
                  </a:srgbClr>
                </a:solidFill>
                <a:latin typeface="Carlito" pitchFamily="34" charset="0"/>
                <a:ea typeface="Carlito" pitchFamily="34" charset="-122"/>
                <a:cs typeface="Carlito" pitchFamily="34" charset="-120"/>
              </a:rPr>
              <a:t>Кэшбэк начисляется баллами: </a:t>
            </a:r>
            <a:pPr algn="l" indent="0" marL="0">
              <a:lnSpc>
                <a:spcPts val="1439"/>
              </a:lnSpc>
              <a:buNone/>
            </a:pPr>
            <a:r>
              <a:rPr lang="en-US" sz="872" b="1" dirty="0">
                <a:solidFill>
                  <a:srgbClr val="1A1A1A">
                    <a:alpha val="80000"/>
                  </a:srgbClr>
                </a:solidFill>
                <a:latin typeface="Carlito" pitchFamily="34" charset="0"/>
                <a:ea typeface="Carlito" pitchFamily="34" charset="-122"/>
                <a:cs typeface="Carlito" pitchFamily="34" charset="-120"/>
              </a:rPr>
              <a:t>1 балл = 1 ₽</a:t>
            </a:r>
            <a:pPr algn="l" indent="0" marL="0">
              <a:lnSpc>
                <a:spcPts val="1439"/>
              </a:lnSpc>
              <a:buNone/>
            </a:pPr>
            <a:r>
              <a:rPr lang="en-US" sz="872" dirty="0">
                <a:solidFill>
                  <a:srgbClr val="1A1A1A">
                    <a:alpha val="80000"/>
                  </a:srgbClr>
                </a:solidFill>
                <a:latin typeface="Carlito" pitchFamily="34" charset="0"/>
                <a:ea typeface="Carlito" pitchFamily="34" charset="-122"/>
                <a:cs typeface="Carlito" pitchFamily="34" charset="-120"/>
              </a:rPr>
              <a:t>, баллы не сгорают. Житель тратит их в том же районе — оборот циркулирует локально.</a:t>
            </a:r>
            <a:endParaRPr lang="en-US" sz="872" dirty="0"/>
          </a:p>
        </p:txBody>
      </p:sp>
      <p:sp>
        <p:nvSpPr>
          <p:cNvPr id="12" name="Text 10"/>
          <p:cNvSpPr/>
          <p:nvPr/>
        </p:nvSpPr>
        <p:spPr>
          <a:xfrm>
            <a:off x="5614988" y="1107616"/>
            <a:ext cx="3071813" cy="3107196"/>
          </a:xfrm>
          <a:prstGeom prst="roundRect">
            <a:avLst>
              <a:gd name="adj" fmla="val 372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5800725" y="1487798"/>
            <a:ext cx="27003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alpha val="66000"/>
                  </a:srgbClr>
                </a:solidFill>
                <a:latin typeface="Carlito" pitchFamily="34" charset="0"/>
                <a:ea typeface="Carlito" pitchFamily="34" charset="-122"/>
                <a:cs typeface="Carlito" pitchFamily="34" charset="-120"/>
              </a:rPr>
              <a:t>ПЕТЛЯ ЦЕННОСТИ</a:t>
            </a:r>
            <a:endParaRPr lang="en-US" sz="800" dirty="0"/>
          </a:p>
        </p:txBody>
      </p:sp>
      <p:sp>
        <p:nvSpPr>
          <p:cNvPr id="14" name="Text 12"/>
          <p:cNvSpPr/>
          <p:nvPr/>
        </p:nvSpPr>
        <p:spPr>
          <a:xfrm>
            <a:off x="5804297" y="1709254"/>
            <a:ext cx="2693194" cy="350044"/>
          </a:xfrm>
          <a:prstGeom prst="roundRect">
            <a:avLst>
              <a:gd name="adj" fmla="val 2721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5" name="Text 13"/>
          <p:cNvSpPr/>
          <p:nvPr/>
        </p:nvSpPr>
        <p:spPr>
          <a:xfrm>
            <a:off x="5907881" y="1777119"/>
            <a:ext cx="214313" cy="214313"/>
          </a:xfrm>
          <a:prstGeom prst="roundRect">
            <a:avLst>
              <a:gd name="adj" fmla="val 4439990"/>
            </a:avLst>
          </a:prstGeom>
          <a:solidFill>
            <a:srgbClr val="0ABAB5">
              <a:alpha val="12000"/>
            </a:srgbClr>
          </a:solidFill>
          <a:ln/>
        </p:spPr>
        <p:txBody>
          <a:bodyPr wrap="square" rtlCol="0" anchor="ctr"/>
          <a:lstStyle/>
          <a:p>
            <a:pPr indent="0" marL="0">
              <a:buNone/>
            </a:pPr>
            <a:endParaRPr lang="en-US" dirty="0"/>
          </a:p>
        </p:txBody>
      </p:sp>
      <p:sp>
        <p:nvSpPr>
          <p:cNvPr id="16" name="Text 14"/>
          <p:cNvSpPr/>
          <p:nvPr/>
        </p:nvSpPr>
        <p:spPr>
          <a:xfrm>
            <a:off x="5921812" y="1791050"/>
            <a:ext cx="186452" cy="186452"/>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17" name="Text 15"/>
          <p:cNvSpPr/>
          <p:nvPr/>
        </p:nvSpPr>
        <p:spPr>
          <a:xfrm>
            <a:off x="6207919" y="1806587"/>
            <a:ext cx="2185988"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Кэшбэк жителю</a:t>
            </a:r>
            <a:endParaRPr lang="en-US" sz="816" dirty="0"/>
          </a:p>
        </p:txBody>
      </p:sp>
      <p:sp>
        <p:nvSpPr>
          <p:cNvPr id="18" name="Text 16"/>
          <p:cNvSpPr/>
          <p:nvPr/>
        </p:nvSpPr>
        <p:spPr>
          <a:xfrm>
            <a:off x="7086600" y="2077157"/>
            <a:ext cx="128588" cy="128588"/>
          </a:xfrm>
          <a:prstGeom prst="rect">
            <a:avLst/>
          </a:prstGeom>
          <a:noFill/>
          <a:ln/>
        </p:spPr>
        <p:txBody>
          <a:bodyPr wrap="none" lIns="0" tIns="0" rIns="0" bIns="0" rtlCol="0" anchor="ctr"/>
          <a:lstStyle/>
          <a:p>
            <a:pPr algn="ctr" indent="0" marL="0">
              <a:buNone/>
            </a:pPr>
            <a:r>
              <a:rPr lang="en-US" sz="1266" dirty="0">
                <a:solidFill>
                  <a:srgbClr val="1A1A1A"/>
                </a:solidFill>
                <a:latin typeface="Segoe UI Symbol" pitchFamily="34" charset="0"/>
                <a:ea typeface="Segoe UI Symbol" pitchFamily="34" charset="-122"/>
                <a:cs typeface="Segoe UI Symbol" pitchFamily="34" charset="-120"/>
              </a:rPr>
              <a:t>↓</a:t>
            </a:r>
            <a:endParaRPr lang="en-US" sz="1266" dirty="0"/>
          </a:p>
        </p:txBody>
      </p:sp>
      <p:sp>
        <p:nvSpPr>
          <p:cNvPr id="19" name="Text 17"/>
          <p:cNvSpPr/>
          <p:nvPr/>
        </p:nvSpPr>
        <p:spPr>
          <a:xfrm>
            <a:off x="5804297" y="2223604"/>
            <a:ext cx="2693194" cy="350044"/>
          </a:xfrm>
          <a:prstGeom prst="roundRect">
            <a:avLst>
              <a:gd name="adj" fmla="val 2721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0" name="Text 18"/>
          <p:cNvSpPr/>
          <p:nvPr/>
        </p:nvSpPr>
        <p:spPr>
          <a:xfrm>
            <a:off x="5907881" y="2291469"/>
            <a:ext cx="214313" cy="214313"/>
          </a:xfrm>
          <a:prstGeom prst="roundRect">
            <a:avLst>
              <a:gd name="adj" fmla="val 4439990"/>
            </a:avLst>
          </a:prstGeom>
          <a:solidFill>
            <a:srgbClr val="0ABAB5">
              <a:alpha val="12000"/>
            </a:srgbClr>
          </a:solidFill>
          <a:ln/>
        </p:spPr>
        <p:txBody>
          <a:bodyPr wrap="square" rtlCol="0" anchor="ctr"/>
          <a:lstStyle/>
          <a:p>
            <a:pPr indent="0" marL="0">
              <a:buNone/>
            </a:pPr>
            <a:endParaRPr lang="en-US" dirty="0"/>
          </a:p>
        </p:txBody>
      </p:sp>
      <p:sp>
        <p:nvSpPr>
          <p:cNvPr id="21" name="Text 19"/>
          <p:cNvSpPr/>
          <p:nvPr/>
        </p:nvSpPr>
        <p:spPr>
          <a:xfrm>
            <a:off x="5921812" y="2305400"/>
            <a:ext cx="186452" cy="186452"/>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22" name="Text 20"/>
          <p:cNvSpPr/>
          <p:nvPr/>
        </p:nvSpPr>
        <p:spPr>
          <a:xfrm>
            <a:off x="6207919" y="2320937"/>
            <a:ext cx="2185988"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Рост частоты покупок</a:t>
            </a:r>
            <a:endParaRPr lang="en-US" sz="816" dirty="0"/>
          </a:p>
        </p:txBody>
      </p:sp>
      <p:sp>
        <p:nvSpPr>
          <p:cNvPr id="23" name="Text 21"/>
          <p:cNvSpPr/>
          <p:nvPr/>
        </p:nvSpPr>
        <p:spPr>
          <a:xfrm>
            <a:off x="7086600" y="2591507"/>
            <a:ext cx="128588" cy="128588"/>
          </a:xfrm>
          <a:prstGeom prst="rect">
            <a:avLst/>
          </a:prstGeom>
          <a:noFill/>
          <a:ln/>
        </p:spPr>
        <p:txBody>
          <a:bodyPr wrap="none" lIns="0" tIns="0" rIns="0" bIns="0" rtlCol="0" anchor="ctr"/>
          <a:lstStyle/>
          <a:p>
            <a:pPr algn="ctr" indent="0" marL="0">
              <a:buNone/>
            </a:pPr>
            <a:r>
              <a:rPr lang="en-US" sz="1266" dirty="0">
                <a:solidFill>
                  <a:srgbClr val="1A1A1A"/>
                </a:solidFill>
                <a:latin typeface="Segoe UI Symbol" pitchFamily="34" charset="0"/>
                <a:ea typeface="Segoe UI Symbol" pitchFamily="34" charset="-122"/>
                <a:cs typeface="Segoe UI Symbol" pitchFamily="34" charset="-120"/>
              </a:rPr>
              <a:t>↓</a:t>
            </a:r>
            <a:endParaRPr lang="en-US" sz="1266" dirty="0"/>
          </a:p>
        </p:txBody>
      </p:sp>
      <p:sp>
        <p:nvSpPr>
          <p:cNvPr id="24" name="Text 22"/>
          <p:cNvSpPr/>
          <p:nvPr/>
        </p:nvSpPr>
        <p:spPr>
          <a:xfrm>
            <a:off x="5804297" y="2737954"/>
            <a:ext cx="2693194" cy="350044"/>
          </a:xfrm>
          <a:prstGeom prst="roundRect">
            <a:avLst>
              <a:gd name="adj" fmla="val 2721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25" name="Text 23"/>
          <p:cNvSpPr/>
          <p:nvPr/>
        </p:nvSpPr>
        <p:spPr>
          <a:xfrm>
            <a:off x="5907881" y="2805819"/>
            <a:ext cx="214313" cy="214313"/>
          </a:xfrm>
          <a:prstGeom prst="roundRect">
            <a:avLst>
              <a:gd name="adj" fmla="val 4439990"/>
            </a:avLst>
          </a:prstGeom>
          <a:solidFill>
            <a:srgbClr val="0ABAB5">
              <a:alpha val="12000"/>
            </a:srgbClr>
          </a:solidFill>
          <a:ln/>
        </p:spPr>
        <p:txBody>
          <a:bodyPr wrap="square" rtlCol="0" anchor="ctr"/>
          <a:lstStyle/>
          <a:p>
            <a:pPr indent="0" marL="0">
              <a:buNone/>
            </a:pPr>
            <a:endParaRPr lang="en-US" dirty="0"/>
          </a:p>
        </p:txBody>
      </p:sp>
      <p:sp>
        <p:nvSpPr>
          <p:cNvPr id="26" name="Text 24"/>
          <p:cNvSpPr/>
          <p:nvPr/>
        </p:nvSpPr>
        <p:spPr>
          <a:xfrm>
            <a:off x="5921812" y="2819750"/>
            <a:ext cx="186452" cy="186452"/>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27" name="Text 25"/>
          <p:cNvSpPr/>
          <p:nvPr/>
        </p:nvSpPr>
        <p:spPr>
          <a:xfrm>
            <a:off x="6207919" y="2835287"/>
            <a:ext cx="2185988"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Рост оборота района</a:t>
            </a:r>
            <a:endParaRPr lang="en-US" sz="816" dirty="0"/>
          </a:p>
        </p:txBody>
      </p:sp>
      <p:sp>
        <p:nvSpPr>
          <p:cNvPr id="28" name="Text 26"/>
          <p:cNvSpPr/>
          <p:nvPr/>
        </p:nvSpPr>
        <p:spPr>
          <a:xfrm>
            <a:off x="7086600" y="3105857"/>
            <a:ext cx="128588" cy="128588"/>
          </a:xfrm>
          <a:prstGeom prst="rect">
            <a:avLst/>
          </a:prstGeom>
          <a:noFill/>
          <a:ln/>
        </p:spPr>
        <p:txBody>
          <a:bodyPr wrap="none" lIns="0" tIns="0" rIns="0" bIns="0" rtlCol="0" anchor="ctr"/>
          <a:lstStyle/>
          <a:p>
            <a:pPr algn="ctr" indent="0" marL="0">
              <a:buNone/>
            </a:pPr>
            <a:r>
              <a:rPr lang="en-US" sz="1266" dirty="0">
                <a:solidFill>
                  <a:srgbClr val="1A1A1A"/>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5804297" y="3252304"/>
            <a:ext cx="2693194" cy="350044"/>
          </a:xfrm>
          <a:prstGeom prst="roundRect">
            <a:avLst>
              <a:gd name="adj" fmla="val 2721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30" name="Text 28"/>
          <p:cNvSpPr/>
          <p:nvPr/>
        </p:nvSpPr>
        <p:spPr>
          <a:xfrm>
            <a:off x="5907881" y="3320169"/>
            <a:ext cx="214313" cy="214313"/>
          </a:xfrm>
          <a:prstGeom prst="roundRect">
            <a:avLst>
              <a:gd name="adj" fmla="val 4439990"/>
            </a:avLst>
          </a:prstGeom>
          <a:solidFill>
            <a:srgbClr val="0ABAB5">
              <a:alpha val="12000"/>
            </a:srgbClr>
          </a:solidFill>
          <a:ln/>
        </p:spPr>
        <p:txBody>
          <a:bodyPr wrap="square" rtlCol="0" anchor="ctr"/>
          <a:lstStyle/>
          <a:p>
            <a:pPr indent="0" marL="0">
              <a:buNone/>
            </a:pPr>
            <a:endParaRPr lang="en-US" dirty="0"/>
          </a:p>
        </p:txBody>
      </p:sp>
      <p:sp>
        <p:nvSpPr>
          <p:cNvPr id="31" name="Text 29"/>
          <p:cNvSpPr/>
          <p:nvPr/>
        </p:nvSpPr>
        <p:spPr>
          <a:xfrm>
            <a:off x="5921812" y="3334100"/>
            <a:ext cx="186452" cy="186452"/>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32" name="Text 30"/>
          <p:cNvSpPr/>
          <p:nvPr/>
        </p:nvSpPr>
        <p:spPr>
          <a:xfrm>
            <a:off x="6207919" y="3349637"/>
            <a:ext cx="2185988" cy="167807"/>
          </a:xfrm>
          <a:prstGeom prst="rect">
            <a:avLst/>
          </a:prstGeom>
          <a:noFill/>
          <a:ln/>
        </p:spPr>
        <p:txBody>
          <a:bodyPr wrap="none" lIns="0" tIns="0" rIns="0" bIns="0" rtlCol="0" anchor="t"/>
          <a:lstStyle/>
          <a:p>
            <a:pPr algn="l" indent="0" marL="0">
              <a:lnSpc>
                <a:spcPts val="1223"/>
              </a:lnSpc>
              <a:buNone/>
            </a:pPr>
            <a:r>
              <a:rPr lang="en-US" sz="816" b="1" dirty="0">
                <a:solidFill>
                  <a:srgbClr val="1A1A1A"/>
                </a:solidFill>
                <a:latin typeface="Carlito" pitchFamily="34" charset="0"/>
                <a:ea typeface="Carlito" pitchFamily="34" charset="-122"/>
                <a:cs typeface="Carlito" pitchFamily="34" charset="-120"/>
              </a:rPr>
              <a:t>Комиссия платформы</a:t>
            </a:r>
            <a:endParaRPr lang="en-US" sz="816" dirty="0"/>
          </a:p>
        </p:txBody>
      </p:sp>
      <p:sp>
        <p:nvSpPr>
          <p:cNvPr id="33" name="Text 31"/>
          <p:cNvSpPr/>
          <p:nvPr/>
        </p:nvSpPr>
        <p:spPr>
          <a:xfrm>
            <a:off x="6546019" y="3705932"/>
            <a:ext cx="128588" cy="128588"/>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34" name="Text 32"/>
          <p:cNvSpPr/>
          <p:nvPr/>
        </p:nvSpPr>
        <p:spPr>
          <a:xfrm>
            <a:off x="6731757" y="3705932"/>
            <a:ext cx="1769306"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07807C"/>
                </a:solidFill>
                <a:latin typeface="Carlito" pitchFamily="34" charset="0"/>
                <a:ea typeface="Carlito" pitchFamily="34" charset="-122"/>
                <a:cs typeface="Carlito" pitchFamily="34" charset="-120"/>
              </a:rPr>
              <a:t>ЦИКЛ ПОВТОРЯЕТСЯ</a:t>
            </a:r>
            <a:endParaRPr lang="en-US" sz="800" dirty="0"/>
          </a:p>
        </p:txBody>
      </p:sp>
      <p:sp>
        <p:nvSpPr>
          <p:cNvPr id="35" name="Text 33"/>
          <p:cNvSpPr/>
          <p:nvPr/>
        </p:nvSpPr>
        <p:spPr>
          <a:xfrm>
            <a:off x="457200" y="4386263"/>
            <a:ext cx="8229600" cy="385763"/>
          </a:xfrm>
          <a:prstGeom prst="roundRect">
            <a:avLst>
              <a:gd name="adj" fmla="val 29630"/>
            </a:avLst>
          </a:prstGeom>
          <a:solidFill>
            <a:srgbClr val="1A1A1A"/>
          </a:solidFill>
          <a:ln/>
        </p:spPr>
        <p:txBody>
          <a:bodyPr wrap="square" rtlCol="0" anchor="ctr"/>
          <a:lstStyle/>
          <a:p>
            <a:pPr indent="0" marL="0">
              <a:buNone/>
            </a:pPr>
            <a:endParaRPr lang="en-US" dirty="0"/>
          </a:p>
        </p:txBody>
      </p:sp>
      <p:sp>
        <p:nvSpPr>
          <p:cNvPr id="36" name="Text 34"/>
          <p:cNvSpPr/>
          <p:nvPr/>
        </p:nvSpPr>
        <p:spPr>
          <a:xfrm>
            <a:off x="628650" y="4493419"/>
            <a:ext cx="171450" cy="171450"/>
          </a:xfrm>
          <a:prstGeom prst="rect">
            <a:avLst/>
          </a:prstGeom>
          <a:noFill/>
          <a:ln/>
        </p:spPr>
        <p:txBody>
          <a:bodyPr wrap="none" lIns="0" tIns="0" rIns="0" bIns="0" rtlCol="0" anchor="ctr"/>
          <a:lstStyle/>
          <a:p>
            <a:pPr algn="ctr" indent="0" marL="0">
              <a:buNone/>
            </a:pPr>
            <a:r>
              <a:rPr lang="en-US" sz="1688" dirty="0">
                <a:solidFill>
                  <a:srgbClr val="D4A854"/>
                </a:solidFill>
                <a:latin typeface="Segoe UI Symbol" pitchFamily="34" charset="0"/>
                <a:ea typeface="Segoe UI Symbol" pitchFamily="34" charset="-122"/>
                <a:cs typeface="Segoe UI Symbol" pitchFamily="34" charset="-120"/>
              </a:rPr>
              <a:t>⚡</a:t>
            </a:r>
            <a:endParaRPr lang="en-US" sz="1688" dirty="0"/>
          </a:p>
        </p:txBody>
      </p:sp>
      <p:sp>
        <p:nvSpPr>
          <p:cNvPr id="37" name="Text 35"/>
          <p:cNvSpPr/>
          <p:nvPr/>
        </p:nvSpPr>
        <p:spPr>
          <a:xfrm>
            <a:off x="900113" y="4496656"/>
            <a:ext cx="7615238" cy="168213"/>
          </a:xfrm>
          <a:prstGeom prst="rect">
            <a:avLst/>
          </a:prstGeom>
          <a:noFill/>
          <a:ln/>
        </p:spPr>
        <p:txBody>
          <a:bodyPr wrap="square" lIns="0" tIns="0" rIns="0" bIns="0" rtlCol="0" anchor="t"/>
          <a:lstStyle/>
          <a:p>
            <a:pPr algn="l" indent="0" marL="0">
              <a:lnSpc>
                <a:spcPts val="1299"/>
              </a:lnSpc>
              <a:buNone/>
            </a:pPr>
            <a:r>
              <a:rPr lang="en-US" sz="928" dirty="0">
                <a:solidFill>
                  <a:srgbClr val="FFFFFF"/>
                </a:solidFill>
                <a:latin typeface="Carlito" pitchFamily="34" charset="0"/>
                <a:ea typeface="Carlito" pitchFamily="34" charset="-122"/>
                <a:cs typeface="Carlito" pitchFamily="34" charset="-120"/>
              </a:rPr>
              <a:t>Чем выше возвращение — тем чаще покупка. Частота покупок — топливо комиссии платформы</a:t>
            </a:r>
            <a:endParaRPr lang="en-US" sz="92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429500" y="3643313"/>
            <a:ext cx="2428875" cy="2428875"/>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457200" y="448270"/>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4" name="Text 2"/>
          <p:cNvSpPr/>
          <p:nvPr/>
        </p:nvSpPr>
        <p:spPr>
          <a:xfrm>
            <a:off x="728663" y="400050"/>
            <a:ext cx="79581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ДИСТРИБУЦИЯ</a:t>
            </a:r>
            <a:endParaRPr lang="en-US" sz="800" dirty="0"/>
          </a:p>
        </p:txBody>
      </p:sp>
      <p:sp>
        <p:nvSpPr>
          <p:cNvPr id="5" name="Text 3"/>
          <p:cNvSpPr/>
          <p:nvPr/>
        </p:nvSpPr>
        <p:spPr>
          <a:xfrm>
            <a:off x="457200" y="617934"/>
            <a:ext cx="863600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F64A8A"/>
                </a:solidFill>
                <a:latin typeface="Liberation Sans Narrow" pitchFamily="34" charset="0"/>
                <a:ea typeface="Liberation Sans Narrow" pitchFamily="34" charset="-122"/>
                <a:cs typeface="Liberation Sans Narrow" pitchFamily="34" charset="-120"/>
              </a:rPr>
              <a:t>40/40/20</a:t>
            </a:r>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 — продажи без штата продажников</a:t>
            </a:r>
            <a:endParaRPr lang="en-US" sz="2138" dirty="0"/>
          </a:p>
        </p:txBody>
      </p:sp>
      <p:sp>
        <p:nvSpPr>
          <p:cNvPr id="6" name="Text 4"/>
          <p:cNvSpPr/>
          <p:nvPr/>
        </p:nvSpPr>
        <p:spPr>
          <a:xfrm>
            <a:off x="457200" y="1136191"/>
            <a:ext cx="2552663" cy="1300163"/>
          </a:xfrm>
          <a:prstGeom prst="roundRect">
            <a:avLst>
              <a:gd name="adj" fmla="val 8791"/>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7" name="Shape 5"/>
          <p:cNvSpPr/>
          <p:nvPr/>
        </p:nvSpPr>
        <p:spPr>
          <a:xfrm>
            <a:off x="457200" y="1150479"/>
            <a:ext cx="2552663" cy="0"/>
          </a:xfrm>
          <a:prstGeom prst="line">
            <a:avLst/>
          </a:prstGeom>
          <a:noFill/>
          <a:ln w="28575">
            <a:solidFill>
              <a:srgbClr val="1A1A1A"/>
            </a:solidFill>
            <a:prstDash val="solid"/>
          </a:ln>
        </p:spPr>
      </p:sp>
      <p:sp>
        <p:nvSpPr>
          <p:cNvPr id="8" name="Shape 6"/>
          <p:cNvSpPr/>
          <p:nvPr/>
        </p:nvSpPr>
        <p:spPr>
          <a:xfrm>
            <a:off x="3006291" y="1136191"/>
            <a:ext cx="0" cy="1300163"/>
          </a:xfrm>
          <a:prstGeom prst="line">
            <a:avLst/>
          </a:prstGeom>
          <a:noFill/>
          <a:ln w="7144">
            <a:solidFill>
              <a:srgbClr val="1A1A1A"/>
            </a:solidFill>
            <a:prstDash val="solid"/>
          </a:ln>
        </p:spPr>
      </p:sp>
      <p:sp>
        <p:nvSpPr>
          <p:cNvPr id="9" name="Shape 7"/>
          <p:cNvSpPr/>
          <p:nvPr/>
        </p:nvSpPr>
        <p:spPr>
          <a:xfrm>
            <a:off x="457200" y="2432782"/>
            <a:ext cx="2552663" cy="0"/>
          </a:xfrm>
          <a:prstGeom prst="line">
            <a:avLst/>
          </a:prstGeom>
          <a:noFill/>
          <a:ln w="7144">
            <a:solidFill>
              <a:srgbClr val="1A1A1A"/>
            </a:solidFill>
            <a:prstDash val="solid"/>
          </a:ln>
        </p:spPr>
      </p:sp>
      <p:sp>
        <p:nvSpPr>
          <p:cNvPr id="10" name="Shape 8"/>
          <p:cNvSpPr/>
          <p:nvPr/>
        </p:nvSpPr>
        <p:spPr>
          <a:xfrm>
            <a:off x="460772" y="1136191"/>
            <a:ext cx="0" cy="1300163"/>
          </a:xfrm>
          <a:prstGeom prst="line">
            <a:avLst/>
          </a:prstGeom>
          <a:noFill/>
          <a:ln w="7144">
            <a:solidFill>
              <a:srgbClr val="1A1A1A"/>
            </a:solidFill>
            <a:prstDash val="solid"/>
          </a:ln>
        </p:spPr>
      </p:sp>
      <p:sp>
        <p:nvSpPr>
          <p:cNvPr id="11" name="Text 9"/>
          <p:cNvSpPr/>
          <p:nvPr/>
        </p:nvSpPr>
        <p:spPr>
          <a:xfrm>
            <a:off x="635794" y="1321929"/>
            <a:ext cx="328613" cy="328613"/>
          </a:xfrm>
          <a:prstGeom prst="roundRect">
            <a:avLst>
              <a:gd name="adj" fmla="val 34783"/>
            </a:avLst>
          </a:prstGeom>
          <a:solidFill>
            <a:srgbClr val="1A1A1A">
              <a:alpha val="6000"/>
            </a:srgbClr>
          </a:solidFill>
          <a:ln/>
        </p:spPr>
        <p:txBody>
          <a:bodyPr wrap="square" rtlCol="0" anchor="ctr"/>
          <a:lstStyle/>
          <a:p>
            <a:pPr indent="0" marL="0">
              <a:buNone/>
            </a:pPr>
            <a:endParaRPr lang="en-US" dirty="0"/>
          </a:p>
        </p:txBody>
      </p:sp>
      <p:sp>
        <p:nvSpPr>
          <p:cNvPr id="12" name="Text 10"/>
          <p:cNvSpPr/>
          <p:nvPr/>
        </p:nvSpPr>
        <p:spPr>
          <a:xfrm>
            <a:off x="665440" y="1351575"/>
            <a:ext cx="269319" cy="269319"/>
          </a:xfrm>
          <a:prstGeom prst="rect">
            <a:avLst/>
          </a:prstGeom>
          <a:noFill/>
          <a:ln/>
        </p:spPr>
        <p:txBody>
          <a:bodyPr wrap="none" lIns="0" tIns="0" rIns="0" bIns="0" rtlCol="0" anchor="ctr"/>
          <a:lstStyle/>
          <a:p>
            <a:pPr algn="ctr" indent="0" marL="0">
              <a:buNone/>
            </a:pPr>
            <a:r>
              <a:rPr lang="en-US" sz="1828" dirty="0">
                <a:solidFill>
                  <a:srgbClr val="1A1A1A"/>
                </a:solidFill>
                <a:latin typeface="Segoe UI Symbol" pitchFamily="34" charset="0"/>
                <a:ea typeface="Segoe UI Symbol" pitchFamily="34" charset="-122"/>
                <a:cs typeface="Segoe UI Symbol" pitchFamily="34" charset="-120"/>
              </a:rPr>
              <a:t>▥</a:t>
            </a:r>
            <a:endParaRPr lang="en-US" sz="1828" dirty="0"/>
          </a:p>
        </p:txBody>
      </p:sp>
      <p:sp>
        <p:nvSpPr>
          <p:cNvPr id="13" name="Text 11"/>
          <p:cNvSpPr/>
          <p:nvPr/>
        </p:nvSpPr>
        <p:spPr>
          <a:xfrm>
            <a:off x="1627904" y="1321929"/>
            <a:ext cx="1203365" cy="315468"/>
          </a:xfrm>
          <a:prstGeom prst="rect">
            <a:avLst/>
          </a:prstGeom>
          <a:noFill/>
          <a:ln/>
        </p:spPr>
        <p:txBody>
          <a:bodyPr wrap="none" lIns="0" tIns="0" rIns="0" bIns="0" rtlCol="0" anchor="t">
            <a:normAutofit/>
          </a:bodyPr>
          <a:lstStyle/>
          <a:p>
            <a:pPr algn="r" indent="0" marL="0">
              <a:lnSpc>
                <a:spcPts val="2475"/>
              </a:lnSpc>
              <a:buNone/>
            </a:pPr>
            <a:r>
              <a:rPr lang="en-US" sz="2475" b="1" spc="-74" kern="0" dirty="0">
                <a:solidFill>
                  <a:srgbClr val="1A1A1A"/>
                </a:solidFill>
                <a:latin typeface="Liberation Sans Narrow" pitchFamily="34" charset="0"/>
                <a:ea typeface="Liberation Sans Narrow" pitchFamily="34" charset="-122"/>
                <a:cs typeface="Liberation Sans Narrow" pitchFamily="34" charset="-120"/>
              </a:rPr>
              <a:t>40%</a:t>
            </a:r>
            <a:endParaRPr lang="en-US" sz="2475" dirty="0"/>
          </a:p>
        </p:txBody>
      </p:sp>
      <p:sp>
        <p:nvSpPr>
          <p:cNvPr id="14" name="Text 12"/>
          <p:cNvSpPr/>
          <p:nvPr/>
        </p:nvSpPr>
        <p:spPr>
          <a:xfrm>
            <a:off x="1905383" y="1664829"/>
            <a:ext cx="925886" cy="164592"/>
          </a:xfrm>
          <a:prstGeom prst="rect">
            <a:avLst/>
          </a:prstGeom>
          <a:noFill/>
          <a:ln/>
        </p:spPr>
        <p:txBody>
          <a:bodyPr wrap="none" lIns="0" tIns="0" rIns="0" bIns="0" rtlCol="0" anchor="t"/>
          <a:lstStyle/>
          <a:p>
            <a:pPr algn="r" indent="0" marL="0">
              <a:lnSpc>
                <a:spcPts val="886"/>
              </a:lnSpc>
              <a:buNone/>
            </a:pPr>
            <a:r>
              <a:rPr lang="en-US" sz="800" b="1" spc="47" kern="0" dirty="0">
                <a:solidFill>
                  <a:srgbClr val="1A1A1A">
                    <a:alpha val="55000"/>
                  </a:srgbClr>
                </a:solidFill>
                <a:latin typeface="Carlito" pitchFamily="34" charset="0"/>
                <a:ea typeface="Carlito" pitchFamily="34" charset="-122"/>
                <a:cs typeface="Carlito" pitchFamily="34" charset="-120"/>
              </a:rPr>
              <a:t>ДОЛЯ КОМИССИИ</a:t>
            </a:r>
            <a:endParaRPr lang="en-US" sz="800" dirty="0"/>
          </a:p>
        </p:txBody>
      </p:sp>
      <p:sp>
        <p:nvSpPr>
          <p:cNvPr id="15" name="Text 13"/>
          <p:cNvSpPr/>
          <p:nvPr/>
        </p:nvSpPr>
        <p:spPr>
          <a:xfrm>
            <a:off x="635794" y="1877355"/>
            <a:ext cx="2195475" cy="211884"/>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Компания</a:t>
            </a:r>
            <a:endParaRPr lang="en-US" sz="1069" dirty="0"/>
          </a:p>
        </p:txBody>
      </p:sp>
      <p:sp>
        <p:nvSpPr>
          <p:cNvPr id="16" name="Text 14"/>
          <p:cNvSpPr/>
          <p:nvPr/>
        </p:nvSpPr>
        <p:spPr>
          <a:xfrm>
            <a:off x="635794" y="2116671"/>
            <a:ext cx="2305203"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платформа и банк-инфраструктура</a:t>
            </a:r>
            <a:endParaRPr lang="en-US" sz="816" dirty="0"/>
          </a:p>
        </p:txBody>
      </p:sp>
      <p:sp>
        <p:nvSpPr>
          <p:cNvPr id="17" name="Text 15"/>
          <p:cNvSpPr/>
          <p:nvPr/>
        </p:nvSpPr>
        <p:spPr>
          <a:xfrm>
            <a:off x="3009863" y="1643397"/>
            <a:ext cx="285750" cy="285750"/>
          </a:xfrm>
          <a:prstGeom prst="rect">
            <a:avLst/>
          </a:prstGeom>
          <a:noFill/>
          <a:ln/>
        </p:spPr>
        <p:txBody>
          <a:bodyPr wrap="none" lIns="0" tIns="0" rIns="0" bIns="0" rtlCol="0" anchor="ctr"/>
          <a:lstStyle/>
          <a:p>
            <a:pPr algn="ctr" indent="0" marL="0">
              <a:buNone/>
            </a:pPr>
            <a:r>
              <a:rPr lang="en-US" sz="2109" dirty="0">
                <a:solidFill>
                  <a:srgbClr val="1A1A1A"/>
                </a:solidFill>
                <a:latin typeface="Segoe UI Symbol" pitchFamily="34" charset="0"/>
                <a:ea typeface="Segoe UI Symbol" pitchFamily="34" charset="-122"/>
                <a:cs typeface="Segoe UI Symbol" pitchFamily="34" charset="-120"/>
              </a:rPr>
              <a:t>→</a:t>
            </a:r>
            <a:endParaRPr lang="en-US" sz="2109" dirty="0"/>
          </a:p>
        </p:txBody>
      </p:sp>
      <p:sp>
        <p:nvSpPr>
          <p:cNvPr id="18" name="Text 16"/>
          <p:cNvSpPr/>
          <p:nvPr/>
        </p:nvSpPr>
        <p:spPr>
          <a:xfrm>
            <a:off x="3295613" y="1136191"/>
            <a:ext cx="2552663" cy="1300163"/>
          </a:xfrm>
          <a:prstGeom prst="roundRect">
            <a:avLst>
              <a:gd name="adj" fmla="val 8791"/>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9" name="Shape 17"/>
          <p:cNvSpPr/>
          <p:nvPr/>
        </p:nvSpPr>
        <p:spPr>
          <a:xfrm>
            <a:off x="3295613" y="1150479"/>
            <a:ext cx="2552663" cy="0"/>
          </a:xfrm>
          <a:prstGeom prst="line">
            <a:avLst/>
          </a:prstGeom>
          <a:noFill/>
          <a:ln w="28575">
            <a:solidFill>
              <a:srgbClr val="F64A8A"/>
            </a:solidFill>
            <a:prstDash val="solid"/>
          </a:ln>
        </p:spPr>
      </p:sp>
      <p:sp>
        <p:nvSpPr>
          <p:cNvPr id="20" name="Shape 18"/>
          <p:cNvSpPr/>
          <p:nvPr/>
        </p:nvSpPr>
        <p:spPr>
          <a:xfrm>
            <a:off x="5844704" y="1136191"/>
            <a:ext cx="0" cy="1300163"/>
          </a:xfrm>
          <a:prstGeom prst="line">
            <a:avLst/>
          </a:prstGeom>
          <a:noFill/>
          <a:ln w="7144">
            <a:solidFill>
              <a:srgbClr val="1A1A1A"/>
            </a:solidFill>
            <a:prstDash val="solid"/>
          </a:ln>
        </p:spPr>
      </p:sp>
      <p:sp>
        <p:nvSpPr>
          <p:cNvPr id="21" name="Shape 19"/>
          <p:cNvSpPr/>
          <p:nvPr/>
        </p:nvSpPr>
        <p:spPr>
          <a:xfrm>
            <a:off x="3295613" y="2432782"/>
            <a:ext cx="2552663" cy="0"/>
          </a:xfrm>
          <a:prstGeom prst="line">
            <a:avLst/>
          </a:prstGeom>
          <a:noFill/>
          <a:ln w="7144">
            <a:solidFill>
              <a:srgbClr val="1A1A1A"/>
            </a:solidFill>
            <a:prstDash val="solid"/>
          </a:ln>
        </p:spPr>
      </p:sp>
      <p:sp>
        <p:nvSpPr>
          <p:cNvPr id="22" name="Shape 20"/>
          <p:cNvSpPr/>
          <p:nvPr/>
        </p:nvSpPr>
        <p:spPr>
          <a:xfrm>
            <a:off x="3299185" y="1136191"/>
            <a:ext cx="0" cy="1300163"/>
          </a:xfrm>
          <a:prstGeom prst="line">
            <a:avLst/>
          </a:prstGeom>
          <a:noFill/>
          <a:ln w="7144">
            <a:solidFill>
              <a:srgbClr val="1A1A1A"/>
            </a:solidFill>
            <a:prstDash val="solid"/>
          </a:ln>
        </p:spPr>
      </p:sp>
      <p:sp>
        <p:nvSpPr>
          <p:cNvPr id="23" name="Text 21"/>
          <p:cNvSpPr/>
          <p:nvPr/>
        </p:nvSpPr>
        <p:spPr>
          <a:xfrm>
            <a:off x="3474207" y="1321929"/>
            <a:ext cx="328613" cy="328613"/>
          </a:xfrm>
          <a:prstGeom prst="roundRect">
            <a:avLst>
              <a:gd name="adj" fmla="val 34783"/>
            </a:avLst>
          </a:prstGeom>
          <a:solidFill>
            <a:srgbClr val="F64A8A">
              <a:alpha val="10000"/>
            </a:srgbClr>
          </a:solidFill>
          <a:ln/>
        </p:spPr>
        <p:txBody>
          <a:bodyPr wrap="square" rtlCol="0" anchor="ctr"/>
          <a:lstStyle/>
          <a:p>
            <a:pPr indent="0" marL="0">
              <a:buNone/>
            </a:pPr>
            <a:endParaRPr lang="en-US" dirty="0"/>
          </a:p>
        </p:txBody>
      </p:sp>
      <p:sp>
        <p:nvSpPr>
          <p:cNvPr id="24" name="Text 22"/>
          <p:cNvSpPr/>
          <p:nvPr/>
        </p:nvSpPr>
        <p:spPr>
          <a:xfrm>
            <a:off x="3503853" y="1351575"/>
            <a:ext cx="269319" cy="269319"/>
          </a:xfrm>
          <a:prstGeom prst="rect">
            <a:avLst/>
          </a:prstGeom>
          <a:noFill/>
          <a:ln/>
        </p:spPr>
        <p:txBody>
          <a:bodyPr wrap="none" lIns="0" tIns="0" rIns="0" bIns="0" rtlCol="0" anchor="ctr"/>
          <a:lstStyle/>
          <a:p>
            <a:pPr algn="ctr" indent="0" marL="0">
              <a:buNone/>
            </a:pPr>
            <a:r>
              <a:rPr lang="en-US" sz="1828" dirty="0">
                <a:solidFill>
                  <a:srgbClr val="C92A6A"/>
                </a:solidFill>
                <a:latin typeface="Segoe UI Symbol" pitchFamily="34" charset="0"/>
                <a:ea typeface="Segoe UI Symbol" pitchFamily="34" charset="-122"/>
                <a:cs typeface="Segoe UI Symbol" pitchFamily="34" charset="-120"/>
              </a:rPr>
              <a:t>✦</a:t>
            </a:r>
            <a:endParaRPr lang="en-US" sz="1828" dirty="0"/>
          </a:p>
        </p:txBody>
      </p:sp>
      <p:sp>
        <p:nvSpPr>
          <p:cNvPr id="25" name="Text 23"/>
          <p:cNvSpPr/>
          <p:nvPr/>
        </p:nvSpPr>
        <p:spPr>
          <a:xfrm>
            <a:off x="4466317" y="1321929"/>
            <a:ext cx="1203365" cy="315468"/>
          </a:xfrm>
          <a:prstGeom prst="rect">
            <a:avLst/>
          </a:prstGeom>
          <a:noFill/>
          <a:ln/>
        </p:spPr>
        <p:txBody>
          <a:bodyPr wrap="none" lIns="0" tIns="0" rIns="0" bIns="0" rtlCol="0" anchor="t">
            <a:normAutofit/>
          </a:bodyPr>
          <a:lstStyle/>
          <a:p>
            <a:pPr algn="r" indent="0" marL="0">
              <a:lnSpc>
                <a:spcPts val="2475"/>
              </a:lnSpc>
              <a:buNone/>
            </a:pPr>
            <a:r>
              <a:rPr lang="en-US" sz="2475" b="1" spc="-74" kern="0" dirty="0">
                <a:solidFill>
                  <a:srgbClr val="F64A8A"/>
                </a:solidFill>
                <a:latin typeface="Liberation Sans Narrow" pitchFamily="34" charset="0"/>
                <a:ea typeface="Liberation Sans Narrow" pitchFamily="34" charset="-122"/>
                <a:cs typeface="Liberation Sans Narrow" pitchFamily="34" charset="-120"/>
              </a:rPr>
              <a:t>40%</a:t>
            </a:r>
            <a:endParaRPr lang="en-US" sz="2475" dirty="0"/>
          </a:p>
        </p:txBody>
      </p:sp>
      <p:sp>
        <p:nvSpPr>
          <p:cNvPr id="26" name="Text 24"/>
          <p:cNvSpPr/>
          <p:nvPr/>
        </p:nvSpPr>
        <p:spPr>
          <a:xfrm>
            <a:off x="4743796" y="1664829"/>
            <a:ext cx="925886" cy="164592"/>
          </a:xfrm>
          <a:prstGeom prst="rect">
            <a:avLst/>
          </a:prstGeom>
          <a:noFill/>
          <a:ln/>
        </p:spPr>
        <p:txBody>
          <a:bodyPr wrap="none" lIns="0" tIns="0" rIns="0" bIns="0" rtlCol="0" anchor="t"/>
          <a:lstStyle/>
          <a:p>
            <a:pPr algn="r" indent="0" marL="0">
              <a:lnSpc>
                <a:spcPts val="886"/>
              </a:lnSpc>
              <a:buNone/>
            </a:pPr>
            <a:r>
              <a:rPr lang="en-US" sz="800" b="1" spc="47" kern="0" dirty="0">
                <a:solidFill>
                  <a:srgbClr val="1A1A1A">
                    <a:alpha val="55000"/>
                  </a:srgbClr>
                </a:solidFill>
                <a:latin typeface="Carlito" pitchFamily="34" charset="0"/>
                <a:ea typeface="Carlito" pitchFamily="34" charset="-122"/>
                <a:cs typeface="Carlito" pitchFamily="34" charset="-120"/>
              </a:rPr>
              <a:t>ДОЛЯ КОМИССИИ</a:t>
            </a:r>
            <a:endParaRPr lang="en-US" sz="800" dirty="0"/>
          </a:p>
        </p:txBody>
      </p:sp>
      <p:sp>
        <p:nvSpPr>
          <p:cNvPr id="27" name="Text 25"/>
          <p:cNvSpPr/>
          <p:nvPr/>
        </p:nvSpPr>
        <p:spPr>
          <a:xfrm>
            <a:off x="3474207" y="1877355"/>
            <a:ext cx="2195475" cy="211884"/>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Представитель</a:t>
            </a:r>
            <a:endParaRPr lang="en-US" sz="1069" dirty="0"/>
          </a:p>
        </p:txBody>
      </p:sp>
      <p:sp>
        <p:nvSpPr>
          <p:cNvPr id="28" name="Text 26"/>
          <p:cNvSpPr/>
          <p:nvPr/>
        </p:nvSpPr>
        <p:spPr>
          <a:xfrm>
            <a:off x="3474207" y="2116671"/>
            <a:ext cx="2305203"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подписка 599 ₽/мес, ведёт точки, доля 40%</a:t>
            </a:r>
            <a:endParaRPr lang="en-US" sz="816" dirty="0"/>
          </a:p>
        </p:txBody>
      </p:sp>
      <p:sp>
        <p:nvSpPr>
          <p:cNvPr id="29" name="Text 27"/>
          <p:cNvSpPr/>
          <p:nvPr/>
        </p:nvSpPr>
        <p:spPr>
          <a:xfrm>
            <a:off x="5848276" y="1643397"/>
            <a:ext cx="285750" cy="285750"/>
          </a:xfrm>
          <a:prstGeom prst="rect">
            <a:avLst/>
          </a:prstGeom>
          <a:noFill/>
          <a:ln/>
        </p:spPr>
        <p:txBody>
          <a:bodyPr wrap="none" lIns="0" tIns="0" rIns="0" bIns="0" rtlCol="0" anchor="ctr"/>
          <a:lstStyle/>
          <a:p>
            <a:pPr algn="ctr" indent="0" marL="0">
              <a:buNone/>
            </a:pPr>
            <a:r>
              <a:rPr lang="en-US" sz="2109" dirty="0">
                <a:solidFill>
                  <a:srgbClr val="1A1A1A"/>
                </a:solidFill>
                <a:latin typeface="Segoe UI Symbol" pitchFamily="34" charset="0"/>
                <a:ea typeface="Segoe UI Symbol" pitchFamily="34" charset="-122"/>
                <a:cs typeface="Segoe UI Symbol" pitchFamily="34" charset="-120"/>
              </a:rPr>
              <a:t>→</a:t>
            </a:r>
            <a:endParaRPr lang="en-US" sz="2109" dirty="0"/>
          </a:p>
        </p:txBody>
      </p:sp>
      <p:sp>
        <p:nvSpPr>
          <p:cNvPr id="30" name="Text 28"/>
          <p:cNvSpPr/>
          <p:nvPr/>
        </p:nvSpPr>
        <p:spPr>
          <a:xfrm>
            <a:off x="6134026" y="1136191"/>
            <a:ext cx="2552774" cy="1300163"/>
          </a:xfrm>
          <a:prstGeom prst="roundRect">
            <a:avLst>
              <a:gd name="adj" fmla="val 8791"/>
            </a:avLst>
          </a:prstGeom>
          <a:solidFill>
            <a:srgbClr val="FFFFFF"/>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31" name="Shape 29"/>
          <p:cNvSpPr/>
          <p:nvPr/>
        </p:nvSpPr>
        <p:spPr>
          <a:xfrm>
            <a:off x="6134026" y="1150479"/>
            <a:ext cx="2552774" cy="0"/>
          </a:xfrm>
          <a:prstGeom prst="line">
            <a:avLst/>
          </a:prstGeom>
          <a:noFill/>
          <a:ln w="28575">
            <a:solidFill>
              <a:srgbClr val="0ABAB5"/>
            </a:solidFill>
            <a:prstDash val="solid"/>
          </a:ln>
        </p:spPr>
      </p:sp>
      <p:sp>
        <p:nvSpPr>
          <p:cNvPr id="32" name="Shape 30"/>
          <p:cNvSpPr/>
          <p:nvPr/>
        </p:nvSpPr>
        <p:spPr>
          <a:xfrm>
            <a:off x="8683228" y="1136191"/>
            <a:ext cx="0" cy="1300163"/>
          </a:xfrm>
          <a:prstGeom prst="line">
            <a:avLst/>
          </a:prstGeom>
          <a:noFill/>
          <a:ln w="7144">
            <a:solidFill>
              <a:srgbClr val="1A1A1A"/>
            </a:solidFill>
            <a:prstDash val="solid"/>
          </a:ln>
        </p:spPr>
      </p:sp>
      <p:sp>
        <p:nvSpPr>
          <p:cNvPr id="33" name="Shape 31"/>
          <p:cNvSpPr/>
          <p:nvPr/>
        </p:nvSpPr>
        <p:spPr>
          <a:xfrm>
            <a:off x="6134026" y="2432782"/>
            <a:ext cx="2552774" cy="0"/>
          </a:xfrm>
          <a:prstGeom prst="line">
            <a:avLst/>
          </a:prstGeom>
          <a:noFill/>
          <a:ln w="7144">
            <a:solidFill>
              <a:srgbClr val="1A1A1A"/>
            </a:solidFill>
            <a:prstDash val="solid"/>
          </a:ln>
        </p:spPr>
      </p:sp>
      <p:sp>
        <p:nvSpPr>
          <p:cNvPr id="34" name="Shape 32"/>
          <p:cNvSpPr/>
          <p:nvPr/>
        </p:nvSpPr>
        <p:spPr>
          <a:xfrm>
            <a:off x="6137597" y="1136191"/>
            <a:ext cx="0" cy="1300163"/>
          </a:xfrm>
          <a:prstGeom prst="line">
            <a:avLst/>
          </a:prstGeom>
          <a:noFill/>
          <a:ln w="7144">
            <a:solidFill>
              <a:srgbClr val="1A1A1A"/>
            </a:solidFill>
            <a:prstDash val="solid"/>
          </a:ln>
        </p:spPr>
      </p:sp>
      <p:sp>
        <p:nvSpPr>
          <p:cNvPr id="35" name="Text 33"/>
          <p:cNvSpPr/>
          <p:nvPr/>
        </p:nvSpPr>
        <p:spPr>
          <a:xfrm>
            <a:off x="6312619" y="1321929"/>
            <a:ext cx="328613" cy="328613"/>
          </a:xfrm>
          <a:prstGeom prst="roundRect">
            <a:avLst>
              <a:gd name="adj" fmla="val 34783"/>
            </a:avLst>
          </a:prstGeom>
          <a:solidFill>
            <a:srgbClr val="0ABAB5">
              <a:alpha val="10000"/>
            </a:srgbClr>
          </a:solidFill>
          <a:ln/>
        </p:spPr>
        <p:txBody>
          <a:bodyPr wrap="square" rtlCol="0" anchor="ctr"/>
          <a:lstStyle/>
          <a:p>
            <a:pPr indent="0" marL="0">
              <a:buNone/>
            </a:pPr>
            <a:endParaRPr lang="en-US" dirty="0"/>
          </a:p>
        </p:txBody>
      </p:sp>
      <p:sp>
        <p:nvSpPr>
          <p:cNvPr id="36" name="Text 34"/>
          <p:cNvSpPr/>
          <p:nvPr/>
        </p:nvSpPr>
        <p:spPr>
          <a:xfrm>
            <a:off x="6342266" y="1351575"/>
            <a:ext cx="269319" cy="269319"/>
          </a:xfrm>
          <a:prstGeom prst="rect">
            <a:avLst/>
          </a:prstGeom>
          <a:noFill/>
          <a:ln/>
        </p:spPr>
        <p:txBody>
          <a:bodyPr wrap="none" lIns="0" tIns="0" rIns="0" bIns="0" rtlCol="0" anchor="ctr"/>
          <a:lstStyle/>
          <a:p>
            <a:pPr algn="ctr" indent="0" marL="0">
              <a:buNone/>
            </a:pPr>
            <a:r>
              <a:rPr lang="en-US" sz="1828" dirty="0">
                <a:solidFill>
                  <a:srgbClr val="07807C"/>
                </a:solidFill>
                <a:latin typeface="Segoe UI Symbol" pitchFamily="34" charset="0"/>
                <a:ea typeface="Segoe UI Symbol" pitchFamily="34" charset="-122"/>
                <a:cs typeface="Segoe UI Symbol" pitchFamily="34" charset="-120"/>
              </a:rPr>
              <a:t>◖</a:t>
            </a:r>
            <a:endParaRPr lang="en-US" sz="1828" dirty="0"/>
          </a:p>
        </p:txBody>
      </p:sp>
      <p:sp>
        <p:nvSpPr>
          <p:cNvPr id="37" name="Text 35"/>
          <p:cNvSpPr/>
          <p:nvPr/>
        </p:nvSpPr>
        <p:spPr>
          <a:xfrm>
            <a:off x="7304842" y="1321929"/>
            <a:ext cx="1203365" cy="315468"/>
          </a:xfrm>
          <a:prstGeom prst="rect">
            <a:avLst/>
          </a:prstGeom>
          <a:noFill/>
          <a:ln/>
        </p:spPr>
        <p:txBody>
          <a:bodyPr wrap="none" lIns="0" tIns="0" rIns="0" bIns="0" rtlCol="0" anchor="t">
            <a:normAutofit/>
          </a:bodyPr>
          <a:lstStyle/>
          <a:p>
            <a:pPr algn="r" indent="0" marL="0">
              <a:lnSpc>
                <a:spcPts val="2475"/>
              </a:lnSpc>
              <a:buNone/>
            </a:pPr>
            <a:r>
              <a:rPr lang="en-US" sz="2475" b="1" spc="-74" kern="0" dirty="0">
                <a:solidFill>
                  <a:srgbClr val="07807C"/>
                </a:solidFill>
                <a:latin typeface="Liberation Sans Narrow" pitchFamily="34" charset="0"/>
                <a:ea typeface="Liberation Sans Narrow" pitchFamily="34" charset="-122"/>
                <a:cs typeface="Liberation Sans Narrow" pitchFamily="34" charset="-120"/>
              </a:rPr>
              <a:t>20%</a:t>
            </a:r>
            <a:endParaRPr lang="en-US" sz="2475" dirty="0"/>
          </a:p>
        </p:txBody>
      </p:sp>
      <p:sp>
        <p:nvSpPr>
          <p:cNvPr id="38" name="Text 36"/>
          <p:cNvSpPr/>
          <p:nvPr/>
        </p:nvSpPr>
        <p:spPr>
          <a:xfrm>
            <a:off x="7582321" y="1664829"/>
            <a:ext cx="925886" cy="164592"/>
          </a:xfrm>
          <a:prstGeom prst="rect">
            <a:avLst/>
          </a:prstGeom>
          <a:noFill/>
          <a:ln/>
        </p:spPr>
        <p:txBody>
          <a:bodyPr wrap="none" lIns="0" tIns="0" rIns="0" bIns="0" rtlCol="0" anchor="t"/>
          <a:lstStyle/>
          <a:p>
            <a:pPr algn="r" indent="0" marL="0">
              <a:lnSpc>
                <a:spcPts val="886"/>
              </a:lnSpc>
              <a:buNone/>
            </a:pPr>
            <a:r>
              <a:rPr lang="en-US" sz="800" b="1" spc="47" kern="0" dirty="0">
                <a:solidFill>
                  <a:srgbClr val="1A1A1A">
                    <a:alpha val="55000"/>
                  </a:srgbClr>
                </a:solidFill>
                <a:latin typeface="Carlito" pitchFamily="34" charset="0"/>
                <a:ea typeface="Carlito" pitchFamily="34" charset="-122"/>
                <a:cs typeface="Carlito" pitchFamily="34" charset="-120"/>
              </a:rPr>
              <a:t>ДОЛЯ КОМИССИИ</a:t>
            </a:r>
            <a:endParaRPr lang="en-US" sz="800" dirty="0"/>
          </a:p>
        </p:txBody>
      </p:sp>
      <p:sp>
        <p:nvSpPr>
          <p:cNvPr id="39" name="Text 37"/>
          <p:cNvSpPr/>
          <p:nvPr/>
        </p:nvSpPr>
        <p:spPr>
          <a:xfrm>
            <a:off x="6312619" y="1877355"/>
            <a:ext cx="2195587" cy="211884"/>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Амбассадор</a:t>
            </a:r>
            <a:endParaRPr lang="en-US" sz="1069" dirty="0"/>
          </a:p>
        </p:txBody>
      </p:sp>
      <p:sp>
        <p:nvSpPr>
          <p:cNvPr id="40" name="Text 38"/>
          <p:cNvSpPr/>
          <p:nvPr/>
        </p:nvSpPr>
        <p:spPr>
          <a:xfrm>
            <a:off x="6312619" y="2116671"/>
            <a:ext cx="2305315"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сообщества и охват, доля 20%</a:t>
            </a:r>
            <a:endParaRPr lang="en-US" sz="816" dirty="0"/>
          </a:p>
        </p:txBody>
      </p:sp>
      <p:sp>
        <p:nvSpPr>
          <p:cNvPr id="41" name="Text 39"/>
          <p:cNvSpPr/>
          <p:nvPr/>
        </p:nvSpPr>
        <p:spPr>
          <a:xfrm>
            <a:off x="457200" y="2636379"/>
            <a:ext cx="6858000" cy="394442"/>
          </a:xfrm>
          <a:prstGeom prst="rect">
            <a:avLst/>
          </a:prstGeom>
          <a:noFill/>
          <a:ln/>
        </p:spPr>
        <p:txBody>
          <a:bodyPr wrap="square" lIns="0" tIns="0" rIns="0" bIns="0" rtlCol="0" anchor="t"/>
          <a:lstStyle/>
          <a:p>
            <a:pPr algn="l" indent="0" marL="0">
              <a:lnSpc>
                <a:spcPts val="1439"/>
              </a:lnSpc>
              <a:buNone/>
            </a:pPr>
            <a:r>
              <a:rPr lang="en-US" sz="872" dirty="0">
                <a:solidFill>
                  <a:srgbClr val="1A1A1A">
                    <a:alpha val="80000"/>
                  </a:srgbClr>
                </a:solidFill>
                <a:latin typeface="Carlito" pitchFamily="34" charset="0"/>
                <a:ea typeface="Carlito" pitchFamily="34" charset="-122"/>
                <a:cs typeface="Carlito" pitchFamily="34" charset="-120"/>
              </a:rPr>
              <a:t>Сеть сама находит точки: партнёры зарабатывают с оборота, поэтому заинтересованы в качестве подключений. Комиссионный сплит заменяет фонд оплаты труда продаж.</a:t>
            </a:r>
            <a:endParaRPr lang="en-US" sz="872" dirty="0"/>
          </a:p>
        </p:txBody>
      </p:sp>
      <p:sp>
        <p:nvSpPr>
          <p:cNvPr id="42" name="Text 40"/>
          <p:cNvSpPr/>
          <p:nvPr/>
        </p:nvSpPr>
        <p:spPr>
          <a:xfrm>
            <a:off x="457200" y="4416623"/>
            <a:ext cx="4126520" cy="355402"/>
          </a:xfrm>
          <a:prstGeom prst="roundRect">
            <a:avLst>
              <a:gd name="adj" fmla="val 32161"/>
            </a:avLst>
          </a:prstGeom>
          <a:solidFill>
            <a:srgbClr val="D4A854">
              <a:alpha val="12000"/>
            </a:srgbClr>
          </a:solidFill>
          <a:ln/>
        </p:spPr>
        <p:txBody>
          <a:bodyPr wrap="square" rtlCol="0" anchor="ctr"/>
          <a:lstStyle/>
          <a:p>
            <a:pPr indent="0" marL="0">
              <a:buNone/>
            </a:pPr>
            <a:endParaRPr lang="en-US" dirty="0"/>
          </a:p>
        </p:txBody>
      </p:sp>
      <p:sp>
        <p:nvSpPr>
          <p:cNvPr id="43" name="Text 41"/>
          <p:cNvSpPr/>
          <p:nvPr/>
        </p:nvSpPr>
        <p:spPr>
          <a:xfrm>
            <a:off x="614363" y="4522887"/>
            <a:ext cx="142875" cy="142875"/>
          </a:xfrm>
          <a:prstGeom prst="rect">
            <a:avLst/>
          </a:prstGeom>
          <a:noFill/>
          <a:ln/>
        </p:spPr>
        <p:txBody>
          <a:bodyPr wrap="none" lIns="0" tIns="0" rIns="0" bIns="0" rtlCol="0" anchor="ctr"/>
          <a:lstStyle/>
          <a:p>
            <a:pPr algn="ctr" indent="0" marL="0">
              <a:buNone/>
            </a:pPr>
            <a:r>
              <a:rPr lang="en-US" sz="1406" dirty="0">
                <a:solidFill>
                  <a:srgbClr val="8A6A25"/>
                </a:solidFill>
                <a:latin typeface="Segoe UI Symbol" pitchFamily="34" charset="0"/>
                <a:ea typeface="Segoe UI Symbol" pitchFamily="34" charset="-122"/>
                <a:cs typeface="Segoe UI Symbol" pitchFamily="34" charset="-120"/>
              </a:rPr>
              <a:t>♛</a:t>
            </a:r>
            <a:endParaRPr lang="en-US" sz="1406" dirty="0"/>
          </a:p>
        </p:txBody>
      </p:sp>
      <p:sp>
        <p:nvSpPr>
          <p:cNvPr id="44" name="Text 42"/>
          <p:cNvSpPr/>
          <p:nvPr/>
        </p:nvSpPr>
        <p:spPr>
          <a:xfrm>
            <a:off x="842963" y="4516636"/>
            <a:ext cx="3583595" cy="155377"/>
          </a:xfrm>
          <a:prstGeom prst="rect">
            <a:avLst/>
          </a:prstGeom>
          <a:noFill/>
          <a:ln/>
        </p:spPr>
        <p:txBody>
          <a:bodyPr wrap="square" lIns="0" tIns="0" rIns="0" bIns="0" rtlCol="0" anchor="t"/>
          <a:lstStyle/>
          <a:p>
            <a:pPr algn="l" indent="0" marL="0">
              <a:lnSpc>
                <a:spcPts val="1223"/>
              </a:lnSpc>
              <a:buNone/>
            </a:pPr>
            <a:r>
              <a:rPr lang="en-US" sz="816" dirty="0">
                <a:solidFill>
                  <a:srgbClr val="1A1A1A"/>
                </a:solidFill>
                <a:latin typeface="Carlito" pitchFamily="34" charset="0"/>
                <a:ea typeface="Carlito" pitchFamily="34" charset="-122"/>
                <a:cs typeface="Carlito" pitchFamily="34" charset="-120"/>
              </a:rPr>
              <a:t>Регионы закрепляются за первыми — механика ранней дистрибуции</a:t>
            </a:r>
            <a:endParaRPr lang="en-US" sz="81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69494" y="-457200"/>
            <a:ext cx="4274506" cy="2546033"/>
          </a:xfrm>
          <a:prstGeom prst="rect">
            <a:avLst/>
          </a:prstGeom>
          <a:noFill/>
          <a:ln/>
        </p:spPr>
        <p:txBody>
          <a:bodyPr wrap="square" lIns="0" tIns="0" rIns="0" bIns="0" rtlCol="0" anchor="t"/>
          <a:lstStyle/>
          <a:p>
            <a:pPr algn="l" indent="0" marL="0">
              <a:lnSpc>
                <a:spcPts val="18563"/>
              </a:lnSpc>
              <a:buNone/>
            </a:pPr>
            <a:r>
              <a:rPr lang="en-US" sz="18563" b="1" spc="-928" kern="0" dirty="0">
                <a:solidFill>
                  <a:srgbClr val="0ABAB5">
                    <a:alpha val="10000"/>
                  </a:srgbClr>
                </a:solidFill>
                <a:latin typeface="Liberation Sans Narrow" pitchFamily="34" charset="0"/>
                <a:ea typeface="Liberation Sans Narrow" pitchFamily="34" charset="-122"/>
                <a:cs typeface="Liberation Sans Narrow" pitchFamily="34" charset="-120"/>
              </a:rPr>
              <a:t>02</a:t>
            </a:r>
            <a:endParaRPr lang="en-US" sz="18563" dirty="0"/>
          </a:p>
        </p:txBody>
      </p:sp>
      <p:sp>
        <p:nvSpPr>
          <p:cNvPr id="3" name="Text 1"/>
          <p:cNvSpPr/>
          <p:nvPr/>
        </p:nvSpPr>
        <p:spPr>
          <a:xfrm>
            <a:off x="-785812" y="3929063"/>
            <a:ext cx="2286000" cy="2286000"/>
          </a:xfrm>
          <a:prstGeom prst="ellipse">
            <a:avLst/>
          </a:prstGeom>
          <a:solidFill>
            <a:srgbClr val="0ABAB5">
              <a:alpha val="6000"/>
            </a:srgbClr>
          </a:solidFill>
          <a:ln/>
        </p:spPr>
        <p:txBody>
          <a:bodyPr wrap="square" rtlCol="0" anchor="ctr"/>
          <a:lstStyle/>
          <a:p>
            <a:pPr indent="0" marL="0">
              <a:buNone/>
            </a:pPr>
            <a:endParaRPr lang="en-US" dirty="0"/>
          </a:p>
        </p:txBody>
      </p:sp>
      <p:sp>
        <p:nvSpPr>
          <p:cNvPr id="4" name="Text 2"/>
          <p:cNvSpPr/>
          <p:nvPr/>
        </p:nvSpPr>
        <p:spPr>
          <a:xfrm>
            <a:off x="662940" y="1535710"/>
            <a:ext cx="911007"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5" name="Text 3"/>
          <p:cNvSpPr/>
          <p:nvPr/>
        </p:nvSpPr>
        <p:spPr>
          <a:xfrm>
            <a:off x="685800" y="1547068"/>
            <a:ext cx="86528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РАЗДЕЛ 02 / 03</a:t>
            </a:r>
            <a:endParaRPr lang="en-US" sz="800" dirty="0"/>
          </a:p>
        </p:txBody>
      </p:sp>
      <p:sp>
        <p:nvSpPr>
          <p:cNvPr id="6" name="Text 4"/>
          <p:cNvSpPr/>
          <p:nvPr/>
        </p:nvSpPr>
        <p:spPr>
          <a:xfrm>
            <a:off x="685800" y="1936403"/>
            <a:ext cx="8161020" cy="437358"/>
          </a:xfrm>
          <a:prstGeom prst="rect">
            <a:avLst/>
          </a:prstGeom>
          <a:noFill/>
          <a:ln/>
        </p:spPr>
        <p:txBody>
          <a:bodyPr wrap="none" lIns="0" tIns="0" rIns="0" bIns="0" rtlCol="0" anchor="t"/>
          <a:lstStyle/>
          <a:p>
            <a:pPr algn="l" indent="0" marL="0">
              <a:lnSpc>
                <a:spcPts val="3189"/>
              </a:lnSpc>
              <a:buNone/>
            </a:pPr>
            <a:r>
              <a:rPr lang="en-US" sz="3038" b="1" spc="-61" kern="0" dirty="0">
                <a:solidFill>
                  <a:srgbClr val="1A1A1A"/>
                </a:solidFill>
                <a:latin typeface="Carlito" pitchFamily="34" charset="0"/>
                <a:ea typeface="Carlito" pitchFamily="34" charset="-122"/>
                <a:cs typeface="Carlito" pitchFamily="34" charset="-120"/>
              </a:rPr>
              <a:t>Статус и рынок</a:t>
            </a:r>
            <a:endParaRPr lang="en-US" sz="3038" dirty="0"/>
          </a:p>
        </p:txBody>
      </p:sp>
      <p:sp>
        <p:nvSpPr>
          <p:cNvPr id="7" name="Text 5"/>
          <p:cNvSpPr/>
          <p:nvPr/>
        </p:nvSpPr>
        <p:spPr>
          <a:xfrm>
            <a:off x="685800" y="2512814"/>
            <a:ext cx="542925" cy="28575"/>
          </a:xfrm>
          <a:prstGeom prst="roundRect">
            <a:avLst>
              <a:gd name="adj" fmla="val 66667"/>
            </a:avLst>
          </a:prstGeom>
          <a:solidFill>
            <a:srgbClr val="0ABAB5"/>
          </a:solidFill>
          <a:ln/>
        </p:spPr>
        <p:txBody>
          <a:bodyPr wrap="square" rtlCol="0" anchor="ctr"/>
          <a:lstStyle/>
          <a:p>
            <a:pPr indent="0" marL="0">
              <a:buNone/>
            </a:pPr>
            <a:endParaRPr lang="en-US" dirty="0"/>
          </a:p>
        </p:txBody>
      </p:sp>
      <p:sp>
        <p:nvSpPr>
          <p:cNvPr id="8" name="Text 6"/>
          <p:cNvSpPr/>
          <p:nvPr/>
        </p:nvSpPr>
        <p:spPr>
          <a:xfrm>
            <a:off x="685800" y="2698552"/>
            <a:ext cx="4783455" cy="227118"/>
          </a:xfrm>
          <a:prstGeom prst="rect">
            <a:avLst/>
          </a:prstGeom>
          <a:noFill/>
          <a:ln/>
        </p:spPr>
        <p:txBody>
          <a:bodyPr wrap="square" lIns="0" tIns="0" rIns="0" bIns="0" rtlCol="0" anchor="t"/>
          <a:lstStyle/>
          <a:p>
            <a:pPr algn="l" indent="0" marL="0">
              <a:lnSpc>
                <a:spcPts val="1657"/>
              </a:lnSpc>
              <a:buNone/>
            </a:pPr>
            <a:r>
              <a:rPr lang="en-US" sz="1069" dirty="0">
                <a:solidFill>
                  <a:srgbClr val="1A1A1A">
                    <a:alpha val="66000"/>
                  </a:srgbClr>
                </a:solidFill>
                <a:latin typeface="Carlito" pitchFamily="34" charset="0"/>
                <a:ea typeface="Carlito" pitchFamily="34" charset="-122"/>
                <a:cs typeface="Carlito" pitchFamily="34" charset="-120"/>
              </a:rPr>
              <a:t>Что уже работает и куда идёт дистрибуция</a:t>
            </a:r>
            <a:endParaRPr lang="en-US" sz="1069" dirty="0"/>
          </a:p>
        </p:txBody>
      </p:sp>
      <p:sp>
        <p:nvSpPr>
          <p:cNvPr id="9" name="Text 7"/>
          <p:cNvSpPr/>
          <p:nvPr/>
        </p:nvSpPr>
        <p:spPr>
          <a:xfrm>
            <a:off x="685800" y="3267519"/>
            <a:ext cx="1202159" cy="341714"/>
          </a:xfrm>
          <a:prstGeom prst="roundRect">
            <a:avLst>
              <a:gd name="adj" fmla="val 278463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0" name="Text 8"/>
          <p:cNvSpPr/>
          <p:nvPr/>
        </p:nvSpPr>
        <p:spPr>
          <a:xfrm>
            <a:off x="821531" y="3374082"/>
            <a:ext cx="128588" cy="128588"/>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11" name="Text 9"/>
          <p:cNvSpPr/>
          <p:nvPr/>
        </p:nvSpPr>
        <p:spPr>
          <a:xfrm>
            <a:off x="1021556" y="3366046"/>
            <a:ext cx="730672" cy="144661"/>
          </a:xfrm>
          <a:prstGeom prst="rect">
            <a:avLst/>
          </a:prstGeom>
          <a:noFill/>
          <a:ln/>
        </p:spPr>
        <p:txBody>
          <a:bodyPr wrap="none" lIns="0" tIns="0" rIns="0" bIns="0" rtlCol="0" anchor="t"/>
          <a:lstStyle/>
          <a:p>
            <a:pPr algn="l" indent="0" marL="0">
              <a:lnSpc>
                <a:spcPts val="1139"/>
              </a:lnSpc>
              <a:buNone/>
            </a:pPr>
            <a:r>
              <a:rPr lang="en-US" sz="800" b="1" dirty="0">
                <a:solidFill>
                  <a:srgbClr val="1A1A1A"/>
                </a:solidFill>
                <a:latin typeface="Carlito" pitchFamily="34" charset="0"/>
                <a:ea typeface="Carlito" pitchFamily="34" charset="-122"/>
                <a:cs typeface="Carlito" pitchFamily="34" charset="-120"/>
              </a:rPr>
              <a:t>Статус проекта</a:t>
            </a:r>
            <a:endParaRPr lang="en-US" sz="800" dirty="0"/>
          </a:p>
        </p:txBody>
      </p:sp>
      <p:sp>
        <p:nvSpPr>
          <p:cNvPr id="12" name="Text 10"/>
          <p:cNvSpPr/>
          <p:nvPr/>
        </p:nvSpPr>
        <p:spPr>
          <a:xfrm>
            <a:off x="1991544" y="3283893"/>
            <a:ext cx="1731913" cy="308967"/>
          </a:xfrm>
          <a:prstGeom prst="roundRect">
            <a:avLst>
              <a:gd name="adj" fmla="val 307977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3" name="Text 11"/>
          <p:cNvSpPr/>
          <p:nvPr/>
        </p:nvSpPr>
        <p:spPr>
          <a:xfrm>
            <a:off x="2123703" y="3374082"/>
            <a:ext cx="128588" cy="128588"/>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14" name="Text 12"/>
          <p:cNvSpPr/>
          <p:nvPr/>
        </p:nvSpPr>
        <p:spPr>
          <a:xfrm>
            <a:off x="2323728" y="3366046"/>
            <a:ext cx="1267569" cy="144661"/>
          </a:xfrm>
          <a:prstGeom prst="rect">
            <a:avLst/>
          </a:prstGeom>
          <a:noFill/>
          <a:ln/>
        </p:spPr>
        <p:txBody>
          <a:bodyPr wrap="none" lIns="0" tIns="0" rIns="0" bIns="0" rtlCol="0" anchor="t"/>
          <a:lstStyle/>
          <a:p>
            <a:pPr algn="l" indent="0" marL="0">
              <a:lnSpc>
                <a:spcPts val="1139"/>
              </a:lnSpc>
              <a:buNone/>
            </a:pPr>
            <a:r>
              <a:rPr lang="en-US" sz="800" b="1" dirty="0">
                <a:solidFill>
                  <a:srgbClr val="1A1A1A"/>
                </a:solidFill>
                <a:latin typeface="Carlito" pitchFamily="34" charset="0"/>
                <a:ea typeface="Carlito" pitchFamily="34" charset="-122"/>
                <a:cs typeface="Carlito" pitchFamily="34" charset="-120"/>
              </a:rPr>
              <a:t>GTM: регионы и партнёры</a:t>
            </a:r>
            <a:endParaRPr lang="en-US" sz="800" dirty="0"/>
          </a:p>
        </p:txBody>
      </p:sp>
      <p:sp>
        <p:nvSpPr>
          <p:cNvPr id="15" name="Text 13"/>
          <p:cNvSpPr/>
          <p:nvPr/>
        </p:nvSpPr>
        <p:spPr>
          <a:xfrm>
            <a:off x="3827041" y="3267519"/>
            <a:ext cx="1691618" cy="341714"/>
          </a:xfrm>
          <a:prstGeom prst="roundRect">
            <a:avLst>
              <a:gd name="adj" fmla="val 2784631"/>
            </a:avLst>
          </a:prstGeom>
          <a:solidFill>
            <a:srgbClr val="FFFFFF"/>
          </a:solidFill>
          <a:ln w="7144">
            <a:solidFill>
              <a:srgbClr val="1A1A1A"/>
            </a:solidFill>
            <a:prstDash val="solid"/>
          </a:ln>
        </p:spPr>
        <p:txBody>
          <a:bodyPr wrap="square" rtlCol="0" anchor="ctr"/>
          <a:lstStyle/>
          <a:p>
            <a:pPr indent="0" marL="0">
              <a:buNone/>
            </a:pPr>
            <a:endParaRPr lang="en-US" dirty="0"/>
          </a:p>
        </p:txBody>
      </p:sp>
      <p:sp>
        <p:nvSpPr>
          <p:cNvPr id="16" name="Text 14"/>
          <p:cNvSpPr/>
          <p:nvPr/>
        </p:nvSpPr>
        <p:spPr>
          <a:xfrm>
            <a:off x="3962772" y="3374082"/>
            <a:ext cx="128588" cy="128588"/>
          </a:xfrm>
          <a:prstGeom prst="rect">
            <a:avLst/>
          </a:prstGeom>
          <a:noFill/>
          <a:ln/>
        </p:spPr>
        <p:txBody>
          <a:bodyPr wrap="none" lIns="0" tIns="0" rIns="0" bIns="0" rtlCol="0" anchor="ctr"/>
          <a:lstStyle/>
          <a:p>
            <a:pPr algn="ctr" indent="0" marL="0">
              <a:buNone/>
            </a:pPr>
            <a:r>
              <a:rPr lang="en-US" sz="1266" dirty="0">
                <a:solidFill>
                  <a:srgbClr val="07807C"/>
                </a:solidFill>
                <a:latin typeface="Segoe UI Symbol" pitchFamily="34" charset="0"/>
                <a:ea typeface="Segoe UI Symbol" pitchFamily="34" charset="-122"/>
                <a:cs typeface="Segoe UI Symbol" pitchFamily="34" charset="-120"/>
              </a:rPr>
              <a:t>⇄</a:t>
            </a:r>
            <a:endParaRPr lang="en-US" sz="1266" dirty="0"/>
          </a:p>
        </p:txBody>
      </p:sp>
      <p:sp>
        <p:nvSpPr>
          <p:cNvPr id="17" name="Text 15"/>
          <p:cNvSpPr/>
          <p:nvPr/>
        </p:nvSpPr>
        <p:spPr>
          <a:xfrm>
            <a:off x="4162797" y="3366046"/>
            <a:ext cx="1220130" cy="144661"/>
          </a:xfrm>
          <a:prstGeom prst="rect">
            <a:avLst/>
          </a:prstGeom>
          <a:noFill/>
          <a:ln/>
        </p:spPr>
        <p:txBody>
          <a:bodyPr wrap="none" lIns="0" tIns="0" rIns="0" bIns="0" rtlCol="0" anchor="t"/>
          <a:lstStyle/>
          <a:p>
            <a:pPr algn="l" indent="0" marL="0">
              <a:lnSpc>
                <a:spcPts val="1139"/>
              </a:lnSpc>
              <a:buNone/>
            </a:pPr>
            <a:r>
              <a:rPr lang="en-US" sz="800" b="1" dirty="0">
                <a:solidFill>
                  <a:srgbClr val="1A1A1A"/>
                </a:solidFill>
                <a:latin typeface="Carlito" pitchFamily="34" charset="0"/>
                <a:ea typeface="Carlito" pitchFamily="34" charset="-122"/>
                <a:cs typeface="Carlito" pitchFamily="34" charset="-120"/>
              </a:rPr>
              <a:t>Конкурентный ландшафт</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572375" y="-857250"/>
            <a:ext cx="2357438" cy="2357438"/>
          </a:xfrm>
          <a:prstGeom prst="ellipse">
            <a:avLst/>
          </a:prstGeom>
          <a:solidFill>
            <a:srgbClr val="0ABAB5">
              <a:alpha val="6000"/>
            </a:srgbClr>
          </a:solidFill>
          <a:ln/>
        </p:spPr>
        <p:txBody>
          <a:bodyPr wrap="square" rtlCol="0" anchor="ctr"/>
          <a:lstStyle/>
          <a:p>
            <a:pPr indent="0" marL="0">
              <a:buNone/>
            </a:pPr>
            <a:endParaRPr lang="en-US" dirty="0"/>
          </a:p>
        </p:txBody>
      </p:sp>
      <p:sp>
        <p:nvSpPr>
          <p:cNvPr id="3" name="Text 1"/>
          <p:cNvSpPr/>
          <p:nvPr/>
        </p:nvSpPr>
        <p:spPr>
          <a:xfrm>
            <a:off x="457200" y="448270"/>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4" name="Text 2"/>
          <p:cNvSpPr/>
          <p:nvPr/>
        </p:nvSpPr>
        <p:spPr>
          <a:xfrm>
            <a:off x="728663" y="400050"/>
            <a:ext cx="79581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TRACTION</a:t>
            </a:r>
            <a:endParaRPr lang="en-US" sz="800" dirty="0"/>
          </a:p>
        </p:txBody>
      </p:sp>
      <p:sp>
        <p:nvSpPr>
          <p:cNvPr id="5" name="Text 3"/>
          <p:cNvSpPr/>
          <p:nvPr/>
        </p:nvSpPr>
        <p:spPr>
          <a:xfrm>
            <a:off x="457200" y="617934"/>
            <a:ext cx="863600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Продукт запущен, инфраструктура подключена</a:t>
            </a:r>
            <a:endParaRPr lang="en-US" sz="2138" dirty="0"/>
          </a:p>
        </p:txBody>
      </p:sp>
      <p:sp>
        <p:nvSpPr>
          <p:cNvPr id="6" name="Text 4"/>
          <p:cNvSpPr/>
          <p:nvPr/>
        </p:nvSpPr>
        <p:spPr>
          <a:xfrm>
            <a:off x="460772" y="1111188"/>
            <a:ext cx="4043363" cy="1489249"/>
          </a:xfrm>
          <a:prstGeom prst="roundRect">
            <a:avLst>
              <a:gd name="adj" fmla="val 7675"/>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7" name="Text 5"/>
          <p:cNvSpPr/>
          <p:nvPr/>
        </p:nvSpPr>
        <p:spPr>
          <a:xfrm>
            <a:off x="650081" y="1329072"/>
            <a:ext cx="71438" cy="71438"/>
          </a:xfrm>
          <a:prstGeom prst="ellipse">
            <a:avLst/>
          </a:prstGeom>
          <a:solidFill>
            <a:srgbClr val="0ABAB5"/>
          </a:solidFill>
          <a:ln/>
          <a:effectLst>
            <a:outerShdw sx="100000" sy="100000" kx="0" ky="0" algn="bl" rotWithShape="0" blurRad="101600" dist="50800" dir="16200000">
              <a:srgbClr val="0ABAB5">
                <a:alpha val="15000"/>
              </a:srgbClr>
            </a:outerShdw>
          </a:effectLst>
        </p:spPr>
        <p:txBody>
          <a:bodyPr wrap="square" rtlCol="0" anchor="ctr"/>
          <a:lstStyle/>
          <a:p>
            <a:pPr indent="0" marL="0">
              <a:buNone/>
            </a:pPr>
            <a:endParaRPr lang="en-US" dirty="0"/>
          </a:p>
        </p:txBody>
      </p:sp>
      <p:sp>
        <p:nvSpPr>
          <p:cNvPr id="8" name="Text 6"/>
          <p:cNvSpPr/>
          <p:nvPr/>
        </p:nvSpPr>
        <p:spPr>
          <a:xfrm>
            <a:off x="4000500" y="1286210"/>
            <a:ext cx="314325" cy="314325"/>
          </a:xfrm>
          <a:prstGeom prst="roundRect">
            <a:avLst>
              <a:gd name="adj" fmla="val 36364"/>
            </a:avLst>
          </a:prstGeom>
          <a:solidFill>
            <a:srgbClr val="0ABAB5">
              <a:alpha val="10000"/>
            </a:srgbClr>
          </a:solidFill>
          <a:ln/>
        </p:spPr>
        <p:txBody>
          <a:bodyPr wrap="square" rtlCol="0" anchor="ctr"/>
          <a:lstStyle/>
          <a:p>
            <a:pPr indent="0" marL="0">
              <a:buNone/>
            </a:pPr>
            <a:endParaRPr lang="en-US" dirty="0"/>
          </a:p>
        </p:txBody>
      </p:sp>
      <p:sp>
        <p:nvSpPr>
          <p:cNvPr id="9" name="Text 7"/>
          <p:cNvSpPr/>
          <p:nvPr/>
        </p:nvSpPr>
        <p:spPr>
          <a:xfrm>
            <a:off x="4033361" y="1319071"/>
            <a:ext cx="248602" cy="248602"/>
          </a:xfrm>
          <a:prstGeom prst="rect">
            <a:avLst/>
          </a:prstGeom>
          <a:noFill/>
          <a:ln/>
        </p:spPr>
        <p:txBody>
          <a:bodyPr wrap="none" lIns="0" tIns="0" rIns="0" bIns="0" rtlCol="0" anchor="ctr"/>
          <a:lstStyle/>
          <a:p>
            <a:pPr algn="ctr" indent="0" marL="0">
              <a:buNone/>
            </a:pPr>
            <a:r>
              <a:rPr lang="en-US" sz="1688" dirty="0">
                <a:solidFill>
                  <a:srgbClr val="07807C"/>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650081" y="2012863"/>
            <a:ext cx="3664744" cy="229743"/>
          </a:xfrm>
          <a:prstGeom prst="rect">
            <a:avLst/>
          </a:prstGeom>
          <a:noFill/>
          <a:ln/>
        </p:spPr>
        <p:txBody>
          <a:bodyPr wrap="none" lIns="0" tIns="0" rIns="0" bIns="0" rtlCol="0" anchor="t">
            <a:normAutofit/>
          </a:bodyPr>
          <a:lstStyle/>
          <a:p>
            <a:pPr algn="l" indent="0" marL="0">
              <a:lnSpc>
                <a:spcPts val="1688"/>
              </a:lnSpc>
              <a:buNone/>
            </a:pPr>
            <a:r>
              <a:rPr lang="en-US" sz="1125" b="1" spc="-11" kern="0" dirty="0">
                <a:solidFill>
                  <a:srgbClr val="1A1A1A"/>
                </a:solidFill>
                <a:latin typeface="Carlito" pitchFamily="34" charset="0"/>
                <a:ea typeface="Carlito" pitchFamily="34" charset="-122"/>
                <a:cs typeface="Carlito" pitchFamily="34" charset="-120"/>
              </a:rPr>
              <a:t>Демо открыто</a:t>
            </a:r>
            <a:endParaRPr lang="en-US" sz="1125" dirty="0"/>
          </a:p>
        </p:txBody>
      </p:sp>
      <p:sp>
        <p:nvSpPr>
          <p:cNvPr id="11" name="Text 9"/>
          <p:cNvSpPr/>
          <p:nvPr/>
        </p:nvSpPr>
        <p:spPr>
          <a:xfrm>
            <a:off x="650081" y="2270038"/>
            <a:ext cx="3774472"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lovii.ru работает, продукт живой</a:t>
            </a:r>
            <a:endParaRPr lang="en-US" sz="816" dirty="0"/>
          </a:p>
        </p:txBody>
      </p:sp>
      <p:sp>
        <p:nvSpPr>
          <p:cNvPr id="12" name="Text 10"/>
          <p:cNvSpPr/>
          <p:nvPr/>
        </p:nvSpPr>
        <p:spPr>
          <a:xfrm>
            <a:off x="4639866" y="1111188"/>
            <a:ext cx="4043363" cy="1489249"/>
          </a:xfrm>
          <a:prstGeom prst="roundRect">
            <a:avLst>
              <a:gd name="adj" fmla="val 7675"/>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3" name="Text 11"/>
          <p:cNvSpPr/>
          <p:nvPr/>
        </p:nvSpPr>
        <p:spPr>
          <a:xfrm>
            <a:off x="4829175" y="1329072"/>
            <a:ext cx="71438" cy="71438"/>
          </a:xfrm>
          <a:prstGeom prst="ellipse">
            <a:avLst/>
          </a:prstGeom>
          <a:solidFill>
            <a:srgbClr val="0ABAB5"/>
          </a:solidFill>
          <a:ln/>
          <a:effectLst>
            <a:outerShdw sx="100000" sy="100000" kx="0" ky="0" algn="bl" rotWithShape="0" blurRad="101600" dist="50800" dir="16200000">
              <a:srgbClr val="0ABAB5">
                <a:alpha val="15000"/>
              </a:srgbClr>
            </a:outerShdw>
          </a:effectLst>
        </p:spPr>
        <p:txBody>
          <a:bodyPr wrap="square" rtlCol="0" anchor="ctr"/>
          <a:lstStyle/>
          <a:p>
            <a:pPr indent="0" marL="0">
              <a:buNone/>
            </a:pPr>
            <a:endParaRPr lang="en-US" dirty="0"/>
          </a:p>
        </p:txBody>
      </p:sp>
      <p:sp>
        <p:nvSpPr>
          <p:cNvPr id="14" name="Text 12"/>
          <p:cNvSpPr/>
          <p:nvPr/>
        </p:nvSpPr>
        <p:spPr>
          <a:xfrm>
            <a:off x="8179594" y="1286210"/>
            <a:ext cx="314325" cy="314325"/>
          </a:xfrm>
          <a:prstGeom prst="roundRect">
            <a:avLst>
              <a:gd name="adj" fmla="val 36364"/>
            </a:avLst>
          </a:prstGeom>
          <a:solidFill>
            <a:srgbClr val="0ABAB5">
              <a:alpha val="10000"/>
            </a:srgbClr>
          </a:solidFill>
          <a:ln/>
        </p:spPr>
        <p:txBody>
          <a:bodyPr wrap="square" rtlCol="0" anchor="ctr"/>
          <a:lstStyle/>
          <a:p>
            <a:pPr indent="0" marL="0">
              <a:buNone/>
            </a:pPr>
            <a:endParaRPr lang="en-US" dirty="0"/>
          </a:p>
        </p:txBody>
      </p:sp>
      <p:sp>
        <p:nvSpPr>
          <p:cNvPr id="15" name="Text 13"/>
          <p:cNvSpPr/>
          <p:nvPr/>
        </p:nvSpPr>
        <p:spPr>
          <a:xfrm>
            <a:off x="8212455" y="1319071"/>
            <a:ext cx="248602" cy="248602"/>
          </a:xfrm>
          <a:prstGeom prst="rect">
            <a:avLst/>
          </a:prstGeom>
          <a:noFill/>
          <a:ln/>
        </p:spPr>
        <p:txBody>
          <a:bodyPr wrap="none" lIns="0" tIns="0" rIns="0" bIns="0" rtlCol="0" anchor="ctr"/>
          <a:lstStyle/>
          <a:p>
            <a:pPr algn="ctr" indent="0" marL="0">
              <a:buNone/>
            </a:pPr>
            <a:r>
              <a:rPr lang="en-US" sz="1688" dirty="0">
                <a:solidFill>
                  <a:srgbClr val="07807C"/>
                </a:solidFill>
                <a:latin typeface="Segoe UI Symbol" pitchFamily="34" charset="0"/>
                <a:ea typeface="Segoe UI Symbol" pitchFamily="34" charset="-122"/>
                <a:cs typeface="Segoe UI Symbol" pitchFamily="34" charset="-120"/>
              </a:rPr>
              <a:t>🏛</a:t>
            </a:r>
            <a:endParaRPr lang="en-US" sz="1688" dirty="0"/>
          </a:p>
        </p:txBody>
      </p:sp>
      <p:sp>
        <p:nvSpPr>
          <p:cNvPr id="16" name="Text 14"/>
          <p:cNvSpPr/>
          <p:nvPr/>
        </p:nvSpPr>
        <p:spPr>
          <a:xfrm>
            <a:off x="4829175" y="2012863"/>
            <a:ext cx="3664744" cy="229743"/>
          </a:xfrm>
          <a:prstGeom prst="rect">
            <a:avLst/>
          </a:prstGeom>
          <a:noFill/>
          <a:ln/>
        </p:spPr>
        <p:txBody>
          <a:bodyPr wrap="none" lIns="0" tIns="0" rIns="0" bIns="0" rtlCol="0" anchor="t">
            <a:normAutofit/>
          </a:bodyPr>
          <a:lstStyle/>
          <a:p>
            <a:pPr algn="l" indent="0" marL="0">
              <a:lnSpc>
                <a:spcPts val="1688"/>
              </a:lnSpc>
              <a:buNone/>
            </a:pPr>
            <a:r>
              <a:rPr lang="en-US" sz="1125" b="1" spc="-11" kern="0" dirty="0">
                <a:solidFill>
                  <a:srgbClr val="1A1A1A"/>
                </a:solidFill>
                <a:latin typeface="Carlito" pitchFamily="34" charset="0"/>
                <a:ea typeface="Carlito" pitchFamily="34" charset="-122"/>
                <a:cs typeface="Carlito" pitchFamily="34" charset="-120"/>
              </a:rPr>
              <a:t>Договор с банком подписан</a:t>
            </a:r>
            <a:endParaRPr lang="en-US" sz="1125" dirty="0"/>
          </a:p>
        </p:txBody>
      </p:sp>
      <p:sp>
        <p:nvSpPr>
          <p:cNvPr id="17" name="Text 15"/>
          <p:cNvSpPr/>
          <p:nvPr/>
        </p:nvSpPr>
        <p:spPr>
          <a:xfrm>
            <a:off x="4829175" y="2270038"/>
            <a:ext cx="3774472"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расчётная инфраструктура формализована</a:t>
            </a:r>
            <a:endParaRPr lang="en-US" sz="816" dirty="0"/>
          </a:p>
        </p:txBody>
      </p:sp>
      <p:sp>
        <p:nvSpPr>
          <p:cNvPr id="18" name="Text 16"/>
          <p:cNvSpPr/>
          <p:nvPr/>
        </p:nvSpPr>
        <p:spPr>
          <a:xfrm>
            <a:off x="460772" y="2736168"/>
            <a:ext cx="4043363" cy="1489360"/>
          </a:xfrm>
          <a:prstGeom prst="roundRect">
            <a:avLst>
              <a:gd name="adj" fmla="val 767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9" name="Text 17"/>
          <p:cNvSpPr/>
          <p:nvPr/>
        </p:nvSpPr>
        <p:spPr>
          <a:xfrm>
            <a:off x="650081" y="2954052"/>
            <a:ext cx="71438" cy="71438"/>
          </a:xfrm>
          <a:prstGeom prst="ellipse">
            <a:avLst/>
          </a:prstGeom>
          <a:solidFill>
            <a:srgbClr val="0ABAB5"/>
          </a:solidFill>
          <a:ln/>
          <a:effectLst>
            <a:outerShdw sx="100000" sy="100000" kx="0" ky="0" algn="bl" rotWithShape="0" blurRad="101600" dist="50800" dir="16200000">
              <a:srgbClr val="0ABAB5">
                <a:alpha val="15000"/>
              </a:srgbClr>
            </a:outerShdw>
          </a:effectLst>
        </p:spPr>
        <p:txBody>
          <a:bodyPr wrap="square" rtlCol="0" anchor="ctr"/>
          <a:lstStyle/>
          <a:p>
            <a:pPr indent="0" marL="0">
              <a:buNone/>
            </a:pPr>
            <a:endParaRPr lang="en-US" dirty="0"/>
          </a:p>
        </p:txBody>
      </p:sp>
      <p:sp>
        <p:nvSpPr>
          <p:cNvPr id="20" name="Text 18"/>
          <p:cNvSpPr/>
          <p:nvPr/>
        </p:nvSpPr>
        <p:spPr>
          <a:xfrm>
            <a:off x="4000500" y="2911190"/>
            <a:ext cx="314325" cy="314325"/>
          </a:xfrm>
          <a:prstGeom prst="roundRect">
            <a:avLst>
              <a:gd name="adj" fmla="val 36364"/>
            </a:avLst>
          </a:prstGeom>
          <a:solidFill>
            <a:srgbClr val="0ABAB5">
              <a:alpha val="10000"/>
            </a:srgbClr>
          </a:solidFill>
          <a:ln/>
        </p:spPr>
        <p:txBody>
          <a:bodyPr wrap="square" rtlCol="0" anchor="ctr"/>
          <a:lstStyle/>
          <a:p>
            <a:pPr indent="0" marL="0">
              <a:buNone/>
            </a:pPr>
            <a:endParaRPr lang="en-US" dirty="0"/>
          </a:p>
        </p:txBody>
      </p:sp>
      <p:sp>
        <p:nvSpPr>
          <p:cNvPr id="21" name="Text 19"/>
          <p:cNvSpPr/>
          <p:nvPr/>
        </p:nvSpPr>
        <p:spPr>
          <a:xfrm>
            <a:off x="4033361" y="2944051"/>
            <a:ext cx="248602" cy="248602"/>
          </a:xfrm>
          <a:prstGeom prst="rect">
            <a:avLst/>
          </a:prstGeom>
          <a:noFill/>
          <a:ln/>
        </p:spPr>
        <p:txBody>
          <a:bodyPr wrap="none" lIns="0" tIns="0" rIns="0" bIns="0" rtlCol="0" anchor="ctr"/>
          <a:lstStyle/>
          <a:p>
            <a:pPr algn="ctr" indent="0" marL="0">
              <a:buNone/>
            </a:pPr>
            <a:r>
              <a:rPr lang="en-US" sz="1688" dirty="0">
                <a:solidFill>
                  <a:srgbClr val="07807C"/>
                </a:solidFill>
                <a:latin typeface="Segoe UI Symbol" pitchFamily="34" charset="0"/>
                <a:ea typeface="Segoe UI Symbol" pitchFamily="34" charset="-122"/>
                <a:cs typeface="Segoe UI Symbol" pitchFamily="34" charset="-120"/>
              </a:rPr>
              <a:t>✦</a:t>
            </a:r>
            <a:endParaRPr lang="en-US" sz="1688" dirty="0"/>
          </a:p>
        </p:txBody>
      </p:sp>
      <p:sp>
        <p:nvSpPr>
          <p:cNvPr id="22" name="Text 20"/>
          <p:cNvSpPr/>
          <p:nvPr/>
        </p:nvSpPr>
        <p:spPr>
          <a:xfrm>
            <a:off x="650081" y="3637955"/>
            <a:ext cx="3664744" cy="229743"/>
          </a:xfrm>
          <a:prstGeom prst="rect">
            <a:avLst/>
          </a:prstGeom>
          <a:noFill/>
          <a:ln/>
        </p:spPr>
        <p:txBody>
          <a:bodyPr wrap="none" lIns="0" tIns="0" rIns="0" bIns="0" rtlCol="0" anchor="t">
            <a:normAutofit/>
          </a:bodyPr>
          <a:lstStyle/>
          <a:p>
            <a:pPr algn="l" indent="0" marL="0">
              <a:lnSpc>
                <a:spcPts val="1688"/>
              </a:lnSpc>
              <a:buNone/>
            </a:pPr>
            <a:r>
              <a:rPr lang="en-US" sz="1125" b="1" spc="-11" kern="0" dirty="0">
                <a:solidFill>
                  <a:srgbClr val="1A1A1A"/>
                </a:solidFill>
                <a:latin typeface="Carlito" pitchFamily="34" charset="0"/>
                <a:ea typeface="Carlito" pitchFamily="34" charset="-122"/>
                <a:cs typeface="Carlito" pitchFamily="34" charset="-120"/>
              </a:rPr>
              <a:t>Эквайринг подключён</a:t>
            </a:r>
            <a:endParaRPr lang="en-US" sz="1125" dirty="0"/>
          </a:p>
        </p:txBody>
      </p:sp>
      <p:sp>
        <p:nvSpPr>
          <p:cNvPr id="23" name="Text 21"/>
          <p:cNvSpPr/>
          <p:nvPr/>
        </p:nvSpPr>
        <p:spPr>
          <a:xfrm>
            <a:off x="650081" y="3895130"/>
            <a:ext cx="3774472"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приём платежей по QR работает</a:t>
            </a:r>
            <a:endParaRPr lang="en-US" sz="816" dirty="0"/>
          </a:p>
        </p:txBody>
      </p:sp>
      <p:sp>
        <p:nvSpPr>
          <p:cNvPr id="24" name="Text 22"/>
          <p:cNvSpPr/>
          <p:nvPr/>
        </p:nvSpPr>
        <p:spPr>
          <a:xfrm>
            <a:off x="4639866" y="2736168"/>
            <a:ext cx="4043363" cy="1489360"/>
          </a:xfrm>
          <a:prstGeom prst="roundRect">
            <a:avLst>
              <a:gd name="adj" fmla="val 7674"/>
            </a:avLst>
          </a:prstGeom>
          <a:solidFill>
            <a:srgbClr val="FFFFFF"/>
          </a:solidFill>
          <a:ln w="7144">
            <a:solidFill>
              <a:srgbClr val="1A1A1A"/>
            </a:solidFill>
            <a:prstDash val="solid"/>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5" name="Text 23"/>
          <p:cNvSpPr/>
          <p:nvPr/>
        </p:nvSpPr>
        <p:spPr>
          <a:xfrm>
            <a:off x="4829175" y="2954052"/>
            <a:ext cx="71438" cy="71438"/>
          </a:xfrm>
          <a:prstGeom prst="ellipse">
            <a:avLst/>
          </a:prstGeom>
          <a:solidFill>
            <a:srgbClr val="0ABAB5"/>
          </a:solidFill>
          <a:ln/>
          <a:effectLst>
            <a:outerShdw sx="100000" sy="100000" kx="0" ky="0" algn="bl" rotWithShape="0" blurRad="101600" dist="50800" dir="16200000">
              <a:srgbClr val="0ABAB5">
                <a:alpha val="15000"/>
              </a:srgbClr>
            </a:outerShdw>
          </a:effectLst>
        </p:spPr>
        <p:txBody>
          <a:bodyPr wrap="square" rtlCol="0" anchor="ctr"/>
          <a:lstStyle/>
          <a:p>
            <a:pPr indent="0" marL="0">
              <a:buNone/>
            </a:pPr>
            <a:endParaRPr lang="en-US" dirty="0"/>
          </a:p>
        </p:txBody>
      </p:sp>
      <p:sp>
        <p:nvSpPr>
          <p:cNvPr id="26" name="Text 24"/>
          <p:cNvSpPr/>
          <p:nvPr/>
        </p:nvSpPr>
        <p:spPr>
          <a:xfrm>
            <a:off x="8179594" y="2911190"/>
            <a:ext cx="314325" cy="314325"/>
          </a:xfrm>
          <a:prstGeom prst="roundRect">
            <a:avLst>
              <a:gd name="adj" fmla="val 36364"/>
            </a:avLst>
          </a:prstGeom>
          <a:solidFill>
            <a:srgbClr val="0ABAB5">
              <a:alpha val="10000"/>
            </a:srgbClr>
          </a:solidFill>
          <a:ln/>
        </p:spPr>
        <p:txBody>
          <a:bodyPr wrap="square" rtlCol="0" anchor="ctr"/>
          <a:lstStyle/>
          <a:p>
            <a:pPr indent="0" marL="0">
              <a:buNone/>
            </a:pPr>
            <a:endParaRPr lang="en-US" dirty="0"/>
          </a:p>
        </p:txBody>
      </p:sp>
      <p:sp>
        <p:nvSpPr>
          <p:cNvPr id="27" name="Text 25"/>
          <p:cNvSpPr/>
          <p:nvPr/>
        </p:nvSpPr>
        <p:spPr>
          <a:xfrm>
            <a:off x="8212455" y="2944051"/>
            <a:ext cx="248602" cy="248602"/>
          </a:xfrm>
          <a:prstGeom prst="rect">
            <a:avLst/>
          </a:prstGeom>
          <a:noFill/>
          <a:ln/>
        </p:spPr>
        <p:txBody>
          <a:bodyPr wrap="none" lIns="0" tIns="0" rIns="0" bIns="0" rtlCol="0" anchor="ctr"/>
          <a:lstStyle/>
          <a:p>
            <a:pPr algn="ctr" indent="0" marL="0">
              <a:buNone/>
            </a:pPr>
            <a:r>
              <a:rPr lang="en-US" sz="1688" dirty="0">
                <a:solidFill>
                  <a:srgbClr val="07807C"/>
                </a:solidFill>
                <a:latin typeface="Segoe UI Symbol" pitchFamily="34" charset="0"/>
                <a:ea typeface="Segoe UI Symbol" pitchFamily="34" charset="-122"/>
                <a:cs typeface="Segoe UI Symbol" pitchFamily="34" charset="-120"/>
              </a:rPr>
              <a:t>♟</a:t>
            </a:r>
            <a:endParaRPr lang="en-US" sz="1688" dirty="0"/>
          </a:p>
        </p:txBody>
      </p:sp>
      <p:sp>
        <p:nvSpPr>
          <p:cNvPr id="28" name="Text 26"/>
          <p:cNvSpPr/>
          <p:nvPr/>
        </p:nvSpPr>
        <p:spPr>
          <a:xfrm>
            <a:off x="4829175" y="3637955"/>
            <a:ext cx="3664744" cy="229743"/>
          </a:xfrm>
          <a:prstGeom prst="rect">
            <a:avLst/>
          </a:prstGeom>
          <a:noFill/>
          <a:ln/>
        </p:spPr>
        <p:txBody>
          <a:bodyPr wrap="none" lIns="0" tIns="0" rIns="0" bIns="0" rtlCol="0" anchor="t">
            <a:normAutofit/>
          </a:bodyPr>
          <a:lstStyle/>
          <a:p>
            <a:pPr algn="l" indent="0" marL="0">
              <a:lnSpc>
                <a:spcPts val="1688"/>
              </a:lnSpc>
              <a:buNone/>
            </a:pPr>
            <a:r>
              <a:rPr lang="en-US" sz="1125" b="1" spc="-11" kern="0" dirty="0">
                <a:solidFill>
                  <a:srgbClr val="1A1A1A"/>
                </a:solidFill>
                <a:latin typeface="Carlito" pitchFamily="34" charset="0"/>
                <a:ea typeface="Carlito" pitchFamily="34" charset="-122"/>
                <a:cs typeface="Carlito" pitchFamily="34" charset="-120"/>
              </a:rPr>
              <a:t>Идёт набор партнёров</a:t>
            </a:r>
            <a:endParaRPr lang="en-US" sz="1125" dirty="0"/>
          </a:p>
        </p:txBody>
      </p:sp>
      <p:sp>
        <p:nvSpPr>
          <p:cNvPr id="29" name="Text 27"/>
          <p:cNvSpPr/>
          <p:nvPr/>
        </p:nvSpPr>
        <p:spPr>
          <a:xfrm>
            <a:off x="4829175" y="3895130"/>
            <a:ext cx="3774472" cy="15537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66000"/>
                  </a:srgbClr>
                </a:solidFill>
                <a:latin typeface="Carlito" pitchFamily="34" charset="0"/>
                <a:ea typeface="Carlito" pitchFamily="34" charset="-122"/>
                <a:cs typeface="Carlito" pitchFamily="34" charset="-120"/>
              </a:rPr>
              <a:t>представители и амбассадоры выбирают регионы</a:t>
            </a:r>
            <a:endParaRPr lang="en-US" sz="816" dirty="0"/>
          </a:p>
        </p:txBody>
      </p:sp>
      <p:sp>
        <p:nvSpPr>
          <p:cNvPr id="30" name="Text 28"/>
          <p:cNvSpPr/>
          <p:nvPr/>
        </p:nvSpPr>
        <p:spPr>
          <a:xfrm>
            <a:off x="457200" y="4371975"/>
            <a:ext cx="8229600" cy="400050"/>
          </a:xfrm>
          <a:prstGeom prst="roundRect">
            <a:avLst>
              <a:gd name="adj" fmla="val 28571"/>
            </a:avLst>
          </a:prstGeom>
          <a:solidFill>
            <a:srgbClr val="1A1A1A"/>
          </a:solidFill>
          <a:ln/>
        </p:spPr>
        <p:txBody>
          <a:bodyPr wrap="square" rtlCol="0" anchor="ctr"/>
          <a:lstStyle/>
          <a:p>
            <a:pPr indent="0" marL="0">
              <a:buNone/>
            </a:pPr>
            <a:endParaRPr lang="en-US" dirty="0"/>
          </a:p>
        </p:txBody>
      </p:sp>
      <p:sp>
        <p:nvSpPr>
          <p:cNvPr id="31" name="Text 29"/>
          <p:cNvSpPr/>
          <p:nvPr/>
        </p:nvSpPr>
        <p:spPr>
          <a:xfrm>
            <a:off x="642938" y="4486275"/>
            <a:ext cx="171450" cy="171450"/>
          </a:xfrm>
          <a:prstGeom prst="rect">
            <a:avLst/>
          </a:prstGeom>
          <a:noFill/>
          <a:ln/>
        </p:spPr>
        <p:txBody>
          <a:bodyPr wrap="none" lIns="0" tIns="0" rIns="0" bIns="0" rtlCol="0" anchor="ctr"/>
          <a:lstStyle/>
          <a:p>
            <a:pPr algn="ctr" indent="0" marL="0">
              <a:buNone/>
            </a:pPr>
            <a:r>
              <a:rPr lang="en-US" sz="1688" dirty="0">
                <a:solidFill>
                  <a:srgbClr val="D4A854"/>
                </a:solidFill>
                <a:latin typeface="Segoe UI Symbol" pitchFamily="34" charset="0"/>
                <a:ea typeface="Segoe UI Symbol" pitchFamily="34" charset="-122"/>
                <a:cs typeface="Segoe UI Symbol" pitchFamily="34" charset="-120"/>
              </a:rPr>
              <a:t>↗</a:t>
            </a:r>
            <a:endParaRPr lang="en-US" sz="1688" dirty="0"/>
          </a:p>
        </p:txBody>
      </p:sp>
      <p:sp>
        <p:nvSpPr>
          <p:cNvPr id="32" name="Text 30"/>
          <p:cNvSpPr/>
          <p:nvPr/>
        </p:nvSpPr>
        <p:spPr>
          <a:xfrm>
            <a:off x="914400" y="4486945"/>
            <a:ext cx="7586663" cy="170780"/>
          </a:xfrm>
          <a:prstGeom prst="rect">
            <a:avLst/>
          </a:prstGeom>
          <a:noFill/>
          <a:ln/>
        </p:spPr>
        <p:txBody>
          <a:bodyPr wrap="square" lIns="0" tIns="0" rIns="0" bIns="0" rtlCol="0" anchor="t"/>
          <a:lstStyle/>
          <a:p>
            <a:pPr algn="l" indent="0" marL="0">
              <a:lnSpc>
                <a:spcPts val="1339"/>
              </a:lnSpc>
              <a:buNone/>
            </a:pPr>
            <a:r>
              <a:rPr lang="en-US" sz="956" dirty="0">
                <a:solidFill>
                  <a:srgbClr val="FFFFFF"/>
                </a:solidFill>
                <a:latin typeface="Carlito" pitchFamily="34" charset="0"/>
                <a:ea typeface="Carlito" pitchFamily="34" charset="-122"/>
                <a:cs typeface="Carlito" pitchFamily="34" charset="-120"/>
              </a:rPr>
              <a:t>Инвестиции идут в масштабирование работающей модели, а не в разработку с нуля</a:t>
            </a:r>
            <a:endParaRPr lang="en-US" sz="95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48270"/>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728663" y="400050"/>
            <a:ext cx="4443413"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ДИСТРИБУЦИЯ</a:t>
            </a:r>
            <a:endParaRPr lang="en-US" sz="800" dirty="0"/>
          </a:p>
        </p:txBody>
      </p:sp>
      <p:sp>
        <p:nvSpPr>
          <p:cNvPr id="4" name="Text 2"/>
          <p:cNvSpPr/>
          <p:nvPr/>
        </p:nvSpPr>
        <p:spPr>
          <a:xfrm>
            <a:off x="457200" y="617934"/>
            <a:ext cx="5186363" cy="644223"/>
          </a:xfrm>
          <a:prstGeom prst="rect">
            <a:avLst/>
          </a:prstGeom>
          <a:noFill/>
          <a:ln/>
        </p:spPr>
        <p:txBody>
          <a:bodyPr wrap="square" lIns="0" tIns="0" rIns="0" bIns="0" rtlCol="0" anchor="t"/>
          <a:lstStyle/>
          <a:p>
            <a:pPr algn="l" indent="0" marL="0">
              <a:lnSpc>
                <a:spcPts val="2349"/>
              </a:lnSpc>
              <a:buNone/>
            </a:pPr>
            <a:r>
              <a:rPr lang="en-US" sz="2025" b="1" spc="-40" kern="0" dirty="0">
                <a:solidFill>
                  <a:srgbClr val="1A1A1A"/>
                </a:solidFill>
                <a:latin typeface="Carlito" pitchFamily="34" charset="0"/>
                <a:ea typeface="Carlito" pitchFamily="34" charset="-122"/>
                <a:cs typeface="Carlito" pitchFamily="34" charset="-120"/>
              </a:rPr>
              <a:t>Город за городом — через локальных лидеров</a:t>
            </a:r>
            <a:endParaRPr lang="en-US" sz="2025" dirty="0"/>
          </a:p>
        </p:txBody>
      </p:sp>
      <p:sp>
        <p:nvSpPr>
          <p:cNvPr id="5" name="Text 3"/>
          <p:cNvSpPr/>
          <p:nvPr/>
        </p:nvSpPr>
        <p:spPr>
          <a:xfrm>
            <a:off x="571500" y="1614488"/>
            <a:ext cx="14288" cy="1293019"/>
          </a:xfrm>
          <a:prstGeom prst="rect">
            <a:avLst/>
          </a:prstGeom>
          <a:solidFill>
            <a:srgbClr val="1A1A1A">
              <a:alpha val="10000"/>
            </a:srgbClr>
          </a:solidFill>
          <a:ln/>
        </p:spPr>
        <p:txBody>
          <a:bodyPr wrap="square" rtlCol="0" anchor="ctr"/>
          <a:lstStyle/>
          <a:p>
            <a:pPr indent="0" marL="0">
              <a:buNone/>
            </a:pPr>
            <a:endParaRPr lang="en-US" dirty="0"/>
          </a:p>
        </p:txBody>
      </p:sp>
      <p:sp>
        <p:nvSpPr>
          <p:cNvPr id="6" name="Text 4"/>
          <p:cNvSpPr/>
          <p:nvPr/>
        </p:nvSpPr>
        <p:spPr>
          <a:xfrm>
            <a:off x="828675" y="1471613"/>
            <a:ext cx="2916135" cy="204740"/>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Район</a:t>
            </a:r>
            <a:endParaRPr lang="en-US" sz="1069" dirty="0"/>
          </a:p>
        </p:txBody>
      </p:sp>
      <p:sp>
        <p:nvSpPr>
          <p:cNvPr id="7" name="Text 5"/>
          <p:cNvSpPr/>
          <p:nvPr/>
        </p:nvSpPr>
        <p:spPr>
          <a:xfrm>
            <a:off x="828675" y="1703784"/>
            <a:ext cx="1993307" cy="173593"/>
          </a:xfrm>
          <a:prstGeom prst="rect">
            <a:avLst/>
          </a:prstGeom>
          <a:noFill/>
          <a:ln/>
        </p:spPr>
        <p:txBody>
          <a:bodyPr wrap="square" lIns="0" tIns="0" rIns="0" bIns="0" rtlCol="0" anchor="t"/>
          <a:lstStyle/>
          <a:p>
            <a:pPr algn="l" indent="0" marL="0">
              <a:lnSpc>
                <a:spcPts val="1266"/>
              </a:lnSpc>
              <a:buNone/>
            </a:pPr>
            <a:r>
              <a:rPr lang="en-US" sz="844" dirty="0">
                <a:solidFill>
                  <a:srgbClr val="1A1A1A">
                    <a:alpha val="66000"/>
                  </a:srgbClr>
                </a:solidFill>
                <a:latin typeface="Carlito" pitchFamily="34" charset="0"/>
                <a:ea typeface="Carlito" pitchFamily="34" charset="-122"/>
                <a:cs typeface="Carlito" pitchFamily="34" charset="-120"/>
              </a:rPr>
              <a:t>30+ точек, якорные кофейни и рынки</a:t>
            </a:r>
            <a:endParaRPr lang="en-US" sz="844" dirty="0"/>
          </a:p>
        </p:txBody>
      </p:sp>
      <p:sp>
        <p:nvSpPr>
          <p:cNvPr id="8" name="Text 6"/>
          <p:cNvSpPr/>
          <p:nvPr/>
        </p:nvSpPr>
        <p:spPr>
          <a:xfrm>
            <a:off x="828675" y="2064544"/>
            <a:ext cx="4306744" cy="204740"/>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Город</a:t>
            </a:r>
            <a:endParaRPr lang="en-US" sz="1069" dirty="0"/>
          </a:p>
        </p:txBody>
      </p:sp>
      <p:sp>
        <p:nvSpPr>
          <p:cNvPr id="9" name="Text 7"/>
          <p:cNvSpPr/>
          <p:nvPr/>
        </p:nvSpPr>
        <p:spPr>
          <a:xfrm>
            <a:off x="828675" y="2296716"/>
            <a:ext cx="2725787" cy="173593"/>
          </a:xfrm>
          <a:prstGeom prst="rect">
            <a:avLst/>
          </a:prstGeom>
          <a:noFill/>
          <a:ln/>
        </p:spPr>
        <p:txBody>
          <a:bodyPr wrap="square" lIns="0" tIns="0" rIns="0" bIns="0" rtlCol="0" anchor="t"/>
          <a:lstStyle/>
          <a:p>
            <a:pPr algn="l" indent="0" marL="0">
              <a:lnSpc>
                <a:spcPts val="1266"/>
              </a:lnSpc>
              <a:buNone/>
            </a:pPr>
            <a:r>
              <a:rPr lang="en-US" sz="844" dirty="0">
                <a:solidFill>
                  <a:srgbClr val="1A1A1A">
                    <a:alpha val="66000"/>
                  </a:srgbClr>
                </a:solidFill>
                <a:latin typeface="Carlito" pitchFamily="34" charset="0"/>
                <a:ea typeface="Carlito" pitchFamily="34" charset="-122"/>
                <a:cs typeface="Carlito" pitchFamily="34" charset="-120"/>
              </a:rPr>
              <a:t>5–10 районов, статус Мэра у ведущих представителей</a:t>
            </a:r>
            <a:endParaRPr lang="en-US" sz="844" dirty="0"/>
          </a:p>
        </p:txBody>
      </p:sp>
      <p:sp>
        <p:nvSpPr>
          <p:cNvPr id="10" name="Text 8"/>
          <p:cNvSpPr/>
          <p:nvPr/>
        </p:nvSpPr>
        <p:spPr>
          <a:xfrm>
            <a:off x="828675" y="2657475"/>
            <a:ext cx="4394764" cy="204740"/>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1A1A1A"/>
                </a:solidFill>
                <a:latin typeface="Carlito" pitchFamily="34" charset="0"/>
                <a:ea typeface="Carlito" pitchFamily="34" charset="-122"/>
                <a:cs typeface="Carlito" pitchFamily="34" charset="-120"/>
              </a:rPr>
              <a:t>Сеть городов</a:t>
            </a:r>
            <a:endParaRPr lang="en-US" sz="1069" dirty="0"/>
          </a:p>
        </p:txBody>
      </p:sp>
      <p:sp>
        <p:nvSpPr>
          <p:cNvPr id="11" name="Text 9"/>
          <p:cNvSpPr/>
          <p:nvPr/>
        </p:nvSpPr>
        <p:spPr>
          <a:xfrm>
            <a:off x="828675" y="2889647"/>
            <a:ext cx="3749799" cy="173593"/>
          </a:xfrm>
          <a:prstGeom prst="rect">
            <a:avLst/>
          </a:prstGeom>
          <a:noFill/>
          <a:ln/>
        </p:spPr>
        <p:txBody>
          <a:bodyPr wrap="square" lIns="0" tIns="0" rIns="0" bIns="0" rtlCol="0" anchor="t"/>
          <a:lstStyle/>
          <a:p>
            <a:pPr algn="l" indent="0" marL="0">
              <a:lnSpc>
                <a:spcPts val="1266"/>
              </a:lnSpc>
              <a:buNone/>
            </a:pPr>
            <a:r>
              <a:rPr lang="en-US" sz="844" dirty="0">
                <a:solidFill>
                  <a:srgbClr val="1A1A1A">
                    <a:alpha val="66000"/>
                  </a:srgbClr>
                </a:solidFill>
                <a:latin typeface="Carlito" pitchFamily="34" charset="0"/>
                <a:ea typeface="Carlito" pitchFamily="34" charset="-122"/>
                <a:cs typeface="Carlito" pitchFamily="34" charset="-120"/>
              </a:rPr>
              <a:t>Губернатор управляет 3+ городами, платформа тиражируется по регионам</a:t>
            </a:r>
            <a:endParaRPr lang="en-US" sz="844" dirty="0"/>
          </a:p>
        </p:txBody>
      </p:sp>
      <p:sp>
        <p:nvSpPr>
          <p:cNvPr id="12" name="Text 10"/>
          <p:cNvSpPr/>
          <p:nvPr/>
        </p:nvSpPr>
        <p:spPr>
          <a:xfrm>
            <a:off x="457200" y="4554141"/>
            <a:ext cx="1794756" cy="189309"/>
          </a:xfrm>
          <a:prstGeom prst="roundRect">
            <a:avLst>
              <a:gd name="adj" fmla="val 5026425"/>
            </a:avLst>
          </a:prstGeom>
          <a:solidFill>
            <a:srgbClr val="1A1A1A">
              <a:alpha val="6000"/>
            </a:srgbClr>
          </a:solidFill>
          <a:ln/>
        </p:spPr>
        <p:txBody>
          <a:bodyPr wrap="square" rtlCol="0" anchor="ctr"/>
          <a:lstStyle/>
          <a:p>
            <a:pPr indent="0" marL="0">
              <a:buNone/>
            </a:pPr>
            <a:endParaRPr lang="en-US" dirty="0"/>
          </a:p>
        </p:txBody>
      </p:sp>
      <p:sp>
        <p:nvSpPr>
          <p:cNvPr id="13" name="Text 11"/>
          <p:cNvSpPr/>
          <p:nvPr/>
        </p:nvSpPr>
        <p:spPr>
          <a:xfrm>
            <a:off x="457200" y="4554141"/>
            <a:ext cx="1794756" cy="264345"/>
          </a:xfrm>
          <a:prstGeom prst="rect">
            <a:avLst/>
          </a:prstGeom>
          <a:noFill/>
          <a:ln/>
        </p:spPr>
        <p:txBody>
          <a:bodyPr wrap="none" lIns="100013" tIns="35719" rIns="100013" bIns="35719" rtlCol="0" anchor="t"/>
          <a:lstStyle/>
          <a:p>
            <a:pPr algn="l" indent="0" marL="0">
              <a:lnSpc>
                <a:spcPts val="928"/>
              </a:lnSpc>
              <a:buNone/>
            </a:pPr>
            <a:r>
              <a:rPr lang="en-US" sz="800" b="1" spc="50" kern="0" dirty="0">
                <a:solidFill>
                  <a:srgbClr val="1A1A1A"/>
                </a:solidFill>
                <a:latin typeface="Carlito" pitchFamily="34" charset="0"/>
                <a:ea typeface="Carlito" pitchFamily="34" charset="-122"/>
                <a:cs typeface="Carlito" pitchFamily="34" charset="-120"/>
              </a:rPr>
              <a:t>РАЙОН → ГОРОД → СЕТЬ ГОРОДОВ</a:t>
            </a:r>
            <a:endParaRPr lang="en-US" sz="800" dirty="0"/>
          </a:p>
        </p:txBody>
      </p:sp>
      <p:pic>
        <p:nvPicPr>
          <p:cNvPr id="14" name="Image 0" descr="/tmp/h2p-fit-1788303534668-uqn32d.png">    </p:cNvPr>
          <p:cNvPicPr>
            <a:picLocks noChangeAspect="1"/>
          </p:cNvPicPr>
          <p:nvPr/>
        </p:nvPicPr>
        <p:blipFill>
          <a:blip r:embed="rId1"/>
          <a:stretch>
            <a:fillRect/>
          </a:stretch>
        </p:blipFill>
        <p:spPr>
          <a:xfrm>
            <a:off x="5543550" y="185738"/>
            <a:ext cx="3414713" cy="4772025"/>
          </a:xfrm>
          <a:prstGeom prst="rect">
            <a:avLst/>
          </a:prstGeom>
        </p:spPr>
      </p:pic>
      <p:sp>
        <p:nvSpPr>
          <p:cNvPr id="15" name="Text 12"/>
          <p:cNvSpPr/>
          <p:nvPr/>
        </p:nvSpPr>
        <p:spPr>
          <a:xfrm>
            <a:off x="457200" y="1471613"/>
            <a:ext cx="242888" cy="242888"/>
          </a:xfrm>
          <a:prstGeom prst="roundRect">
            <a:avLst>
              <a:gd name="adj" fmla="val 3917639"/>
            </a:avLst>
          </a:prstGeom>
          <a:solidFill>
            <a:srgbClr val="1A1A1A"/>
          </a:solidFill>
          <a:ln/>
        </p:spPr>
        <p:txBody>
          <a:bodyPr wrap="square" rtlCol="0" anchor="ctr"/>
          <a:lstStyle/>
          <a:p>
            <a:pPr indent="0" marL="0">
              <a:buNone/>
            </a:pPr>
            <a:endParaRPr lang="en-US" dirty="0"/>
          </a:p>
        </p:txBody>
      </p:sp>
      <p:sp>
        <p:nvSpPr>
          <p:cNvPr id="16" name="Text 13"/>
          <p:cNvSpPr/>
          <p:nvPr/>
        </p:nvSpPr>
        <p:spPr>
          <a:xfrm>
            <a:off x="457200" y="1471613"/>
            <a:ext cx="307181"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1</a:t>
            </a:r>
            <a:endParaRPr lang="en-US" sz="844" dirty="0"/>
          </a:p>
        </p:txBody>
      </p:sp>
      <p:sp>
        <p:nvSpPr>
          <p:cNvPr id="17" name="Text 14"/>
          <p:cNvSpPr/>
          <p:nvPr/>
        </p:nvSpPr>
        <p:spPr>
          <a:xfrm>
            <a:off x="457200" y="2064544"/>
            <a:ext cx="242888" cy="242888"/>
          </a:xfrm>
          <a:prstGeom prst="roundRect">
            <a:avLst>
              <a:gd name="adj" fmla="val 3917639"/>
            </a:avLst>
          </a:prstGeom>
          <a:solidFill>
            <a:srgbClr val="1A1A1A"/>
          </a:solidFill>
          <a:ln/>
        </p:spPr>
        <p:txBody>
          <a:bodyPr wrap="square" rtlCol="0" anchor="ctr"/>
          <a:lstStyle/>
          <a:p>
            <a:pPr indent="0" marL="0">
              <a:buNone/>
            </a:pPr>
            <a:endParaRPr lang="en-US" dirty="0"/>
          </a:p>
        </p:txBody>
      </p:sp>
      <p:sp>
        <p:nvSpPr>
          <p:cNvPr id="18" name="Text 15"/>
          <p:cNvSpPr/>
          <p:nvPr/>
        </p:nvSpPr>
        <p:spPr>
          <a:xfrm>
            <a:off x="457200" y="2064544"/>
            <a:ext cx="307181"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2</a:t>
            </a:r>
            <a:endParaRPr lang="en-US" sz="844" dirty="0"/>
          </a:p>
        </p:txBody>
      </p:sp>
      <p:sp>
        <p:nvSpPr>
          <p:cNvPr id="19" name="Text 16"/>
          <p:cNvSpPr/>
          <p:nvPr/>
        </p:nvSpPr>
        <p:spPr>
          <a:xfrm>
            <a:off x="457200" y="2657475"/>
            <a:ext cx="242888" cy="242888"/>
          </a:xfrm>
          <a:prstGeom prst="roundRect">
            <a:avLst>
              <a:gd name="adj" fmla="val 3917639"/>
            </a:avLst>
          </a:prstGeom>
          <a:solidFill>
            <a:srgbClr val="1A1A1A"/>
          </a:solidFill>
          <a:ln/>
        </p:spPr>
        <p:txBody>
          <a:bodyPr wrap="square" rtlCol="0" anchor="ctr"/>
          <a:lstStyle/>
          <a:p>
            <a:pPr indent="0" marL="0">
              <a:buNone/>
            </a:pPr>
            <a:endParaRPr lang="en-US" dirty="0"/>
          </a:p>
        </p:txBody>
      </p:sp>
      <p:sp>
        <p:nvSpPr>
          <p:cNvPr id="20" name="Text 17"/>
          <p:cNvSpPr/>
          <p:nvPr/>
        </p:nvSpPr>
        <p:spPr>
          <a:xfrm>
            <a:off x="457200" y="2657475"/>
            <a:ext cx="307181"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3</a:t>
            </a:r>
            <a:endParaRPr lang="en-US" sz="844" dirty="0"/>
          </a:p>
        </p:txBody>
      </p:sp>
      <p:sp>
        <p:nvSpPr>
          <p:cNvPr id="21" name="Text 18"/>
          <p:cNvSpPr/>
          <p:nvPr/>
        </p:nvSpPr>
        <p:spPr>
          <a:xfrm>
            <a:off x="5200650" y="4080867"/>
            <a:ext cx="2400300" cy="691158"/>
          </a:xfrm>
          <a:prstGeom prst="roundRect">
            <a:avLst>
              <a:gd name="adj" fmla="val 16537"/>
            </a:avLst>
          </a:prstGeom>
          <a:solidFill>
            <a:srgbClr val="FFFFFF"/>
          </a:solidFill>
          <a:ln/>
          <a:effectLst>
            <a:outerShdw sx="100000" sy="100000" kx="0" ky="0" algn="bl" rotWithShape="0" blurRad="304800" dist="114300" dir="5400000">
              <a:srgbClr val="1A1A1A">
                <a:alpha val="14000"/>
              </a:srgbClr>
            </a:outerShdw>
          </a:effectLst>
        </p:spPr>
        <p:txBody>
          <a:bodyPr wrap="square" rtlCol="0" anchor="ctr"/>
          <a:lstStyle/>
          <a:p>
            <a:pPr indent="0" marL="0">
              <a:buNone/>
            </a:pPr>
            <a:endParaRPr lang="en-US" dirty="0"/>
          </a:p>
        </p:txBody>
      </p:sp>
      <p:sp>
        <p:nvSpPr>
          <p:cNvPr id="22" name="Text 19"/>
          <p:cNvSpPr/>
          <p:nvPr/>
        </p:nvSpPr>
        <p:spPr>
          <a:xfrm>
            <a:off x="5343525" y="4209455"/>
            <a:ext cx="271463" cy="271463"/>
          </a:xfrm>
          <a:prstGeom prst="roundRect">
            <a:avLst>
              <a:gd name="adj" fmla="val 3505257"/>
            </a:avLst>
          </a:prstGeom>
          <a:solidFill>
            <a:srgbClr val="F5E6CC"/>
          </a:solidFill>
          <a:ln/>
        </p:spPr>
        <p:txBody>
          <a:bodyPr wrap="square" rtlCol="0" anchor="ctr"/>
          <a:lstStyle/>
          <a:p>
            <a:pPr indent="0" marL="0">
              <a:buNone/>
            </a:pPr>
            <a:endParaRPr lang="en-US" dirty="0"/>
          </a:p>
        </p:txBody>
      </p:sp>
      <p:sp>
        <p:nvSpPr>
          <p:cNvPr id="23" name="Text 20"/>
          <p:cNvSpPr/>
          <p:nvPr/>
        </p:nvSpPr>
        <p:spPr>
          <a:xfrm>
            <a:off x="5375672" y="4241602"/>
            <a:ext cx="207169" cy="207169"/>
          </a:xfrm>
          <a:prstGeom prst="rect">
            <a:avLst/>
          </a:prstGeom>
          <a:noFill/>
          <a:ln/>
        </p:spPr>
        <p:txBody>
          <a:bodyPr wrap="none" lIns="0" tIns="0" rIns="0" bIns="0" rtlCol="0" anchor="ctr"/>
          <a:lstStyle/>
          <a:p>
            <a:pPr algn="ctr" indent="0" marL="0">
              <a:buNone/>
            </a:pPr>
            <a:r>
              <a:rPr lang="en-US" sz="1406" dirty="0">
                <a:solidFill>
                  <a:srgbClr val="8A6A25"/>
                </a:solidFill>
                <a:latin typeface="Segoe UI Symbol" pitchFamily="34" charset="0"/>
                <a:ea typeface="Segoe UI Symbol" pitchFamily="34" charset="-122"/>
                <a:cs typeface="Segoe UI Symbol" pitchFamily="34" charset="-120"/>
              </a:rPr>
              <a:t>⚿</a:t>
            </a:r>
            <a:endParaRPr lang="en-US" sz="1406" dirty="0"/>
          </a:p>
        </p:txBody>
      </p:sp>
      <p:sp>
        <p:nvSpPr>
          <p:cNvPr id="24" name="Text 21"/>
          <p:cNvSpPr/>
          <p:nvPr/>
        </p:nvSpPr>
        <p:spPr>
          <a:xfrm>
            <a:off x="5700713" y="4209455"/>
            <a:ext cx="1757363" cy="433983"/>
          </a:xfrm>
          <a:prstGeom prst="rect">
            <a:avLst/>
          </a:prstGeom>
          <a:noFill/>
          <a:ln/>
        </p:spPr>
        <p:txBody>
          <a:bodyPr wrap="square" lIns="0" tIns="0" rIns="0" bIns="0" rtlCol="0" anchor="t"/>
          <a:lstStyle/>
          <a:p>
            <a:pPr algn="l" indent="0" marL="0">
              <a:lnSpc>
                <a:spcPts val="1139"/>
              </a:lnSpc>
              <a:buNone/>
            </a:pPr>
            <a:r>
              <a:rPr lang="en-US" sz="800" dirty="0">
                <a:solidFill>
                  <a:srgbClr val="1A1A1A"/>
                </a:solidFill>
                <a:latin typeface="Carlito" pitchFamily="34" charset="0"/>
                <a:ea typeface="Carlito" pitchFamily="34" charset="-122"/>
                <a:cs typeface="Carlito" pitchFamily="34" charset="-120"/>
              </a:rPr>
              <a:t>Эксклюзив регионов закрепляется за первыми партнёрами — темп набора сети уже идёт</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33983"/>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 name="Text 1"/>
          <p:cNvSpPr/>
          <p:nvPr/>
        </p:nvSpPr>
        <p:spPr>
          <a:xfrm>
            <a:off x="728663" y="385763"/>
            <a:ext cx="79581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F64A8A"/>
                </a:solidFill>
                <a:latin typeface="Carlito" pitchFamily="34" charset="0"/>
                <a:ea typeface="Carlito" pitchFamily="34" charset="-122"/>
                <a:cs typeface="Carlito" pitchFamily="34" charset="-120"/>
              </a:rPr>
              <a:t>КОНКУРЕНТЫ</a:t>
            </a:r>
            <a:endParaRPr lang="en-US" sz="800" dirty="0"/>
          </a:p>
        </p:txBody>
      </p:sp>
      <p:sp>
        <p:nvSpPr>
          <p:cNvPr id="4" name="Text 2"/>
          <p:cNvSpPr/>
          <p:nvPr/>
        </p:nvSpPr>
        <p:spPr>
          <a:xfrm>
            <a:off x="457200" y="596503"/>
            <a:ext cx="863600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LOVII занимает пустую нишу</a:t>
            </a:r>
            <a:endParaRPr lang="en-US" sz="2138" dirty="0"/>
          </a:p>
        </p:txBody>
      </p:sp>
      <p:sp>
        <p:nvSpPr>
          <p:cNvPr id="5" name="Text 3"/>
          <p:cNvSpPr/>
          <p:nvPr/>
        </p:nvSpPr>
        <p:spPr>
          <a:xfrm>
            <a:off x="2514600" y="1193341"/>
            <a:ext cx="2474427" cy="164592"/>
          </a:xfrm>
          <a:prstGeom prst="rect">
            <a:avLst/>
          </a:prstGeom>
          <a:noFill/>
          <a:ln/>
        </p:spPr>
        <p:txBody>
          <a:bodyPr wrap="none" lIns="0" tIns="0" rIns="0" bIns="0" rtlCol="0" anchor="t"/>
          <a:lstStyle/>
          <a:p>
            <a:pPr algn="l" indent="0" marL="0">
              <a:lnSpc>
                <a:spcPts val="970"/>
              </a:lnSpc>
              <a:buNone/>
            </a:pPr>
            <a:r>
              <a:rPr lang="en-US" sz="800" b="1" spc="65" kern="0" dirty="0">
                <a:solidFill>
                  <a:srgbClr val="1A1A1A">
                    <a:alpha val="62000"/>
                  </a:srgbClr>
                </a:solidFill>
                <a:latin typeface="Carlito" pitchFamily="34" charset="0"/>
                <a:ea typeface="Carlito" pitchFamily="34" charset="-122"/>
                <a:cs typeface="Carlito" pitchFamily="34" charset="-120"/>
              </a:rPr>
              <a:t>КОМИССИЯ ДЛЯ МСП</a:t>
            </a:r>
            <a:endParaRPr lang="en-US" sz="800" dirty="0"/>
          </a:p>
        </p:txBody>
      </p:sp>
      <p:sp>
        <p:nvSpPr>
          <p:cNvPr id="6" name="Text 4"/>
          <p:cNvSpPr/>
          <p:nvPr/>
        </p:nvSpPr>
        <p:spPr>
          <a:xfrm>
            <a:off x="4489624" y="1193341"/>
            <a:ext cx="2474427" cy="164592"/>
          </a:xfrm>
          <a:prstGeom prst="rect">
            <a:avLst/>
          </a:prstGeom>
          <a:noFill/>
          <a:ln/>
        </p:spPr>
        <p:txBody>
          <a:bodyPr wrap="none" lIns="0" tIns="0" rIns="0" bIns="0" rtlCol="0" anchor="t"/>
          <a:lstStyle/>
          <a:p>
            <a:pPr algn="l" indent="0" marL="0">
              <a:lnSpc>
                <a:spcPts val="970"/>
              </a:lnSpc>
              <a:buNone/>
            </a:pPr>
            <a:r>
              <a:rPr lang="en-US" sz="800" b="1" spc="65" kern="0" dirty="0">
                <a:solidFill>
                  <a:srgbClr val="1A1A1A">
                    <a:alpha val="62000"/>
                  </a:srgbClr>
                </a:solidFill>
                <a:latin typeface="Carlito" pitchFamily="34" charset="0"/>
                <a:ea typeface="Carlito" pitchFamily="34" charset="-122"/>
                <a:cs typeface="Carlito" pitchFamily="34" charset="-120"/>
              </a:rPr>
              <a:t>ЛОКАЛЬНОСТЬ ОБОРОТА</a:t>
            </a:r>
            <a:endParaRPr lang="en-US" sz="800" dirty="0"/>
          </a:p>
        </p:txBody>
      </p:sp>
      <p:sp>
        <p:nvSpPr>
          <p:cNvPr id="7" name="Text 5"/>
          <p:cNvSpPr/>
          <p:nvPr/>
        </p:nvSpPr>
        <p:spPr>
          <a:xfrm>
            <a:off x="6464647" y="1193341"/>
            <a:ext cx="2622803" cy="164592"/>
          </a:xfrm>
          <a:prstGeom prst="rect">
            <a:avLst/>
          </a:prstGeom>
          <a:noFill/>
          <a:ln/>
        </p:spPr>
        <p:txBody>
          <a:bodyPr wrap="none" lIns="0" tIns="0" rIns="0" bIns="0" rtlCol="0" anchor="t"/>
          <a:lstStyle/>
          <a:p>
            <a:pPr algn="l" indent="0" marL="0">
              <a:lnSpc>
                <a:spcPts val="970"/>
              </a:lnSpc>
              <a:buNone/>
            </a:pPr>
            <a:r>
              <a:rPr lang="en-US" sz="800" b="1" spc="65" kern="0" dirty="0">
                <a:solidFill>
                  <a:srgbClr val="1A1A1A">
                    <a:alpha val="62000"/>
                  </a:srgbClr>
                </a:solidFill>
                <a:latin typeface="Carlito" pitchFamily="34" charset="0"/>
                <a:ea typeface="Carlito" pitchFamily="34" charset="-122"/>
                <a:cs typeface="Carlito" pitchFamily="34" charset="-120"/>
              </a:rPr>
              <a:t>ПРОСТОТА ВХОДА</a:t>
            </a:r>
            <a:endParaRPr lang="en-US" sz="800" dirty="0"/>
          </a:p>
        </p:txBody>
      </p:sp>
      <p:sp>
        <p:nvSpPr>
          <p:cNvPr id="8" name="Shape 6"/>
          <p:cNvSpPr/>
          <p:nvPr/>
        </p:nvSpPr>
        <p:spPr>
          <a:xfrm>
            <a:off x="457200" y="1405868"/>
            <a:ext cx="8229600" cy="0"/>
          </a:xfrm>
          <a:prstGeom prst="line">
            <a:avLst/>
          </a:prstGeom>
          <a:noFill/>
          <a:ln w="7144">
            <a:solidFill>
              <a:srgbClr val="1A1A1A"/>
            </a:solidFill>
            <a:prstDash val="solid"/>
          </a:ln>
        </p:spPr>
      </p:sp>
      <p:sp>
        <p:nvSpPr>
          <p:cNvPr id="9" name="Text 7"/>
          <p:cNvSpPr/>
          <p:nvPr/>
        </p:nvSpPr>
        <p:spPr>
          <a:xfrm>
            <a:off x="585788" y="1530883"/>
            <a:ext cx="2025253" cy="176808"/>
          </a:xfrm>
          <a:prstGeom prst="rect">
            <a:avLst/>
          </a:prstGeom>
          <a:noFill/>
          <a:ln/>
        </p:spPr>
        <p:txBody>
          <a:bodyPr wrap="none" lIns="0" tIns="0" rIns="0" bIns="0" rtlCol="0" anchor="t"/>
          <a:lstStyle/>
          <a:p>
            <a:pPr algn="l" indent="0" marL="0">
              <a:lnSpc>
                <a:spcPts val="1392"/>
              </a:lnSpc>
              <a:buNone/>
            </a:pPr>
            <a:r>
              <a:rPr lang="en-US" sz="928" b="1" dirty="0">
                <a:solidFill>
                  <a:srgbClr val="1A1A1A"/>
                </a:solidFill>
                <a:latin typeface="Carlito" pitchFamily="34" charset="0"/>
                <a:ea typeface="Carlito" pitchFamily="34" charset="-122"/>
                <a:cs typeface="Carlito" pitchFamily="34" charset="-120"/>
              </a:rPr>
              <a:t>Федеральные агрегаторы</a:t>
            </a:r>
            <a:endParaRPr lang="en-US" sz="928" dirty="0"/>
          </a:p>
        </p:txBody>
      </p:sp>
      <p:sp>
        <p:nvSpPr>
          <p:cNvPr id="10" name="Text 8"/>
          <p:cNvSpPr/>
          <p:nvPr/>
        </p:nvSpPr>
        <p:spPr>
          <a:xfrm>
            <a:off x="2514600" y="1541599"/>
            <a:ext cx="2824284"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Liberation Sans Narrow" pitchFamily="34" charset="0"/>
                <a:ea typeface="Liberation Sans Narrow" pitchFamily="34" charset="-122"/>
                <a:cs typeface="Liberation Sans Narrow" pitchFamily="34" charset="-120"/>
              </a:rPr>
              <a:t>20–45%</a:t>
            </a:r>
            <a:endParaRPr lang="en-US" sz="844" dirty="0"/>
          </a:p>
        </p:txBody>
      </p:sp>
      <p:sp>
        <p:nvSpPr>
          <p:cNvPr id="11" name="Text 9"/>
          <p:cNvSpPr/>
          <p:nvPr/>
        </p:nvSpPr>
        <p:spPr>
          <a:xfrm>
            <a:off x="4668217" y="1555886"/>
            <a:ext cx="280749" cy="131159"/>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нет</a:t>
            </a:r>
            <a:endParaRPr lang="en-US" sz="844" dirty="0"/>
          </a:p>
        </p:txBody>
      </p:sp>
      <p:sp>
        <p:nvSpPr>
          <p:cNvPr id="12" name="Text 10"/>
          <p:cNvSpPr/>
          <p:nvPr/>
        </p:nvSpPr>
        <p:spPr>
          <a:xfrm>
            <a:off x="4489624" y="1558565"/>
            <a:ext cx="121444" cy="121444"/>
          </a:xfrm>
          <a:prstGeom prst="rect">
            <a:avLst/>
          </a:prstGeom>
          <a:noFill/>
          <a:ln/>
        </p:spPr>
        <p:txBody>
          <a:bodyPr wrap="none" lIns="0" tIns="0" rIns="0" bIns="0" rtlCol="0" anchor="ctr"/>
          <a:lstStyle/>
          <a:p>
            <a:pPr algn="ctr" indent="0" marL="0">
              <a:buNone/>
            </a:pPr>
            <a:r>
              <a:rPr lang="en-US" sz="1195" dirty="0">
                <a:solidFill>
                  <a:srgbClr val="1A1A1A"/>
                </a:solidFill>
                <a:latin typeface="Segoe UI Symbol" pitchFamily="34" charset="0"/>
                <a:ea typeface="Segoe UI Symbol" pitchFamily="34" charset="-122"/>
                <a:cs typeface="Segoe UI Symbol" pitchFamily="34" charset="-120"/>
              </a:rPr>
              <a:t>✕</a:t>
            </a:r>
            <a:endParaRPr lang="en-US" sz="1195" dirty="0"/>
          </a:p>
        </p:txBody>
      </p:sp>
      <p:sp>
        <p:nvSpPr>
          <p:cNvPr id="13" name="Text 11"/>
          <p:cNvSpPr/>
          <p:nvPr/>
        </p:nvSpPr>
        <p:spPr>
          <a:xfrm>
            <a:off x="6464647" y="1541599"/>
            <a:ext cx="2093565"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средняя</a:t>
            </a:r>
            <a:endParaRPr lang="en-US" sz="844" dirty="0"/>
          </a:p>
        </p:txBody>
      </p:sp>
      <p:sp>
        <p:nvSpPr>
          <p:cNvPr id="14" name="Shape 12"/>
          <p:cNvSpPr/>
          <p:nvPr/>
        </p:nvSpPr>
        <p:spPr>
          <a:xfrm>
            <a:off x="457200" y="1832707"/>
            <a:ext cx="8229600" cy="0"/>
          </a:xfrm>
          <a:prstGeom prst="line">
            <a:avLst/>
          </a:prstGeom>
          <a:noFill/>
          <a:ln w="7144">
            <a:solidFill>
              <a:srgbClr val="1A1A1A"/>
            </a:solidFill>
            <a:prstDash val="solid"/>
          </a:ln>
        </p:spPr>
      </p:sp>
      <p:sp>
        <p:nvSpPr>
          <p:cNvPr id="15" name="Text 13"/>
          <p:cNvSpPr/>
          <p:nvPr/>
        </p:nvSpPr>
        <p:spPr>
          <a:xfrm>
            <a:off x="585788" y="1957722"/>
            <a:ext cx="2025253" cy="176808"/>
          </a:xfrm>
          <a:prstGeom prst="rect">
            <a:avLst/>
          </a:prstGeom>
          <a:noFill/>
          <a:ln/>
        </p:spPr>
        <p:txBody>
          <a:bodyPr wrap="none" lIns="0" tIns="0" rIns="0" bIns="0" rtlCol="0" anchor="t"/>
          <a:lstStyle/>
          <a:p>
            <a:pPr algn="l" indent="0" marL="0">
              <a:lnSpc>
                <a:spcPts val="1392"/>
              </a:lnSpc>
              <a:buNone/>
            </a:pPr>
            <a:r>
              <a:rPr lang="en-US" sz="928" b="1" dirty="0">
                <a:solidFill>
                  <a:srgbClr val="1A1A1A"/>
                </a:solidFill>
                <a:latin typeface="Carlito" pitchFamily="34" charset="0"/>
                <a:ea typeface="Carlito" pitchFamily="34" charset="-122"/>
                <a:cs typeface="Carlito" pitchFamily="34" charset="-120"/>
              </a:rPr>
              <a:t>Кэшбэк банковских карт</a:t>
            </a:r>
            <a:endParaRPr lang="en-US" sz="928" dirty="0"/>
          </a:p>
        </p:txBody>
      </p:sp>
      <p:sp>
        <p:nvSpPr>
          <p:cNvPr id="16" name="Text 14"/>
          <p:cNvSpPr/>
          <p:nvPr/>
        </p:nvSpPr>
        <p:spPr>
          <a:xfrm>
            <a:off x="2514600" y="1968438"/>
            <a:ext cx="2468780"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скрытые издержки</a:t>
            </a:r>
            <a:endParaRPr lang="en-US" sz="844" dirty="0"/>
          </a:p>
        </p:txBody>
      </p:sp>
      <p:sp>
        <p:nvSpPr>
          <p:cNvPr id="17" name="Text 15"/>
          <p:cNvSpPr/>
          <p:nvPr/>
        </p:nvSpPr>
        <p:spPr>
          <a:xfrm>
            <a:off x="4489624" y="1968438"/>
            <a:ext cx="2468780"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оборот у банка</a:t>
            </a:r>
            <a:endParaRPr lang="en-US" sz="844" dirty="0"/>
          </a:p>
        </p:txBody>
      </p:sp>
      <p:sp>
        <p:nvSpPr>
          <p:cNvPr id="18" name="Text 16"/>
          <p:cNvSpPr/>
          <p:nvPr/>
        </p:nvSpPr>
        <p:spPr>
          <a:xfrm>
            <a:off x="6464647" y="1968438"/>
            <a:ext cx="2093565"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нужна банковская карта</a:t>
            </a:r>
            <a:endParaRPr lang="en-US" sz="844" dirty="0"/>
          </a:p>
        </p:txBody>
      </p:sp>
      <p:sp>
        <p:nvSpPr>
          <p:cNvPr id="19" name="Shape 17"/>
          <p:cNvSpPr/>
          <p:nvPr/>
        </p:nvSpPr>
        <p:spPr>
          <a:xfrm>
            <a:off x="457200" y="2259546"/>
            <a:ext cx="8229600" cy="0"/>
          </a:xfrm>
          <a:prstGeom prst="line">
            <a:avLst/>
          </a:prstGeom>
          <a:noFill/>
          <a:ln w="7144">
            <a:solidFill>
              <a:srgbClr val="1A1A1A"/>
            </a:solidFill>
            <a:prstDash val="solid"/>
          </a:ln>
        </p:spPr>
      </p:sp>
      <p:sp>
        <p:nvSpPr>
          <p:cNvPr id="20" name="Text 18"/>
          <p:cNvSpPr/>
          <p:nvPr/>
        </p:nvSpPr>
        <p:spPr>
          <a:xfrm>
            <a:off x="585788" y="2384561"/>
            <a:ext cx="2025253" cy="176808"/>
          </a:xfrm>
          <a:prstGeom prst="rect">
            <a:avLst/>
          </a:prstGeom>
          <a:noFill/>
          <a:ln/>
        </p:spPr>
        <p:txBody>
          <a:bodyPr wrap="none" lIns="0" tIns="0" rIns="0" bIns="0" rtlCol="0" anchor="t"/>
          <a:lstStyle/>
          <a:p>
            <a:pPr algn="l" indent="0" marL="0">
              <a:lnSpc>
                <a:spcPts val="1392"/>
              </a:lnSpc>
              <a:buNone/>
            </a:pPr>
            <a:r>
              <a:rPr lang="en-US" sz="928" b="1" dirty="0">
                <a:solidFill>
                  <a:srgbClr val="1A1A1A"/>
                </a:solidFill>
                <a:latin typeface="Carlito" pitchFamily="34" charset="0"/>
                <a:ea typeface="Carlito" pitchFamily="34" charset="-122"/>
                <a:cs typeface="Carlito" pitchFamily="34" charset="-120"/>
              </a:rPr>
              <a:t>CRM-лояльность</a:t>
            </a:r>
            <a:endParaRPr lang="en-US" sz="928" dirty="0"/>
          </a:p>
        </p:txBody>
      </p:sp>
      <p:sp>
        <p:nvSpPr>
          <p:cNvPr id="21" name="Text 19"/>
          <p:cNvSpPr/>
          <p:nvPr/>
        </p:nvSpPr>
        <p:spPr>
          <a:xfrm>
            <a:off x="2514600" y="2395277"/>
            <a:ext cx="2468780"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подписка + внедрение</a:t>
            </a:r>
            <a:endParaRPr lang="en-US" sz="844" dirty="0"/>
          </a:p>
        </p:txBody>
      </p:sp>
      <p:sp>
        <p:nvSpPr>
          <p:cNvPr id="22" name="Text 20"/>
          <p:cNvSpPr/>
          <p:nvPr/>
        </p:nvSpPr>
        <p:spPr>
          <a:xfrm>
            <a:off x="4668217" y="2409565"/>
            <a:ext cx="204311" cy="131159"/>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да</a:t>
            </a:r>
            <a:endParaRPr lang="en-US" sz="844" dirty="0"/>
          </a:p>
        </p:txBody>
      </p:sp>
      <p:sp>
        <p:nvSpPr>
          <p:cNvPr id="23" name="Text 21"/>
          <p:cNvSpPr/>
          <p:nvPr/>
        </p:nvSpPr>
        <p:spPr>
          <a:xfrm>
            <a:off x="4489624" y="2412243"/>
            <a:ext cx="121444" cy="121444"/>
          </a:xfrm>
          <a:prstGeom prst="rect">
            <a:avLst/>
          </a:prstGeom>
          <a:noFill/>
          <a:ln/>
        </p:spPr>
        <p:txBody>
          <a:bodyPr wrap="none" lIns="0" tIns="0" rIns="0" bIns="0" rtlCol="0" anchor="ctr"/>
          <a:lstStyle/>
          <a:p>
            <a:pPr algn="ctr" indent="0" marL="0">
              <a:buNone/>
            </a:pPr>
            <a:r>
              <a:rPr lang="en-US" sz="1195" dirty="0">
                <a:solidFill>
                  <a:srgbClr val="07807C"/>
                </a:solidFill>
                <a:latin typeface="Segoe UI Symbol" pitchFamily="34" charset="0"/>
                <a:ea typeface="Segoe UI Symbol" pitchFamily="34" charset="-122"/>
                <a:cs typeface="Segoe UI Symbol" pitchFamily="34" charset="-120"/>
              </a:rPr>
              <a:t>✓</a:t>
            </a:r>
            <a:endParaRPr lang="en-US" sz="1195" dirty="0"/>
          </a:p>
        </p:txBody>
      </p:sp>
      <p:sp>
        <p:nvSpPr>
          <p:cNvPr id="24" name="Text 22"/>
          <p:cNvSpPr/>
          <p:nvPr/>
        </p:nvSpPr>
        <p:spPr>
          <a:xfrm>
            <a:off x="6464647" y="2395277"/>
            <a:ext cx="2093565" cy="166092"/>
          </a:xfrm>
          <a:prstGeom prst="rect">
            <a:avLst/>
          </a:prstGeom>
          <a:noFill/>
          <a:ln/>
        </p:spPr>
        <p:txBody>
          <a:bodyPr wrap="none" lIns="0" tIns="0" rIns="0" bIns="0" rtlCol="0" anchor="t"/>
          <a:lstStyle/>
          <a:p>
            <a:pPr algn="l" indent="0" marL="0">
              <a:lnSpc>
                <a:spcPts val="1223"/>
              </a:lnSpc>
              <a:buNone/>
            </a:pPr>
            <a:r>
              <a:rPr lang="en-US" sz="844" dirty="0">
                <a:solidFill>
                  <a:srgbClr val="1A1A1A">
                    <a:alpha val="78000"/>
                  </a:srgbClr>
                </a:solidFill>
                <a:latin typeface="Carlito" pitchFamily="34" charset="0"/>
                <a:ea typeface="Carlito" pitchFamily="34" charset="-122"/>
                <a:cs typeface="Carlito" pitchFamily="34" charset="-120"/>
              </a:rPr>
              <a:t>недели и подрядчик</a:t>
            </a:r>
            <a:endParaRPr lang="en-US" sz="844" dirty="0"/>
          </a:p>
        </p:txBody>
      </p:sp>
      <p:sp>
        <p:nvSpPr>
          <p:cNvPr id="25" name="Text 23"/>
          <p:cNvSpPr/>
          <p:nvPr/>
        </p:nvSpPr>
        <p:spPr>
          <a:xfrm>
            <a:off x="460772" y="2772110"/>
            <a:ext cx="8222456" cy="496491"/>
          </a:xfrm>
          <a:prstGeom prst="roundRect">
            <a:avLst>
              <a:gd name="adj" fmla="val 23022"/>
            </a:avLst>
          </a:prstGeom>
          <a:solidFill>
            <a:srgbClr val="F64A8A">
              <a:alpha val="6000"/>
            </a:srgbClr>
          </a:solidFill>
          <a:ln w="7144">
            <a:solidFill>
              <a:srgbClr val="F64A8A"/>
            </a:solidFill>
            <a:prstDash val="solid"/>
          </a:ln>
        </p:spPr>
        <p:txBody>
          <a:bodyPr wrap="square" rtlCol="0" anchor="ctr"/>
          <a:lstStyle/>
          <a:p>
            <a:pPr indent="0" marL="0">
              <a:buNone/>
            </a:pPr>
            <a:endParaRPr lang="en-US" dirty="0"/>
          </a:p>
        </p:txBody>
      </p:sp>
      <p:sp>
        <p:nvSpPr>
          <p:cNvPr id="26" name="Text 24"/>
          <p:cNvSpPr/>
          <p:nvPr/>
        </p:nvSpPr>
        <p:spPr>
          <a:xfrm>
            <a:off x="592931" y="2918557"/>
            <a:ext cx="556320" cy="219885"/>
          </a:xfrm>
          <a:prstGeom prst="rect">
            <a:avLst/>
          </a:prstGeom>
          <a:noFill/>
          <a:ln/>
        </p:spPr>
        <p:txBody>
          <a:bodyPr wrap="none" lIns="0" tIns="0" rIns="0" bIns="0" rtlCol="0" anchor="t"/>
          <a:lstStyle/>
          <a:p>
            <a:pPr algn="l" indent="0" marL="0">
              <a:lnSpc>
                <a:spcPts val="1603"/>
              </a:lnSpc>
              <a:buNone/>
            </a:pPr>
            <a:r>
              <a:rPr lang="en-US" sz="1069" b="1" spc="-11" kern="0" dirty="0">
                <a:solidFill>
                  <a:srgbClr val="1A1A1A"/>
                </a:solidFill>
                <a:latin typeface="Carlito" pitchFamily="34" charset="0"/>
                <a:ea typeface="Carlito" pitchFamily="34" charset="-122"/>
                <a:cs typeface="Carlito" pitchFamily="34" charset="-120"/>
              </a:rPr>
              <a:t>LOVII</a:t>
            </a:r>
            <a:endParaRPr lang="en-US" sz="1069" dirty="0"/>
          </a:p>
        </p:txBody>
      </p:sp>
      <p:sp>
        <p:nvSpPr>
          <p:cNvPr id="27" name="Text 25"/>
          <p:cNvSpPr/>
          <p:nvPr/>
        </p:nvSpPr>
        <p:spPr>
          <a:xfrm>
            <a:off x="1026356" y="2930344"/>
            <a:ext cx="297917" cy="180023"/>
          </a:xfrm>
          <a:prstGeom prst="roundRect">
            <a:avLst>
              <a:gd name="adj" fmla="val 5285700"/>
            </a:avLst>
          </a:prstGeom>
          <a:solidFill>
            <a:srgbClr val="F64A8A">
              <a:alpha val="12000"/>
            </a:srgbClr>
          </a:solidFill>
          <a:ln/>
        </p:spPr>
        <p:txBody>
          <a:bodyPr wrap="square" rtlCol="0" anchor="ctr"/>
          <a:lstStyle/>
          <a:p>
            <a:pPr indent="0" marL="0">
              <a:buNone/>
            </a:pPr>
            <a:endParaRPr lang="en-US" dirty="0"/>
          </a:p>
        </p:txBody>
      </p:sp>
      <p:sp>
        <p:nvSpPr>
          <p:cNvPr id="28" name="Text 26"/>
          <p:cNvSpPr/>
          <p:nvPr/>
        </p:nvSpPr>
        <p:spPr>
          <a:xfrm>
            <a:off x="1026356" y="2939988"/>
            <a:ext cx="297917" cy="160734"/>
          </a:xfrm>
          <a:prstGeom prst="rect">
            <a:avLst/>
          </a:prstGeom>
          <a:noFill/>
          <a:ln/>
        </p:spPr>
        <p:txBody>
          <a:bodyPr wrap="none" lIns="0" tIns="0" rIns="0" bIns="0" rtlCol="0" anchor="ctr"/>
          <a:lstStyle/>
          <a:p>
            <a:pPr algn="ctr" indent="0" marL="0">
              <a:lnSpc>
                <a:spcPts val="928"/>
              </a:lnSpc>
              <a:buNone/>
            </a:pPr>
            <a:r>
              <a:rPr lang="en-US" sz="800" b="1" spc="50" kern="0" dirty="0">
                <a:solidFill>
                  <a:srgbClr val="C92A6A"/>
                </a:solidFill>
                <a:latin typeface="Carlito" pitchFamily="34" charset="0"/>
                <a:ea typeface="Carlito" pitchFamily="34" charset="-122"/>
                <a:cs typeface="Carlito" pitchFamily="34" charset="-120"/>
              </a:rPr>
              <a:t>МЫ</a:t>
            </a:r>
            <a:endParaRPr lang="en-US" sz="800" dirty="0"/>
          </a:p>
        </p:txBody>
      </p:sp>
      <p:sp>
        <p:nvSpPr>
          <p:cNvPr id="29" name="Text 27"/>
          <p:cNvSpPr/>
          <p:nvPr/>
        </p:nvSpPr>
        <p:spPr>
          <a:xfrm>
            <a:off x="2707481" y="2943337"/>
            <a:ext cx="561499" cy="162020"/>
          </a:xfrm>
          <a:prstGeom prst="rect">
            <a:avLst/>
          </a:prstGeom>
          <a:noFill/>
          <a:ln/>
        </p:spPr>
        <p:txBody>
          <a:bodyPr wrap="none" lIns="0" tIns="0" rIns="0" bIns="0" rtlCol="0" anchor="t"/>
          <a:lstStyle/>
          <a:p>
            <a:pPr algn="l" indent="0" marL="0">
              <a:lnSpc>
                <a:spcPts val="1550"/>
              </a:lnSpc>
              <a:buNone/>
            </a:pPr>
            <a:r>
              <a:rPr lang="en-US" sz="1069" b="1" dirty="0">
                <a:solidFill>
                  <a:srgbClr val="C92A6A"/>
                </a:solidFill>
                <a:latin typeface="Liberation Sans Narrow" pitchFamily="34" charset="0"/>
                <a:ea typeface="Liberation Sans Narrow" pitchFamily="34" charset="-122"/>
                <a:cs typeface="Liberation Sans Narrow" pitchFamily="34" charset="-120"/>
              </a:rPr>
              <a:t>~10%</a:t>
            </a:r>
            <a:endParaRPr lang="en-US" sz="1069" dirty="0"/>
          </a:p>
        </p:txBody>
      </p:sp>
      <p:sp>
        <p:nvSpPr>
          <p:cNvPr id="30" name="Text 28"/>
          <p:cNvSpPr/>
          <p:nvPr/>
        </p:nvSpPr>
        <p:spPr>
          <a:xfrm>
            <a:off x="2521744" y="2955950"/>
            <a:ext cx="128588" cy="128588"/>
          </a:xfrm>
          <a:prstGeom prst="rect">
            <a:avLst/>
          </a:prstGeom>
          <a:noFill/>
          <a:ln/>
        </p:spPr>
        <p:txBody>
          <a:bodyPr wrap="none" lIns="0" tIns="0" rIns="0" bIns="0" rtlCol="0" anchor="ctr"/>
          <a:lstStyle/>
          <a:p>
            <a:pPr algn="ctr" indent="0" marL="0">
              <a:buNone/>
            </a:pPr>
            <a:r>
              <a:rPr lang="en-US" sz="1266" dirty="0">
                <a:solidFill>
                  <a:srgbClr val="C92A6A"/>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4677817" y="2956954"/>
            <a:ext cx="1727755" cy="131159"/>
          </a:xfrm>
          <a:prstGeom prst="rect">
            <a:avLst/>
          </a:prstGeom>
          <a:noFill/>
          <a:ln/>
        </p:spPr>
        <p:txBody>
          <a:bodyPr wrap="none" lIns="0" tIns="0" rIns="0" bIns="0" rtlCol="0" anchor="t"/>
          <a:lstStyle/>
          <a:p>
            <a:pPr algn="l" indent="0" marL="0">
              <a:lnSpc>
                <a:spcPts val="1223"/>
              </a:lnSpc>
              <a:buNone/>
            </a:pPr>
            <a:r>
              <a:rPr lang="en-US" sz="844" b="1" dirty="0">
                <a:solidFill>
                  <a:srgbClr val="1A1A1A"/>
                </a:solidFill>
                <a:latin typeface="Carlito" pitchFamily="34" charset="0"/>
                <a:ea typeface="Carlito" pitchFamily="34" charset="-122"/>
                <a:cs typeface="Carlito" pitchFamily="34" charset="-120"/>
              </a:rPr>
              <a:t>оборот остаётся в районе</a:t>
            </a:r>
            <a:endParaRPr lang="en-US" sz="844" dirty="0"/>
          </a:p>
        </p:txBody>
      </p:sp>
      <p:sp>
        <p:nvSpPr>
          <p:cNvPr id="32" name="Text 30"/>
          <p:cNvSpPr/>
          <p:nvPr/>
        </p:nvSpPr>
        <p:spPr>
          <a:xfrm>
            <a:off x="4492079" y="2956061"/>
            <a:ext cx="128588" cy="128588"/>
          </a:xfrm>
          <a:prstGeom prst="rect">
            <a:avLst/>
          </a:prstGeom>
          <a:noFill/>
          <a:ln/>
        </p:spPr>
        <p:txBody>
          <a:bodyPr wrap="none" lIns="0" tIns="0" rIns="0" bIns="0" rtlCol="0" anchor="ctr"/>
          <a:lstStyle/>
          <a:p>
            <a:pPr algn="ctr" indent="0" marL="0">
              <a:buNone/>
            </a:pPr>
            <a:r>
              <a:rPr lang="en-US" sz="1266" dirty="0">
                <a:solidFill>
                  <a:srgbClr val="C92A6A"/>
                </a:solidFill>
                <a:latin typeface="Segoe UI Symbol" pitchFamily="34" charset="0"/>
                <a:ea typeface="Segoe UI Symbol" pitchFamily="34" charset="-122"/>
                <a:cs typeface="Segoe UI Symbol" pitchFamily="34" charset="-120"/>
              </a:rPr>
              <a:t>✓</a:t>
            </a:r>
            <a:endParaRPr lang="en-US" sz="1266" dirty="0"/>
          </a:p>
        </p:txBody>
      </p:sp>
      <p:sp>
        <p:nvSpPr>
          <p:cNvPr id="33" name="Text 31"/>
          <p:cNvSpPr/>
          <p:nvPr/>
        </p:nvSpPr>
        <p:spPr>
          <a:xfrm>
            <a:off x="6648152" y="2956954"/>
            <a:ext cx="930501" cy="131159"/>
          </a:xfrm>
          <a:prstGeom prst="rect">
            <a:avLst/>
          </a:prstGeom>
          <a:noFill/>
          <a:ln/>
        </p:spPr>
        <p:txBody>
          <a:bodyPr wrap="none" lIns="0" tIns="0" rIns="0" bIns="0" rtlCol="0" anchor="t"/>
          <a:lstStyle/>
          <a:p>
            <a:pPr algn="l" indent="0" marL="0">
              <a:lnSpc>
                <a:spcPts val="1223"/>
              </a:lnSpc>
              <a:buNone/>
            </a:pPr>
            <a:r>
              <a:rPr lang="en-US" sz="844" b="1" dirty="0">
                <a:solidFill>
                  <a:srgbClr val="1A1A1A"/>
                </a:solidFill>
                <a:latin typeface="Carlito" pitchFamily="34" charset="0"/>
                <a:ea typeface="Carlito" pitchFamily="34" charset="-122"/>
                <a:cs typeface="Carlito" pitchFamily="34" charset="-120"/>
              </a:rPr>
              <a:t>QR за 5 минут</a:t>
            </a:r>
            <a:endParaRPr lang="en-US" sz="844" dirty="0"/>
          </a:p>
        </p:txBody>
      </p:sp>
      <p:sp>
        <p:nvSpPr>
          <p:cNvPr id="34" name="Text 32"/>
          <p:cNvSpPr/>
          <p:nvPr/>
        </p:nvSpPr>
        <p:spPr>
          <a:xfrm>
            <a:off x="6462415" y="2956061"/>
            <a:ext cx="128588" cy="128588"/>
          </a:xfrm>
          <a:prstGeom prst="rect">
            <a:avLst/>
          </a:prstGeom>
          <a:noFill/>
          <a:ln/>
        </p:spPr>
        <p:txBody>
          <a:bodyPr wrap="none" lIns="0" tIns="0" rIns="0" bIns="0" rtlCol="0" anchor="ctr"/>
          <a:lstStyle/>
          <a:p>
            <a:pPr algn="ctr" indent="0" marL="0">
              <a:buNone/>
            </a:pPr>
            <a:r>
              <a:rPr lang="en-US" sz="1266" dirty="0">
                <a:solidFill>
                  <a:srgbClr val="C92A6A"/>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457200" y="4686300"/>
            <a:ext cx="185738" cy="21431"/>
          </a:xfrm>
          <a:prstGeom prst="roundRect">
            <a:avLst>
              <a:gd name="adj" fmla="val 88890"/>
            </a:avLst>
          </a:prstGeom>
          <a:solidFill>
            <a:srgbClr val="F64A8A"/>
          </a:solidFill>
          <a:ln/>
        </p:spPr>
        <p:txBody>
          <a:bodyPr wrap="square" rtlCol="0" anchor="ctr"/>
          <a:lstStyle/>
          <a:p>
            <a:pPr indent="0" marL="0">
              <a:buNone/>
            </a:pPr>
            <a:endParaRPr lang="en-US" dirty="0"/>
          </a:p>
        </p:txBody>
      </p:sp>
      <p:sp>
        <p:nvSpPr>
          <p:cNvPr id="36" name="Text 34"/>
          <p:cNvSpPr/>
          <p:nvPr/>
        </p:nvSpPr>
        <p:spPr>
          <a:xfrm>
            <a:off x="728663" y="4614863"/>
            <a:ext cx="7958138" cy="185166"/>
          </a:xfrm>
          <a:prstGeom prst="rect">
            <a:avLst/>
          </a:prstGeom>
          <a:noFill/>
          <a:ln/>
        </p:spPr>
        <p:txBody>
          <a:bodyPr wrap="square" lIns="0" tIns="0" rIns="0" bIns="0" rtlCol="0" anchor="t"/>
          <a:lstStyle/>
          <a:p>
            <a:pPr algn="l" indent="0" marL="0">
              <a:lnSpc>
                <a:spcPts val="1350"/>
              </a:lnSpc>
              <a:buNone/>
            </a:pPr>
            <a:r>
              <a:rPr lang="en-US" sz="900" dirty="0">
                <a:solidFill>
                  <a:srgbClr val="1A1A1A"/>
                </a:solidFill>
                <a:latin typeface="Carlito" pitchFamily="34" charset="0"/>
                <a:ea typeface="Carlito" pitchFamily="34" charset="-122"/>
                <a:cs typeface="Carlito" pitchFamily="34" charset="-120"/>
              </a:rPr>
              <a:t>Мы конкурируем не с одним игроком, а с </a:t>
            </a:r>
            <a:pPr algn="l" indent="0" marL="0">
              <a:lnSpc>
                <a:spcPts val="1350"/>
              </a:lnSpc>
              <a:buNone/>
            </a:pPr>
            <a:r>
              <a:rPr lang="en-US" sz="900" b="1" dirty="0">
                <a:solidFill>
                  <a:srgbClr val="C92A6A"/>
                </a:solidFill>
                <a:latin typeface="Carlito" pitchFamily="34" charset="0"/>
                <a:ea typeface="Carlito" pitchFamily="34" charset="-122"/>
                <a:cs typeface="Carlito" pitchFamily="34" charset="-120"/>
              </a:rPr>
              <a:t>отсутствием достойного локального решения</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69494" y="1393031"/>
            <a:ext cx="4274506" cy="2546033"/>
          </a:xfrm>
          <a:prstGeom prst="rect">
            <a:avLst/>
          </a:prstGeom>
          <a:noFill/>
          <a:ln/>
        </p:spPr>
        <p:txBody>
          <a:bodyPr wrap="square" lIns="0" tIns="0" rIns="0" bIns="0" rtlCol="0" anchor="t"/>
          <a:lstStyle/>
          <a:p>
            <a:pPr algn="l" indent="0" marL="0">
              <a:lnSpc>
                <a:spcPts val="18563"/>
              </a:lnSpc>
              <a:buNone/>
            </a:pPr>
            <a:r>
              <a:rPr lang="en-US" sz="18563" b="1" spc="-928" kern="0" dirty="0">
                <a:solidFill>
                  <a:srgbClr val="D4A854">
                    <a:alpha val="12000"/>
                  </a:srgbClr>
                </a:solidFill>
                <a:latin typeface="Liberation Sans Narrow" pitchFamily="34" charset="0"/>
                <a:ea typeface="Liberation Sans Narrow" pitchFamily="34" charset="-122"/>
                <a:cs typeface="Liberation Sans Narrow" pitchFamily="34" charset="-120"/>
              </a:rPr>
              <a:t>03</a:t>
            </a:r>
            <a:endParaRPr lang="en-US" sz="18563" dirty="0"/>
          </a:p>
        </p:txBody>
      </p:sp>
      <p:sp>
        <p:nvSpPr>
          <p:cNvPr id="3" name="Text 1"/>
          <p:cNvSpPr/>
          <p:nvPr/>
        </p:nvSpPr>
        <p:spPr>
          <a:xfrm>
            <a:off x="-1000125" y="3429000"/>
            <a:ext cx="3071813" cy="3071813"/>
          </a:xfrm>
          <a:prstGeom prst="ellipse">
            <a:avLst/>
          </a:prstGeom>
          <a:solidFill>
            <a:srgbClr val="D4A854">
              <a:alpha val="7000"/>
            </a:srgbClr>
          </a:solidFill>
          <a:ln/>
        </p:spPr>
        <p:txBody>
          <a:bodyPr wrap="square" rtlCol="0" anchor="ctr"/>
          <a:lstStyle/>
          <a:p>
            <a:pPr indent="0" marL="0">
              <a:buNone/>
            </a:pPr>
            <a:endParaRPr lang="en-US" dirty="0"/>
          </a:p>
        </p:txBody>
      </p:sp>
      <p:sp>
        <p:nvSpPr>
          <p:cNvPr id="4" name="Text 2"/>
          <p:cNvSpPr/>
          <p:nvPr/>
        </p:nvSpPr>
        <p:spPr>
          <a:xfrm>
            <a:off x="577215" y="1320281"/>
            <a:ext cx="911007" cy="212027"/>
          </a:xfrm>
          <a:prstGeom prst="roundRect">
            <a:avLst>
              <a:gd name="adj" fmla="val 4487860"/>
            </a:avLst>
          </a:prstGeom>
          <a:solidFill>
            <a:srgbClr val="D4A854">
              <a:alpha val="14000"/>
            </a:srgbClr>
          </a:solidFill>
          <a:ln/>
        </p:spPr>
        <p:txBody>
          <a:bodyPr wrap="square" rtlCol="0" anchor="ctr"/>
          <a:lstStyle/>
          <a:p>
            <a:pPr indent="0" marL="0">
              <a:buNone/>
            </a:pPr>
            <a:endParaRPr lang="en-US" dirty="0"/>
          </a:p>
        </p:txBody>
      </p:sp>
      <p:sp>
        <p:nvSpPr>
          <p:cNvPr id="5" name="Text 3"/>
          <p:cNvSpPr/>
          <p:nvPr/>
        </p:nvSpPr>
        <p:spPr>
          <a:xfrm>
            <a:off x="600075" y="1331640"/>
            <a:ext cx="865287"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РАЗДЕЛ 03 / 03</a:t>
            </a:r>
            <a:endParaRPr lang="en-US" sz="800" dirty="0"/>
          </a:p>
        </p:txBody>
      </p:sp>
      <p:sp>
        <p:nvSpPr>
          <p:cNvPr id="6" name="Text 4"/>
          <p:cNvSpPr/>
          <p:nvPr/>
        </p:nvSpPr>
        <p:spPr>
          <a:xfrm>
            <a:off x="600075" y="1720974"/>
            <a:ext cx="8341042" cy="437358"/>
          </a:xfrm>
          <a:prstGeom prst="rect">
            <a:avLst/>
          </a:prstGeom>
          <a:noFill/>
          <a:ln/>
        </p:spPr>
        <p:txBody>
          <a:bodyPr wrap="none" lIns="0" tIns="0" rIns="0" bIns="0" rtlCol="0" anchor="t"/>
          <a:lstStyle/>
          <a:p>
            <a:pPr algn="l" indent="0" marL="0">
              <a:lnSpc>
                <a:spcPts val="3189"/>
              </a:lnSpc>
              <a:buNone/>
            </a:pPr>
            <a:r>
              <a:rPr lang="en-US" sz="3038" b="1" spc="-76" kern="0" dirty="0">
                <a:solidFill>
                  <a:srgbClr val="1A1A1A"/>
                </a:solidFill>
                <a:latin typeface="Carlito" pitchFamily="34" charset="0"/>
                <a:ea typeface="Carlito" pitchFamily="34" charset="-122"/>
                <a:cs typeface="Carlito" pitchFamily="34" charset="-120"/>
              </a:rPr>
              <a:t>Риски, право, план</a:t>
            </a:r>
            <a:endParaRPr lang="en-US" sz="3038" dirty="0"/>
          </a:p>
        </p:txBody>
      </p:sp>
      <p:sp>
        <p:nvSpPr>
          <p:cNvPr id="7" name="Text 5"/>
          <p:cNvSpPr/>
          <p:nvPr/>
        </p:nvSpPr>
        <p:spPr>
          <a:xfrm>
            <a:off x="600075" y="2311673"/>
            <a:ext cx="457200" cy="28575"/>
          </a:xfrm>
          <a:prstGeom prst="roundRect">
            <a:avLst>
              <a:gd name="adj" fmla="val 66667"/>
            </a:avLst>
          </a:prstGeom>
          <a:solidFill>
            <a:srgbClr val="D4A854"/>
          </a:solidFill>
          <a:ln/>
        </p:spPr>
        <p:txBody>
          <a:bodyPr wrap="square" rtlCol="0" anchor="ctr"/>
          <a:lstStyle/>
          <a:p>
            <a:pPr indent="0" marL="0">
              <a:buNone/>
            </a:pPr>
            <a:endParaRPr lang="en-US" dirty="0"/>
          </a:p>
        </p:txBody>
      </p:sp>
      <p:sp>
        <p:nvSpPr>
          <p:cNvPr id="8" name="Text 6"/>
          <p:cNvSpPr/>
          <p:nvPr/>
        </p:nvSpPr>
        <p:spPr>
          <a:xfrm>
            <a:off x="600075" y="2497410"/>
            <a:ext cx="8543925" cy="219885"/>
          </a:xfrm>
          <a:prstGeom prst="rect">
            <a:avLst/>
          </a:prstGeom>
          <a:noFill/>
          <a:ln/>
        </p:spPr>
        <p:txBody>
          <a:bodyPr wrap="square" lIns="0" tIns="0" rIns="0" bIns="0" rtlCol="0" anchor="t"/>
          <a:lstStyle/>
          <a:p>
            <a:pPr algn="l" indent="0" marL="0">
              <a:lnSpc>
                <a:spcPts val="1603"/>
              </a:lnSpc>
              <a:buNone/>
            </a:pPr>
            <a:r>
              <a:rPr lang="en-US" sz="1069" dirty="0">
                <a:solidFill>
                  <a:srgbClr val="1A1A1A">
                    <a:alpha val="62000"/>
                  </a:srgbClr>
                </a:solidFill>
                <a:latin typeface="Carlito" pitchFamily="34" charset="0"/>
                <a:ea typeface="Carlito" pitchFamily="34" charset="-122"/>
                <a:cs typeface="Carlito" pitchFamily="34" charset="-120"/>
              </a:rPr>
              <a:t>Что может помешать и как это уже учтено</a:t>
            </a:r>
            <a:endParaRPr lang="en-US" sz="1069" dirty="0"/>
          </a:p>
        </p:txBody>
      </p:sp>
      <p:sp>
        <p:nvSpPr>
          <p:cNvPr id="9" name="Shape 7"/>
          <p:cNvSpPr/>
          <p:nvPr/>
        </p:nvSpPr>
        <p:spPr>
          <a:xfrm>
            <a:off x="600075" y="3176067"/>
            <a:ext cx="5929313" cy="0"/>
          </a:xfrm>
          <a:prstGeom prst="line">
            <a:avLst/>
          </a:prstGeom>
          <a:noFill/>
          <a:ln w="7144">
            <a:solidFill>
              <a:srgbClr val="1A1A1A"/>
            </a:solidFill>
            <a:prstDash val="solid"/>
          </a:ln>
        </p:spPr>
      </p:sp>
      <p:sp>
        <p:nvSpPr>
          <p:cNvPr id="10" name="Text 8"/>
          <p:cNvSpPr/>
          <p:nvPr/>
        </p:nvSpPr>
        <p:spPr>
          <a:xfrm>
            <a:off x="600075" y="3365376"/>
            <a:ext cx="2796421" cy="140446"/>
          </a:xfrm>
          <a:prstGeom prst="rect">
            <a:avLst/>
          </a:prstGeom>
          <a:noFill/>
          <a:ln/>
        </p:spPr>
        <p:txBody>
          <a:bodyPr wrap="none" lIns="0" tIns="0" rIns="0" bIns="0" rtlCol="0" anchor="t">
            <a:normAutofit/>
          </a:bodyPr>
          <a:lstStyle/>
          <a:p>
            <a:pPr algn="l" indent="0" marL="0">
              <a:lnSpc>
                <a:spcPts val="928"/>
              </a:lnSpc>
              <a:buNone/>
            </a:pPr>
            <a:r>
              <a:rPr lang="en-US" sz="800" b="1" spc="74" kern="0" dirty="0">
                <a:solidFill>
                  <a:srgbClr val="8A6A25"/>
                </a:solidFill>
                <a:latin typeface="Carlito" pitchFamily="34" charset="0"/>
                <a:ea typeface="Carlito" pitchFamily="34" charset="-122"/>
                <a:cs typeface="Carlito" pitchFamily="34" charset="-120"/>
              </a:rPr>
              <a:t>ПРАВО</a:t>
            </a:r>
            <a:endParaRPr lang="en-US" sz="800" dirty="0"/>
          </a:p>
        </p:txBody>
      </p:sp>
      <p:sp>
        <p:nvSpPr>
          <p:cNvPr id="11" name="Text 9"/>
          <p:cNvSpPr/>
          <p:nvPr/>
        </p:nvSpPr>
        <p:spPr>
          <a:xfrm>
            <a:off x="600075" y="3533254"/>
            <a:ext cx="1747763" cy="278606"/>
          </a:xfrm>
          <a:prstGeom prst="rect">
            <a:avLst/>
          </a:prstGeom>
          <a:noFill/>
          <a:ln/>
        </p:spPr>
        <p:txBody>
          <a:bodyPr wrap="square" lIns="0" tIns="0" rIns="0" bIns="0" rtlCol="0" anchor="t"/>
          <a:lstStyle/>
          <a:p>
            <a:pPr algn="l" indent="0" marL="0">
              <a:lnSpc>
                <a:spcPts val="1097"/>
              </a:lnSpc>
              <a:buNone/>
            </a:pPr>
            <a:r>
              <a:rPr lang="en-US" sz="800" dirty="0">
                <a:solidFill>
                  <a:srgbClr val="1A1A1A">
                    <a:alpha val="65000"/>
                  </a:srgbClr>
                </a:solidFill>
                <a:latin typeface="Carlito" pitchFamily="34" charset="0"/>
                <a:ea typeface="Carlito" pitchFamily="34" charset="-122"/>
                <a:cs typeface="Carlito" pitchFamily="34" charset="-120"/>
              </a:rPr>
              <a:t>Правовой каркас: оператор, номинальные счета, оферта</a:t>
            </a:r>
            <a:endParaRPr lang="en-US" sz="800" dirty="0"/>
          </a:p>
        </p:txBody>
      </p:sp>
      <p:sp>
        <p:nvSpPr>
          <p:cNvPr id="12" name="Text 10"/>
          <p:cNvSpPr/>
          <p:nvPr/>
        </p:nvSpPr>
        <p:spPr>
          <a:xfrm>
            <a:off x="2690738" y="3365376"/>
            <a:ext cx="2796600" cy="140446"/>
          </a:xfrm>
          <a:prstGeom prst="rect">
            <a:avLst/>
          </a:prstGeom>
          <a:noFill/>
          <a:ln/>
        </p:spPr>
        <p:txBody>
          <a:bodyPr wrap="none" lIns="0" tIns="0" rIns="0" bIns="0" rtlCol="0" anchor="t">
            <a:normAutofit/>
          </a:bodyPr>
          <a:lstStyle/>
          <a:p>
            <a:pPr algn="l" indent="0" marL="0">
              <a:lnSpc>
                <a:spcPts val="928"/>
              </a:lnSpc>
              <a:buNone/>
            </a:pPr>
            <a:r>
              <a:rPr lang="en-US" sz="800" b="1" spc="74" kern="0" dirty="0">
                <a:solidFill>
                  <a:srgbClr val="8A6A25"/>
                </a:solidFill>
                <a:latin typeface="Carlito" pitchFamily="34" charset="0"/>
                <a:ea typeface="Carlito" pitchFamily="34" charset="-122"/>
                <a:cs typeface="Carlito" pitchFamily="34" charset="-120"/>
              </a:rPr>
              <a:t>РИСКИ</a:t>
            </a:r>
            <a:endParaRPr lang="en-US" sz="800" dirty="0"/>
          </a:p>
        </p:txBody>
      </p:sp>
      <p:sp>
        <p:nvSpPr>
          <p:cNvPr id="13" name="Text 11"/>
          <p:cNvSpPr/>
          <p:nvPr/>
        </p:nvSpPr>
        <p:spPr>
          <a:xfrm>
            <a:off x="2690738" y="3533254"/>
            <a:ext cx="1747875" cy="278606"/>
          </a:xfrm>
          <a:prstGeom prst="rect">
            <a:avLst/>
          </a:prstGeom>
          <a:noFill/>
          <a:ln/>
        </p:spPr>
        <p:txBody>
          <a:bodyPr wrap="square" lIns="0" tIns="0" rIns="0" bIns="0" rtlCol="0" anchor="t"/>
          <a:lstStyle/>
          <a:p>
            <a:pPr algn="l" indent="0" marL="0">
              <a:lnSpc>
                <a:spcPts val="1097"/>
              </a:lnSpc>
              <a:buNone/>
            </a:pPr>
            <a:r>
              <a:rPr lang="en-US" sz="800" dirty="0">
                <a:solidFill>
                  <a:srgbClr val="1A1A1A">
                    <a:alpha val="65000"/>
                  </a:srgbClr>
                </a:solidFill>
                <a:latin typeface="Carlito" pitchFamily="34" charset="0"/>
                <a:ea typeface="Carlito" pitchFamily="34" charset="-122"/>
                <a:cs typeface="Carlito" pitchFamily="34" charset="-120"/>
              </a:rPr>
              <a:t>Четыре ключевых риска — и митигация по каждому</a:t>
            </a:r>
            <a:endParaRPr lang="en-US" sz="800" dirty="0"/>
          </a:p>
        </p:txBody>
      </p:sp>
      <p:sp>
        <p:nvSpPr>
          <p:cNvPr id="14" name="Text 12"/>
          <p:cNvSpPr/>
          <p:nvPr/>
        </p:nvSpPr>
        <p:spPr>
          <a:xfrm>
            <a:off x="4781513" y="3365376"/>
            <a:ext cx="1747875" cy="140446"/>
          </a:xfrm>
          <a:prstGeom prst="rect">
            <a:avLst/>
          </a:prstGeom>
          <a:noFill/>
          <a:ln/>
        </p:spPr>
        <p:txBody>
          <a:bodyPr wrap="none" lIns="0" tIns="0" rIns="0" bIns="0" rtlCol="0" anchor="t">
            <a:normAutofit/>
          </a:bodyPr>
          <a:lstStyle/>
          <a:p>
            <a:pPr algn="l" indent="0" marL="0">
              <a:lnSpc>
                <a:spcPts val="928"/>
              </a:lnSpc>
              <a:buNone/>
            </a:pPr>
            <a:r>
              <a:rPr lang="en-US" sz="800" b="1" spc="74" kern="0" dirty="0">
                <a:solidFill>
                  <a:srgbClr val="8A6A25"/>
                </a:solidFill>
                <a:latin typeface="Carlito" pitchFamily="34" charset="0"/>
                <a:ea typeface="Carlito" pitchFamily="34" charset="-122"/>
                <a:cs typeface="Carlito" pitchFamily="34" charset="-120"/>
              </a:rPr>
              <a:t>ПЛАН</a:t>
            </a:r>
            <a:endParaRPr lang="en-US" sz="800" dirty="0"/>
          </a:p>
        </p:txBody>
      </p:sp>
      <p:sp>
        <p:nvSpPr>
          <p:cNvPr id="15" name="Text 13"/>
          <p:cNvSpPr/>
          <p:nvPr/>
        </p:nvSpPr>
        <p:spPr>
          <a:xfrm>
            <a:off x="4781513" y="3533254"/>
            <a:ext cx="1747875" cy="278606"/>
          </a:xfrm>
          <a:prstGeom prst="rect">
            <a:avLst/>
          </a:prstGeom>
          <a:noFill/>
          <a:ln/>
        </p:spPr>
        <p:txBody>
          <a:bodyPr wrap="square" lIns="0" tIns="0" rIns="0" bIns="0" rtlCol="0" anchor="t"/>
          <a:lstStyle/>
          <a:p>
            <a:pPr algn="l" indent="0" marL="0">
              <a:lnSpc>
                <a:spcPts val="1097"/>
              </a:lnSpc>
              <a:buNone/>
            </a:pPr>
            <a:r>
              <a:rPr lang="en-US" sz="800" dirty="0">
                <a:solidFill>
                  <a:srgbClr val="1A1A1A">
                    <a:alpha val="65000"/>
                  </a:srgbClr>
                </a:solidFill>
                <a:latin typeface="Carlito" pitchFamily="34" charset="0"/>
                <a:ea typeface="Carlito" pitchFamily="34" charset="-122"/>
                <a:cs typeface="Carlito" pitchFamily="34" charset="-120"/>
              </a:rPr>
              <a:t>Роадмап 12 месяцев и сценарии масштаба</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44698"/>
            <a:ext cx="185738" cy="28575"/>
          </a:xfrm>
          <a:prstGeom prst="roundRect">
            <a:avLst>
              <a:gd name="adj" fmla="val 66667"/>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00050"/>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ПРАВО</a:t>
            </a:r>
            <a:endParaRPr lang="en-US" sz="800" dirty="0"/>
          </a:p>
        </p:txBody>
      </p:sp>
      <p:sp>
        <p:nvSpPr>
          <p:cNvPr id="4" name="Text 2"/>
          <p:cNvSpPr/>
          <p:nvPr/>
        </p:nvSpPr>
        <p:spPr>
          <a:xfrm>
            <a:off x="514350" y="632222"/>
            <a:ext cx="862965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Построено по банковским правилам, а не вокруг них</a:t>
            </a:r>
            <a:endParaRPr lang="en-US" sz="2138" dirty="0"/>
          </a:p>
        </p:txBody>
      </p:sp>
      <p:sp>
        <p:nvSpPr>
          <p:cNvPr id="5" name="Text 3"/>
          <p:cNvSpPr/>
          <p:nvPr/>
        </p:nvSpPr>
        <p:spPr>
          <a:xfrm>
            <a:off x="514350" y="1866416"/>
            <a:ext cx="314325" cy="314325"/>
          </a:xfrm>
          <a:prstGeom prst="roundRect">
            <a:avLst>
              <a:gd name="adj" fmla="val 36364"/>
            </a:avLst>
          </a:prstGeom>
          <a:solidFill>
            <a:srgbClr val="1A1A1A">
              <a:alpha val="5000"/>
            </a:srgbClr>
          </a:solidFill>
          <a:ln/>
        </p:spPr>
        <p:txBody>
          <a:bodyPr wrap="square" rtlCol="0" anchor="ctr"/>
          <a:lstStyle/>
          <a:p>
            <a:pPr indent="0" marL="0">
              <a:buNone/>
            </a:pPr>
            <a:endParaRPr lang="en-US" dirty="0"/>
          </a:p>
        </p:txBody>
      </p:sp>
      <p:sp>
        <p:nvSpPr>
          <p:cNvPr id="6" name="Text 4"/>
          <p:cNvSpPr/>
          <p:nvPr/>
        </p:nvSpPr>
        <p:spPr>
          <a:xfrm>
            <a:off x="557570" y="1909636"/>
            <a:ext cx="227886" cy="227886"/>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7" name="Text 5"/>
          <p:cNvSpPr/>
          <p:nvPr/>
        </p:nvSpPr>
        <p:spPr>
          <a:xfrm>
            <a:off x="957263" y="1859942"/>
            <a:ext cx="1912739" cy="160203"/>
          </a:xfrm>
          <a:prstGeom prst="rect">
            <a:avLst/>
          </a:prstGeom>
          <a:noFill/>
          <a:ln/>
        </p:spPr>
        <p:txBody>
          <a:bodyPr wrap="none" lIns="0" tIns="0" rIns="0" bIns="0" rtlCol="0" anchor="t">
            <a:normAutofit/>
          </a:bodyPr>
          <a:lstStyle/>
          <a:p>
            <a:pPr algn="l" indent="0" marL="0">
              <a:lnSpc>
                <a:spcPts val="1253"/>
              </a:lnSpc>
              <a:buNone/>
            </a:pPr>
            <a:r>
              <a:rPr lang="en-US" sz="928" b="1" dirty="0">
                <a:solidFill>
                  <a:srgbClr val="1A1A1A"/>
                </a:solidFill>
                <a:latin typeface="Carlito" pitchFamily="34" charset="0"/>
                <a:ea typeface="Carlito" pitchFamily="34" charset="-122"/>
                <a:cs typeface="Carlito" pitchFamily="34" charset="-120"/>
              </a:rPr>
              <a:t>Оператор — ООО «АКСИОМА»,</a:t>
            </a:r>
            <a:endParaRPr lang="en-US" sz="928" dirty="0"/>
          </a:p>
        </p:txBody>
      </p:sp>
      <p:sp>
        <p:nvSpPr>
          <p:cNvPr id="8" name="Text 6"/>
          <p:cNvSpPr/>
          <p:nvPr/>
        </p:nvSpPr>
        <p:spPr>
          <a:xfrm>
            <a:off x="957263" y="2047577"/>
            <a:ext cx="1912739" cy="159004"/>
          </a:xfrm>
          <a:prstGeom prst="rect">
            <a:avLst/>
          </a:prstGeom>
          <a:noFill/>
          <a:ln/>
        </p:spPr>
        <p:txBody>
          <a:bodyPr wrap="none" lIns="0" tIns="0" rIns="0" bIns="0" rtlCol="0" anchor="t"/>
          <a:lstStyle/>
          <a:p>
            <a:pPr algn="l" indent="0" marL="0">
              <a:lnSpc>
                <a:spcPts val="1101"/>
              </a:lnSpc>
              <a:buNone/>
            </a:pPr>
            <a:r>
              <a:rPr lang="en-US" sz="800" dirty="0">
                <a:solidFill>
                  <a:srgbClr val="1A1A1A">
                    <a:alpha val="65000"/>
                  </a:srgbClr>
                </a:solidFill>
                <a:latin typeface="Carlito" pitchFamily="34" charset="0"/>
                <a:ea typeface="Carlito" pitchFamily="34" charset="-122"/>
                <a:cs typeface="Carlito" pitchFamily="34" charset="-120"/>
              </a:rPr>
              <a:t>российское юрлицо</a:t>
            </a:r>
            <a:endParaRPr lang="en-US" sz="800" dirty="0"/>
          </a:p>
        </p:txBody>
      </p:sp>
      <p:sp>
        <p:nvSpPr>
          <p:cNvPr id="9" name="Shape 7"/>
          <p:cNvSpPr/>
          <p:nvPr/>
        </p:nvSpPr>
        <p:spPr>
          <a:xfrm>
            <a:off x="514350" y="2333774"/>
            <a:ext cx="4900613" cy="0"/>
          </a:xfrm>
          <a:prstGeom prst="line">
            <a:avLst/>
          </a:prstGeom>
          <a:noFill/>
          <a:ln w="7144">
            <a:solidFill>
              <a:srgbClr val="1A1A1A"/>
            </a:solidFill>
            <a:prstDash val="solid"/>
          </a:ln>
        </p:spPr>
      </p:sp>
      <p:sp>
        <p:nvSpPr>
          <p:cNvPr id="10" name="Text 8"/>
          <p:cNvSpPr/>
          <p:nvPr/>
        </p:nvSpPr>
        <p:spPr>
          <a:xfrm>
            <a:off x="514350" y="2486695"/>
            <a:ext cx="314325" cy="314325"/>
          </a:xfrm>
          <a:prstGeom prst="roundRect">
            <a:avLst>
              <a:gd name="adj" fmla="val 36364"/>
            </a:avLst>
          </a:prstGeom>
          <a:solidFill>
            <a:srgbClr val="1A1A1A">
              <a:alpha val="5000"/>
            </a:srgbClr>
          </a:solidFill>
          <a:ln/>
        </p:spPr>
        <p:txBody>
          <a:bodyPr wrap="square" rtlCol="0" anchor="ctr"/>
          <a:lstStyle/>
          <a:p>
            <a:pPr indent="0" marL="0">
              <a:buNone/>
            </a:pPr>
            <a:endParaRPr lang="en-US" dirty="0"/>
          </a:p>
        </p:txBody>
      </p:sp>
      <p:sp>
        <p:nvSpPr>
          <p:cNvPr id="11" name="Text 9"/>
          <p:cNvSpPr/>
          <p:nvPr/>
        </p:nvSpPr>
        <p:spPr>
          <a:xfrm>
            <a:off x="557570" y="2529914"/>
            <a:ext cx="227886" cy="227886"/>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957263" y="2480221"/>
            <a:ext cx="2431871" cy="160203"/>
          </a:xfrm>
          <a:prstGeom prst="rect">
            <a:avLst/>
          </a:prstGeom>
          <a:noFill/>
          <a:ln/>
        </p:spPr>
        <p:txBody>
          <a:bodyPr wrap="square" lIns="0" tIns="0" rIns="0" bIns="0" rtlCol="0" anchor="t">
            <a:normAutofit/>
          </a:bodyPr>
          <a:lstStyle/>
          <a:p>
            <a:pPr algn="l" indent="0" marL="0">
              <a:lnSpc>
                <a:spcPts val="1253"/>
              </a:lnSpc>
              <a:buNone/>
            </a:pPr>
            <a:r>
              <a:rPr lang="en-US" sz="928" b="1" dirty="0">
                <a:solidFill>
                  <a:srgbClr val="1A1A1A"/>
                </a:solidFill>
                <a:latin typeface="Carlito" pitchFamily="34" charset="0"/>
                <a:ea typeface="Carlito" pitchFamily="34" charset="-122"/>
                <a:cs typeface="Carlito" pitchFamily="34" charset="-120"/>
              </a:rPr>
              <a:t>Номинальные счета по ст. 860.1 ГК РФ</a:t>
            </a:r>
            <a:endParaRPr lang="en-US" sz="928" dirty="0"/>
          </a:p>
        </p:txBody>
      </p:sp>
      <p:sp>
        <p:nvSpPr>
          <p:cNvPr id="13" name="Text 11"/>
          <p:cNvSpPr/>
          <p:nvPr/>
        </p:nvSpPr>
        <p:spPr>
          <a:xfrm>
            <a:off x="957263" y="2667856"/>
            <a:ext cx="2431871" cy="139750"/>
          </a:xfrm>
          <a:prstGeom prst="rect">
            <a:avLst/>
          </a:prstGeom>
          <a:noFill/>
          <a:ln/>
        </p:spPr>
        <p:txBody>
          <a:bodyPr wrap="square" lIns="0" tIns="0" rIns="0" bIns="0" rtlCol="0" anchor="t"/>
          <a:lstStyle/>
          <a:p>
            <a:pPr algn="l" indent="0" marL="0">
              <a:lnSpc>
                <a:spcPts val="1101"/>
              </a:lnSpc>
              <a:buNone/>
            </a:pPr>
            <a:r>
              <a:rPr lang="en-US" sz="800" dirty="0">
                <a:solidFill>
                  <a:srgbClr val="1A1A1A">
                    <a:alpha val="65000"/>
                  </a:srgbClr>
                </a:solidFill>
                <a:latin typeface="Carlito" pitchFamily="34" charset="0"/>
                <a:ea typeface="Carlito" pitchFamily="34" charset="-122"/>
                <a:cs typeface="Carlito" pitchFamily="34" charset="-120"/>
              </a:rPr>
              <a:t>учёт средств по банковским стандартам</a:t>
            </a:r>
            <a:endParaRPr lang="en-US" sz="800" dirty="0"/>
          </a:p>
        </p:txBody>
      </p:sp>
      <p:sp>
        <p:nvSpPr>
          <p:cNvPr id="14" name="Shape 12"/>
          <p:cNvSpPr/>
          <p:nvPr/>
        </p:nvSpPr>
        <p:spPr>
          <a:xfrm>
            <a:off x="514350" y="2954052"/>
            <a:ext cx="4900613" cy="0"/>
          </a:xfrm>
          <a:prstGeom prst="line">
            <a:avLst/>
          </a:prstGeom>
          <a:noFill/>
          <a:ln w="7144">
            <a:solidFill>
              <a:srgbClr val="1A1A1A"/>
            </a:solidFill>
            <a:prstDash val="solid"/>
          </a:ln>
        </p:spPr>
      </p:sp>
      <p:sp>
        <p:nvSpPr>
          <p:cNvPr id="15" name="Text 13"/>
          <p:cNvSpPr/>
          <p:nvPr/>
        </p:nvSpPr>
        <p:spPr>
          <a:xfrm>
            <a:off x="514350" y="3106973"/>
            <a:ext cx="314325" cy="314325"/>
          </a:xfrm>
          <a:prstGeom prst="roundRect">
            <a:avLst>
              <a:gd name="adj" fmla="val 36364"/>
            </a:avLst>
          </a:prstGeom>
          <a:solidFill>
            <a:srgbClr val="1A1A1A">
              <a:alpha val="5000"/>
            </a:srgbClr>
          </a:solidFill>
          <a:ln/>
        </p:spPr>
        <p:txBody>
          <a:bodyPr wrap="square" rtlCol="0" anchor="ctr"/>
          <a:lstStyle/>
          <a:p>
            <a:pPr indent="0" marL="0">
              <a:buNone/>
            </a:pPr>
            <a:endParaRPr lang="en-US" dirty="0"/>
          </a:p>
        </p:txBody>
      </p:sp>
      <p:sp>
        <p:nvSpPr>
          <p:cNvPr id="16" name="Text 14"/>
          <p:cNvSpPr/>
          <p:nvPr/>
        </p:nvSpPr>
        <p:spPr>
          <a:xfrm>
            <a:off x="557570" y="3150193"/>
            <a:ext cx="227886" cy="227886"/>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957263" y="3100499"/>
            <a:ext cx="2441394" cy="160203"/>
          </a:xfrm>
          <a:prstGeom prst="rect">
            <a:avLst/>
          </a:prstGeom>
          <a:noFill/>
          <a:ln/>
        </p:spPr>
        <p:txBody>
          <a:bodyPr wrap="square" lIns="0" tIns="0" rIns="0" bIns="0" rtlCol="0" anchor="t">
            <a:normAutofit/>
          </a:bodyPr>
          <a:lstStyle/>
          <a:p>
            <a:pPr algn="l" indent="0" marL="0">
              <a:lnSpc>
                <a:spcPts val="1253"/>
              </a:lnSpc>
              <a:buNone/>
            </a:pPr>
            <a:r>
              <a:rPr lang="en-US" sz="928" b="1" dirty="0">
                <a:solidFill>
                  <a:srgbClr val="1A1A1A"/>
                </a:solidFill>
                <a:latin typeface="Carlito" pitchFamily="34" charset="0"/>
                <a:ea typeface="Carlito" pitchFamily="34" charset="-122"/>
                <a:cs typeface="Carlito" pitchFamily="34" charset="-120"/>
              </a:rPr>
              <a:t>Договор оферты со всеми сторонами:</a:t>
            </a:r>
            <a:endParaRPr lang="en-US" sz="928" dirty="0"/>
          </a:p>
        </p:txBody>
      </p:sp>
      <p:sp>
        <p:nvSpPr>
          <p:cNvPr id="18" name="Text 16"/>
          <p:cNvSpPr/>
          <p:nvPr/>
        </p:nvSpPr>
        <p:spPr>
          <a:xfrm>
            <a:off x="957263" y="3288134"/>
            <a:ext cx="2441394" cy="139750"/>
          </a:xfrm>
          <a:prstGeom prst="rect">
            <a:avLst/>
          </a:prstGeom>
          <a:noFill/>
          <a:ln/>
        </p:spPr>
        <p:txBody>
          <a:bodyPr wrap="square" lIns="0" tIns="0" rIns="0" bIns="0" rtlCol="0" anchor="t"/>
          <a:lstStyle/>
          <a:p>
            <a:pPr algn="l" indent="0" marL="0">
              <a:lnSpc>
                <a:spcPts val="1101"/>
              </a:lnSpc>
              <a:buNone/>
            </a:pPr>
            <a:r>
              <a:rPr lang="en-US" sz="800" dirty="0">
                <a:solidFill>
                  <a:srgbClr val="1A1A1A">
                    <a:alpha val="65000"/>
                  </a:srgbClr>
                </a:solidFill>
                <a:latin typeface="Carlito" pitchFamily="34" charset="0"/>
                <a:ea typeface="Carlito" pitchFamily="34" charset="-122"/>
                <a:cs typeface="Carlito" pitchFamily="34" charset="-120"/>
              </a:rPr>
              <a:t>точки, представители, амбассадоры</a:t>
            </a:r>
            <a:endParaRPr lang="en-US" sz="800" dirty="0"/>
          </a:p>
        </p:txBody>
      </p:sp>
      <p:sp>
        <p:nvSpPr>
          <p:cNvPr id="19" name="Shape 17"/>
          <p:cNvSpPr/>
          <p:nvPr/>
        </p:nvSpPr>
        <p:spPr>
          <a:xfrm>
            <a:off x="514350" y="3574331"/>
            <a:ext cx="4900613" cy="0"/>
          </a:xfrm>
          <a:prstGeom prst="line">
            <a:avLst/>
          </a:prstGeom>
          <a:noFill/>
          <a:ln w="7144">
            <a:solidFill>
              <a:srgbClr val="1A1A1A"/>
            </a:solidFill>
            <a:prstDash val="solid"/>
          </a:ln>
        </p:spPr>
      </p:sp>
      <p:sp>
        <p:nvSpPr>
          <p:cNvPr id="20" name="Text 18"/>
          <p:cNvSpPr/>
          <p:nvPr/>
        </p:nvSpPr>
        <p:spPr>
          <a:xfrm>
            <a:off x="514350" y="3727252"/>
            <a:ext cx="314325" cy="314325"/>
          </a:xfrm>
          <a:prstGeom prst="roundRect">
            <a:avLst>
              <a:gd name="adj" fmla="val 36364"/>
            </a:avLst>
          </a:prstGeom>
          <a:solidFill>
            <a:srgbClr val="1A1A1A">
              <a:alpha val="5000"/>
            </a:srgbClr>
          </a:solidFill>
          <a:ln/>
        </p:spPr>
        <p:txBody>
          <a:bodyPr wrap="square" rtlCol="0" anchor="ctr"/>
          <a:lstStyle/>
          <a:p>
            <a:pPr indent="0" marL="0">
              <a:buNone/>
            </a:pPr>
            <a:endParaRPr lang="en-US" dirty="0"/>
          </a:p>
        </p:txBody>
      </p:sp>
      <p:sp>
        <p:nvSpPr>
          <p:cNvPr id="21" name="Text 19"/>
          <p:cNvSpPr/>
          <p:nvPr/>
        </p:nvSpPr>
        <p:spPr>
          <a:xfrm>
            <a:off x="557570" y="3770471"/>
            <a:ext cx="227886" cy="227886"/>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957263" y="3720778"/>
            <a:ext cx="1615163" cy="160203"/>
          </a:xfrm>
          <a:prstGeom prst="rect">
            <a:avLst/>
          </a:prstGeom>
          <a:noFill/>
          <a:ln/>
        </p:spPr>
        <p:txBody>
          <a:bodyPr wrap="none" lIns="0" tIns="0" rIns="0" bIns="0" rtlCol="0" anchor="t">
            <a:normAutofit/>
          </a:bodyPr>
          <a:lstStyle/>
          <a:p>
            <a:pPr algn="l" indent="0" marL="0">
              <a:lnSpc>
                <a:spcPts val="1253"/>
              </a:lnSpc>
              <a:buNone/>
            </a:pPr>
            <a:r>
              <a:rPr lang="en-US" sz="928" b="1" dirty="0">
                <a:solidFill>
                  <a:srgbClr val="1A1A1A"/>
                </a:solidFill>
                <a:latin typeface="Carlito" pitchFamily="34" charset="0"/>
                <a:ea typeface="Carlito" pitchFamily="34" charset="-122"/>
                <a:cs typeface="Carlito" pitchFamily="34" charset="-120"/>
              </a:rPr>
              <a:t>Вывод средств от 3 000 ₽,</a:t>
            </a:r>
            <a:endParaRPr lang="en-US" sz="928" dirty="0"/>
          </a:p>
        </p:txBody>
      </p:sp>
      <p:sp>
        <p:nvSpPr>
          <p:cNvPr id="23" name="Text 21"/>
          <p:cNvSpPr/>
          <p:nvPr/>
        </p:nvSpPr>
        <p:spPr>
          <a:xfrm>
            <a:off x="957263" y="3908413"/>
            <a:ext cx="1661310" cy="139750"/>
          </a:xfrm>
          <a:prstGeom prst="rect">
            <a:avLst/>
          </a:prstGeom>
          <a:noFill/>
          <a:ln/>
        </p:spPr>
        <p:txBody>
          <a:bodyPr wrap="square" lIns="0" tIns="0" rIns="0" bIns="0" rtlCol="0" anchor="t"/>
          <a:lstStyle/>
          <a:p>
            <a:pPr algn="l" indent="0" marL="0">
              <a:lnSpc>
                <a:spcPts val="1101"/>
              </a:lnSpc>
              <a:buNone/>
            </a:pPr>
            <a:r>
              <a:rPr lang="en-US" sz="800" dirty="0">
                <a:solidFill>
                  <a:srgbClr val="1A1A1A">
                    <a:alpha val="65000"/>
                  </a:srgbClr>
                </a:solidFill>
                <a:latin typeface="Carlito" pitchFamily="34" charset="0"/>
                <a:ea typeface="Carlito" pitchFamily="34" charset="-122"/>
                <a:cs typeface="Carlito" pitchFamily="34" charset="-120"/>
              </a:rPr>
              <a:t>прозрачные правила программы</a:t>
            </a:r>
            <a:endParaRPr lang="en-US" sz="800" dirty="0"/>
          </a:p>
        </p:txBody>
      </p:sp>
      <p:sp>
        <p:nvSpPr>
          <p:cNvPr id="24" name="Text 22"/>
          <p:cNvSpPr/>
          <p:nvPr/>
        </p:nvSpPr>
        <p:spPr>
          <a:xfrm>
            <a:off x="5743575" y="1121904"/>
            <a:ext cx="2886075" cy="3664409"/>
          </a:xfrm>
          <a:prstGeom prst="roundRect">
            <a:avLst>
              <a:gd name="adj" fmla="val 3960"/>
            </a:avLst>
          </a:prstGeom>
          <a:solidFill>
            <a:srgbClr val="1A1A1A"/>
          </a:solidFill>
          <a:ln/>
        </p:spPr>
        <p:txBody>
          <a:bodyPr wrap="square" rtlCol="0" anchor="ctr"/>
          <a:lstStyle/>
          <a:p>
            <a:pPr indent="0" marL="0">
              <a:buNone/>
            </a:pPr>
            <a:endParaRPr lang="en-US" dirty="0"/>
          </a:p>
        </p:txBody>
      </p:sp>
      <p:sp>
        <p:nvSpPr>
          <p:cNvPr id="25" name="Text 23"/>
          <p:cNvSpPr/>
          <p:nvPr/>
        </p:nvSpPr>
        <p:spPr>
          <a:xfrm>
            <a:off x="7558088" y="3714750"/>
            <a:ext cx="1643063" cy="1643063"/>
          </a:xfrm>
          <a:prstGeom prst="ellipse">
            <a:avLst/>
          </a:prstGeom>
          <a:solidFill>
            <a:srgbClr val="F64A8A">
              <a:alpha val="18000"/>
            </a:srgbClr>
          </a:solidFill>
          <a:ln/>
        </p:spPr>
        <p:txBody>
          <a:bodyPr wrap="square" rtlCol="0" anchor="ctr"/>
          <a:lstStyle/>
          <a:p>
            <a:pPr indent="0" marL="0">
              <a:buNone/>
            </a:pPr>
            <a:endParaRPr lang="en-US" dirty="0"/>
          </a:p>
        </p:txBody>
      </p:sp>
      <p:sp>
        <p:nvSpPr>
          <p:cNvPr id="26" name="Text 24"/>
          <p:cNvSpPr/>
          <p:nvPr/>
        </p:nvSpPr>
        <p:spPr>
          <a:xfrm>
            <a:off x="7990284" y="1354075"/>
            <a:ext cx="364331" cy="364331"/>
          </a:xfrm>
          <a:prstGeom prst="ellipse">
            <a:avLst/>
          </a:prstGeom>
          <a:noFill/>
          <a:ln w="7144">
            <a:solidFill>
              <a:srgbClr val="D4A854"/>
            </a:solidFill>
            <a:prstDash val="solid"/>
          </a:ln>
        </p:spPr>
        <p:txBody>
          <a:bodyPr wrap="square" rtlCol="0" anchor="ctr"/>
          <a:lstStyle/>
          <a:p>
            <a:pPr indent="0" marL="0">
              <a:buNone/>
            </a:pPr>
            <a:endParaRPr lang="en-US" dirty="0"/>
          </a:p>
        </p:txBody>
      </p:sp>
      <p:sp>
        <p:nvSpPr>
          <p:cNvPr id="27" name="Text 25"/>
          <p:cNvSpPr/>
          <p:nvPr/>
        </p:nvSpPr>
        <p:spPr>
          <a:xfrm>
            <a:off x="5972175" y="1364791"/>
            <a:ext cx="2428875"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D4A854"/>
                </a:solidFill>
                <a:latin typeface="Carlito" pitchFamily="34" charset="0"/>
                <a:ea typeface="Carlito" pitchFamily="34" charset="-122"/>
                <a:cs typeface="Carlito" pitchFamily="34" charset="-120"/>
              </a:rPr>
              <a:t>ПРИНЦИП</a:t>
            </a:r>
            <a:endParaRPr lang="en-US" sz="800" dirty="0"/>
          </a:p>
        </p:txBody>
      </p:sp>
      <p:sp>
        <p:nvSpPr>
          <p:cNvPr id="28" name="Text 26"/>
          <p:cNvSpPr/>
          <p:nvPr/>
        </p:nvSpPr>
        <p:spPr>
          <a:xfrm>
            <a:off x="5972175" y="1611250"/>
            <a:ext cx="2428875" cy="573942"/>
          </a:xfrm>
          <a:prstGeom prst="rect">
            <a:avLst/>
          </a:prstGeom>
          <a:noFill/>
          <a:ln/>
        </p:spPr>
        <p:txBody>
          <a:bodyPr wrap="square" lIns="0" tIns="0" rIns="0" bIns="0" rtlCol="0" anchor="t"/>
          <a:lstStyle/>
          <a:p>
            <a:pPr algn="l" indent="0" marL="0">
              <a:lnSpc>
                <a:spcPts val="1395"/>
              </a:lnSpc>
              <a:buNone/>
            </a:pPr>
            <a:r>
              <a:rPr lang="en-US" sz="900" dirty="0">
                <a:solidFill>
                  <a:srgbClr val="FFFFFF">
                    <a:alpha val="92000"/>
                  </a:srgbClr>
                </a:solidFill>
                <a:latin typeface="Carlito" pitchFamily="34" charset="0"/>
                <a:ea typeface="Carlito" pitchFamily="34" charset="-122"/>
                <a:cs typeface="Carlito" pitchFamily="34" charset="-120"/>
              </a:rPr>
              <a:t>Баллы — это учтённые обязательства платформы, а не «внутренняя валюта» без статуса.</a:t>
            </a:r>
            <a:endParaRPr lang="en-US" sz="900" dirty="0"/>
          </a:p>
        </p:txBody>
      </p:sp>
      <p:sp>
        <p:nvSpPr>
          <p:cNvPr id="29" name="Shape 27"/>
          <p:cNvSpPr/>
          <p:nvPr/>
        </p:nvSpPr>
        <p:spPr>
          <a:xfrm>
            <a:off x="5972175" y="3759398"/>
            <a:ext cx="2428875" cy="0"/>
          </a:xfrm>
          <a:prstGeom prst="line">
            <a:avLst/>
          </a:prstGeom>
          <a:noFill/>
          <a:ln w="7144">
            <a:solidFill>
              <a:srgbClr val="FFFFFF"/>
            </a:solidFill>
            <a:prstDash val="solid"/>
          </a:ln>
        </p:spPr>
      </p:sp>
      <p:sp>
        <p:nvSpPr>
          <p:cNvPr id="30" name="Text 28"/>
          <p:cNvSpPr/>
          <p:nvPr/>
        </p:nvSpPr>
        <p:spPr>
          <a:xfrm>
            <a:off x="5972175" y="3920133"/>
            <a:ext cx="2428875" cy="451199"/>
          </a:xfrm>
          <a:prstGeom prst="rect">
            <a:avLst/>
          </a:prstGeom>
          <a:noFill/>
          <a:ln/>
        </p:spPr>
        <p:txBody>
          <a:bodyPr wrap="none" lIns="0" tIns="0" rIns="0" bIns="0" rtlCol="0" anchor="t">
            <a:normAutofit/>
          </a:bodyPr>
          <a:lstStyle/>
          <a:p>
            <a:pPr algn="l" indent="0" marL="0">
              <a:lnSpc>
                <a:spcPts val="3375"/>
              </a:lnSpc>
              <a:buNone/>
            </a:pPr>
            <a:r>
              <a:rPr lang="en-US" sz="2250" b="1" spc="-45" kern="0" dirty="0">
                <a:solidFill>
                  <a:srgbClr val="FFFFFF"/>
                </a:solidFill>
                <a:latin typeface="Carlito" pitchFamily="34" charset="0"/>
                <a:ea typeface="Carlito" pitchFamily="34" charset="-122"/>
                <a:cs typeface="Carlito" pitchFamily="34" charset="-120"/>
              </a:rPr>
              <a:t>1 балл = 1 ₽</a:t>
            </a:r>
            <a:endParaRPr lang="en-US" sz="2250" dirty="0"/>
          </a:p>
        </p:txBody>
      </p:sp>
      <p:sp>
        <p:nvSpPr>
          <p:cNvPr id="31" name="Text 29"/>
          <p:cNvSpPr/>
          <p:nvPr/>
        </p:nvSpPr>
        <p:spPr>
          <a:xfrm>
            <a:off x="5972175" y="4398764"/>
            <a:ext cx="2538603" cy="144661"/>
          </a:xfrm>
          <a:prstGeom prst="rect">
            <a:avLst/>
          </a:prstGeom>
          <a:noFill/>
          <a:ln/>
        </p:spPr>
        <p:txBody>
          <a:bodyPr wrap="square" lIns="0" tIns="0" rIns="0" bIns="0" rtlCol="0" anchor="t"/>
          <a:lstStyle/>
          <a:p>
            <a:pPr algn="l" indent="0" marL="0">
              <a:lnSpc>
                <a:spcPts val="1139"/>
              </a:lnSpc>
              <a:buNone/>
            </a:pPr>
            <a:r>
              <a:rPr lang="en-US" sz="800" dirty="0">
                <a:solidFill>
                  <a:srgbClr val="FFFFFF">
                    <a:alpha val="75000"/>
                  </a:srgbClr>
                </a:solidFill>
                <a:latin typeface="Carlito" pitchFamily="34" charset="0"/>
                <a:ea typeface="Carlito" pitchFamily="34" charset="-122"/>
                <a:cs typeface="Carlito" pitchFamily="34" charset="-120"/>
              </a:rPr>
              <a:t>закреплён правилами программы</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44698"/>
            <a:ext cx="185738" cy="28575"/>
          </a:xfrm>
          <a:prstGeom prst="roundRect">
            <a:avLst>
              <a:gd name="adj" fmla="val 66667"/>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00050"/>
            <a:ext cx="1837172"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РИСКИ</a:t>
            </a:r>
            <a:endParaRPr lang="en-US" sz="800" dirty="0"/>
          </a:p>
        </p:txBody>
      </p:sp>
      <p:sp>
        <p:nvSpPr>
          <p:cNvPr id="4" name="Text 2"/>
          <p:cNvSpPr/>
          <p:nvPr/>
        </p:nvSpPr>
        <p:spPr>
          <a:xfrm>
            <a:off x="514350" y="632222"/>
            <a:ext cx="2214066" cy="328260"/>
          </a:xfrm>
          <a:prstGeom prst="rect">
            <a:avLst/>
          </a:prstGeom>
          <a:noFill/>
          <a:ln/>
        </p:spPr>
        <p:txBody>
          <a:bodyPr wrap="non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Честно о рисках</a:t>
            </a:r>
            <a:endParaRPr lang="en-US" sz="2138" dirty="0"/>
          </a:p>
        </p:txBody>
      </p:sp>
      <p:sp>
        <p:nvSpPr>
          <p:cNvPr id="5" name="Text 3"/>
          <p:cNvSpPr/>
          <p:nvPr/>
        </p:nvSpPr>
        <p:spPr>
          <a:xfrm>
            <a:off x="7310311" y="678348"/>
            <a:ext cx="1342199" cy="212027"/>
          </a:xfrm>
          <a:prstGeom prst="roundRect">
            <a:avLst>
              <a:gd name="adj" fmla="val 4487860"/>
            </a:avLst>
          </a:prstGeom>
          <a:solidFill>
            <a:srgbClr val="1A1A1A">
              <a:alpha val="6000"/>
            </a:srgbClr>
          </a:solidFill>
          <a:ln/>
        </p:spPr>
        <p:txBody>
          <a:bodyPr wrap="square" rtlCol="0" anchor="ctr"/>
          <a:lstStyle/>
          <a:p>
            <a:pPr indent="0" marL="0">
              <a:buNone/>
            </a:pPr>
            <a:endParaRPr lang="en-US" dirty="0"/>
          </a:p>
        </p:txBody>
      </p:sp>
      <p:sp>
        <p:nvSpPr>
          <p:cNvPr id="6" name="Text 4"/>
          <p:cNvSpPr/>
          <p:nvPr/>
        </p:nvSpPr>
        <p:spPr>
          <a:xfrm>
            <a:off x="7333171" y="689707"/>
            <a:ext cx="1296479" cy="189309"/>
          </a:xfrm>
          <a:prstGeom prst="rect">
            <a:avLst/>
          </a:prstGeom>
          <a:noFill/>
          <a:ln/>
        </p:spPr>
        <p:txBody>
          <a:bodyPr wrap="none" lIns="0" tIns="0" rIns="0" bIns="0" rtlCol="0" anchor="ctr"/>
          <a:lstStyle/>
          <a:p>
            <a:pPr algn="ctr" indent="0" marL="0">
              <a:lnSpc>
                <a:spcPts val="928"/>
              </a:lnSpc>
              <a:buNone/>
            </a:pPr>
            <a:r>
              <a:rPr lang="en-US" sz="800" b="1" spc="50" kern="0" dirty="0">
                <a:solidFill>
                  <a:srgbClr val="1A1A1A"/>
                </a:solidFill>
                <a:latin typeface="Carlito" pitchFamily="34" charset="0"/>
                <a:ea typeface="Carlito" pitchFamily="34" charset="-122"/>
                <a:cs typeface="Carlito" pitchFamily="34" charset="-120"/>
              </a:rPr>
              <a:t>4 РИСКА · 4 МИТИГАЦИИ</a:t>
            </a:r>
            <a:endParaRPr lang="en-US" sz="800" dirty="0"/>
          </a:p>
        </p:txBody>
      </p:sp>
      <p:sp>
        <p:nvSpPr>
          <p:cNvPr id="7" name="Text 5"/>
          <p:cNvSpPr/>
          <p:nvPr/>
        </p:nvSpPr>
        <p:spPr>
          <a:xfrm>
            <a:off x="514350" y="1505657"/>
            <a:ext cx="502920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alpha val="62000"/>
                  </a:srgbClr>
                </a:solidFill>
                <a:latin typeface="Carlito" pitchFamily="34" charset="0"/>
                <a:ea typeface="Carlito" pitchFamily="34" charset="-122"/>
                <a:cs typeface="Carlito" pitchFamily="34" charset="-120"/>
              </a:rPr>
              <a:t>РИСК</a:t>
            </a:r>
            <a:endParaRPr lang="en-US" sz="800" dirty="0"/>
          </a:p>
        </p:txBody>
      </p:sp>
      <p:sp>
        <p:nvSpPr>
          <p:cNvPr id="8" name="Text 6"/>
          <p:cNvSpPr/>
          <p:nvPr/>
        </p:nvSpPr>
        <p:spPr>
          <a:xfrm>
            <a:off x="4200525" y="1505657"/>
            <a:ext cx="4943475"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alpha val="62000"/>
                  </a:srgbClr>
                </a:solidFill>
                <a:latin typeface="Carlito" pitchFamily="34" charset="0"/>
                <a:ea typeface="Carlito" pitchFamily="34" charset="-122"/>
                <a:cs typeface="Carlito" pitchFamily="34" charset="-120"/>
              </a:rPr>
              <a:t>МИТИГАЦИЯ</a:t>
            </a:r>
            <a:endParaRPr lang="en-US" sz="800" dirty="0"/>
          </a:p>
        </p:txBody>
      </p:sp>
      <p:sp>
        <p:nvSpPr>
          <p:cNvPr id="9" name="Shape 7"/>
          <p:cNvSpPr/>
          <p:nvPr/>
        </p:nvSpPr>
        <p:spPr>
          <a:xfrm>
            <a:off x="514350" y="1712826"/>
            <a:ext cx="8115300" cy="0"/>
          </a:xfrm>
          <a:prstGeom prst="line">
            <a:avLst/>
          </a:prstGeom>
          <a:noFill/>
          <a:ln w="7144">
            <a:solidFill>
              <a:srgbClr val="1A1A1A"/>
            </a:solidFill>
            <a:prstDash val="solid"/>
          </a:ln>
        </p:spPr>
      </p:sp>
      <p:sp>
        <p:nvSpPr>
          <p:cNvPr id="10" name="Text 8"/>
          <p:cNvSpPr/>
          <p:nvPr/>
        </p:nvSpPr>
        <p:spPr>
          <a:xfrm>
            <a:off x="514350" y="1894991"/>
            <a:ext cx="300038" cy="300038"/>
          </a:xfrm>
          <a:prstGeom prst="roundRect">
            <a:avLst>
              <a:gd name="adj" fmla="val 34921"/>
            </a:avLst>
          </a:prstGeom>
          <a:solidFill>
            <a:srgbClr val="D4A854">
              <a:alpha val="14000"/>
            </a:srgbClr>
          </a:solidFill>
          <a:ln/>
        </p:spPr>
        <p:txBody>
          <a:bodyPr wrap="square" rtlCol="0" anchor="ctr"/>
          <a:lstStyle/>
          <a:p>
            <a:pPr indent="0" marL="0">
              <a:buNone/>
            </a:pPr>
            <a:endParaRPr lang="en-US" dirty="0"/>
          </a:p>
        </p:txBody>
      </p:sp>
      <p:sp>
        <p:nvSpPr>
          <p:cNvPr id="11" name="Text 9"/>
          <p:cNvSpPr/>
          <p:nvPr/>
        </p:nvSpPr>
        <p:spPr>
          <a:xfrm>
            <a:off x="555605" y="1936246"/>
            <a:ext cx="217527" cy="217527"/>
          </a:xfrm>
          <a:prstGeom prst="rect">
            <a:avLst/>
          </a:prstGeom>
          <a:noFill/>
          <a:ln/>
        </p:spPr>
        <p:txBody>
          <a:bodyPr wrap="none" lIns="0" tIns="0" rIns="0" bIns="0" rtlCol="0" anchor="ctr"/>
          <a:lstStyle/>
          <a:p>
            <a:pPr algn="ctr" indent="0" marL="0">
              <a:buNone/>
            </a:pPr>
            <a:r>
              <a:rPr lang="en-US" sz="1477" dirty="0">
                <a:solidFill>
                  <a:srgbClr val="8A6A25"/>
                </a:solidFill>
                <a:latin typeface="Segoe UI Symbol" pitchFamily="34" charset="0"/>
                <a:ea typeface="Segoe UI Symbol" pitchFamily="34" charset="-122"/>
                <a:cs typeface="Segoe UI Symbol" pitchFamily="34" charset="-120"/>
              </a:rPr>
              <a:t>⚠</a:t>
            </a:r>
            <a:endParaRPr lang="en-US" sz="1477" dirty="0"/>
          </a:p>
        </p:txBody>
      </p:sp>
      <p:sp>
        <p:nvSpPr>
          <p:cNvPr id="12" name="Text 10"/>
          <p:cNvSpPr/>
          <p:nvPr/>
        </p:nvSpPr>
        <p:spPr>
          <a:xfrm>
            <a:off x="921544" y="1967880"/>
            <a:ext cx="2736056" cy="166601"/>
          </a:xfrm>
          <a:prstGeom prst="rect">
            <a:avLst/>
          </a:prstGeom>
          <a:noFill/>
          <a:ln/>
        </p:spPr>
        <p:txBody>
          <a:bodyPr wrap="none" lIns="0" tIns="0" rIns="0" bIns="0" rtlCol="0" anchor="t"/>
          <a:lstStyle/>
          <a:p>
            <a:pPr algn="l" indent="0" marL="0">
              <a:lnSpc>
                <a:spcPts val="1215"/>
              </a:lnSpc>
              <a:buNone/>
            </a:pPr>
            <a:r>
              <a:rPr lang="en-US" sz="900" b="1" dirty="0">
                <a:solidFill>
                  <a:srgbClr val="1A1A1A"/>
                </a:solidFill>
                <a:latin typeface="Carlito" pitchFamily="34" charset="0"/>
                <a:ea typeface="Carlito" pitchFamily="34" charset="-122"/>
                <a:cs typeface="Carlito" pitchFamily="34" charset="-120"/>
              </a:rPr>
              <a:t>Медленный набор точек в регионе</a:t>
            </a:r>
            <a:endParaRPr lang="en-US" sz="900" dirty="0"/>
          </a:p>
        </p:txBody>
      </p:sp>
      <p:sp>
        <p:nvSpPr>
          <p:cNvPr id="13" name="Text 11"/>
          <p:cNvSpPr/>
          <p:nvPr/>
        </p:nvSpPr>
        <p:spPr>
          <a:xfrm>
            <a:off x="3850481" y="1966429"/>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4200525" y="1894991"/>
            <a:ext cx="300038" cy="300038"/>
          </a:xfrm>
          <a:prstGeom prst="roundRect">
            <a:avLst>
              <a:gd name="adj" fmla="val 34921"/>
            </a:avLst>
          </a:prstGeom>
          <a:solidFill>
            <a:srgbClr val="0ABAB5">
              <a:alpha val="10000"/>
            </a:srgbClr>
          </a:solidFill>
          <a:ln/>
        </p:spPr>
        <p:txBody>
          <a:bodyPr wrap="square" rtlCol="0" anchor="ctr"/>
          <a:lstStyle/>
          <a:p>
            <a:pPr indent="0" marL="0">
              <a:buNone/>
            </a:pPr>
            <a:endParaRPr lang="en-US" dirty="0"/>
          </a:p>
        </p:txBody>
      </p:sp>
      <p:sp>
        <p:nvSpPr>
          <p:cNvPr id="15" name="Text 13"/>
          <p:cNvSpPr/>
          <p:nvPr/>
        </p:nvSpPr>
        <p:spPr>
          <a:xfrm>
            <a:off x="4241780" y="1936246"/>
            <a:ext cx="217527" cy="217527"/>
          </a:xfrm>
          <a:prstGeom prst="rect">
            <a:avLst/>
          </a:prstGeom>
          <a:noFill/>
          <a:ln/>
        </p:spPr>
        <p:txBody>
          <a:bodyPr wrap="none" lIns="0" tIns="0" rIns="0" bIns="0" rtlCol="0" anchor="ctr"/>
          <a:lstStyle/>
          <a:p>
            <a:pPr algn="ctr" indent="0" marL="0">
              <a:buNone/>
            </a:pPr>
            <a:r>
              <a:rPr lang="en-US" sz="1477" dirty="0">
                <a:solidFill>
                  <a:srgbClr val="07807C"/>
                </a:solidFill>
                <a:latin typeface="Segoe UI Symbol" pitchFamily="34" charset="0"/>
                <a:ea typeface="Segoe UI Symbol" pitchFamily="34" charset="-122"/>
                <a:cs typeface="Segoe UI Symbol" pitchFamily="34" charset="-120"/>
              </a:rPr>
              <a:t>⛨</a:t>
            </a:r>
            <a:endParaRPr lang="en-US" sz="1477" dirty="0"/>
          </a:p>
        </p:txBody>
      </p:sp>
      <p:sp>
        <p:nvSpPr>
          <p:cNvPr id="16" name="Text 14"/>
          <p:cNvSpPr/>
          <p:nvPr/>
        </p:nvSpPr>
        <p:spPr>
          <a:xfrm>
            <a:off x="4607719" y="1967322"/>
            <a:ext cx="4021931" cy="16780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72000"/>
                  </a:srgbClr>
                </a:solidFill>
                <a:latin typeface="Carlito" pitchFamily="34" charset="0"/>
                <a:ea typeface="Carlito" pitchFamily="34" charset="-122"/>
                <a:cs typeface="Carlito" pitchFamily="34" charset="-120"/>
              </a:rPr>
              <a:t>мотивация 40/40/20 и эксклюзив районов ускоряют дистрибуцию</a:t>
            </a:r>
            <a:endParaRPr lang="en-US" sz="816" dirty="0"/>
          </a:p>
        </p:txBody>
      </p:sp>
      <p:sp>
        <p:nvSpPr>
          <p:cNvPr id="17" name="Shape 15"/>
          <p:cNvSpPr/>
          <p:nvPr/>
        </p:nvSpPr>
        <p:spPr>
          <a:xfrm>
            <a:off x="514350" y="2377194"/>
            <a:ext cx="8115300" cy="0"/>
          </a:xfrm>
          <a:prstGeom prst="line">
            <a:avLst/>
          </a:prstGeom>
          <a:noFill/>
          <a:ln w="7144">
            <a:solidFill>
              <a:srgbClr val="1A1A1A"/>
            </a:solidFill>
            <a:prstDash val="solid"/>
          </a:ln>
        </p:spPr>
      </p:sp>
      <p:sp>
        <p:nvSpPr>
          <p:cNvPr id="18" name="Text 16"/>
          <p:cNvSpPr/>
          <p:nvPr/>
        </p:nvSpPr>
        <p:spPr>
          <a:xfrm>
            <a:off x="514350" y="2559360"/>
            <a:ext cx="300038" cy="300038"/>
          </a:xfrm>
          <a:prstGeom prst="roundRect">
            <a:avLst>
              <a:gd name="adj" fmla="val 34921"/>
            </a:avLst>
          </a:prstGeom>
          <a:solidFill>
            <a:srgbClr val="D4A854">
              <a:alpha val="14000"/>
            </a:srgbClr>
          </a:solidFill>
          <a:ln/>
        </p:spPr>
        <p:txBody>
          <a:bodyPr wrap="square" rtlCol="0" anchor="ctr"/>
          <a:lstStyle/>
          <a:p>
            <a:pPr indent="0" marL="0">
              <a:buNone/>
            </a:pPr>
            <a:endParaRPr lang="en-US" dirty="0"/>
          </a:p>
        </p:txBody>
      </p:sp>
      <p:sp>
        <p:nvSpPr>
          <p:cNvPr id="19" name="Text 17"/>
          <p:cNvSpPr/>
          <p:nvPr/>
        </p:nvSpPr>
        <p:spPr>
          <a:xfrm>
            <a:off x="555605" y="2600615"/>
            <a:ext cx="217527" cy="217527"/>
          </a:xfrm>
          <a:prstGeom prst="rect">
            <a:avLst/>
          </a:prstGeom>
          <a:noFill/>
          <a:ln/>
        </p:spPr>
        <p:txBody>
          <a:bodyPr wrap="none" lIns="0" tIns="0" rIns="0" bIns="0" rtlCol="0" anchor="ctr"/>
          <a:lstStyle/>
          <a:p>
            <a:pPr algn="ctr" indent="0" marL="0">
              <a:buNone/>
            </a:pPr>
            <a:r>
              <a:rPr lang="en-US" sz="1477" dirty="0">
                <a:solidFill>
                  <a:srgbClr val="8A6A25"/>
                </a:solidFill>
                <a:latin typeface="Segoe UI Symbol" pitchFamily="34" charset="0"/>
                <a:ea typeface="Segoe UI Symbol" pitchFamily="34" charset="-122"/>
                <a:cs typeface="Segoe UI Symbol" pitchFamily="34" charset="-120"/>
              </a:rPr>
              <a:t>⚠</a:t>
            </a:r>
            <a:endParaRPr lang="en-US" sz="1477" dirty="0"/>
          </a:p>
        </p:txBody>
      </p:sp>
      <p:sp>
        <p:nvSpPr>
          <p:cNvPr id="20" name="Text 18"/>
          <p:cNvSpPr/>
          <p:nvPr/>
        </p:nvSpPr>
        <p:spPr>
          <a:xfrm>
            <a:off x="921544" y="2632249"/>
            <a:ext cx="2736056" cy="166601"/>
          </a:xfrm>
          <a:prstGeom prst="rect">
            <a:avLst/>
          </a:prstGeom>
          <a:noFill/>
          <a:ln/>
        </p:spPr>
        <p:txBody>
          <a:bodyPr wrap="none" lIns="0" tIns="0" rIns="0" bIns="0" rtlCol="0" anchor="t"/>
          <a:lstStyle/>
          <a:p>
            <a:pPr algn="l" indent="0" marL="0">
              <a:lnSpc>
                <a:spcPts val="1215"/>
              </a:lnSpc>
              <a:buNone/>
            </a:pPr>
            <a:r>
              <a:rPr lang="en-US" sz="900" b="1" dirty="0">
                <a:solidFill>
                  <a:srgbClr val="1A1A1A"/>
                </a:solidFill>
                <a:latin typeface="Carlito" pitchFamily="34" charset="0"/>
                <a:ea typeface="Carlito" pitchFamily="34" charset="-122"/>
                <a:cs typeface="Carlito" pitchFamily="34" charset="-120"/>
              </a:rPr>
              <a:t>Скопирование модели федералами</a:t>
            </a:r>
            <a:endParaRPr lang="en-US" sz="900" dirty="0"/>
          </a:p>
        </p:txBody>
      </p:sp>
      <p:sp>
        <p:nvSpPr>
          <p:cNvPr id="21" name="Text 19"/>
          <p:cNvSpPr/>
          <p:nvPr/>
        </p:nvSpPr>
        <p:spPr>
          <a:xfrm>
            <a:off x="3850481" y="2630798"/>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4200525" y="2559360"/>
            <a:ext cx="300038" cy="300038"/>
          </a:xfrm>
          <a:prstGeom prst="roundRect">
            <a:avLst>
              <a:gd name="adj" fmla="val 34921"/>
            </a:avLst>
          </a:prstGeom>
          <a:solidFill>
            <a:srgbClr val="0ABAB5">
              <a:alpha val="10000"/>
            </a:srgbClr>
          </a:solidFill>
          <a:ln/>
        </p:spPr>
        <p:txBody>
          <a:bodyPr wrap="square" rtlCol="0" anchor="ctr"/>
          <a:lstStyle/>
          <a:p>
            <a:pPr indent="0" marL="0">
              <a:buNone/>
            </a:pPr>
            <a:endParaRPr lang="en-US" dirty="0"/>
          </a:p>
        </p:txBody>
      </p:sp>
      <p:sp>
        <p:nvSpPr>
          <p:cNvPr id="23" name="Text 21"/>
          <p:cNvSpPr/>
          <p:nvPr/>
        </p:nvSpPr>
        <p:spPr>
          <a:xfrm>
            <a:off x="4241780" y="2600615"/>
            <a:ext cx="217527" cy="217527"/>
          </a:xfrm>
          <a:prstGeom prst="rect">
            <a:avLst/>
          </a:prstGeom>
          <a:noFill/>
          <a:ln/>
        </p:spPr>
        <p:txBody>
          <a:bodyPr wrap="none" lIns="0" tIns="0" rIns="0" bIns="0" rtlCol="0" anchor="ctr"/>
          <a:lstStyle/>
          <a:p>
            <a:pPr algn="ctr" indent="0" marL="0">
              <a:buNone/>
            </a:pPr>
            <a:r>
              <a:rPr lang="en-US" sz="1477" dirty="0">
                <a:solidFill>
                  <a:srgbClr val="07807C"/>
                </a:solidFill>
                <a:latin typeface="Segoe UI Symbol" pitchFamily="34" charset="0"/>
                <a:ea typeface="Segoe UI Symbol" pitchFamily="34" charset="-122"/>
                <a:cs typeface="Segoe UI Symbol" pitchFamily="34" charset="-120"/>
              </a:rPr>
              <a:t>⛨</a:t>
            </a:r>
            <a:endParaRPr lang="en-US" sz="1477" dirty="0"/>
          </a:p>
        </p:txBody>
      </p:sp>
      <p:sp>
        <p:nvSpPr>
          <p:cNvPr id="24" name="Text 22"/>
          <p:cNvSpPr/>
          <p:nvPr/>
        </p:nvSpPr>
        <p:spPr>
          <a:xfrm>
            <a:off x="4607719" y="2631691"/>
            <a:ext cx="4021931" cy="16780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72000"/>
                  </a:srgbClr>
                </a:solidFill>
                <a:latin typeface="Carlito" pitchFamily="34" charset="0"/>
                <a:ea typeface="Carlito" pitchFamily="34" charset="-122"/>
                <a:cs typeface="Carlito" pitchFamily="34" charset="-120"/>
              </a:rPr>
              <a:t>локальные сообщества и партнёрская сеть не копируются деньгами</a:t>
            </a:r>
            <a:endParaRPr lang="en-US" sz="816" dirty="0"/>
          </a:p>
        </p:txBody>
      </p:sp>
      <p:sp>
        <p:nvSpPr>
          <p:cNvPr id="25" name="Shape 23"/>
          <p:cNvSpPr/>
          <p:nvPr/>
        </p:nvSpPr>
        <p:spPr>
          <a:xfrm>
            <a:off x="514350" y="3041563"/>
            <a:ext cx="8115300" cy="0"/>
          </a:xfrm>
          <a:prstGeom prst="line">
            <a:avLst/>
          </a:prstGeom>
          <a:noFill/>
          <a:ln w="7144">
            <a:solidFill>
              <a:srgbClr val="1A1A1A"/>
            </a:solidFill>
            <a:prstDash val="solid"/>
          </a:ln>
        </p:spPr>
      </p:sp>
      <p:sp>
        <p:nvSpPr>
          <p:cNvPr id="26" name="Text 24"/>
          <p:cNvSpPr/>
          <p:nvPr/>
        </p:nvSpPr>
        <p:spPr>
          <a:xfrm>
            <a:off x="514350" y="3223729"/>
            <a:ext cx="300038" cy="300038"/>
          </a:xfrm>
          <a:prstGeom prst="roundRect">
            <a:avLst>
              <a:gd name="adj" fmla="val 34921"/>
            </a:avLst>
          </a:prstGeom>
          <a:solidFill>
            <a:srgbClr val="D4A854">
              <a:alpha val="14000"/>
            </a:srgbClr>
          </a:solidFill>
          <a:ln/>
        </p:spPr>
        <p:txBody>
          <a:bodyPr wrap="square" rtlCol="0" anchor="ctr"/>
          <a:lstStyle/>
          <a:p>
            <a:pPr indent="0" marL="0">
              <a:buNone/>
            </a:pPr>
            <a:endParaRPr lang="en-US" dirty="0"/>
          </a:p>
        </p:txBody>
      </p:sp>
      <p:sp>
        <p:nvSpPr>
          <p:cNvPr id="27" name="Text 25"/>
          <p:cNvSpPr/>
          <p:nvPr/>
        </p:nvSpPr>
        <p:spPr>
          <a:xfrm>
            <a:off x="555605" y="3264984"/>
            <a:ext cx="217527" cy="217527"/>
          </a:xfrm>
          <a:prstGeom prst="rect">
            <a:avLst/>
          </a:prstGeom>
          <a:noFill/>
          <a:ln/>
        </p:spPr>
        <p:txBody>
          <a:bodyPr wrap="none" lIns="0" tIns="0" rIns="0" bIns="0" rtlCol="0" anchor="ctr"/>
          <a:lstStyle/>
          <a:p>
            <a:pPr algn="ctr" indent="0" marL="0">
              <a:buNone/>
            </a:pPr>
            <a:r>
              <a:rPr lang="en-US" sz="1477" dirty="0">
                <a:solidFill>
                  <a:srgbClr val="8A6A25"/>
                </a:solidFill>
                <a:latin typeface="Segoe UI Symbol" pitchFamily="34" charset="0"/>
                <a:ea typeface="Segoe UI Symbol" pitchFamily="34" charset="-122"/>
                <a:cs typeface="Segoe UI Symbol" pitchFamily="34" charset="-120"/>
              </a:rPr>
              <a:t>⚠</a:t>
            </a:r>
            <a:endParaRPr lang="en-US" sz="1477" dirty="0"/>
          </a:p>
        </p:txBody>
      </p:sp>
      <p:sp>
        <p:nvSpPr>
          <p:cNvPr id="28" name="Text 26"/>
          <p:cNvSpPr/>
          <p:nvPr/>
        </p:nvSpPr>
        <p:spPr>
          <a:xfrm>
            <a:off x="921544" y="3296617"/>
            <a:ext cx="2736056" cy="166601"/>
          </a:xfrm>
          <a:prstGeom prst="rect">
            <a:avLst/>
          </a:prstGeom>
          <a:noFill/>
          <a:ln/>
        </p:spPr>
        <p:txBody>
          <a:bodyPr wrap="none" lIns="0" tIns="0" rIns="0" bIns="0" rtlCol="0" anchor="t"/>
          <a:lstStyle/>
          <a:p>
            <a:pPr algn="l" indent="0" marL="0">
              <a:lnSpc>
                <a:spcPts val="1215"/>
              </a:lnSpc>
              <a:buNone/>
            </a:pPr>
            <a:r>
              <a:rPr lang="en-US" sz="900" b="1" dirty="0">
                <a:solidFill>
                  <a:srgbClr val="1A1A1A"/>
                </a:solidFill>
                <a:latin typeface="Carlito" pitchFamily="34" charset="0"/>
                <a:ea typeface="Carlito" pitchFamily="34" charset="-122"/>
                <a:cs typeface="Carlito" pitchFamily="34" charset="-120"/>
              </a:rPr>
              <a:t>Регуляторные изменения</a:t>
            </a:r>
            <a:endParaRPr lang="en-US" sz="900" dirty="0"/>
          </a:p>
        </p:txBody>
      </p:sp>
      <p:sp>
        <p:nvSpPr>
          <p:cNvPr id="29" name="Text 27"/>
          <p:cNvSpPr/>
          <p:nvPr/>
        </p:nvSpPr>
        <p:spPr>
          <a:xfrm>
            <a:off x="3850481" y="3295166"/>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30" name="Text 28"/>
          <p:cNvSpPr/>
          <p:nvPr/>
        </p:nvSpPr>
        <p:spPr>
          <a:xfrm>
            <a:off x="4200525" y="3223729"/>
            <a:ext cx="300038" cy="300038"/>
          </a:xfrm>
          <a:prstGeom prst="roundRect">
            <a:avLst>
              <a:gd name="adj" fmla="val 34921"/>
            </a:avLst>
          </a:prstGeom>
          <a:solidFill>
            <a:srgbClr val="0ABAB5">
              <a:alpha val="10000"/>
            </a:srgbClr>
          </a:solidFill>
          <a:ln/>
        </p:spPr>
        <p:txBody>
          <a:bodyPr wrap="square" rtlCol="0" anchor="ctr"/>
          <a:lstStyle/>
          <a:p>
            <a:pPr indent="0" marL="0">
              <a:buNone/>
            </a:pPr>
            <a:endParaRPr lang="en-US" dirty="0"/>
          </a:p>
        </p:txBody>
      </p:sp>
      <p:sp>
        <p:nvSpPr>
          <p:cNvPr id="31" name="Text 29"/>
          <p:cNvSpPr/>
          <p:nvPr/>
        </p:nvSpPr>
        <p:spPr>
          <a:xfrm>
            <a:off x="4241780" y="3264984"/>
            <a:ext cx="217527" cy="217527"/>
          </a:xfrm>
          <a:prstGeom prst="rect">
            <a:avLst/>
          </a:prstGeom>
          <a:noFill/>
          <a:ln/>
        </p:spPr>
        <p:txBody>
          <a:bodyPr wrap="none" lIns="0" tIns="0" rIns="0" bIns="0" rtlCol="0" anchor="ctr"/>
          <a:lstStyle/>
          <a:p>
            <a:pPr algn="ctr" indent="0" marL="0">
              <a:buNone/>
            </a:pPr>
            <a:r>
              <a:rPr lang="en-US" sz="1477" dirty="0">
                <a:solidFill>
                  <a:srgbClr val="07807C"/>
                </a:solidFill>
                <a:latin typeface="Segoe UI Symbol" pitchFamily="34" charset="0"/>
                <a:ea typeface="Segoe UI Symbol" pitchFamily="34" charset="-122"/>
                <a:cs typeface="Segoe UI Symbol" pitchFamily="34" charset="-120"/>
              </a:rPr>
              <a:t>⛨</a:t>
            </a:r>
            <a:endParaRPr lang="en-US" sz="1477" dirty="0"/>
          </a:p>
        </p:txBody>
      </p:sp>
      <p:sp>
        <p:nvSpPr>
          <p:cNvPr id="32" name="Text 30"/>
          <p:cNvSpPr/>
          <p:nvPr/>
        </p:nvSpPr>
        <p:spPr>
          <a:xfrm>
            <a:off x="4607719" y="3296059"/>
            <a:ext cx="4021931" cy="16780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72000"/>
                  </a:srgbClr>
                </a:solidFill>
                <a:latin typeface="Carlito" pitchFamily="34" charset="0"/>
                <a:ea typeface="Carlito" pitchFamily="34" charset="-122"/>
                <a:cs typeface="Carlito" pitchFamily="34" charset="-120"/>
              </a:rPr>
              <a:t>работа через номинальные счета ст. 860.1 и белую оферту</a:t>
            </a:r>
            <a:endParaRPr lang="en-US" sz="816" dirty="0"/>
          </a:p>
        </p:txBody>
      </p:sp>
      <p:sp>
        <p:nvSpPr>
          <p:cNvPr id="33" name="Shape 31"/>
          <p:cNvSpPr/>
          <p:nvPr/>
        </p:nvSpPr>
        <p:spPr>
          <a:xfrm>
            <a:off x="514350" y="3705932"/>
            <a:ext cx="8115300" cy="0"/>
          </a:xfrm>
          <a:prstGeom prst="line">
            <a:avLst/>
          </a:prstGeom>
          <a:noFill/>
          <a:ln w="7144">
            <a:solidFill>
              <a:srgbClr val="1A1A1A"/>
            </a:solidFill>
            <a:prstDash val="solid"/>
          </a:ln>
        </p:spPr>
      </p:sp>
      <p:sp>
        <p:nvSpPr>
          <p:cNvPr id="34" name="Text 32"/>
          <p:cNvSpPr/>
          <p:nvPr/>
        </p:nvSpPr>
        <p:spPr>
          <a:xfrm>
            <a:off x="514350" y="3888098"/>
            <a:ext cx="300038" cy="300038"/>
          </a:xfrm>
          <a:prstGeom prst="roundRect">
            <a:avLst>
              <a:gd name="adj" fmla="val 34921"/>
            </a:avLst>
          </a:prstGeom>
          <a:solidFill>
            <a:srgbClr val="D4A854">
              <a:alpha val="14000"/>
            </a:srgbClr>
          </a:solidFill>
          <a:ln/>
        </p:spPr>
        <p:txBody>
          <a:bodyPr wrap="square" rtlCol="0" anchor="ctr"/>
          <a:lstStyle/>
          <a:p>
            <a:pPr indent="0" marL="0">
              <a:buNone/>
            </a:pPr>
            <a:endParaRPr lang="en-US" dirty="0"/>
          </a:p>
        </p:txBody>
      </p:sp>
      <p:sp>
        <p:nvSpPr>
          <p:cNvPr id="35" name="Text 33"/>
          <p:cNvSpPr/>
          <p:nvPr/>
        </p:nvSpPr>
        <p:spPr>
          <a:xfrm>
            <a:off x="555605" y="3929353"/>
            <a:ext cx="217527" cy="217527"/>
          </a:xfrm>
          <a:prstGeom prst="rect">
            <a:avLst/>
          </a:prstGeom>
          <a:noFill/>
          <a:ln/>
        </p:spPr>
        <p:txBody>
          <a:bodyPr wrap="none" lIns="0" tIns="0" rIns="0" bIns="0" rtlCol="0" anchor="ctr"/>
          <a:lstStyle/>
          <a:p>
            <a:pPr algn="ctr" indent="0" marL="0">
              <a:buNone/>
            </a:pPr>
            <a:r>
              <a:rPr lang="en-US" sz="1477" dirty="0">
                <a:solidFill>
                  <a:srgbClr val="8A6A25"/>
                </a:solidFill>
                <a:latin typeface="Segoe UI Symbol" pitchFamily="34" charset="0"/>
                <a:ea typeface="Segoe UI Symbol" pitchFamily="34" charset="-122"/>
                <a:cs typeface="Segoe UI Symbol" pitchFamily="34" charset="-120"/>
              </a:rPr>
              <a:t>⚠</a:t>
            </a:r>
            <a:endParaRPr lang="en-US" sz="1477" dirty="0"/>
          </a:p>
        </p:txBody>
      </p:sp>
      <p:sp>
        <p:nvSpPr>
          <p:cNvPr id="36" name="Text 34"/>
          <p:cNvSpPr/>
          <p:nvPr/>
        </p:nvSpPr>
        <p:spPr>
          <a:xfrm>
            <a:off x="921544" y="3960986"/>
            <a:ext cx="2736056" cy="166601"/>
          </a:xfrm>
          <a:prstGeom prst="rect">
            <a:avLst/>
          </a:prstGeom>
          <a:noFill/>
          <a:ln/>
        </p:spPr>
        <p:txBody>
          <a:bodyPr wrap="none" lIns="0" tIns="0" rIns="0" bIns="0" rtlCol="0" anchor="t"/>
          <a:lstStyle/>
          <a:p>
            <a:pPr algn="l" indent="0" marL="0">
              <a:lnSpc>
                <a:spcPts val="1215"/>
              </a:lnSpc>
              <a:buNone/>
            </a:pPr>
            <a:r>
              <a:rPr lang="en-US" sz="900" b="1" dirty="0">
                <a:solidFill>
                  <a:srgbClr val="1A1A1A"/>
                </a:solidFill>
                <a:latin typeface="Carlito" pitchFamily="34" charset="0"/>
                <a:ea typeface="Carlito" pitchFamily="34" charset="-122"/>
                <a:cs typeface="Carlito" pitchFamily="34" charset="-120"/>
              </a:rPr>
              <a:t>Сезонность локального бизнеса</a:t>
            </a:r>
            <a:endParaRPr lang="en-US" sz="900" dirty="0"/>
          </a:p>
        </p:txBody>
      </p:sp>
      <p:sp>
        <p:nvSpPr>
          <p:cNvPr id="37" name="Text 35"/>
          <p:cNvSpPr/>
          <p:nvPr/>
        </p:nvSpPr>
        <p:spPr>
          <a:xfrm>
            <a:off x="3850481" y="3959535"/>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38" name="Text 36"/>
          <p:cNvSpPr/>
          <p:nvPr/>
        </p:nvSpPr>
        <p:spPr>
          <a:xfrm>
            <a:off x="4200525" y="3888098"/>
            <a:ext cx="300038" cy="300038"/>
          </a:xfrm>
          <a:prstGeom prst="roundRect">
            <a:avLst>
              <a:gd name="adj" fmla="val 34921"/>
            </a:avLst>
          </a:prstGeom>
          <a:solidFill>
            <a:srgbClr val="0ABAB5">
              <a:alpha val="10000"/>
            </a:srgbClr>
          </a:solidFill>
          <a:ln/>
        </p:spPr>
        <p:txBody>
          <a:bodyPr wrap="square" rtlCol="0" anchor="ctr"/>
          <a:lstStyle/>
          <a:p>
            <a:pPr indent="0" marL="0">
              <a:buNone/>
            </a:pPr>
            <a:endParaRPr lang="en-US" dirty="0"/>
          </a:p>
        </p:txBody>
      </p:sp>
      <p:sp>
        <p:nvSpPr>
          <p:cNvPr id="39" name="Text 37"/>
          <p:cNvSpPr/>
          <p:nvPr/>
        </p:nvSpPr>
        <p:spPr>
          <a:xfrm>
            <a:off x="4241780" y="3929353"/>
            <a:ext cx="217527" cy="217527"/>
          </a:xfrm>
          <a:prstGeom prst="rect">
            <a:avLst/>
          </a:prstGeom>
          <a:noFill/>
          <a:ln/>
        </p:spPr>
        <p:txBody>
          <a:bodyPr wrap="none" lIns="0" tIns="0" rIns="0" bIns="0" rtlCol="0" anchor="ctr"/>
          <a:lstStyle/>
          <a:p>
            <a:pPr algn="ctr" indent="0" marL="0">
              <a:buNone/>
            </a:pPr>
            <a:r>
              <a:rPr lang="en-US" sz="1477" dirty="0">
                <a:solidFill>
                  <a:srgbClr val="07807C"/>
                </a:solidFill>
                <a:latin typeface="Segoe UI Symbol" pitchFamily="34" charset="0"/>
                <a:ea typeface="Segoe UI Symbol" pitchFamily="34" charset="-122"/>
                <a:cs typeface="Segoe UI Symbol" pitchFamily="34" charset="-120"/>
              </a:rPr>
              <a:t>⛨</a:t>
            </a:r>
            <a:endParaRPr lang="en-US" sz="1477" dirty="0"/>
          </a:p>
        </p:txBody>
      </p:sp>
      <p:sp>
        <p:nvSpPr>
          <p:cNvPr id="40" name="Text 38"/>
          <p:cNvSpPr/>
          <p:nvPr/>
        </p:nvSpPr>
        <p:spPr>
          <a:xfrm>
            <a:off x="4607719" y="3960428"/>
            <a:ext cx="4021931" cy="167807"/>
          </a:xfrm>
          <a:prstGeom prst="rect">
            <a:avLst/>
          </a:prstGeom>
          <a:noFill/>
          <a:ln/>
        </p:spPr>
        <p:txBody>
          <a:bodyPr wrap="square" lIns="0" tIns="0" rIns="0" bIns="0" rtlCol="0" anchor="t"/>
          <a:lstStyle/>
          <a:p>
            <a:pPr algn="l" indent="0" marL="0">
              <a:lnSpc>
                <a:spcPts val="1223"/>
              </a:lnSpc>
              <a:buNone/>
            </a:pPr>
            <a:r>
              <a:rPr lang="en-US" sz="816" dirty="0">
                <a:solidFill>
                  <a:srgbClr val="1A1A1A">
                    <a:alpha val="72000"/>
                  </a:srgbClr>
                </a:solidFill>
                <a:latin typeface="Carlito" pitchFamily="34" charset="0"/>
                <a:ea typeface="Carlito" pitchFamily="34" charset="-122"/>
                <a:cs typeface="Carlito" pitchFamily="34" charset="-120"/>
              </a:rPr>
              <a:t>портфель точек разных категорий сглаживает оборот</a:t>
            </a:r>
            <a:endParaRPr lang="en-US" sz="816" dirty="0"/>
          </a:p>
        </p:txBody>
      </p:sp>
      <p:sp>
        <p:nvSpPr>
          <p:cNvPr id="41" name="Shape 39"/>
          <p:cNvSpPr/>
          <p:nvPr/>
        </p:nvSpPr>
        <p:spPr>
          <a:xfrm>
            <a:off x="514350" y="4370301"/>
            <a:ext cx="8115300" cy="0"/>
          </a:xfrm>
          <a:prstGeom prst="line">
            <a:avLst/>
          </a:prstGeom>
          <a:noFill/>
          <a:ln w="7144">
            <a:solidFill>
              <a:srgbClr val="1A1A1A"/>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44698"/>
            <a:ext cx="185738" cy="28575"/>
          </a:xfrm>
          <a:prstGeom prst="roundRect">
            <a:avLst>
              <a:gd name="adj" fmla="val 66667"/>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00050"/>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ПЛАН</a:t>
            </a:r>
            <a:endParaRPr lang="en-US" sz="800" dirty="0"/>
          </a:p>
        </p:txBody>
      </p:sp>
      <p:sp>
        <p:nvSpPr>
          <p:cNvPr id="4" name="Text 2"/>
          <p:cNvSpPr/>
          <p:nvPr/>
        </p:nvSpPr>
        <p:spPr>
          <a:xfrm>
            <a:off x="514350" y="632222"/>
            <a:ext cx="8629650" cy="276512"/>
          </a:xfrm>
          <a:prstGeom prst="rect">
            <a:avLst/>
          </a:prstGeom>
          <a:noFill/>
          <a:ln/>
        </p:spPr>
        <p:txBody>
          <a:bodyPr wrap="square" lIns="0" tIns="0" rIns="0" bIns="0" rtlCol="0" anchor="t">
            <a:normAutofit/>
          </a:bodyPr>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12 месяцев: от первых районов к сети городов</a:t>
            </a:r>
            <a:endParaRPr lang="en-US" sz="2138" dirty="0"/>
          </a:p>
        </p:txBody>
      </p:sp>
      <p:sp>
        <p:nvSpPr>
          <p:cNvPr id="5" name="Text 3"/>
          <p:cNvSpPr/>
          <p:nvPr/>
        </p:nvSpPr>
        <p:spPr>
          <a:xfrm>
            <a:off x="557213" y="2328974"/>
            <a:ext cx="8029575" cy="14288"/>
          </a:xfrm>
          <a:prstGeom prst="rect">
            <a:avLst/>
          </a:prstGeom>
          <a:solidFill>
            <a:srgbClr val="1A1A1A">
              <a:alpha val="10000"/>
            </a:srgbClr>
          </a:solidFill>
          <a:ln/>
        </p:spPr>
        <p:txBody>
          <a:bodyPr wrap="square" rtlCol="0" anchor="ctr"/>
          <a:lstStyle/>
          <a:p>
            <a:pPr indent="0" marL="0">
              <a:buNone/>
            </a:pPr>
            <a:endParaRPr lang="en-US" dirty="0"/>
          </a:p>
        </p:txBody>
      </p:sp>
      <p:sp>
        <p:nvSpPr>
          <p:cNvPr id="6" name="Text 4"/>
          <p:cNvSpPr/>
          <p:nvPr/>
        </p:nvSpPr>
        <p:spPr>
          <a:xfrm>
            <a:off x="514350" y="1907493"/>
            <a:ext cx="3019306" cy="177451"/>
          </a:xfrm>
          <a:prstGeom prst="rect">
            <a:avLst/>
          </a:prstGeom>
          <a:noFill/>
          <a:ln/>
        </p:spPr>
        <p:txBody>
          <a:bodyPr wrap="none" lIns="0" tIns="0" rIns="0" bIns="0" rtlCol="0" anchor="t"/>
          <a:lstStyle/>
          <a:p>
            <a:pPr algn="l" indent="0" marL="0">
              <a:lnSpc>
                <a:spcPts val="1294"/>
              </a:lnSpc>
              <a:buNone/>
            </a:pPr>
            <a:r>
              <a:rPr lang="en-US" sz="1294" b="1" spc="-13" kern="0" dirty="0">
                <a:solidFill>
                  <a:srgbClr val="F64A8A"/>
                </a:solidFill>
                <a:latin typeface="Carlito" pitchFamily="34" charset="0"/>
                <a:ea typeface="Carlito" pitchFamily="34" charset="-122"/>
                <a:cs typeface="Carlito" pitchFamily="34" charset="-120"/>
              </a:rPr>
              <a:t>Кв. 1</a:t>
            </a:r>
            <a:endParaRPr lang="en-US" sz="1294" dirty="0"/>
          </a:p>
        </p:txBody>
      </p:sp>
      <p:sp>
        <p:nvSpPr>
          <p:cNvPr id="7" name="Text 5"/>
          <p:cNvSpPr/>
          <p:nvPr/>
        </p:nvSpPr>
        <p:spPr>
          <a:xfrm>
            <a:off x="528638" y="2186099"/>
            <a:ext cx="100013" cy="100013"/>
          </a:xfrm>
          <a:prstGeom prst="ellipse">
            <a:avLst/>
          </a:prstGeom>
          <a:solidFill>
            <a:srgbClr val="F64A8A"/>
          </a:solidFill>
          <a:ln/>
          <a:effectLst>
            <a:outerShdw sx="100000" sy="100000" kx="0" ky="0" algn="bl" rotWithShape="0" blurRad="101600" dist="50800" dir="16200000">
              <a:srgbClr val="F64A8A">
                <a:alpha val="15000"/>
              </a:srgbClr>
            </a:outerShdw>
          </a:effectLst>
        </p:spPr>
        <p:txBody>
          <a:bodyPr wrap="square" rtlCol="0" anchor="ctr"/>
          <a:lstStyle/>
          <a:p>
            <a:pPr indent="0" marL="0">
              <a:buNone/>
            </a:pPr>
            <a:endParaRPr lang="en-US" dirty="0"/>
          </a:p>
        </p:txBody>
      </p:sp>
      <p:sp>
        <p:nvSpPr>
          <p:cNvPr id="8" name="Text 6"/>
          <p:cNvSpPr/>
          <p:nvPr/>
        </p:nvSpPr>
        <p:spPr>
          <a:xfrm>
            <a:off x="514350" y="2428987"/>
            <a:ext cx="1910953" cy="1057275"/>
          </a:xfrm>
          <a:prstGeom prst="roundRect">
            <a:avLst>
              <a:gd name="adj" fmla="val 1081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9" name="Text 7"/>
          <p:cNvSpPr/>
          <p:nvPr/>
        </p:nvSpPr>
        <p:spPr>
          <a:xfrm>
            <a:off x="642938" y="2557574"/>
            <a:ext cx="257175" cy="257175"/>
          </a:xfrm>
          <a:prstGeom prst="roundRect">
            <a:avLst>
              <a:gd name="adj" fmla="val 37037"/>
            </a:avLst>
          </a:prstGeom>
          <a:solidFill>
            <a:srgbClr val="F64A8A">
              <a:alpha val="10000"/>
            </a:srgbClr>
          </a:solidFill>
          <a:ln/>
        </p:spPr>
        <p:txBody>
          <a:bodyPr wrap="square" rtlCol="0" anchor="ctr"/>
          <a:lstStyle/>
          <a:p>
            <a:pPr indent="0" marL="0">
              <a:buNone/>
            </a:pPr>
            <a:endParaRPr lang="en-US" dirty="0"/>
          </a:p>
        </p:txBody>
      </p:sp>
      <p:sp>
        <p:nvSpPr>
          <p:cNvPr id="10" name="Text 8"/>
          <p:cNvSpPr/>
          <p:nvPr/>
        </p:nvSpPr>
        <p:spPr>
          <a:xfrm>
            <a:off x="667941" y="2582577"/>
            <a:ext cx="207169" cy="207169"/>
          </a:xfrm>
          <a:prstGeom prst="rect">
            <a:avLst/>
          </a:prstGeom>
          <a:noFill/>
          <a:ln/>
        </p:spPr>
        <p:txBody>
          <a:bodyPr wrap="none" lIns="0" tIns="0" rIns="0" bIns="0" rtlCol="0" anchor="ctr"/>
          <a:lstStyle/>
          <a:p>
            <a:pPr algn="ctr" indent="0" marL="0">
              <a:buNone/>
            </a:pPr>
            <a:r>
              <a:rPr lang="en-US" sz="1406" dirty="0">
                <a:solidFill>
                  <a:srgbClr val="C92A6A"/>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642938" y="2900474"/>
            <a:ext cx="1653778" cy="335613"/>
          </a:xfrm>
          <a:prstGeom prst="rect">
            <a:avLst/>
          </a:prstGeom>
          <a:noFill/>
          <a:ln/>
        </p:spPr>
        <p:txBody>
          <a:bodyPr wrap="square" lIns="0" tIns="0" rIns="0" bIns="0" rtlCol="0" anchor="t"/>
          <a:lstStyle/>
          <a:p>
            <a:pPr algn="l" indent="0" marL="0">
              <a:lnSpc>
                <a:spcPts val="1223"/>
              </a:lnSpc>
              <a:buNone/>
            </a:pPr>
            <a:r>
              <a:rPr lang="en-US" sz="816" dirty="0">
                <a:solidFill>
                  <a:srgbClr val="1A1A1A"/>
                </a:solidFill>
                <a:latin typeface="Carlito" pitchFamily="34" charset="0"/>
                <a:ea typeface="Carlito" pitchFamily="34" charset="-122"/>
                <a:cs typeface="Carlito" pitchFamily="34" charset="-120"/>
              </a:rPr>
              <a:t>3 пилотных района, 100+ подключённых точек (расчётно)</a:t>
            </a:r>
            <a:endParaRPr lang="en-US" sz="816" dirty="0"/>
          </a:p>
        </p:txBody>
      </p:sp>
      <p:sp>
        <p:nvSpPr>
          <p:cNvPr id="12" name="Text 10"/>
          <p:cNvSpPr/>
          <p:nvPr/>
        </p:nvSpPr>
        <p:spPr>
          <a:xfrm>
            <a:off x="2582466" y="1907493"/>
            <a:ext cx="3019306" cy="177451"/>
          </a:xfrm>
          <a:prstGeom prst="rect">
            <a:avLst/>
          </a:prstGeom>
          <a:noFill/>
          <a:ln/>
        </p:spPr>
        <p:txBody>
          <a:bodyPr wrap="none" lIns="0" tIns="0" rIns="0" bIns="0" rtlCol="0" anchor="t"/>
          <a:lstStyle/>
          <a:p>
            <a:pPr algn="l" indent="0" marL="0">
              <a:lnSpc>
                <a:spcPts val="1294"/>
              </a:lnSpc>
              <a:buNone/>
            </a:pPr>
            <a:r>
              <a:rPr lang="en-US" sz="1294" b="1" spc="-13" kern="0" dirty="0">
                <a:solidFill>
                  <a:srgbClr val="07807C"/>
                </a:solidFill>
                <a:latin typeface="Carlito" pitchFamily="34" charset="0"/>
                <a:ea typeface="Carlito" pitchFamily="34" charset="-122"/>
                <a:cs typeface="Carlito" pitchFamily="34" charset="-120"/>
              </a:rPr>
              <a:t>Кв. 2</a:t>
            </a:r>
            <a:endParaRPr lang="en-US" sz="1294" dirty="0"/>
          </a:p>
        </p:txBody>
      </p:sp>
      <p:sp>
        <p:nvSpPr>
          <p:cNvPr id="13" name="Text 11"/>
          <p:cNvSpPr/>
          <p:nvPr/>
        </p:nvSpPr>
        <p:spPr>
          <a:xfrm>
            <a:off x="2596753" y="2186099"/>
            <a:ext cx="100013" cy="100013"/>
          </a:xfrm>
          <a:prstGeom prst="ellipse">
            <a:avLst/>
          </a:prstGeom>
          <a:solidFill>
            <a:srgbClr val="0ABAB5"/>
          </a:solidFill>
          <a:ln/>
          <a:effectLst>
            <a:outerShdw sx="100000" sy="100000" kx="0" ky="0" algn="bl" rotWithShape="0" blurRad="101600" dist="50800" dir="16200000">
              <a:srgbClr val="0ABAB5">
                <a:alpha val="14000"/>
              </a:srgbClr>
            </a:outerShdw>
          </a:effectLst>
        </p:spPr>
        <p:txBody>
          <a:bodyPr wrap="square" rtlCol="0" anchor="ctr"/>
          <a:lstStyle/>
          <a:p>
            <a:pPr indent="0" marL="0">
              <a:buNone/>
            </a:pPr>
            <a:endParaRPr lang="en-US" dirty="0"/>
          </a:p>
        </p:txBody>
      </p:sp>
      <p:sp>
        <p:nvSpPr>
          <p:cNvPr id="14" name="Text 12"/>
          <p:cNvSpPr/>
          <p:nvPr/>
        </p:nvSpPr>
        <p:spPr>
          <a:xfrm>
            <a:off x="2582466" y="2428987"/>
            <a:ext cx="1910953" cy="1057275"/>
          </a:xfrm>
          <a:prstGeom prst="roundRect">
            <a:avLst>
              <a:gd name="adj" fmla="val 1081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5" name="Text 13"/>
          <p:cNvSpPr/>
          <p:nvPr/>
        </p:nvSpPr>
        <p:spPr>
          <a:xfrm>
            <a:off x="2711053" y="2557574"/>
            <a:ext cx="257175" cy="257175"/>
          </a:xfrm>
          <a:prstGeom prst="roundRect">
            <a:avLst>
              <a:gd name="adj" fmla="val 37037"/>
            </a:avLst>
          </a:prstGeom>
          <a:solidFill>
            <a:srgbClr val="0ABAB5">
              <a:alpha val="10000"/>
            </a:srgbClr>
          </a:solidFill>
          <a:ln/>
        </p:spPr>
        <p:txBody>
          <a:bodyPr wrap="square" rtlCol="0" anchor="ctr"/>
          <a:lstStyle/>
          <a:p>
            <a:pPr indent="0" marL="0">
              <a:buNone/>
            </a:pPr>
            <a:endParaRPr lang="en-US" dirty="0"/>
          </a:p>
        </p:txBody>
      </p:sp>
      <p:sp>
        <p:nvSpPr>
          <p:cNvPr id="16" name="Text 14"/>
          <p:cNvSpPr/>
          <p:nvPr/>
        </p:nvSpPr>
        <p:spPr>
          <a:xfrm>
            <a:off x="2736056" y="2582577"/>
            <a:ext cx="207169" cy="207169"/>
          </a:xfrm>
          <a:prstGeom prst="rect">
            <a:avLst/>
          </a:prstGeom>
          <a:noFill/>
          <a:ln/>
        </p:spPr>
        <p:txBody>
          <a:bodyPr wrap="none" lIns="0" tIns="0" rIns="0" bIns="0" rtlCol="0" anchor="ctr"/>
          <a:lstStyle/>
          <a:p>
            <a:pPr algn="ctr" indent="0" marL="0">
              <a:buNone/>
            </a:pPr>
            <a:r>
              <a:rPr lang="en-US" sz="1406" dirty="0">
                <a:solidFill>
                  <a:srgbClr val="07807C"/>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2711053" y="2900474"/>
            <a:ext cx="1653778" cy="335613"/>
          </a:xfrm>
          <a:prstGeom prst="rect">
            <a:avLst/>
          </a:prstGeom>
          <a:noFill/>
          <a:ln/>
        </p:spPr>
        <p:txBody>
          <a:bodyPr wrap="square" lIns="0" tIns="0" rIns="0" bIns="0" rtlCol="0" anchor="t"/>
          <a:lstStyle/>
          <a:p>
            <a:pPr algn="l" indent="0" marL="0">
              <a:lnSpc>
                <a:spcPts val="1223"/>
              </a:lnSpc>
              <a:buNone/>
            </a:pPr>
            <a:r>
              <a:rPr lang="en-US" sz="816" dirty="0">
                <a:solidFill>
                  <a:srgbClr val="1A1A1A"/>
                </a:solidFill>
                <a:latin typeface="Carlito" pitchFamily="34" charset="0"/>
                <a:ea typeface="Carlito" pitchFamily="34" charset="-122"/>
                <a:cs typeface="Carlito" pitchFamily="34" charset="-120"/>
              </a:rPr>
              <a:t>первый город-миллионник, тариф PRO в обороте</a:t>
            </a:r>
            <a:endParaRPr lang="en-US" sz="816" dirty="0"/>
          </a:p>
        </p:txBody>
      </p:sp>
      <p:sp>
        <p:nvSpPr>
          <p:cNvPr id="18" name="Text 16"/>
          <p:cNvSpPr/>
          <p:nvPr/>
        </p:nvSpPr>
        <p:spPr>
          <a:xfrm>
            <a:off x="4650581" y="1907493"/>
            <a:ext cx="3019306" cy="177451"/>
          </a:xfrm>
          <a:prstGeom prst="rect">
            <a:avLst/>
          </a:prstGeom>
          <a:noFill/>
          <a:ln/>
        </p:spPr>
        <p:txBody>
          <a:bodyPr wrap="none" lIns="0" tIns="0" rIns="0" bIns="0" rtlCol="0" anchor="t"/>
          <a:lstStyle/>
          <a:p>
            <a:pPr algn="l" indent="0" marL="0">
              <a:lnSpc>
                <a:spcPts val="1294"/>
              </a:lnSpc>
              <a:buNone/>
            </a:pPr>
            <a:r>
              <a:rPr lang="en-US" sz="1294" b="1" spc="-13" kern="0" dirty="0">
                <a:solidFill>
                  <a:srgbClr val="8A6A25"/>
                </a:solidFill>
                <a:latin typeface="Carlito" pitchFamily="34" charset="0"/>
                <a:ea typeface="Carlito" pitchFamily="34" charset="-122"/>
                <a:cs typeface="Carlito" pitchFamily="34" charset="-120"/>
              </a:rPr>
              <a:t>Кв. 3</a:t>
            </a:r>
            <a:endParaRPr lang="en-US" sz="1294" dirty="0"/>
          </a:p>
        </p:txBody>
      </p:sp>
      <p:sp>
        <p:nvSpPr>
          <p:cNvPr id="19" name="Text 17"/>
          <p:cNvSpPr/>
          <p:nvPr/>
        </p:nvSpPr>
        <p:spPr>
          <a:xfrm>
            <a:off x="4664869" y="2186099"/>
            <a:ext cx="100013" cy="100013"/>
          </a:xfrm>
          <a:prstGeom prst="ellipse">
            <a:avLst/>
          </a:prstGeom>
          <a:solidFill>
            <a:srgbClr val="D4A854"/>
          </a:solidFill>
          <a:ln/>
          <a:effectLst>
            <a:outerShdw sx="100000" sy="100000" kx="0" ky="0" algn="bl" rotWithShape="0" blurRad="101600" dist="50800" dir="16200000">
              <a:srgbClr val="D4A854">
                <a:alpha val="16000"/>
              </a:srgbClr>
            </a:outerShdw>
          </a:effectLst>
        </p:spPr>
        <p:txBody>
          <a:bodyPr wrap="square" rtlCol="0" anchor="ctr"/>
          <a:lstStyle/>
          <a:p>
            <a:pPr indent="0" marL="0">
              <a:buNone/>
            </a:pPr>
            <a:endParaRPr lang="en-US" dirty="0"/>
          </a:p>
        </p:txBody>
      </p:sp>
      <p:sp>
        <p:nvSpPr>
          <p:cNvPr id="20" name="Text 18"/>
          <p:cNvSpPr/>
          <p:nvPr/>
        </p:nvSpPr>
        <p:spPr>
          <a:xfrm>
            <a:off x="4650581" y="2428987"/>
            <a:ext cx="1910953" cy="1057275"/>
          </a:xfrm>
          <a:prstGeom prst="roundRect">
            <a:avLst>
              <a:gd name="adj" fmla="val 10811"/>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1" name="Text 19"/>
          <p:cNvSpPr/>
          <p:nvPr/>
        </p:nvSpPr>
        <p:spPr>
          <a:xfrm>
            <a:off x="4779169" y="2557574"/>
            <a:ext cx="257175" cy="257175"/>
          </a:xfrm>
          <a:prstGeom prst="roundRect">
            <a:avLst>
              <a:gd name="adj" fmla="val 37037"/>
            </a:avLst>
          </a:prstGeom>
          <a:solidFill>
            <a:srgbClr val="D4A854">
              <a:alpha val="14000"/>
            </a:srgbClr>
          </a:solidFill>
          <a:ln/>
        </p:spPr>
        <p:txBody>
          <a:bodyPr wrap="square" rtlCol="0" anchor="ctr"/>
          <a:lstStyle/>
          <a:p>
            <a:pPr indent="0" marL="0">
              <a:buNone/>
            </a:pPr>
            <a:endParaRPr lang="en-US" dirty="0"/>
          </a:p>
        </p:txBody>
      </p:sp>
      <p:sp>
        <p:nvSpPr>
          <p:cNvPr id="22" name="Text 20"/>
          <p:cNvSpPr/>
          <p:nvPr/>
        </p:nvSpPr>
        <p:spPr>
          <a:xfrm>
            <a:off x="4804172" y="2582577"/>
            <a:ext cx="207169" cy="207169"/>
          </a:xfrm>
          <a:prstGeom prst="rect">
            <a:avLst/>
          </a:prstGeom>
          <a:noFill/>
          <a:ln/>
        </p:spPr>
        <p:txBody>
          <a:bodyPr wrap="none" lIns="0" tIns="0" rIns="0" bIns="0" rtlCol="0" anchor="ctr"/>
          <a:lstStyle/>
          <a:p>
            <a:pPr algn="ctr" indent="0" marL="0">
              <a:buNone/>
            </a:pPr>
            <a:r>
              <a:rPr lang="en-US" sz="1406" dirty="0">
                <a:solidFill>
                  <a:srgbClr val="8A6A25"/>
                </a:solidFill>
                <a:latin typeface="Segoe UI Symbol" pitchFamily="34" charset="0"/>
                <a:ea typeface="Segoe UI Symbol" pitchFamily="34" charset="-122"/>
                <a:cs typeface="Segoe UI Symbol" pitchFamily="34" charset="-120"/>
              </a:rPr>
              <a:t>▯</a:t>
            </a:r>
            <a:endParaRPr lang="en-US" sz="1406" dirty="0"/>
          </a:p>
        </p:txBody>
      </p:sp>
      <p:sp>
        <p:nvSpPr>
          <p:cNvPr id="23" name="Text 21"/>
          <p:cNvSpPr/>
          <p:nvPr/>
        </p:nvSpPr>
        <p:spPr>
          <a:xfrm>
            <a:off x="4779169" y="2900474"/>
            <a:ext cx="1653778" cy="335613"/>
          </a:xfrm>
          <a:prstGeom prst="rect">
            <a:avLst/>
          </a:prstGeom>
          <a:noFill/>
          <a:ln/>
        </p:spPr>
        <p:txBody>
          <a:bodyPr wrap="square" lIns="0" tIns="0" rIns="0" bIns="0" rtlCol="0" anchor="t"/>
          <a:lstStyle/>
          <a:p>
            <a:pPr algn="l" indent="0" marL="0">
              <a:lnSpc>
                <a:spcPts val="1223"/>
              </a:lnSpc>
              <a:buNone/>
            </a:pPr>
            <a:r>
              <a:rPr lang="en-US" sz="816" dirty="0">
                <a:solidFill>
                  <a:srgbClr val="1A1A1A"/>
                </a:solidFill>
                <a:latin typeface="Carlito" pitchFamily="34" charset="0"/>
                <a:ea typeface="Carlito" pitchFamily="34" charset="-122"/>
                <a:cs typeface="Carlito" pitchFamily="34" charset="-120"/>
              </a:rPr>
              <a:t>5 городов, мобильные сценарии жителей</a:t>
            </a:r>
            <a:endParaRPr lang="en-US" sz="816" dirty="0"/>
          </a:p>
        </p:txBody>
      </p:sp>
      <p:sp>
        <p:nvSpPr>
          <p:cNvPr id="24" name="Text 22"/>
          <p:cNvSpPr/>
          <p:nvPr/>
        </p:nvSpPr>
        <p:spPr>
          <a:xfrm>
            <a:off x="6718697" y="1907493"/>
            <a:ext cx="2425303" cy="177451"/>
          </a:xfrm>
          <a:prstGeom prst="rect">
            <a:avLst/>
          </a:prstGeom>
          <a:noFill/>
          <a:ln/>
        </p:spPr>
        <p:txBody>
          <a:bodyPr wrap="none" lIns="0" tIns="0" rIns="0" bIns="0" rtlCol="0" anchor="t"/>
          <a:lstStyle/>
          <a:p>
            <a:pPr algn="l" indent="0" marL="0">
              <a:lnSpc>
                <a:spcPts val="1294"/>
              </a:lnSpc>
              <a:buNone/>
            </a:pPr>
            <a:r>
              <a:rPr lang="en-US" sz="1294" b="1" spc="-13" kern="0" dirty="0">
                <a:solidFill>
                  <a:srgbClr val="1A1A1A"/>
                </a:solidFill>
                <a:latin typeface="Carlito" pitchFamily="34" charset="0"/>
                <a:ea typeface="Carlito" pitchFamily="34" charset="-122"/>
                <a:cs typeface="Carlito" pitchFamily="34" charset="-120"/>
              </a:rPr>
              <a:t>Кв. 4</a:t>
            </a:r>
            <a:endParaRPr lang="en-US" sz="1294" dirty="0"/>
          </a:p>
        </p:txBody>
      </p:sp>
      <p:sp>
        <p:nvSpPr>
          <p:cNvPr id="25" name="Text 23"/>
          <p:cNvSpPr/>
          <p:nvPr/>
        </p:nvSpPr>
        <p:spPr>
          <a:xfrm>
            <a:off x="6732984" y="2186099"/>
            <a:ext cx="100013" cy="100013"/>
          </a:xfrm>
          <a:prstGeom prst="ellipse">
            <a:avLst/>
          </a:prstGeom>
          <a:solidFill>
            <a:srgbClr val="1A1A1A"/>
          </a:solidFill>
          <a:ln/>
          <a:effectLst>
            <a:outerShdw sx="100000" sy="100000" kx="0" ky="0" algn="bl" rotWithShape="0" blurRad="101600" dist="50800" dir="16200000">
              <a:srgbClr val="1A1A1A">
                <a:alpha val="8000"/>
              </a:srgbClr>
            </a:outerShdw>
          </a:effectLst>
        </p:spPr>
        <p:txBody>
          <a:bodyPr wrap="square" rtlCol="0" anchor="ctr"/>
          <a:lstStyle/>
          <a:p>
            <a:pPr indent="0" marL="0">
              <a:buNone/>
            </a:pPr>
            <a:endParaRPr lang="en-US" dirty="0"/>
          </a:p>
        </p:txBody>
      </p:sp>
      <p:sp>
        <p:nvSpPr>
          <p:cNvPr id="26" name="Text 24"/>
          <p:cNvSpPr/>
          <p:nvPr/>
        </p:nvSpPr>
        <p:spPr>
          <a:xfrm>
            <a:off x="6718697" y="2428987"/>
            <a:ext cx="1910953" cy="1066205"/>
          </a:xfrm>
          <a:prstGeom prst="roundRect">
            <a:avLst>
              <a:gd name="adj" fmla="val 10720"/>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27" name="Text 25"/>
          <p:cNvSpPr/>
          <p:nvPr/>
        </p:nvSpPr>
        <p:spPr>
          <a:xfrm>
            <a:off x="6847284" y="2557574"/>
            <a:ext cx="257175" cy="257175"/>
          </a:xfrm>
          <a:prstGeom prst="roundRect">
            <a:avLst>
              <a:gd name="adj" fmla="val 37037"/>
            </a:avLst>
          </a:prstGeom>
          <a:solidFill>
            <a:srgbClr val="1A1A1A">
              <a:alpha val="6000"/>
            </a:srgbClr>
          </a:solidFill>
          <a:ln/>
        </p:spPr>
        <p:txBody>
          <a:bodyPr wrap="square" rtlCol="0" anchor="ctr"/>
          <a:lstStyle/>
          <a:p>
            <a:pPr indent="0" marL="0">
              <a:buNone/>
            </a:pPr>
            <a:endParaRPr lang="en-US" dirty="0"/>
          </a:p>
        </p:txBody>
      </p:sp>
      <p:sp>
        <p:nvSpPr>
          <p:cNvPr id="28" name="Text 26"/>
          <p:cNvSpPr/>
          <p:nvPr/>
        </p:nvSpPr>
        <p:spPr>
          <a:xfrm>
            <a:off x="6872288" y="2582577"/>
            <a:ext cx="207169" cy="207169"/>
          </a:xfrm>
          <a:prstGeom prst="rect">
            <a:avLst/>
          </a:prstGeom>
          <a:noFill/>
          <a:ln/>
        </p:spPr>
        <p:txBody>
          <a:bodyPr wrap="none" lIns="0" tIns="0" rIns="0" bIns="0" rtlCol="0" anchor="ctr"/>
          <a:lstStyle/>
          <a:p>
            <a:pPr algn="ctr" indent="0" marL="0">
              <a:buNone/>
            </a:pPr>
            <a:r>
              <a:rPr lang="en-US" sz="1406" dirty="0">
                <a:solidFill>
                  <a:srgbClr val="1A1A1A"/>
                </a:solidFill>
                <a:latin typeface="Segoe UI Symbol" pitchFamily="34" charset="0"/>
                <a:ea typeface="Segoe UI Symbol" pitchFamily="34" charset="-122"/>
                <a:cs typeface="Segoe UI Symbol" pitchFamily="34" charset="-120"/>
              </a:rPr>
              <a:t>⚑</a:t>
            </a:r>
            <a:endParaRPr lang="en-US" sz="1406" dirty="0"/>
          </a:p>
        </p:txBody>
      </p:sp>
      <p:sp>
        <p:nvSpPr>
          <p:cNvPr id="29" name="Text 27"/>
          <p:cNvSpPr/>
          <p:nvPr/>
        </p:nvSpPr>
        <p:spPr>
          <a:xfrm>
            <a:off x="6847284" y="2900474"/>
            <a:ext cx="1653778" cy="466130"/>
          </a:xfrm>
          <a:prstGeom prst="rect">
            <a:avLst/>
          </a:prstGeom>
          <a:noFill/>
          <a:ln/>
        </p:spPr>
        <p:txBody>
          <a:bodyPr wrap="square" lIns="0" tIns="0" rIns="0" bIns="0" rtlCol="0" anchor="t"/>
          <a:lstStyle/>
          <a:p>
            <a:pPr algn="l" indent="0" marL="0">
              <a:lnSpc>
                <a:spcPts val="1223"/>
              </a:lnSpc>
              <a:buNone/>
            </a:pPr>
            <a:r>
              <a:rPr lang="en-US" sz="816" dirty="0">
                <a:solidFill>
                  <a:srgbClr val="1A1A1A"/>
                </a:solidFill>
                <a:latin typeface="Carlito" pitchFamily="34" charset="0"/>
                <a:ea typeface="Carlito" pitchFamily="34" charset="-122"/>
                <a:cs typeface="Carlito" pitchFamily="34" charset="-120"/>
              </a:rPr>
              <a:t>сеть 10+ городов, подготовка следующего раунда масштабирования</a:t>
            </a:r>
            <a:endParaRPr lang="en-US" sz="816" dirty="0"/>
          </a:p>
        </p:txBody>
      </p:sp>
      <p:sp>
        <p:nvSpPr>
          <p:cNvPr id="30" name="Text 28"/>
          <p:cNvSpPr/>
          <p:nvPr/>
        </p:nvSpPr>
        <p:spPr>
          <a:xfrm>
            <a:off x="514350" y="3740758"/>
            <a:ext cx="128588" cy="128588"/>
          </a:xfrm>
          <a:prstGeom prst="rect">
            <a:avLst/>
          </a:prstGeom>
          <a:noFill/>
          <a:ln/>
        </p:spPr>
        <p:txBody>
          <a:bodyPr wrap="none" lIns="0" tIns="0" rIns="0" bIns="0" rtlCol="0" anchor="ctr"/>
          <a:lstStyle/>
          <a:p>
            <a:pPr algn="ctr" indent="0" marL="0">
              <a:buNone/>
            </a:pPr>
            <a:r>
              <a:rPr lang="en-US" sz="1266" dirty="0">
                <a:solidFill>
                  <a:srgbClr val="1A1A1A"/>
                </a:solidFill>
                <a:latin typeface="Segoe UI Symbol" pitchFamily="34" charset="0"/>
                <a:ea typeface="Segoe UI Symbol" pitchFamily="34" charset="-122"/>
                <a:cs typeface="Segoe UI Symbol" pitchFamily="34" charset="-120"/>
              </a:rPr>
              <a:t>ⓘ</a:t>
            </a:r>
            <a:endParaRPr lang="en-US" sz="1266" dirty="0"/>
          </a:p>
        </p:txBody>
      </p:sp>
      <p:sp>
        <p:nvSpPr>
          <p:cNvPr id="31" name="Text 29"/>
          <p:cNvSpPr/>
          <p:nvPr/>
        </p:nvSpPr>
        <p:spPr>
          <a:xfrm>
            <a:off x="707231" y="3738079"/>
            <a:ext cx="7922419" cy="164592"/>
          </a:xfrm>
          <a:prstGeom prst="rect">
            <a:avLst/>
          </a:prstGeom>
          <a:noFill/>
          <a:ln/>
        </p:spPr>
        <p:txBody>
          <a:bodyPr wrap="square" lIns="0" tIns="0" rIns="0" bIns="0" rtlCol="0" anchor="t"/>
          <a:lstStyle/>
          <a:p>
            <a:pPr algn="l" indent="0" marL="0">
              <a:lnSpc>
                <a:spcPts val="1055"/>
              </a:lnSpc>
              <a:buNone/>
            </a:pPr>
            <a:r>
              <a:rPr lang="en-US" sz="800" dirty="0">
                <a:solidFill>
                  <a:srgbClr val="1A1A1A">
                    <a:alpha val="65000"/>
                  </a:srgbClr>
                </a:solidFill>
                <a:latin typeface="Carlito" pitchFamily="34" charset="0"/>
                <a:ea typeface="Carlito" pitchFamily="34" charset="-122"/>
                <a:cs typeface="Carlito" pitchFamily="34" charset="-120"/>
              </a:rPr>
              <a:t>Вехи — плановые ориентиры, не гарантия результата</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444698"/>
            <a:ext cx="185738" cy="28575"/>
          </a:xfrm>
          <a:prstGeom prst="roundRect">
            <a:avLst>
              <a:gd name="adj" fmla="val 66667"/>
            </a:avLst>
          </a:prstGeom>
          <a:solidFill>
            <a:srgbClr val="F64A8A"/>
          </a:solidFill>
          <a:ln/>
        </p:spPr>
        <p:txBody>
          <a:bodyPr wrap="square" rtlCol="0" anchor="ctr"/>
          <a:lstStyle/>
          <a:p>
            <a:pPr indent="0" marL="0">
              <a:buNone/>
            </a:pPr>
            <a:endParaRPr lang="en-US" dirty="0"/>
          </a:p>
        </p:txBody>
      </p:sp>
      <p:sp>
        <p:nvSpPr>
          <p:cNvPr id="3" name="Text 1"/>
          <p:cNvSpPr/>
          <p:nvPr/>
        </p:nvSpPr>
        <p:spPr>
          <a:xfrm>
            <a:off x="785813" y="400050"/>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МОДЕЛЬ</a:t>
            </a:r>
            <a:endParaRPr lang="en-US" sz="800" dirty="0"/>
          </a:p>
        </p:txBody>
      </p:sp>
      <p:sp>
        <p:nvSpPr>
          <p:cNvPr id="4" name="Text 2"/>
          <p:cNvSpPr/>
          <p:nvPr/>
        </p:nvSpPr>
        <p:spPr>
          <a:xfrm>
            <a:off x="514350" y="632222"/>
            <a:ext cx="862965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Что платформа зарабатывает на городе — расчётно</a:t>
            </a:r>
            <a:endParaRPr lang="en-US" sz="2138" dirty="0"/>
          </a:p>
        </p:txBody>
      </p:sp>
      <p:sp>
        <p:nvSpPr>
          <p:cNvPr id="5" name="Text 3"/>
          <p:cNvSpPr/>
          <p:nvPr/>
        </p:nvSpPr>
        <p:spPr>
          <a:xfrm>
            <a:off x="514350" y="1878918"/>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6" name="Text 4"/>
          <p:cNvSpPr/>
          <p:nvPr/>
        </p:nvSpPr>
        <p:spPr>
          <a:xfrm>
            <a:off x="757238" y="1875346"/>
            <a:ext cx="1671638" cy="177451"/>
          </a:xfrm>
          <a:prstGeom prst="rect">
            <a:avLst/>
          </a:prstGeom>
          <a:noFill/>
          <a:ln/>
        </p:spPr>
        <p:txBody>
          <a:bodyPr wrap="none" lIns="0" tIns="0" rIns="0" bIns="0" rtlCol="0" anchor="t"/>
          <a:lstStyle/>
          <a:p>
            <a:pPr algn="l" indent="0" marL="0">
              <a:lnSpc>
                <a:spcPts val="1294"/>
              </a:lnSpc>
              <a:buNone/>
            </a:pPr>
            <a:r>
              <a:rPr lang="en-US" sz="1125" b="1" spc="-11" kern="0" dirty="0">
                <a:solidFill>
                  <a:srgbClr val="1A1A1A"/>
                </a:solidFill>
                <a:latin typeface="Carlito" pitchFamily="34" charset="0"/>
                <a:ea typeface="Carlito" pitchFamily="34" charset="-122"/>
                <a:cs typeface="Carlito" pitchFamily="34" charset="-120"/>
              </a:rPr>
              <a:t>100 точек</a:t>
            </a:r>
            <a:endParaRPr lang="en-US" sz="1125" dirty="0"/>
          </a:p>
        </p:txBody>
      </p:sp>
      <p:sp>
        <p:nvSpPr>
          <p:cNvPr id="7" name="Text 5"/>
          <p:cNvSpPr/>
          <p:nvPr/>
        </p:nvSpPr>
        <p:spPr>
          <a:xfrm>
            <a:off x="2586038" y="1678893"/>
            <a:ext cx="3505237" cy="557213"/>
          </a:xfrm>
          <a:prstGeom prst="roundRect">
            <a:avLst>
              <a:gd name="adj" fmla="val 20513"/>
            </a:avLst>
          </a:prstGeom>
          <a:solidFill>
            <a:srgbClr val="0ABAB5">
              <a:alpha val="10000"/>
            </a:srgbClr>
          </a:solidFill>
          <a:ln/>
        </p:spPr>
        <p:txBody>
          <a:bodyPr wrap="square" rtlCol="0" anchor="ctr"/>
          <a:lstStyle/>
          <a:p>
            <a:pPr indent="0" marL="0">
              <a:buNone/>
            </a:pPr>
            <a:endParaRPr lang="en-US" dirty="0"/>
          </a:p>
        </p:txBody>
      </p:sp>
      <p:sp>
        <p:nvSpPr>
          <p:cNvPr id="8" name="Text 6"/>
          <p:cNvSpPr/>
          <p:nvPr/>
        </p:nvSpPr>
        <p:spPr>
          <a:xfrm>
            <a:off x="2771775" y="1802123"/>
            <a:ext cx="2175718" cy="335613"/>
          </a:xfrm>
          <a:prstGeom prst="rect">
            <a:avLst/>
          </a:prstGeom>
          <a:noFill/>
          <a:ln/>
        </p:spPr>
        <p:txBody>
          <a:bodyPr wrap="none" lIns="0" tIns="0" rIns="0" bIns="0" rtlCol="0" anchor="t"/>
          <a:lstStyle/>
          <a:p>
            <a:pPr algn="l" indent="0" marL="0">
              <a:lnSpc>
                <a:spcPts val="2447"/>
              </a:lnSpc>
              <a:buNone/>
            </a:pPr>
            <a:r>
              <a:rPr lang="en-US" sz="1631" b="1" spc="-33" kern="0" dirty="0">
                <a:solidFill>
                  <a:srgbClr val="07807C"/>
                </a:solidFill>
                <a:latin typeface="Carlito" pitchFamily="34" charset="0"/>
                <a:ea typeface="Carlito" pitchFamily="34" charset="-122"/>
                <a:cs typeface="Carlito" pitchFamily="34" charset="-120"/>
              </a:rPr>
              <a:t>≈ 397 000 ₽/мес</a:t>
            </a:r>
            <a:endParaRPr lang="en-US" sz="1631" dirty="0"/>
          </a:p>
        </p:txBody>
      </p:sp>
      <p:sp>
        <p:nvSpPr>
          <p:cNvPr id="9" name="Text 7"/>
          <p:cNvSpPr/>
          <p:nvPr/>
        </p:nvSpPr>
        <p:spPr>
          <a:xfrm>
            <a:off x="4961781" y="1893205"/>
            <a:ext cx="943756" cy="164592"/>
          </a:xfrm>
          <a:prstGeom prst="rect">
            <a:avLst/>
          </a:prstGeom>
          <a:noFill/>
          <a:ln/>
        </p:spPr>
        <p:txBody>
          <a:bodyPr wrap="none" lIns="0" tIns="0" rIns="0" bIns="0" rtlCol="0" anchor="t"/>
          <a:lstStyle/>
          <a:p>
            <a:pPr algn="l" indent="0" marL="0">
              <a:lnSpc>
                <a:spcPts val="1013"/>
              </a:lnSpc>
              <a:buNone/>
            </a:pPr>
            <a:r>
              <a:rPr lang="en-US" sz="800" dirty="0">
                <a:solidFill>
                  <a:srgbClr val="1A1A1A">
                    <a:alpha val="65000"/>
                  </a:srgbClr>
                </a:solidFill>
                <a:latin typeface="Carlito" pitchFamily="34" charset="0"/>
                <a:ea typeface="Carlito" pitchFamily="34" charset="-122"/>
                <a:cs typeface="Carlito" pitchFamily="34" charset="-120"/>
              </a:rPr>
              <a:t>комиссии платформы</a:t>
            </a:r>
            <a:endParaRPr lang="en-US" sz="800" dirty="0"/>
          </a:p>
        </p:txBody>
      </p:sp>
      <p:sp>
        <p:nvSpPr>
          <p:cNvPr id="10" name="Text 8"/>
          <p:cNvSpPr/>
          <p:nvPr/>
        </p:nvSpPr>
        <p:spPr>
          <a:xfrm>
            <a:off x="514350" y="2579005"/>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757238" y="2575433"/>
            <a:ext cx="1671638" cy="177451"/>
          </a:xfrm>
          <a:prstGeom prst="rect">
            <a:avLst/>
          </a:prstGeom>
          <a:noFill/>
          <a:ln/>
        </p:spPr>
        <p:txBody>
          <a:bodyPr wrap="none" lIns="0" tIns="0" rIns="0" bIns="0" rtlCol="0" anchor="t"/>
          <a:lstStyle/>
          <a:p>
            <a:pPr algn="l" indent="0" marL="0">
              <a:lnSpc>
                <a:spcPts val="1294"/>
              </a:lnSpc>
              <a:buNone/>
            </a:pPr>
            <a:r>
              <a:rPr lang="en-US" sz="1125" b="1" spc="-11" kern="0" dirty="0">
                <a:solidFill>
                  <a:srgbClr val="1A1A1A"/>
                </a:solidFill>
                <a:latin typeface="Carlito" pitchFamily="34" charset="0"/>
                <a:ea typeface="Carlito" pitchFamily="34" charset="-122"/>
                <a:cs typeface="Carlito" pitchFamily="34" charset="-120"/>
              </a:rPr>
              <a:t>500 точек</a:t>
            </a:r>
            <a:endParaRPr lang="en-US" sz="1125" dirty="0"/>
          </a:p>
        </p:txBody>
      </p:sp>
      <p:sp>
        <p:nvSpPr>
          <p:cNvPr id="12" name="Text 10"/>
          <p:cNvSpPr/>
          <p:nvPr/>
        </p:nvSpPr>
        <p:spPr>
          <a:xfrm>
            <a:off x="2586038" y="2378980"/>
            <a:ext cx="4593096" cy="557213"/>
          </a:xfrm>
          <a:prstGeom prst="roundRect">
            <a:avLst>
              <a:gd name="adj" fmla="val 20513"/>
            </a:avLst>
          </a:prstGeom>
          <a:solidFill>
            <a:srgbClr val="F64A8A">
              <a:alpha val="10000"/>
            </a:srgbClr>
          </a:solidFill>
          <a:ln/>
        </p:spPr>
        <p:txBody>
          <a:bodyPr wrap="square" rtlCol="0" anchor="ctr"/>
          <a:lstStyle/>
          <a:p>
            <a:pPr indent="0" marL="0">
              <a:buNone/>
            </a:pPr>
            <a:endParaRPr lang="en-US" dirty="0"/>
          </a:p>
        </p:txBody>
      </p:sp>
      <p:sp>
        <p:nvSpPr>
          <p:cNvPr id="13" name="Text 11"/>
          <p:cNvSpPr/>
          <p:nvPr/>
        </p:nvSpPr>
        <p:spPr>
          <a:xfrm>
            <a:off x="2771775" y="2502210"/>
            <a:ext cx="4221621" cy="335613"/>
          </a:xfrm>
          <a:prstGeom prst="rect">
            <a:avLst/>
          </a:prstGeom>
          <a:noFill/>
          <a:ln/>
        </p:spPr>
        <p:txBody>
          <a:bodyPr wrap="none" lIns="0" tIns="0" rIns="0" bIns="0" rtlCol="0" anchor="t"/>
          <a:lstStyle/>
          <a:p>
            <a:pPr algn="l" indent="0" marL="0">
              <a:lnSpc>
                <a:spcPts val="2447"/>
              </a:lnSpc>
              <a:buNone/>
            </a:pPr>
            <a:r>
              <a:rPr lang="en-US" sz="1631" b="1" spc="-33" kern="0" dirty="0">
                <a:solidFill>
                  <a:srgbClr val="C92A6A"/>
                </a:solidFill>
                <a:latin typeface="Carlito" pitchFamily="34" charset="0"/>
                <a:ea typeface="Carlito" pitchFamily="34" charset="-122"/>
                <a:cs typeface="Carlito" pitchFamily="34" charset="-120"/>
              </a:rPr>
              <a:t>≈ 1 985 000 ₽/мес</a:t>
            </a:r>
            <a:endParaRPr lang="en-US" sz="1631" dirty="0"/>
          </a:p>
        </p:txBody>
      </p:sp>
      <p:sp>
        <p:nvSpPr>
          <p:cNvPr id="14" name="Text 12"/>
          <p:cNvSpPr/>
          <p:nvPr/>
        </p:nvSpPr>
        <p:spPr>
          <a:xfrm>
            <a:off x="514350" y="3279093"/>
            <a:ext cx="157163" cy="157163"/>
          </a:xfrm>
          <a:prstGeom prst="rect">
            <a:avLst/>
          </a:prstGeom>
          <a:noFill/>
          <a:ln/>
        </p:spPr>
        <p:txBody>
          <a:bodyPr wrap="none" lIns="0" tIns="0" rIns="0" bIns="0" rtlCol="0" anchor="ctr"/>
          <a:lstStyle/>
          <a:p>
            <a:pPr algn="ctr" indent="0" marL="0">
              <a:buNone/>
            </a:pPr>
            <a:r>
              <a:rPr lang="en-US" sz="1547" dirty="0">
                <a:solidFill>
                  <a:srgbClr val="1A1A1A"/>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757238" y="3275521"/>
            <a:ext cx="1671638" cy="177451"/>
          </a:xfrm>
          <a:prstGeom prst="rect">
            <a:avLst/>
          </a:prstGeom>
          <a:noFill/>
          <a:ln/>
        </p:spPr>
        <p:txBody>
          <a:bodyPr wrap="none" lIns="0" tIns="0" rIns="0" bIns="0" rtlCol="0" anchor="t"/>
          <a:lstStyle/>
          <a:p>
            <a:pPr algn="l" indent="0" marL="0">
              <a:lnSpc>
                <a:spcPts val="1294"/>
              </a:lnSpc>
              <a:buNone/>
            </a:pPr>
            <a:r>
              <a:rPr lang="en-US" sz="1125" b="1" spc="-11" kern="0" dirty="0">
                <a:solidFill>
                  <a:srgbClr val="1A1A1A"/>
                </a:solidFill>
                <a:latin typeface="Carlito" pitchFamily="34" charset="0"/>
                <a:ea typeface="Carlito" pitchFamily="34" charset="-122"/>
                <a:cs typeface="Carlito" pitchFamily="34" charset="-120"/>
              </a:rPr>
              <a:t>1 500 точек (город)</a:t>
            </a:r>
            <a:endParaRPr lang="en-US" sz="1125" dirty="0"/>
          </a:p>
        </p:txBody>
      </p:sp>
      <p:sp>
        <p:nvSpPr>
          <p:cNvPr id="16" name="Text 14"/>
          <p:cNvSpPr/>
          <p:nvPr/>
        </p:nvSpPr>
        <p:spPr>
          <a:xfrm>
            <a:off x="2586038" y="3079068"/>
            <a:ext cx="5680956" cy="557213"/>
          </a:xfrm>
          <a:prstGeom prst="roundRect">
            <a:avLst>
              <a:gd name="adj" fmla="val 20513"/>
            </a:avLst>
          </a:prstGeom>
          <a:solidFill>
            <a:srgbClr val="1A1A1A"/>
          </a:solidFill>
          <a:ln/>
        </p:spPr>
        <p:txBody>
          <a:bodyPr wrap="square" rtlCol="0" anchor="ctr"/>
          <a:lstStyle/>
          <a:p>
            <a:pPr indent="0" marL="0">
              <a:buNone/>
            </a:pPr>
            <a:endParaRPr lang="en-US" dirty="0"/>
          </a:p>
        </p:txBody>
      </p:sp>
      <p:sp>
        <p:nvSpPr>
          <p:cNvPr id="17" name="Text 15"/>
          <p:cNvSpPr/>
          <p:nvPr/>
        </p:nvSpPr>
        <p:spPr>
          <a:xfrm>
            <a:off x="2771775" y="3202298"/>
            <a:ext cx="4367287" cy="335613"/>
          </a:xfrm>
          <a:prstGeom prst="rect">
            <a:avLst/>
          </a:prstGeom>
          <a:noFill/>
          <a:ln/>
        </p:spPr>
        <p:txBody>
          <a:bodyPr wrap="none" lIns="0" tIns="0" rIns="0" bIns="0" rtlCol="0" anchor="t"/>
          <a:lstStyle/>
          <a:p>
            <a:pPr algn="l" indent="0" marL="0">
              <a:lnSpc>
                <a:spcPts val="2447"/>
              </a:lnSpc>
              <a:buNone/>
            </a:pPr>
            <a:r>
              <a:rPr lang="en-US" sz="1631" b="1" spc="-33" kern="0" dirty="0">
                <a:solidFill>
                  <a:srgbClr val="FFFFFF"/>
                </a:solidFill>
                <a:latin typeface="Carlito" pitchFamily="34" charset="0"/>
                <a:ea typeface="Carlito" pitchFamily="34" charset="-122"/>
                <a:cs typeface="Carlito" pitchFamily="34" charset="-120"/>
              </a:rPr>
              <a:t>≈ 5 955 000 ₽/мес</a:t>
            </a:r>
            <a:endParaRPr lang="en-US" sz="1631" dirty="0"/>
          </a:p>
        </p:txBody>
      </p:sp>
      <p:sp>
        <p:nvSpPr>
          <p:cNvPr id="18" name="Text 16"/>
          <p:cNvSpPr/>
          <p:nvPr/>
        </p:nvSpPr>
        <p:spPr>
          <a:xfrm>
            <a:off x="7130489" y="3225215"/>
            <a:ext cx="973626" cy="264919"/>
          </a:xfrm>
          <a:prstGeom prst="roundRect">
            <a:avLst>
              <a:gd name="adj" fmla="val 3591843"/>
            </a:avLst>
          </a:prstGeom>
          <a:solidFill>
            <a:srgbClr val="D4A854"/>
          </a:solidFill>
          <a:ln/>
        </p:spPr>
        <p:txBody>
          <a:bodyPr wrap="square" rtlCol="0" anchor="ctr"/>
          <a:lstStyle/>
          <a:p>
            <a:pPr indent="0" marL="0">
              <a:buNone/>
            </a:pPr>
            <a:endParaRPr lang="en-US" dirty="0"/>
          </a:p>
        </p:txBody>
      </p:sp>
      <p:sp>
        <p:nvSpPr>
          <p:cNvPr id="19" name="Text 17"/>
          <p:cNvSpPr/>
          <p:nvPr/>
        </p:nvSpPr>
        <p:spPr>
          <a:xfrm>
            <a:off x="7153349" y="3238016"/>
            <a:ext cx="927906" cy="239316"/>
          </a:xfrm>
          <a:prstGeom prst="rect">
            <a:avLst/>
          </a:prstGeom>
          <a:noFill/>
          <a:ln/>
        </p:spPr>
        <p:txBody>
          <a:bodyPr wrap="none" lIns="0" tIns="0" rIns="0" bIns="0" rtlCol="0" anchor="ctr"/>
          <a:lstStyle/>
          <a:p>
            <a:pPr algn="ctr" indent="0" marL="0">
              <a:lnSpc>
                <a:spcPts val="1097"/>
              </a:lnSpc>
              <a:buNone/>
            </a:pPr>
            <a:r>
              <a:rPr lang="en-US" sz="800" b="1" dirty="0">
                <a:solidFill>
                  <a:srgbClr val="1A1A1A"/>
                </a:solidFill>
                <a:latin typeface="Carlito" pitchFamily="34" charset="0"/>
                <a:ea typeface="Carlito" pitchFamily="34" charset="-122"/>
                <a:cs typeface="Carlito" pitchFamily="34" charset="-120"/>
              </a:rPr>
              <a:t>≈ 71,5 млн ₽/год</a:t>
            </a:r>
            <a:endParaRPr lang="en-US" sz="800" dirty="0"/>
          </a:p>
        </p:txBody>
      </p:sp>
      <p:sp>
        <p:nvSpPr>
          <p:cNvPr id="20" name="Text 18"/>
          <p:cNvSpPr/>
          <p:nvPr/>
        </p:nvSpPr>
        <p:spPr>
          <a:xfrm>
            <a:off x="514350" y="4279106"/>
            <a:ext cx="8115300" cy="164592"/>
          </a:xfrm>
          <a:prstGeom prst="rect">
            <a:avLst/>
          </a:prstGeom>
          <a:noFill/>
          <a:ln/>
        </p:spPr>
        <p:txBody>
          <a:bodyPr wrap="square" lIns="0" tIns="0" rIns="0" bIns="0" rtlCol="0" anchor="t"/>
          <a:lstStyle/>
          <a:p>
            <a:pPr algn="l" indent="0" marL="0">
              <a:lnSpc>
                <a:spcPts val="1055"/>
              </a:lnSpc>
              <a:buNone/>
            </a:pPr>
            <a:r>
              <a:rPr lang="en-US" sz="800" dirty="0">
                <a:solidFill>
                  <a:srgbClr val="1A1A1A">
                    <a:alpha val="65000"/>
                  </a:srgbClr>
                </a:solidFill>
                <a:latin typeface="Carlito" pitchFamily="34" charset="0"/>
                <a:ea typeface="Carlito" pitchFamily="34" charset="-122"/>
                <a:cs typeface="Carlito" pitchFamily="34" charset="-120"/>
              </a:rPr>
              <a:t>Расчётная комиссия платформы ≈ 3 970 ₽/мес с точки (40% сплита); без учёта подписок PRO</a:t>
            </a:r>
            <a:endParaRPr lang="en-US" sz="800" dirty="0"/>
          </a:p>
        </p:txBody>
      </p:sp>
      <p:sp>
        <p:nvSpPr>
          <p:cNvPr id="21" name="Text 19"/>
          <p:cNvSpPr/>
          <p:nvPr/>
        </p:nvSpPr>
        <p:spPr>
          <a:xfrm>
            <a:off x="514350" y="4498777"/>
            <a:ext cx="8115300" cy="330398"/>
          </a:xfrm>
          <a:prstGeom prst="roundRect">
            <a:avLst>
              <a:gd name="adj" fmla="val 34595"/>
            </a:avLst>
          </a:prstGeom>
          <a:solidFill>
            <a:srgbClr val="F64A8A">
              <a:alpha val="6000"/>
            </a:srgbClr>
          </a:solidFill>
          <a:ln/>
        </p:spPr>
        <p:txBody>
          <a:bodyPr wrap="square" rtlCol="0" anchor="ctr"/>
          <a:lstStyle/>
          <a:p>
            <a:pPr indent="0" marL="0">
              <a:buNone/>
            </a:pPr>
            <a:endParaRPr lang="en-US" dirty="0"/>
          </a:p>
        </p:txBody>
      </p:sp>
      <p:sp>
        <p:nvSpPr>
          <p:cNvPr id="22" name="Text 20"/>
          <p:cNvSpPr/>
          <p:nvPr/>
        </p:nvSpPr>
        <p:spPr>
          <a:xfrm>
            <a:off x="642938" y="4596110"/>
            <a:ext cx="135731" cy="135731"/>
          </a:xfrm>
          <a:prstGeom prst="rect">
            <a:avLst/>
          </a:prstGeom>
          <a:noFill/>
          <a:ln/>
        </p:spPr>
        <p:txBody>
          <a:bodyPr wrap="none" lIns="0" tIns="0" rIns="0" bIns="0" rtlCol="0" anchor="ctr"/>
          <a:lstStyle/>
          <a:p>
            <a:pPr algn="ctr" indent="0" marL="0">
              <a:buNone/>
            </a:pPr>
            <a:r>
              <a:rPr lang="en-US" sz="1336" dirty="0">
                <a:solidFill>
                  <a:srgbClr val="C92A6A"/>
                </a:solidFill>
                <a:latin typeface="Segoe UI Symbol" pitchFamily="34" charset="0"/>
                <a:ea typeface="Segoe UI Symbol" pitchFamily="34" charset="-122"/>
                <a:cs typeface="Segoe UI Symbol" pitchFamily="34" charset="-120"/>
              </a:rPr>
              <a:t>ⓘ</a:t>
            </a:r>
            <a:endParaRPr lang="en-US" sz="1336" dirty="0"/>
          </a:p>
        </p:txBody>
      </p:sp>
      <p:sp>
        <p:nvSpPr>
          <p:cNvPr id="23" name="Text 21"/>
          <p:cNvSpPr/>
          <p:nvPr/>
        </p:nvSpPr>
        <p:spPr>
          <a:xfrm>
            <a:off x="850106" y="4591645"/>
            <a:ext cx="7650956" cy="144661"/>
          </a:xfrm>
          <a:prstGeom prst="rect">
            <a:avLst/>
          </a:prstGeom>
          <a:noFill/>
          <a:ln/>
        </p:spPr>
        <p:txBody>
          <a:bodyPr wrap="square" lIns="0" tIns="0" rIns="0" bIns="0" rtlCol="0" anchor="t"/>
          <a:lstStyle/>
          <a:p>
            <a:pPr algn="l" indent="0" marL="0">
              <a:lnSpc>
                <a:spcPts val="1139"/>
              </a:lnSpc>
              <a:buNone/>
            </a:pPr>
            <a:r>
              <a:rPr lang="en-US" sz="800" dirty="0">
                <a:solidFill>
                  <a:srgbClr val="1A1A1A"/>
                </a:solidFill>
                <a:latin typeface="Carlito" pitchFamily="34" charset="0"/>
                <a:ea typeface="Carlito" pitchFamily="34" charset="-122"/>
                <a:cs typeface="Carlito" pitchFamily="34" charset="-120"/>
              </a:rPr>
              <a:t>Расчётный сценарий при средней активности точек. Не является гарантией доходности</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643688" y="-1428750"/>
            <a:ext cx="3714750" cy="3714750"/>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514350" y="444698"/>
            <a:ext cx="185738" cy="28575"/>
          </a:xfrm>
          <a:prstGeom prst="roundRect">
            <a:avLst>
              <a:gd name="adj" fmla="val 66667"/>
            </a:avLst>
          </a:prstGeom>
          <a:solidFill>
            <a:srgbClr val="F64A8A"/>
          </a:solidFill>
          <a:ln/>
        </p:spPr>
        <p:txBody>
          <a:bodyPr wrap="square" rtlCol="0" anchor="ctr"/>
          <a:lstStyle/>
          <a:p>
            <a:pPr indent="0" marL="0">
              <a:buNone/>
            </a:pPr>
            <a:endParaRPr lang="en-US" dirty="0"/>
          </a:p>
        </p:txBody>
      </p:sp>
      <p:sp>
        <p:nvSpPr>
          <p:cNvPr id="4" name="Text 2"/>
          <p:cNvSpPr/>
          <p:nvPr/>
        </p:nvSpPr>
        <p:spPr>
          <a:xfrm>
            <a:off x="785813" y="400050"/>
            <a:ext cx="7843838"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solidFill>
                <a:latin typeface="Carlito" pitchFamily="34" charset="0"/>
                <a:ea typeface="Carlito" pitchFamily="34" charset="-122"/>
                <a:cs typeface="Carlito" pitchFamily="34" charset="-120"/>
              </a:rPr>
              <a:t>ПРЕДЛОЖЕНИЕ</a:t>
            </a:r>
            <a:endParaRPr lang="en-US" sz="800" dirty="0"/>
          </a:p>
        </p:txBody>
      </p:sp>
      <p:sp>
        <p:nvSpPr>
          <p:cNvPr id="5" name="Text 3"/>
          <p:cNvSpPr/>
          <p:nvPr/>
        </p:nvSpPr>
        <p:spPr>
          <a:xfrm>
            <a:off x="514350" y="632222"/>
            <a:ext cx="8629650" cy="328260"/>
          </a:xfrm>
          <a:prstGeom prst="rect">
            <a:avLst/>
          </a:prstGeom>
          <a:noFill/>
          <a:ln/>
        </p:spPr>
        <p:txBody>
          <a:bodyPr wrap="square" lIns="0" tIns="0" rIns="0" bIns="0" rtlCol="0" anchor="t"/>
          <a:lstStyle/>
          <a:p>
            <a:pPr algn="l" indent="0" marL="0">
              <a:lnSpc>
                <a:spcPts val="2394"/>
              </a:lnSpc>
              <a:buNone/>
            </a:pPr>
            <a:r>
              <a:rPr lang="en-US" sz="2138" b="1" spc="-43" kern="0" dirty="0">
                <a:solidFill>
                  <a:srgbClr val="1A1A1A"/>
                </a:solidFill>
                <a:latin typeface="Carlito" pitchFamily="34" charset="0"/>
                <a:ea typeface="Carlito" pitchFamily="34" charset="-122"/>
                <a:cs typeface="Carlito" pitchFamily="34" charset="-120"/>
              </a:rPr>
              <a:t>Входим в работающую модель на этапе старта сети</a:t>
            </a:r>
            <a:endParaRPr lang="en-US" sz="2138" dirty="0"/>
          </a:p>
        </p:txBody>
      </p:sp>
      <p:sp>
        <p:nvSpPr>
          <p:cNvPr id="6" name="Text 4"/>
          <p:cNvSpPr/>
          <p:nvPr/>
        </p:nvSpPr>
        <p:spPr>
          <a:xfrm>
            <a:off x="514350" y="2172370"/>
            <a:ext cx="214313" cy="214313"/>
          </a:xfrm>
          <a:prstGeom prst="roundRect">
            <a:avLst>
              <a:gd name="adj" fmla="val 4439990"/>
            </a:avLst>
          </a:prstGeom>
          <a:solidFill>
            <a:srgbClr val="F64A8A">
              <a:alpha val="12000"/>
            </a:srgbClr>
          </a:solidFill>
          <a:ln/>
        </p:spPr>
        <p:txBody>
          <a:bodyPr wrap="square" rtlCol="0" anchor="ctr"/>
          <a:lstStyle/>
          <a:p>
            <a:pPr indent="0" marL="0">
              <a:buNone/>
            </a:pPr>
            <a:endParaRPr lang="en-US" dirty="0"/>
          </a:p>
        </p:txBody>
      </p:sp>
      <p:sp>
        <p:nvSpPr>
          <p:cNvPr id="7" name="Text 5"/>
          <p:cNvSpPr/>
          <p:nvPr/>
        </p:nvSpPr>
        <p:spPr>
          <a:xfrm>
            <a:off x="514350" y="2172370"/>
            <a:ext cx="278606" cy="214313"/>
          </a:xfrm>
          <a:prstGeom prst="rect">
            <a:avLst/>
          </a:prstGeom>
          <a:noFill/>
          <a:ln/>
        </p:spPr>
        <p:txBody>
          <a:bodyPr wrap="none" lIns="0" tIns="0" rIns="0" bIns="0" rtlCol="0" anchor="ctr"/>
          <a:lstStyle/>
          <a:p>
            <a:pPr algn="ctr" indent="0" marL="0">
              <a:lnSpc>
                <a:spcPts val="1181"/>
              </a:lnSpc>
              <a:buNone/>
            </a:pPr>
            <a:r>
              <a:rPr lang="en-US" sz="800" b="1" dirty="0">
                <a:solidFill>
                  <a:srgbClr val="C92A6A"/>
                </a:solidFill>
                <a:latin typeface="Liberation Sans Narrow" pitchFamily="34" charset="0"/>
                <a:ea typeface="Liberation Sans Narrow" pitchFamily="34" charset="-122"/>
                <a:cs typeface="Liberation Sans Narrow" pitchFamily="34" charset="-120"/>
              </a:rPr>
              <a:t>1</a:t>
            </a:r>
            <a:endParaRPr lang="en-US" sz="800" dirty="0"/>
          </a:p>
        </p:txBody>
      </p:sp>
      <p:sp>
        <p:nvSpPr>
          <p:cNvPr id="8" name="Text 6"/>
          <p:cNvSpPr/>
          <p:nvPr/>
        </p:nvSpPr>
        <p:spPr>
          <a:xfrm>
            <a:off x="857250" y="2172370"/>
            <a:ext cx="4414838" cy="369126"/>
          </a:xfrm>
          <a:prstGeom prst="rect">
            <a:avLst/>
          </a:prstGeom>
          <a:noFill/>
          <a:ln/>
        </p:spPr>
        <p:txBody>
          <a:bodyPr wrap="square" lIns="0" tIns="0" rIns="0" bIns="0" rtlCol="0" anchor="t"/>
          <a:lstStyle/>
          <a:p>
            <a:pPr algn="l" indent="0" marL="0">
              <a:lnSpc>
                <a:spcPts val="1346"/>
              </a:lnSpc>
              <a:buNone/>
            </a:pPr>
            <a:r>
              <a:rPr lang="en-US" sz="928" b="1" dirty="0">
                <a:solidFill>
                  <a:srgbClr val="1A1A1A"/>
                </a:solidFill>
                <a:latin typeface="Carlito" pitchFamily="34" charset="0"/>
                <a:ea typeface="Carlito" pitchFamily="34" charset="-122"/>
                <a:cs typeface="Carlito" pitchFamily="34" charset="-120"/>
              </a:rPr>
              <a:t>Продукт и банк-инфраструктура уже работают — </a:t>
            </a:r>
            <a:pPr algn="l" indent="0" marL="0">
              <a:lnSpc>
                <a:spcPts val="1346"/>
              </a:lnSpc>
              <a:buNone/>
            </a:pPr>
            <a:r>
              <a:rPr lang="en-US" sz="928" b="1" dirty="0">
                <a:solidFill>
                  <a:srgbClr val="1A1A1A">
                    <a:alpha val="72000"/>
                  </a:srgbClr>
                </a:solidFill>
                <a:latin typeface="Carlito" pitchFamily="34" charset="0"/>
                <a:ea typeface="Carlito" pitchFamily="34" charset="-122"/>
                <a:cs typeface="Carlito" pitchFamily="34" charset="-120"/>
              </a:rPr>
              <a:t>деньги идут в рост, не в R&amp;D</a:t>
            </a:r>
            <a:endParaRPr lang="en-US" sz="928" dirty="0"/>
          </a:p>
        </p:txBody>
      </p:sp>
      <p:sp>
        <p:nvSpPr>
          <p:cNvPr id="9" name="Shape 7"/>
          <p:cNvSpPr/>
          <p:nvPr/>
        </p:nvSpPr>
        <p:spPr>
          <a:xfrm>
            <a:off x="514350" y="2703463"/>
            <a:ext cx="4757738" cy="0"/>
          </a:xfrm>
          <a:prstGeom prst="line">
            <a:avLst/>
          </a:prstGeom>
          <a:noFill/>
          <a:ln w="7144">
            <a:solidFill>
              <a:srgbClr val="1A1A1A"/>
            </a:solidFill>
            <a:prstDash val="solid"/>
          </a:ln>
        </p:spPr>
      </p:sp>
      <p:sp>
        <p:nvSpPr>
          <p:cNvPr id="10" name="Text 8"/>
          <p:cNvSpPr/>
          <p:nvPr/>
        </p:nvSpPr>
        <p:spPr>
          <a:xfrm>
            <a:off x="514350" y="2892772"/>
            <a:ext cx="214313" cy="214313"/>
          </a:xfrm>
          <a:prstGeom prst="roundRect">
            <a:avLst>
              <a:gd name="adj" fmla="val 4439990"/>
            </a:avLst>
          </a:prstGeom>
          <a:solidFill>
            <a:srgbClr val="F64A8A">
              <a:alpha val="12000"/>
            </a:srgbClr>
          </a:solidFill>
          <a:ln/>
        </p:spPr>
        <p:txBody>
          <a:bodyPr wrap="square" rtlCol="0" anchor="ctr"/>
          <a:lstStyle/>
          <a:p>
            <a:pPr indent="0" marL="0">
              <a:buNone/>
            </a:pPr>
            <a:endParaRPr lang="en-US" dirty="0"/>
          </a:p>
        </p:txBody>
      </p:sp>
      <p:sp>
        <p:nvSpPr>
          <p:cNvPr id="11" name="Text 9"/>
          <p:cNvSpPr/>
          <p:nvPr/>
        </p:nvSpPr>
        <p:spPr>
          <a:xfrm>
            <a:off x="514350" y="2892772"/>
            <a:ext cx="278606" cy="214313"/>
          </a:xfrm>
          <a:prstGeom prst="rect">
            <a:avLst/>
          </a:prstGeom>
          <a:noFill/>
          <a:ln/>
        </p:spPr>
        <p:txBody>
          <a:bodyPr wrap="none" lIns="0" tIns="0" rIns="0" bIns="0" rtlCol="0" anchor="ctr"/>
          <a:lstStyle/>
          <a:p>
            <a:pPr algn="ctr" indent="0" marL="0">
              <a:lnSpc>
                <a:spcPts val="1181"/>
              </a:lnSpc>
              <a:buNone/>
            </a:pPr>
            <a:r>
              <a:rPr lang="en-US" sz="800" b="1" dirty="0">
                <a:solidFill>
                  <a:srgbClr val="C92A6A"/>
                </a:solidFill>
                <a:latin typeface="Liberation Sans Narrow" pitchFamily="34" charset="0"/>
                <a:ea typeface="Liberation Sans Narrow" pitchFamily="34" charset="-122"/>
                <a:cs typeface="Liberation Sans Narrow" pitchFamily="34" charset="-120"/>
              </a:rPr>
              <a:t>2</a:t>
            </a:r>
            <a:endParaRPr lang="en-US" sz="800" dirty="0"/>
          </a:p>
        </p:txBody>
      </p:sp>
      <p:sp>
        <p:nvSpPr>
          <p:cNvPr id="12" name="Text 10"/>
          <p:cNvSpPr/>
          <p:nvPr/>
        </p:nvSpPr>
        <p:spPr>
          <a:xfrm>
            <a:off x="857250" y="2892772"/>
            <a:ext cx="4414838" cy="184563"/>
          </a:xfrm>
          <a:prstGeom prst="rect">
            <a:avLst/>
          </a:prstGeom>
          <a:noFill/>
          <a:ln/>
        </p:spPr>
        <p:txBody>
          <a:bodyPr wrap="square" lIns="0" tIns="0" rIns="0" bIns="0" rtlCol="0" anchor="t"/>
          <a:lstStyle/>
          <a:p>
            <a:pPr algn="l" indent="0" marL="0">
              <a:lnSpc>
                <a:spcPts val="1346"/>
              </a:lnSpc>
              <a:buNone/>
            </a:pPr>
            <a:r>
              <a:rPr lang="en-US" sz="928" b="1" dirty="0">
                <a:solidFill>
                  <a:srgbClr val="1A1A1A"/>
                </a:solidFill>
                <a:latin typeface="Carlito" pitchFamily="34" charset="0"/>
                <a:ea typeface="Carlito" pitchFamily="34" charset="-122"/>
                <a:cs typeface="Carlito" pitchFamily="34" charset="-120"/>
              </a:rPr>
              <a:t>Комиссионная модель масштабируется линейно: </a:t>
            </a:r>
            <a:pPr algn="l" indent="0" marL="0">
              <a:lnSpc>
                <a:spcPts val="1346"/>
              </a:lnSpc>
              <a:buNone/>
            </a:pPr>
            <a:r>
              <a:rPr lang="en-US" sz="928" b="1" dirty="0">
                <a:solidFill>
                  <a:srgbClr val="1A1A1A">
                    <a:alpha val="72000"/>
                  </a:srgbClr>
                </a:solidFill>
                <a:latin typeface="Carlito" pitchFamily="34" charset="0"/>
                <a:ea typeface="Carlito" pitchFamily="34" charset="-122"/>
                <a:cs typeface="Carlito" pitchFamily="34" charset="-120"/>
              </a:rPr>
              <a:t>точка → район → город</a:t>
            </a:r>
            <a:endParaRPr lang="en-US" sz="928" dirty="0"/>
          </a:p>
        </p:txBody>
      </p:sp>
      <p:sp>
        <p:nvSpPr>
          <p:cNvPr id="13" name="Shape 11"/>
          <p:cNvSpPr/>
          <p:nvPr/>
        </p:nvSpPr>
        <p:spPr>
          <a:xfrm>
            <a:off x="514350" y="3296394"/>
            <a:ext cx="4757738" cy="0"/>
          </a:xfrm>
          <a:prstGeom prst="line">
            <a:avLst/>
          </a:prstGeom>
          <a:noFill/>
          <a:ln w="7144">
            <a:solidFill>
              <a:srgbClr val="1A1A1A"/>
            </a:solidFill>
            <a:prstDash val="solid"/>
          </a:ln>
        </p:spPr>
      </p:sp>
      <p:sp>
        <p:nvSpPr>
          <p:cNvPr id="14" name="Text 12"/>
          <p:cNvSpPr/>
          <p:nvPr/>
        </p:nvSpPr>
        <p:spPr>
          <a:xfrm>
            <a:off x="514350" y="3485704"/>
            <a:ext cx="214313" cy="214313"/>
          </a:xfrm>
          <a:prstGeom prst="roundRect">
            <a:avLst>
              <a:gd name="adj" fmla="val 4439990"/>
            </a:avLst>
          </a:prstGeom>
          <a:solidFill>
            <a:srgbClr val="F64A8A">
              <a:alpha val="12000"/>
            </a:srgbClr>
          </a:solidFill>
          <a:ln/>
        </p:spPr>
        <p:txBody>
          <a:bodyPr wrap="square" rtlCol="0" anchor="ctr"/>
          <a:lstStyle/>
          <a:p>
            <a:pPr indent="0" marL="0">
              <a:buNone/>
            </a:pPr>
            <a:endParaRPr lang="en-US" dirty="0"/>
          </a:p>
        </p:txBody>
      </p:sp>
      <p:sp>
        <p:nvSpPr>
          <p:cNvPr id="15" name="Text 13"/>
          <p:cNvSpPr/>
          <p:nvPr/>
        </p:nvSpPr>
        <p:spPr>
          <a:xfrm>
            <a:off x="514350" y="3485704"/>
            <a:ext cx="278606" cy="214313"/>
          </a:xfrm>
          <a:prstGeom prst="rect">
            <a:avLst/>
          </a:prstGeom>
          <a:noFill/>
          <a:ln/>
        </p:spPr>
        <p:txBody>
          <a:bodyPr wrap="none" lIns="0" tIns="0" rIns="0" bIns="0" rtlCol="0" anchor="ctr"/>
          <a:lstStyle/>
          <a:p>
            <a:pPr algn="ctr" indent="0" marL="0">
              <a:lnSpc>
                <a:spcPts val="1181"/>
              </a:lnSpc>
              <a:buNone/>
            </a:pPr>
            <a:r>
              <a:rPr lang="en-US" sz="800" b="1" dirty="0">
                <a:solidFill>
                  <a:srgbClr val="C92A6A"/>
                </a:solidFill>
                <a:latin typeface="Liberation Sans Narrow" pitchFamily="34" charset="0"/>
                <a:ea typeface="Liberation Sans Narrow" pitchFamily="34" charset="-122"/>
                <a:cs typeface="Liberation Sans Narrow" pitchFamily="34" charset="-120"/>
              </a:rPr>
              <a:t>3</a:t>
            </a:r>
            <a:endParaRPr lang="en-US" sz="800" dirty="0"/>
          </a:p>
        </p:txBody>
      </p:sp>
      <p:sp>
        <p:nvSpPr>
          <p:cNvPr id="16" name="Text 14"/>
          <p:cNvSpPr/>
          <p:nvPr/>
        </p:nvSpPr>
        <p:spPr>
          <a:xfrm>
            <a:off x="857250" y="3485704"/>
            <a:ext cx="4414838" cy="184563"/>
          </a:xfrm>
          <a:prstGeom prst="rect">
            <a:avLst/>
          </a:prstGeom>
          <a:noFill/>
          <a:ln/>
        </p:spPr>
        <p:txBody>
          <a:bodyPr wrap="square" lIns="0" tIns="0" rIns="0" bIns="0" rtlCol="0" anchor="t"/>
          <a:lstStyle/>
          <a:p>
            <a:pPr algn="l" indent="0" marL="0">
              <a:lnSpc>
                <a:spcPts val="1346"/>
              </a:lnSpc>
              <a:buNone/>
            </a:pPr>
            <a:r>
              <a:rPr lang="en-US" sz="928" b="1" dirty="0">
                <a:solidFill>
                  <a:srgbClr val="1A1A1A"/>
                </a:solidFill>
                <a:latin typeface="Carlito" pitchFamily="34" charset="0"/>
                <a:ea typeface="Carlito" pitchFamily="34" charset="-122"/>
                <a:cs typeface="Carlito" pitchFamily="34" charset="-120"/>
              </a:rPr>
              <a:t>Партнёрская сеть 40/40/20 — </a:t>
            </a:r>
            <a:pPr algn="l" indent="0" marL="0">
              <a:lnSpc>
                <a:spcPts val="1346"/>
              </a:lnSpc>
              <a:buNone/>
            </a:pPr>
            <a:r>
              <a:rPr lang="en-US" sz="928" b="1" dirty="0">
                <a:solidFill>
                  <a:srgbClr val="1A1A1A">
                    <a:alpha val="72000"/>
                  </a:srgbClr>
                </a:solidFill>
                <a:latin typeface="Carlito" pitchFamily="34" charset="0"/>
                <a:ea typeface="Carlito" pitchFamily="34" charset="-122"/>
                <a:cs typeface="Carlito" pitchFamily="34" charset="-120"/>
              </a:rPr>
              <a:t>дистрибуция без роста штатных расходов</a:t>
            </a:r>
            <a:endParaRPr lang="en-US" sz="928" dirty="0"/>
          </a:p>
        </p:txBody>
      </p:sp>
      <p:sp>
        <p:nvSpPr>
          <p:cNvPr id="17" name="Shape 15"/>
          <p:cNvSpPr/>
          <p:nvPr/>
        </p:nvSpPr>
        <p:spPr>
          <a:xfrm>
            <a:off x="514350" y="3889325"/>
            <a:ext cx="4757738" cy="0"/>
          </a:xfrm>
          <a:prstGeom prst="line">
            <a:avLst/>
          </a:prstGeom>
          <a:noFill/>
          <a:ln w="7144">
            <a:solidFill>
              <a:srgbClr val="1A1A1A"/>
            </a:solidFill>
            <a:prstDash val="solid"/>
          </a:ln>
        </p:spPr>
      </p:sp>
      <p:sp>
        <p:nvSpPr>
          <p:cNvPr id="18" name="Text 16"/>
          <p:cNvSpPr/>
          <p:nvPr/>
        </p:nvSpPr>
        <p:spPr>
          <a:xfrm>
            <a:off x="5629275" y="1107616"/>
            <a:ext cx="3000375" cy="3664409"/>
          </a:xfrm>
          <a:prstGeom prst="roundRect">
            <a:avLst>
              <a:gd name="adj" fmla="val 3810"/>
            </a:avLst>
          </a:prstGeom>
          <a:solidFill>
            <a:srgbClr val="F8F8F8"/>
          </a:solidFill>
          <a:ln/>
          <a:effectLst>
            <a:outerShdw sx="100000" sy="100000" kx="0" ky="0" algn="bl" rotWithShape="0" blurRad="28575" dist="9525" dir="5400000">
              <a:srgbClr val="1A1A1A">
                <a:alpha val="6000"/>
              </a:srgbClr>
            </a:outerShdw>
          </a:effectLst>
        </p:spPr>
        <p:txBody>
          <a:bodyPr wrap="square" rtlCol="0" anchor="ctr"/>
          <a:lstStyle/>
          <a:p>
            <a:pPr indent="0" marL="0">
              <a:buNone/>
            </a:pPr>
            <a:endParaRPr lang="en-US" dirty="0"/>
          </a:p>
        </p:txBody>
      </p:sp>
      <p:sp>
        <p:nvSpPr>
          <p:cNvPr id="19" name="Text 17"/>
          <p:cNvSpPr/>
          <p:nvPr/>
        </p:nvSpPr>
        <p:spPr>
          <a:xfrm>
            <a:off x="7772400" y="607554"/>
            <a:ext cx="1357313" cy="1357313"/>
          </a:xfrm>
          <a:prstGeom prst="ellipse">
            <a:avLst/>
          </a:prstGeom>
          <a:solidFill>
            <a:srgbClr val="D4A854">
              <a:alpha val="10000"/>
            </a:srgbClr>
          </a:solidFill>
          <a:ln/>
        </p:spPr>
        <p:txBody>
          <a:bodyPr wrap="square" rtlCol="0" anchor="ctr"/>
          <a:lstStyle/>
          <a:p>
            <a:pPr indent="0" marL="0">
              <a:buNone/>
            </a:pPr>
            <a:endParaRPr lang="en-US" dirty="0"/>
          </a:p>
        </p:txBody>
      </p:sp>
      <p:sp>
        <p:nvSpPr>
          <p:cNvPr id="20" name="Text 18"/>
          <p:cNvSpPr/>
          <p:nvPr/>
        </p:nvSpPr>
        <p:spPr>
          <a:xfrm>
            <a:off x="5843588" y="1336216"/>
            <a:ext cx="342900" cy="342900"/>
          </a:xfrm>
          <a:prstGeom prst="roundRect">
            <a:avLst>
              <a:gd name="adj" fmla="val 33333"/>
            </a:avLst>
          </a:prstGeom>
          <a:solidFill>
            <a:srgbClr val="F64A8A">
              <a:alpha val="10000"/>
            </a:srgbClr>
          </a:solidFill>
          <a:ln/>
        </p:spPr>
        <p:txBody>
          <a:bodyPr wrap="square" rtlCol="0" anchor="ctr"/>
          <a:lstStyle/>
          <a:p>
            <a:pPr indent="0" marL="0">
              <a:buNone/>
            </a:pPr>
            <a:endParaRPr lang="en-US" dirty="0"/>
          </a:p>
        </p:txBody>
      </p:sp>
      <p:sp>
        <p:nvSpPr>
          <p:cNvPr id="21" name="Text 19"/>
          <p:cNvSpPr/>
          <p:nvPr/>
        </p:nvSpPr>
        <p:spPr>
          <a:xfrm>
            <a:off x="5890736" y="1383365"/>
            <a:ext cx="248602" cy="248602"/>
          </a:xfrm>
          <a:prstGeom prst="rect">
            <a:avLst/>
          </a:prstGeom>
          <a:noFill/>
          <a:ln/>
        </p:spPr>
        <p:txBody>
          <a:bodyPr wrap="none" lIns="0" tIns="0" rIns="0" bIns="0" rtlCol="0" anchor="ctr"/>
          <a:lstStyle/>
          <a:p>
            <a:pPr algn="ctr" indent="0" marL="0">
              <a:buNone/>
            </a:pPr>
            <a:r>
              <a:rPr lang="en-US" sz="1688" dirty="0">
                <a:solidFill>
                  <a:srgbClr val="C92A6A"/>
                </a:solidFill>
                <a:latin typeface="Segoe UI Symbol" pitchFamily="34" charset="0"/>
                <a:ea typeface="Segoe UI Symbol" pitchFamily="34" charset="-122"/>
                <a:cs typeface="Segoe UI Symbol" pitchFamily="34" charset="-120"/>
              </a:rPr>
              <a:t>⚑</a:t>
            </a:r>
            <a:endParaRPr lang="en-US" sz="1688" dirty="0"/>
          </a:p>
        </p:txBody>
      </p:sp>
      <p:sp>
        <p:nvSpPr>
          <p:cNvPr id="22" name="Text 20"/>
          <p:cNvSpPr/>
          <p:nvPr/>
        </p:nvSpPr>
        <p:spPr>
          <a:xfrm>
            <a:off x="5843588" y="1807704"/>
            <a:ext cx="2571750" cy="164592"/>
          </a:xfrm>
          <a:prstGeom prst="rect">
            <a:avLst/>
          </a:prstGeom>
          <a:noFill/>
          <a:ln/>
        </p:spPr>
        <p:txBody>
          <a:bodyPr wrap="none" lIns="0" tIns="0" rIns="0" bIns="0" rtlCol="0" anchor="t"/>
          <a:lstStyle/>
          <a:p>
            <a:pPr algn="l" indent="0" marL="0">
              <a:lnSpc>
                <a:spcPts val="928"/>
              </a:lnSpc>
              <a:buNone/>
            </a:pPr>
            <a:r>
              <a:rPr lang="en-US" sz="800" b="1" spc="87" kern="0" dirty="0">
                <a:solidFill>
                  <a:srgbClr val="1A1A1A">
                    <a:alpha val="65000"/>
                  </a:srgbClr>
                </a:solidFill>
                <a:latin typeface="Carlito" pitchFamily="34" charset="0"/>
                <a:ea typeface="Carlito" pitchFamily="34" charset="-122"/>
                <a:cs typeface="Carlito" pitchFamily="34" charset="-120"/>
              </a:rPr>
              <a:t>СЛЕДУЮЩИЙ ШАГ</a:t>
            </a:r>
            <a:endParaRPr lang="en-US" sz="800" dirty="0"/>
          </a:p>
        </p:txBody>
      </p:sp>
      <p:sp>
        <p:nvSpPr>
          <p:cNvPr id="23" name="Text 21"/>
          <p:cNvSpPr/>
          <p:nvPr/>
        </p:nvSpPr>
        <p:spPr>
          <a:xfrm>
            <a:off x="5843588" y="2011300"/>
            <a:ext cx="2571750" cy="406497"/>
          </a:xfrm>
          <a:prstGeom prst="rect">
            <a:avLst/>
          </a:prstGeom>
          <a:noFill/>
          <a:ln/>
        </p:spPr>
        <p:txBody>
          <a:bodyPr wrap="square" lIns="0" tIns="0" rIns="0" bIns="0" rtlCol="0" anchor="t"/>
          <a:lstStyle/>
          <a:p>
            <a:pPr algn="l" indent="0" marL="0">
              <a:lnSpc>
                <a:spcPts val="1482"/>
              </a:lnSpc>
              <a:buNone/>
            </a:pPr>
            <a:r>
              <a:rPr lang="en-US" sz="956" dirty="0">
                <a:solidFill>
                  <a:srgbClr val="1A1A1A"/>
                </a:solidFill>
                <a:latin typeface="Carlito" pitchFamily="34" charset="0"/>
                <a:ea typeface="Carlito" pitchFamily="34" charset="-122"/>
                <a:cs typeface="Carlito" pitchFamily="34" charset="-120"/>
              </a:rPr>
              <a:t>Запросите финансовую модель и доступ к демо — </a:t>
            </a:r>
            <a:pPr algn="l" indent="0" marL="0">
              <a:lnSpc>
                <a:spcPts val="1482"/>
              </a:lnSpc>
              <a:buNone/>
            </a:pPr>
            <a:r>
              <a:rPr lang="en-US" sz="956" b="1" dirty="0">
                <a:solidFill>
                  <a:srgbClr val="1A1A1A"/>
                </a:solidFill>
                <a:latin typeface="Carlito" pitchFamily="34" charset="0"/>
                <a:ea typeface="Carlito" pitchFamily="34" charset="-122"/>
                <a:cs typeface="Carlito" pitchFamily="34" charset="-120"/>
              </a:rPr>
              <a:t>lovii.ru</a:t>
            </a:r>
            <a:endParaRPr lang="en-US" sz="956" dirty="0"/>
          </a:p>
        </p:txBody>
      </p:sp>
      <p:sp>
        <p:nvSpPr>
          <p:cNvPr id="24" name="Text 22"/>
          <p:cNvSpPr/>
          <p:nvPr/>
        </p:nvSpPr>
        <p:spPr>
          <a:xfrm>
            <a:off x="5843588" y="4134445"/>
            <a:ext cx="2571750" cy="408980"/>
          </a:xfrm>
          <a:prstGeom prst="roundRect">
            <a:avLst>
              <a:gd name="adj" fmla="val 27948"/>
            </a:avLst>
          </a:prstGeom>
          <a:solidFill>
            <a:srgbClr val="1A1A1A"/>
          </a:solidFill>
          <a:ln/>
        </p:spPr>
        <p:txBody>
          <a:bodyPr wrap="square" rtlCol="0" anchor="ctr"/>
          <a:lstStyle/>
          <a:p>
            <a:pPr indent="0" marL="0">
              <a:buNone/>
            </a:pPr>
            <a:endParaRPr lang="en-US" dirty="0"/>
          </a:p>
        </p:txBody>
      </p:sp>
      <p:sp>
        <p:nvSpPr>
          <p:cNvPr id="25" name="Text 23"/>
          <p:cNvSpPr/>
          <p:nvPr/>
        </p:nvSpPr>
        <p:spPr>
          <a:xfrm>
            <a:off x="6000750" y="4255889"/>
            <a:ext cx="2100263" cy="166092"/>
          </a:xfrm>
          <a:prstGeom prst="rect">
            <a:avLst/>
          </a:prstGeom>
          <a:noFill/>
          <a:ln/>
        </p:spPr>
        <p:txBody>
          <a:bodyPr wrap="none" lIns="0" tIns="0" rIns="0" bIns="0" rtlCol="0" anchor="t"/>
          <a:lstStyle/>
          <a:p>
            <a:pPr algn="l" indent="0" marL="0">
              <a:lnSpc>
                <a:spcPts val="1308"/>
              </a:lnSpc>
              <a:buNone/>
            </a:pPr>
            <a:r>
              <a:rPr lang="en-US" sz="872" b="1" dirty="0">
                <a:solidFill>
                  <a:srgbClr val="FFFFFF"/>
                </a:solidFill>
                <a:latin typeface="Carlito" pitchFamily="34" charset="0"/>
                <a:ea typeface="Carlito" pitchFamily="34" charset="-122"/>
                <a:cs typeface="Carlito" pitchFamily="34" charset="-120"/>
              </a:rPr>
              <a:t>Получить фин.модель LOVII</a:t>
            </a:r>
            <a:endParaRPr lang="en-US" sz="872" dirty="0"/>
          </a:p>
        </p:txBody>
      </p:sp>
      <p:sp>
        <p:nvSpPr>
          <p:cNvPr id="26" name="Text 24"/>
          <p:cNvSpPr/>
          <p:nvPr/>
        </p:nvSpPr>
        <p:spPr>
          <a:xfrm>
            <a:off x="8115300" y="4267498"/>
            <a:ext cx="142875" cy="142875"/>
          </a:xfrm>
          <a:prstGeom prst="rect">
            <a:avLst/>
          </a:prstGeom>
          <a:noFill/>
          <a:ln/>
        </p:spPr>
        <p:txBody>
          <a:bodyPr wrap="none" lIns="0" tIns="0" rIns="0" bIns="0" rtlCol="0" anchor="ctr"/>
          <a:lstStyle/>
          <a:p>
            <a:pPr algn="ctr" indent="0" marL="0">
              <a:buNone/>
            </a:pPr>
            <a:r>
              <a:rPr lang="en-US" sz="1406" dirty="0">
                <a:solidFill>
                  <a:srgbClr val="FFFFFF"/>
                </a:solidFill>
                <a:latin typeface="Segoe UI Symbol" pitchFamily="34" charset="0"/>
                <a:ea typeface="Segoe UI Symbol" pitchFamily="34" charset="-122"/>
                <a:cs typeface="Segoe UI Symbol" pitchFamily="34" charset="-120"/>
              </a:rPr>
              <a:t>→</a:t>
            </a:r>
            <a:endParaRPr lang="en-US" sz="1406"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286250" y="-2571750"/>
            <a:ext cx="7000875" cy="7000875"/>
          </a:xfrm>
          <a:prstGeom prst="ellipse">
            <a:avLst/>
          </a:prstGeom>
          <a:solidFill>
            <a:srgbClr val="F64A8A">
              <a:alpha val="5000"/>
            </a:srgbClr>
          </a:solidFill>
          <a:ln/>
        </p:spPr>
        <p:txBody>
          <a:bodyPr wrap="square" rtlCol="0" anchor="ctr"/>
          <a:lstStyle/>
          <a:p>
            <a:pPr indent="0" marL="0">
              <a:buNone/>
            </a:pPr>
            <a:endParaRPr lang="en-US" dirty="0"/>
          </a:p>
        </p:txBody>
      </p:sp>
      <p:sp>
        <p:nvSpPr>
          <p:cNvPr id="3" name="Text 1"/>
          <p:cNvSpPr/>
          <p:nvPr/>
        </p:nvSpPr>
        <p:spPr>
          <a:xfrm>
            <a:off x="4518422" y="-2796778"/>
            <a:ext cx="6993731" cy="6993731"/>
          </a:xfrm>
          <a:prstGeom prst="ellipse">
            <a:avLst/>
          </a:prstGeom>
          <a:noFill/>
          <a:ln w="7144">
            <a:solidFill>
              <a:srgbClr val="F64A8A"/>
            </a:solidFill>
            <a:prstDash val="solid"/>
          </a:ln>
        </p:spPr>
        <p:txBody>
          <a:bodyPr wrap="square" rtlCol="0" anchor="ctr"/>
          <a:lstStyle/>
          <a:p>
            <a:pPr indent="0" marL="0">
              <a:buNone/>
            </a:pPr>
            <a:endParaRPr lang="en-US" dirty="0"/>
          </a:p>
        </p:txBody>
      </p:sp>
      <p:sp>
        <p:nvSpPr>
          <p:cNvPr id="4" name="Text 2"/>
          <p:cNvSpPr/>
          <p:nvPr/>
        </p:nvSpPr>
        <p:spPr>
          <a:xfrm>
            <a:off x="-500062" y="4286250"/>
            <a:ext cx="1428750" cy="1428750"/>
          </a:xfrm>
          <a:prstGeom prst="ellipse">
            <a:avLst/>
          </a:prstGeom>
          <a:solidFill>
            <a:srgbClr val="D4A854">
              <a:alpha val="8000"/>
            </a:srgbClr>
          </a:solidFill>
          <a:ln/>
        </p:spPr>
        <p:txBody>
          <a:bodyPr wrap="square" rtlCol="0" anchor="ctr"/>
          <a:lstStyle/>
          <a:p>
            <a:pPr indent="0" marL="0">
              <a:buNone/>
            </a:pPr>
            <a:endParaRPr lang="en-US" dirty="0"/>
          </a:p>
        </p:txBody>
      </p:sp>
      <p:sp>
        <p:nvSpPr>
          <p:cNvPr id="5" name="Text 3"/>
          <p:cNvSpPr/>
          <p:nvPr/>
        </p:nvSpPr>
        <p:spPr>
          <a:xfrm>
            <a:off x="274320" y="1453865"/>
            <a:ext cx="8595360" cy="916427"/>
          </a:xfrm>
          <a:prstGeom prst="rect">
            <a:avLst/>
          </a:prstGeom>
          <a:noFill/>
          <a:ln/>
        </p:spPr>
        <p:txBody>
          <a:bodyPr wrap="square" lIns="0" tIns="0" rIns="0" bIns="0" rtlCol="0" anchor="t"/>
          <a:lstStyle/>
          <a:p>
            <a:pPr algn="ctr" indent="0" marL="0">
              <a:lnSpc>
                <a:spcPts val="3341"/>
              </a:lnSpc>
              <a:buNone/>
            </a:pPr>
            <a:r>
              <a:rPr lang="en-US" sz="3038" b="1" spc="-76" kern="0" dirty="0">
                <a:solidFill>
                  <a:srgbClr val="1A1A1A"/>
                </a:solidFill>
                <a:latin typeface="Carlito" pitchFamily="34" charset="0"/>
                <a:ea typeface="Carlito" pitchFamily="34" charset="-122"/>
                <a:cs typeface="Carlito" pitchFamily="34" charset="-120"/>
              </a:rPr>
              <a:t>Построим локальную экономику </a:t>
            </a:r>
            <a:pPr algn="ctr" indent="0" marL="0">
              <a:lnSpc>
                <a:spcPts val="3341"/>
              </a:lnSpc>
              <a:buNone/>
            </a:pPr>
            <a:r>
              <a:rPr lang="en-US" sz="3038" b="1" spc="-76" kern="0" dirty="0">
                <a:solidFill>
                  <a:srgbClr val="F64A8A"/>
                </a:solidFill>
                <a:latin typeface="Carlito" pitchFamily="34" charset="0"/>
                <a:ea typeface="Carlito" pitchFamily="34" charset="-122"/>
                <a:cs typeface="Carlito" pitchFamily="34" charset="-120"/>
              </a:rPr>
              <a:t>вместе</a:t>
            </a:r>
            <a:endParaRPr lang="en-US" sz="3038" dirty="0"/>
          </a:p>
        </p:txBody>
      </p:sp>
      <p:sp>
        <p:nvSpPr>
          <p:cNvPr id="6" name="Text 4"/>
          <p:cNvSpPr/>
          <p:nvPr/>
        </p:nvSpPr>
        <p:spPr>
          <a:xfrm>
            <a:off x="1857375" y="2473858"/>
            <a:ext cx="5429250" cy="227118"/>
          </a:xfrm>
          <a:prstGeom prst="rect">
            <a:avLst/>
          </a:prstGeom>
          <a:noFill/>
          <a:ln/>
        </p:spPr>
        <p:txBody>
          <a:bodyPr wrap="square" lIns="0" tIns="0" rIns="0" bIns="0" rtlCol="0" anchor="t"/>
          <a:lstStyle/>
          <a:p>
            <a:pPr algn="ctr" indent="0" marL="0">
              <a:lnSpc>
                <a:spcPts val="1657"/>
              </a:lnSpc>
              <a:buNone/>
            </a:pPr>
            <a:r>
              <a:rPr lang="en-US" sz="1069" dirty="0">
                <a:solidFill>
                  <a:srgbClr val="1A1A1A">
                    <a:alpha val="72000"/>
                  </a:srgbClr>
                </a:solidFill>
                <a:latin typeface="Carlito" pitchFamily="34" charset="0"/>
                <a:ea typeface="Carlito" pitchFamily="34" charset="-122"/>
                <a:cs typeface="Carlito" pitchFamily="34" charset="-120"/>
              </a:rPr>
              <a:t>LOVII — комиссия </a:t>
            </a:r>
            <a:pPr algn="ctr" indent="0" marL="0">
              <a:lnSpc>
                <a:spcPts val="1657"/>
              </a:lnSpc>
              <a:buNone/>
            </a:pPr>
            <a:r>
              <a:rPr lang="en-US" sz="1069" b="1" dirty="0">
                <a:solidFill>
                  <a:srgbClr val="1A1A1A">
                    <a:alpha val="72000"/>
                  </a:srgbClr>
                </a:solidFill>
                <a:latin typeface="Liberation Sans Narrow" pitchFamily="34" charset="0"/>
                <a:ea typeface="Liberation Sans Narrow" pitchFamily="34" charset="-122"/>
                <a:cs typeface="Liberation Sans Narrow" pitchFamily="34" charset="-120"/>
              </a:rPr>
              <a:t>~10%</a:t>
            </a:r>
            <a:pPr algn="ctr" indent="0" marL="0">
              <a:lnSpc>
                <a:spcPts val="1657"/>
              </a:lnSpc>
              <a:buNone/>
            </a:pPr>
            <a:r>
              <a:rPr lang="en-US" sz="1069" dirty="0">
                <a:solidFill>
                  <a:srgbClr val="1A1A1A">
                    <a:alpha val="72000"/>
                  </a:srgbClr>
                </a:solidFill>
                <a:latin typeface="Carlito" pitchFamily="34" charset="0"/>
                <a:ea typeface="Carlito" pitchFamily="34" charset="-122"/>
                <a:cs typeface="Carlito" pitchFamily="34" charset="-120"/>
              </a:rPr>
              <a:t>, кэшбэк жителям </a:t>
            </a:r>
            <a:pPr algn="ctr" indent="0" marL="0">
              <a:lnSpc>
                <a:spcPts val="1657"/>
              </a:lnSpc>
              <a:buNone/>
            </a:pPr>
            <a:r>
              <a:rPr lang="en-US" sz="1069" b="1" dirty="0">
                <a:solidFill>
                  <a:srgbClr val="1A1A1A">
                    <a:alpha val="72000"/>
                  </a:srgbClr>
                </a:solidFill>
                <a:latin typeface="Liberation Sans Narrow" pitchFamily="34" charset="0"/>
                <a:ea typeface="Liberation Sans Narrow" pitchFamily="34" charset="-122"/>
                <a:cs typeface="Liberation Sans Narrow" pitchFamily="34" charset="-120"/>
              </a:rPr>
              <a:t>6,84–9,3%</a:t>
            </a:r>
            <a:pPr algn="ctr" indent="0" marL="0">
              <a:lnSpc>
                <a:spcPts val="1657"/>
              </a:lnSpc>
              <a:buNone/>
            </a:pPr>
            <a:r>
              <a:rPr lang="en-US" sz="1069" dirty="0">
                <a:solidFill>
                  <a:srgbClr val="1A1A1A">
                    <a:alpha val="72000"/>
                  </a:srgbClr>
                </a:solidFill>
                <a:latin typeface="Carlito" pitchFamily="34" charset="0"/>
                <a:ea typeface="Carlito" pitchFamily="34" charset="-122"/>
                <a:cs typeface="Carlito" pitchFamily="34" charset="-120"/>
              </a:rPr>
              <a:t>, оборот — в районе</a:t>
            </a:r>
            <a:endParaRPr lang="en-US" sz="1069" dirty="0"/>
          </a:p>
        </p:txBody>
      </p:sp>
      <p:sp>
        <p:nvSpPr>
          <p:cNvPr id="7" name="Text 5"/>
          <p:cNvSpPr/>
          <p:nvPr/>
        </p:nvSpPr>
        <p:spPr>
          <a:xfrm>
            <a:off x="2578447" y="2929969"/>
            <a:ext cx="1068772" cy="212027"/>
          </a:xfrm>
          <a:prstGeom prst="roundRect">
            <a:avLst>
              <a:gd name="adj" fmla="val 4487860"/>
            </a:avLst>
          </a:prstGeom>
          <a:solidFill>
            <a:srgbClr val="0ABAB5">
              <a:alpha val="10000"/>
            </a:srgbClr>
          </a:solidFill>
          <a:ln/>
        </p:spPr>
        <p:txBody>
          <a:bodyPr wrap="square" rtlCol="0" anchor="ctr"/>
          <a:lstStyle/>
          <a:p>
            <a:pPr indent="0" marL="0">
              <a:buNone/>
            </a:pPr>
            <a:endParaRPr lang="en-US" dirty="0"/>
          </a:p>
        </p:txBody>
      </p:sp>
      <p:sp>
        <p:nvSpPr>
          <p:cNvPr id="8" name="Text 6"/>
          <p:cNvSpPr/>
          <p:nvPr/>
        </p:nvSpPr>
        <p:spPr>
          <a:xfrm>
            <a:off x="2821335" y="2991334"/>
            <a:ext cx="725872" cy="119703"/>
          </a:xfrm>
          <a:prstGeom prst="rect">
            <a:avLst/>
          </a:prstGeom>
          <a:noFill/>
          <a:ln/>
        </p:spPr>
        <p:txBody>
          <a:bodyPr wrap="none" lIns="0" tIns="0" rIns="0" bIns="0" rtlCol="0" anchor="t"/>
          <a:lstStyle/>
          <a:p>
            <a:pPr algn="ctr" indent="0" marL="0">
              <a:lnSpc>
                <a:spcPts val="928"/>
              </a:lnSpc>
              <a:buNone/>
            </a:pPr>
            <a:r>
              <a:rPr lang="en-US" sz="800" b="1" spc="50" kern="0" dirty="0">
                <a:solidFill>
                  <a:srgbClr val="07807C"/>
                </a:solidFill>
                <a:latin typeface="Carlito" pitchFamily="34" charset="0"/>
                <a:ea typeface="Carlito" pitchFamily="34" charset="-122"/>
                <a:cs typeface="Carlito" pitchFamily="34" charset="-120"/>
              </a:rPr>
              <a:t>ДЕМО ОТКРЫТО</a:t>
            </a:r>
            <a:endParaRPr lang="en-US" sz="800" dirty="0"/>
          </a:p>
        </p:txBody>
      </p:sp>
      <p:sp>
        <p:nvSpPr>
          <p:cNvPr id="9" name="Text 7"/>
          <p:cNvSpPr/>
          <p:nvPr/>
        </p:nvSpPr>
        <p:spPr>
          <a:xfrm>
            <a:off x="2678460" y="2985976"/>
            <a:ext cx="100013" cy="100013"/>
          </a:xfrm>
          <a:prstGeom prst="rect">
            <a:avLst/>
          </a:prstGeom>
          <a:noFill/>
          <a:ln/>
        </p:spPr>
        <p:txBody>
          <a:bodyPr wrap="none" lIns="0" tIns="0" rIns="0" bIns="0" rtlCol="0" anchor="ctr"/>
          <a:lstStyle/>
          <a:p>
            <a:pPr algn="ctr" indent="0" marL="0">
              <a:buNone/>
            </a:pPr>
            <a:r>
              <a:rPr lang="en-US" sz="984" dirty="0">
                <a:solidFill>
                  <a:srgbClr val="07807C"/>
                </a:solidFill>
                <a:latin typeface="Segoe UI Symbol" pitchFamily="34" charset="0"/>
                <a:ea typeface="Segoe UI Symbol" pitchFamily="34" charset="-122"/>
                <a:cs typeface="Segoe UI Symbol" pitchFamily="34" charset="-120"/>
              </a:rPr>
              <a:t>➤</a:t>
            </a:r>
            <a:endParaRPr lang="en-US" sz="984" dirty="0"/>
          </a:p>
        </p:txBody>
      </p:sp>
      <p:sp>
        <p:nvSpPr>
          <p:cNvPr id="10" name="Text 8"/>
          <p:cNvSpPr/>
          <p:nvPr/>
        </p:nvSpPr>
        <p:spPr>
          <a:xfrm>
            <a:off x="3747232" y="2941327"/>
            <a:ext cx="1807704" cy="189309"/>
          </a:xfrm>
          <a:prstGeom prst="roundRect">
            <a:avLst>
              <a:gd name="adj" fmla="val 5026425"/>
            </a:avLst>
          </a:prstGeom>
          <a:solidFill>
            <a:srgbClr val="D4A854">
              <a:alpha val="14000"/>
            </a:srgbClr>
          </a:solidFill>
          <a:ln/>
        </p:spPr>
        <p:txBody>
          <a:bodyPr wrap="square" rtlCol="0" anchor="ctr"/>
          <a:lstStyle/>
          <a:p>
            <a:pPr indent="0" marL="0">
              <a:buNone/>
            </a:pPr>
            <a:endParaRPr lang="en-US" dirty="0"/>
          </a:p>
        </p:txBody>
      </p:sp>
      <p:sp>
        <p:nvSpPr>
          <p:cNvPr id="11" name="Text 9"/>
          <p:cNvSpPr/>
          <p:nvPr/>
        </p:nvSpPr>
        <p:spPr>
          <a:xfrm>
            <a:off x="3990119" y="2991334"/>
            <a:ext cx="1464804" cy="119703"/>
          </a:xfrm>
          <a:prstGeom prst="rect">
            <a:avLst/>
          </a:prstGeom>
          <a:noFill/>
          <a:ln/>
        </p:spPr>
        <p:txBody>
          <a:bodyPr wrap="none" lIns="100013" tIns="35719" rIns="100013" bIns="35719" rtlCol="0" anchor="t"/>
          <a:lstStyle/>
          <a:p>
            <a:pPr algn="ctr" indent="0" marL="0">
              <a:lnSpc>
                <a:spcPts val="928"/>
              </a:lnSpc>
              <a:buNone/>
            </a:pPr>
            <a:r>
              <a:rPr lang="en-US" sz="800" b="1" spc="50" kern="0" dirty="0">
                <a:solidFill>
                  <a:srgbClr val="8A6A25"/>
                </a:solidFill>
                <a:latin typeface="Carlito" pitchFamily="34" charset="0"/>
                <a:ea typeface="Carlito" pitchFamily="34" charset="-122"/>
                <a:cs typeface="Carlito" pitchFamily="34" charset="-120"/>
              </a:rPr>
              <a:t>ДОГОВОР С БАНКОМ ПОДПИСАН</a:t>
            </a:r>
            <a:endParaRPr lang="en-US" sz="800" dirty="0"/>
          </a:p>
        </p:txBody>
      </p:sp>
      <p:sp>
        <p:nvSpPr>
          <p:cNvPr id="12" name="Text 10"/>
          <p:cNvSpPr/>
          <p:nvPr/>
        </p:nvSpPr>
        <p:spPr>
          <a:xfrm>
            <a:off x="3847244" y="2985976"/>
            <a:ext cx="100013" cy="100013"/>
          </a:xfrm>
          <a:prstGeom prst="rect">
            <a:avLst/>
          </a:prstGeom>
          <a:noFill/>
          <a:ln/>
        </p:spPr>
        <p:txBody>
          <a:bodyPr wrap="none" lIns="0" tIns="0" rIns="0" bIns="0" rtlCol="0" anchor="ctr"/>
          <a:lstStyle/>
          <a:p>
            <a:pPr algn="ctr" indent="0" marL="0">
              <a:buNone/>
            </a:pPr>
            <a:r>
              <a:rPr lang="en-US" sz="984" dirty="0">
                <a:solidFill>
                  <a:srgbClr val="8A6A25"/>
                </a:solidFill>
                <a:latin typeface="Segoe UI Symbol" pitchFamily="34" charset="0"/>
                <a:ea typeface="Segoe UI Symbol" pitchFamily="34" charset="-122"/>
                <a:cs typeface="Segoe UI Symbol" pitchFamily="34" charset="-120"/>
              </a:rPr>
              <a:t>🏛</a:t>
            </a:r>
            <a:endParaRPr lang="en-US" sz="984" dirty="0"/>
          </a:p>
        </p:txBody>
      </p:sp>
      <p:sp>
        <p:nvSpPr>
          <p:cNvPr id="13" name="Text 11"/>
          <p:cNvSpPr/>
          <p:nvPr/>
        </p:nvSpPr>
        <p:spPr>
          <a:xfrm>
            <a:off x="5654948" y="2929969"/>
            <a:ext cx="910493" cy="212027"/>
          </a:xfrm>
          <a:prstGeom prst="roundRect">
            <a:avLst>
              <a:gd name="adj" fmla="val 4487860"/>
            </a:avLst>
          </a:prstGeom>
          <a:solidFill>
            <a:srgbClr val="F64A8A">
              <a:alpha val="12000"/>
            </a:srgbClr>
          </a:solidFill>
          <a:ln/>
        </p:spPr>
        <p:txBody>
          <a:bodyPr wrap="square" rtlCol="0" anchor="ctr"/>
          <a:lstStyle/>
          <a:p>
            <a:pPr indent="0" marL="0">
              <a:buNone/>
            </a:pPr>
            <a:endParaRPr lang="en-US" dirty="0"/>
          </a:p>
        </p:txBody>
      </p:sp>
      <p:sp>
        <p:nvSpPr>
          <p:cNvPr id="14" name="Text 12"/>
          <p:cNvSpPr/>
          <p:nvPr/>
        </p:nvSpPr>
        <p:spPr>
          <a:xfrm>
            <a:off x="5897835" y="2991334"/>
            <a:ext cx="567593" cy="119703"/>
          </a:xfrm>
          <a:prstGeom prst="rect">
            <a:avLst/>
          </a:prstGeom>
          <a:noFill/>
          <a:ln/>
        </p:spPr>
        <p:txBody>
          <a:bodyPr wrap="none" lIns="0" tIns="0" rIns="0" bIns="0" rtlCol="0" anchor="t"/>
          <a:lstStyle/>
          <a:p>
            <a:pPr algn="ctr" indent="0" marL="0">
              <a:lnSpc>
                <a:spcPts val="928"/>
              </a:lnSpc>
              <a:buNone/>
            </a:pPr>
            <a:r>
              <a:rPr lang="en-US" sz="619" b="1" spc="50" kern="0" dirty="0">
                <a:solidFill>
                  <a:srgbClr val="C92A6A"/>
                </a:solidFill>
                <a:latin typeface="Carlito" pitchFamily="34" charset="0"/>
                <a:ea typeface="Carlito" pitchFamily="34" charset="-122"/>
                <a:cs typeface="Carlito" pitchFamily="34" charset="-120"/>
              </a:rPr>
              <a:t>1 БАЛЛ = 1 ₽</a:t>
            </a:r>
            <a:endParaRPr lang="en-US" sz="619" dirty="0"/>
          </a:p>
        </p:txBody>
      </p:sp>
      <p:sp>
        <p:nvSpPr>
          <p:cNvPr id="15" name="Text 13"/>
          <p:cNvSpPr/>
          <p:nvPr/>
        </p:nvSpPr>
        <p:spPr>
          <a:xfrm>
            <a:off x="5754960" y="2985976"/>
            <a:ext cx="100013" cy="100013"/>
          </a:xfrm>
          <a:prstGeom prst="rect">
            <a:avLst/>
          </a:prstGeom>
          <a:noFill/>
          <a:ln/>
        </p:spPr>
        <p:txBody>
          <a:bodyPr wrap="none" lIns="0" tIns="0" rIns="0" bIns="0" rtlCol="0" anchor="ctr"/>
          <a:lstStyle/>
          <a:p>
            <a:pPr algn="ctr" indent="0" marL="0">
              <a:buNone/>
            </a:pPr>
            <a:r>
              <a:rPr lang="en-US" sz="984" dirty="0">
                <a:solidFill>
                  <a:srgbClr val="C92A6A"/>
                </a:solidFill>
                <a:latin typeface="Segoe UI Symbol" pitchFamily="34" charset="0"/>
                <a:ea typeface="Segoe UI Symbol" pitchFamily="34" charset="-122"/>
                <a:cs typeface="Segoe UI Symbol" pitchFamily="34" charset="-120"/>
              </a:rPr>
              <a:t>$</a:t>
            </a:r>
            <a:endParaRPr lang="en-US" sz="984" dirty="0"/>
          </a:p>
        </p:txBody>
      </p:sp>
      <p:sp>
        <p:nvSpPr>
          <p:cNvPr id="16" name="Text 14"/>
          <p:cNvSpPr/>
          <p:nvPr/>
        </p:nvSpPr>
        <p:spPr>
          <a:xfrm>
            <a:off x="3656819" y="3528008"/>
            <a:ext cx="135731" cy="135731"/>
          </a:xfrm>
          <a:prstGeom prst="rect">
            <a:avLst/>
          </a:prstGeom>
          <a:noFill/>
          <a:ln/>
        </p:spPr>
        <p:txBody>
          <a:bodyPr wrap="none" lIns="0" tIns="0" rIns="0" bIns="0" rtlCol="0" anchor="ctr"/>
          <a:lstStyle/>
          <a:p>
            <a:pPr algn="ctr" indent="0" marL="0">
              <a:buNone/>
            </a:pPr>
            <a:r>
              <a:rPr lang="en-US" sz="1336" dirty="0">
                <a:solidFill>
                  <a:srgbClr val="1A1A1A"/>
                </a:solidFill>
                <a:latin typeface="Segoe UI Symbol" pitchFamily="34" charset="0"/>
                <a:ea typeface="Segoe UI Symbol" pitchFamily="34" charset="-122"/>
                <a:cs typeface="Segoe UI Symbol" pitchFamily="34" charset="-120"/>
              </a:rPr>
              <a:t>◯</a:t>
            </a:r>
            <a:endParaRPr lang="en-US" sz="1336" dirty="0"/>
          </a:p>
        </p:txBody>
      </p:sp>
      <p:sp>
        <p:nvSpPr>
          <p:cNvPr id="17" name="Text 15"/>
          <p:cNvSpPr/>
          <p:nvPr/>
        </p:nvSpPr>
        <p:spPr>
          <a:xfrm>
            <a:off x="3661088" y="3502112"/>
            <a:ext cx="2028992" cy="202525"/>
          </a:xfrm>
          <a:prstGeom prst="rect">
            <a:avLst/>
          </a:prstGeom>
          <a:noFill/>
          <a:ln/>
        </p:spPr>
        <p:txBody>
          <a:bodyPr wrap="none" lIns="0" tIns="0" rIns="0" bIns="0" rtlCol="0" anchor="t"/>
          <a:lstStyle/>
          <a:p>
            <a:pPr algn="ctr" indent="0" marL="0">
              <a:lnSpc>
                <a:spcPts val="1477"/>
              </a:lnSpc>
              <a:buNone/>
            </a:pPr>
            <a:r>
              <a:rPr lang="en-US" sz="984" b="1" dirty="0">
                <a:solidFill>
                  <a:srgbClr val="1A1A1A"/>
                </a:solidFill>
                <a:latin typeface="Carlito" pitchFamily="34" charset="0"/>
                <a:ea typeface="Carlito" pitchFamily="34" charset="-122"/>
                <a:cs typeface="Carlito" pitchFamily="34" charset="-120"/>
              </a:rPr>
              <a:t>lovii.ru · ООО «АКСИОМА»</a:t>
            </a:r>
            <a:endParaRPr lang="en-US" sz="984" dirty="0"/>
          </a:p>
        </p:txBody>
      </p:sp>
      <p:sp>
        <p:nvSpPr>
          <p:cNvPr id="18" name="Text 16"/>
          <p:cNvSpPr/>
          <p:nvPr/>
        </p:nvSpPr>
        <p:spPr>
          <a:xfrm>
            <a:off x="2505894" y="4779169"/>
            <a:ext cx="4132101" cy="114499"/>
          </a:xfrm>
          <a:prstGeom prst="rect">
            <a:avLst/>
          </a:prstGeom>
          <a:noFill/>
          <a:ln/>
        </p:spPr>
        <p:txBody>
          <a:bodyPr wrap="square" lIns="0" tIns="0" rIns="0" bIns="0" rtlCol="0" anchor="t"/>
          <a:lstStyle/>
          <a:p>
            <a:pPr algn="ctr" indent="0" marL="0">
              <a:lnSpc>
                <a:spcPts val="970"/>
              </a:lnSpc>
              <a:buNone/>
            </a:pPr>
            <a:r>
              <a:rPr lang="en-US" sz="647" dirty="0">
                <a:solidFill>
                  <a:srgbClr val="1A1A1A">
                    <a:alpha val="65000"/>
                  </a:srgbClr>
                </a:solidFill>
                <a:latin typeface="Carlito" pitchFamily="34" charset="0"/>
                <a:ea typeface="Carlito" pitchFamily="34" charset="-122"/>
                <a:cs typeface="Carlito" pitchFamily="34" charset="-120"/>
              </a:rPr>
              <a:t>Материалы носят информационный характер и не являются публичной офертой или гарантией доходности</a:t>
            </a:r>
            <a:endParaRPr lang="en-US" sz="64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2026-09-01T22:59:02Z</dcterms:created>
  <dcterms:modified xsi:type="dcterms:W3CDTF">2026-09-01T22:59:02Z</dcterms:modified>
</cp:coreProperties>
</file>